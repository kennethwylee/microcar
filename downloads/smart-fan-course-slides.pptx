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7"/>
  </p:notesMasterIdLst>
  <p:sldIdLst>
    <p:sldId id="338" r:id="rId2"/>
    <p:sldId id="334" r:id="rId3"/>
    <p:sldId id="335" r:id="rId4"/>
    <p:sldId id="336" r:id="rId5"/>
    <p:sldId id="340" r:id="rId6"/>
    <p:sldId id="337" r:id="rId7"/>
    <p:sldId id="341" r:id="rId8"/>
    <p:sldId id="339" r:id="rId9"/>
    <p:sldId id="342" r:id="rId10"/>
    <p:sldId id="343" r:id="rId11"/>
    <p:sldId id="344" r:id="rId12"/>
    <p:sldId id="279" r:id="rId13"/>
    <p:sldId id="261" r:id="rId14"/>
    <p:sldId id="277" r:id="rId15"/>
    <p:sldId id="276" r:id="rId16"/>
    <p:sldId id="291" r:id="rId17"/>
    <p:sldId id="386" r:id="rId18"/>
    <p:sldId id="345" r:id="rId19"/>
    <p:sldId id="287" r:id="rId20"/>
    <p:sldId id="289" r:id="rId21"/>
    <p:sldId id="288" r:id="rId22"/>
    <p:sldId id="392" r:id="rId23"/>
    <p:sldId id="393" r:id="rId24"/>
    <p:sldId id="391" r:id="rId25"/>
    <p:sldId id="394" r:id="rId26"/>
  </p:sldIdLst>
  <p:sldSz cx="9144000" cy="6858000" type="screen4x3"/>
  <p:notesSz cx="7559675" cy="10691813"/>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0" d="100"/>
          <a:sy n="80" d="100"/>
        </p:scale>
        <p:origin x="802" y="48"/>
      </p:cViewPr>
      <p:guideLst/>
    </p:cSldViewPr>
  </p:slideViewPr>
  <p:notesTextViewPr>
    <p:cViewPr>
      <p:scale>
        <a:sx n="1" d="1"/>
        <a:sy n="1" d="1"/>
      </p:scale>
      <p:origin x="0" y="0"/>
    </p:cViewPr>
  </p:notesTextViewPr>
  <p:notesViewPr>
    <p:cSldViewPr snapToGrid="0">
      <p:cViewPr varScale="1">
        <p:scale>
          <a:sx n="56" d="100"/>
          <a:sy n="56" d="100"/>
        </p:scale>
        <p:origin x="3230" y="5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羅治民" userId="6942df94-263f-4db0-b02f-9042cca1213d" providerId="ADAL" clId="{AF710552-7DCD-4EFF-A080-7DBCD7E93B03}"/>
    <pc:docChg chg="custSel addSld delSld modSld">
      <pc:chgData name="羅治民" userId="6942df94-263f-4db0-b02f-9042cca1213d" providerId="ADAL" clId="{AF710552-7DCD-4EFF-A080-7DBCD7E93B03}" dt="2024-05-10T15:58:56.261" v="269" actId="20577"/>
      <pc:docMkLst>
        <pc:docMk/>
      </pc:docMkLst>
      <pc:sldChg chg="modSp mod">
        <pc:chgData name="羅治民" userId="6942df94-263f-4db0-b02f-9042cca1213d" providerId="ADAL" clId="{AF710552-7DCD-4EFF-A080-7DBCD7E93B03}" dt="2024-05-10T15:54:37.871" v="132" actId="20577"/>
        <pc:sldMkLst>
          <pc:docMk/>
          <pc:sldMk cId="3964213713" sldId="334"/>
        </pc:sldMkLst>
        <pc:spChg chg="mod">
          <ac:chgData name="羅治民" userId="6942df94-263f-4db0-b02f-9042cca1213d" providerId="ADAL" clId="{AF710552-7DCD-4EFF-A080-7DBCD7E93B03}" dt="2024-05-10T15:51:37.613" v="36" actId="6549"/>
          <ac:spMkLst>
            <pc:docMk/>
            <pc:sldMk cId="3964213713" sldId="334"/>
            <ac:spMk id="7" creationId="{CD294E92-FD35-4C73-9127-9F5C9CE094C4}"/>
          </ac:spMkLst>
        </pc:spChg>
        <pc:spChg chg="mod">
          <ac:chgData name="羅治民" userId="6942df94-263f-4db0-b02f-9042cca1213d" providerId="ADAL" clId="{AF710552-7DCD-4EFF-A080-7DBCD7E93B03}" dt="2024-05-10T15:53:39.244" v="74" actId="6549"/>
          <ac:spMkLst>
            <pc:docMk/>
            <pc:sldMk cId="3964213713" sldId="334"/>
            <ac:spMk id="8" creationId="{A182CD5C-CC77-420C-91CB-63E8C77B1A92}"/>
          </ac:spMkLst>
        </pc:spChg>
        <pc:spChg chg="mod">
          <ac:chgData name="羅治民" userId="6942df94-263f-4db0-b02f-9042cca1213d" providerId="ADAL" clId="{AF710552-7DCD-4EFF-A080-7DBCD7E93B03}" dt="2024-05-10T15:54:37.871" v="132" actId="20577"/>
          <ac:spMkLst>
            <pc:docMk/>
            <pc:sldMk cId="3964213713" sldId="334"/>
            <ac:spMk id="9" creationId="{691C6EAF-A356-4FDD-B6F2-4774B6197F0A}"/>
          </ac:spMkLst>
        </pc:spChg>
      </pc:sldChg>
      <pc:sldChg chg="delSp modSp mod">
        <pc:chgData name="羅治民" userId="6942df94-263f-4db0-b02f-9042cca1213d" providerId="ADAL" clId="{AF710552-7DCD-4EFF-A080-7DBCD7E93B03}" dt="2024-05-10T15:55:45.799" v="160" actId="6549"/>
        <pc:sldMkLst>
          <pc:docMk/>
          <pc:sldMk cId="1725501435" sldId="335"/>
        </pc:sldMkLst>
        <pc:spChg chg="mod">
          <ac:chgData name="羅治民" userId="6942df94-263f-4db0-b02f-9042cca1213d" providerId="ADAL" clId="{AF710552-7DCD-4EFF-A080-7DBCD7E93B03}" dt="2024-05-10T15:55:45.799" v="160" actId="6549"/>
          <ac:spMkLst>
            <pc:docMk/>
            <pc:sldMk cId="1725501435" sldId="335"/>
            <ac:spMk id="4" creationId="{99DCEEDE-63FC-492E-B77C-676E80F36358}"/>
          </ac:spMkLst>
        </pc:spChg>
        <pc:picChg chg="del">
          <ac:chgData name="羅治民" userId="6942df94-263f-4db0-b02f-9042cca1213d" providerId="ADAL" clId="{AF710552-7DCD-4EFF-A080-7DBCD7E93B03}" dt="2024-05-10T15:49:52.603" v="0" actId="478"/>
          <ac:picMkLst>
            <pc:docMk/>
            <pc:sldMk cId="1725501435" sldId="335"/>
            <ac:picMk id="15" creationId="{AF94A5FA-F78A-46F0-A626-55348447DC9D}"/>
          </ac:picMkLst>
        </pc:picChg>
      </pc:sldChg>
      <pc:sldChg chg="addSp modSp add mod">
        <pc:chgData name="羅治民" userId="6942df94-263f-4db0-b02f-9042cca1213d" providerId="ADAL" clId="{AF710552-7DCD-4EFF-A080-7DBCD7E93B03}" dt="2024-05-10T15:58:56.261" v="269" actId="20577"/>
        <pc:sldMkLst>
          <pc:docMk/>
          <pc:sldMk cId="435873220" sldId="336"/>
        </pc:sldMkLst>
        <pc:spChg chg="add mod">
          <ac:chgData name="羅治民" userId="6942df94-263f-4db0-b02f-9042cca1213d" providerId="ADAL" clId="{AF710552-7DCD-4EFF-A080-7DBCD7E93B03}" dt="2024-05-10T15:57:52.147" v="266" actId="6549"/>
          <ac:spMkLst>
            <pc:docMk/>
            <pc:sldMk cId="435873220" sldId="336"/>
            <ac:spMk id="3" creationId="{ECC5B087-CA12-493A-A085-E30C7619184B}"/>
          </ac:spMkLst>
        </pc:spChg>
        <pc:spChg chg="mod">
          <ac:chgData name="羅治民" userId="6942df94-263f-4db0-b02f-9042cca1213d" providerId="ADAL" clId="{AF710552-7DCD-4EFF-A080-7DBCD7E93B03}" dt="2024-05-10T15:58:56.261" v="269" actId="20577"/>
          <ac:spMkLst>
            <pc:docMk/>
            <pc:sldMk cId="435873220" sldId="336"/>
            <ac:spMk id="4" creationId="{99DCEEDE-63FC-492E-B77C-676E80F36358}"/>
          </ac:spMkLst>
        </pc:spChg>
      </pc:sldChg>
      <pc:sldChg chg="del">
        <pc:chgData name="羅治民" userId="6942df94-263f-4db0-b02f-9042cca1213d" providerId="ADAL" clId="{AF710552-7DCD-4EFF-A080-7DBCD7E93B03}" dt="2024-05-10T15:49:53.725" v="1" actId="47"/>
        <pc:sldMkLst>
          <pc:docMk/>
          <pc:sldMk cId="3147891606" sldId="336"/>
        </pc:sldMkLst>
      </pc:sldChg>
      <pc:sldChg chg="add">
        <pc:chgData name="羅治民" userId="6942df94-263f-4db0-b02f-9042cca1213d" providerId="ADAL" clId="{AF710552-7DCD-4EFF-A080-7DBCD7E93B03}" dt="2024-05-10T15:58:49.253" v="267" actId="2890"/>
        <pc:sldMkLst>
          <pc:docMk/>
          <pc:sldMk cId="906059758" sldId="337"/>
        </pc:sldMkLst>
      </pc:sldChg>
    </pc:docChg>
  </pc:docChgLst>
  <pc:docChgLst>
    <pc:chgData name="羅治民" userId="6942df94-263f-4db0-b02f-9042cca1213d" providerId="ADAL" clId="{2727A790-0D3B-484C-A802-B4DFD9B74CFE}"/>
    <pc:docChg chg="custSel addSld modSld">
      <pc:chgData name="羅治民" userId="6942df94-263f-4db0-b02f-9042cca1213d" providerId="ADAL" clId="{2727A790-0D3B-484C-A802-B4DFD9B74CFE}" dt="2024-04-12T08:24:34.533" v="28" actId="1076"/>
      <pc:docMkLst>
        <pc:docMk/>
      </pc:docMkLst>
      <pc:sldChg chg="addSp delSp modSp add mod">
        <pc:chgData name="羅治民" userId="6942df94-263f-4db0-b02f-9042cca1213d" providerId="ADAL" clId="{2727A790-0D3B-484C-A802-B4DFD9B74CFE}" dt="2024-04-12T08:19:17.223" v="18" actId="1076"/>
        <pc:sldMkLst>
          <pc:docMk/>
          <pc:sldMk cId="1725501435" sldId="335"/>
        </pc:sldMkLst>
        <pc:spChg chg="del">
          <ac:chgData name="羅治民" userId="6942df94-263f-4db0-b02f-9042cca1213d" providerId="ADAL" clId="{2727A790-0D3B-484C-A802-B4DFD9B74CFE}" dt="2024-04-12T04:00:11.297" v="1" actId="478"/>
          <ac:spMkLst>
            <pc:docMk/>
            <pc:sldMk cId="1725501435" sldId="335"/>
            <ac:spMk id="7" creationId="{CD294E92-FD35-4C73-9127-9F5C9CE094C4}"/>
          </ac:spMkLst>
        </pc:spChg>
        <pc:spChg chg="del">
          <ac:chgData name="羅治民" userId="6942df94-263f-4db0-b02f-9042cca1213d" providerId="ADAL" clId="{2727A790-0D3B-484C-A802-B4DFD9B74CFE}" dt="2024-04-12T04:00:12.946" v="2" actId="478"/>
          <ac:spMkLst>
            <pc:docMk/>
            <pc:sldMk cId="1725501435" sldId="335"/>
            <ac:spMk id="8" creationId="{A182CD5C-CC77-420C-91CB-63E8C77B1A92}"/>
          </ac:spMkLst>
        </pc:spChg>
        <pc:spChg chg="del">
          <ac:chgData name="羅治民" userId="6942df94-263f-4db0-b02f-9042cca1213d" providerId="ADAL" clId="{2727A790-0D3B-484C-A802-B4DFD9B74CFE}" dt="2024-04-12T04:00:14.532" v="3" actId="478"/>
          <ac:spMkLst>
            <pc:docMk/>
            <pc:sldMk cId="1725501435" sldId="335"/>
            <ac:spMk id="9" creationId="{691C6EAF-A356-4FDD-B6F2-4774B6197F0A}"/>
          </ac:spMkLst>
        </pc:spChg>
        <pc:picChg chg="add del mod">
          <ac:chgData name="羅治民" userId="6942df94-263f-4db0-b02f-9042cca1213d" providerId="ADAL" clId="{2727A790-0D3B-484C-A802-B4DFD9B74CFE}" dt="2024-04-12T05:44:13.373" v="6" actId="478"/>
          <ac:picMkLst>
            <pc:docMk/>
            <pc:sldMk cId="1725501435" sldId="335"/>
            <ac:picMk id="3" creationId="{B1B3D491-998A-45B3-812C-49834C131E1C}"/>
          </ac:picMkLst>
        </pc:picChg>
        <pc:picChg chg="add del mod">
          <ac:chgData name="羅治民" userId="6942df94-263f-4db0-b02f-9042cca1213d" providerId="ADAL" clId="{2727A790-0D3B-484C-A802-B4DFD9B74CFE}" dt="2024-04-12T05:44:35.343" v="9" actId="478"/>
          <ac:picMkLst>
            <pc:docMk/>
            <pc:sldMk cId="1725501435" sldId="335"/>
            <ac:picMk id="6" creationId="{A931244C-3C5C-45A8-966F-2C55559B91F6}"/>
          </ac:picMkLst>
        </pc:picChg>
        <pc:picChg chg="add del mod">
          <ac:chgData name="羅治民" userId="6942df94-263f-4db0-b02f-9042cca1213d" providerId="ADAL" clId="{2727A790-0D3B-484C-A802-B4DFD9B74CFE}" dt="2024-04-12T05:48:42.527" v="12" actId="478"/>
          <ac:picMkLst>
            <pc:docMk/>
            <pc:sldMk cId="1725501435" sldId="335"/>
            <ac:picMk id="11" creationId="{1E0DEB6E-BA3F-4EE9-A9FD-2B7C570A0BB1}"/>
          </ac:picMkLst>
        </pc:picChg>
        <pc:picChg chg="add del mod">
          <ac:chgData name="羅治民" userId="6942df94-263f-4db0-b02f-9042cca1213d" providerId="ADAL" clId="{2727A790-0D3B-484C-A802-B4DFD9B74CFE}" dt="2024-04-12T08:19:08.870" v="15" actId="478"/>
          <ac:picMkLst>
            <pc:docMk/>
            <pc:sldMk cId="1725501435" sldId="335"/>
            <ac:picMk id="13" creationId="{34D2B053-A12C-4C27-8A8A-154624973969}"/>
          </ac:picMkLst>
        </pc:picChg>
        <pc:picChg chg="add mod">
          <ac:chgData name="羅治民" userId="6942df94-263f-4db0-b02f-9042cca1213d" providerId="ADAL" clId="{2727A790-0D3B-484C-A802-B4DFD9B74CFE}" dt="2024-04-12T08:19:17.223" v="18" actId="1076"/>
          <ac:picMkLst>
            <pc:docMk/>
            <pc:sldMk cId="1725501435" sldId="335"/>
            <ac:picMk id="15" creationId="{AF94A5FA-F78A-46F0-A626-55348447DC9D}"/>
          </ac:picMkLst>
        </pc:picChg>
      </pc:sldChg>
      <pc:sldChg chg="addSp delSp modSp add mod">
        <pc:chgData name="羅治民" userId="6942df94-263f-4db0-b02f-9042cca1213d" providerId="ADAL" clId="{2727A790-0D3B-484C-A802-B4DFD9B74CFE}" dt="2024-04-12T08:24:34.533" v="28" actId="1076"/>
        <pc:sldMkLst>
          <pc:docMk/>
          <pc:sldMk cId="3147891606" sldId="336"/>
        </pc:sldMkLst>
        <pc:picChg chg="add mod">
          <ac:chgData name="羅治民" userId="6942df94-263f-4db0-b02f-9042cca1213d" providerId="ADAL" clId="{2727A790-0D3B-484C-A802-B4DFD9B74CFE}" dt="2024-04-12T08:24:34.533" v="28" actId="1076"/>
          <ac:picMkLst>
            <pc:docMk/>
            <pc:sldMk cId="3147891606" sldId="336"/>
            <ac:picMk id="3" creationId="{CD6105DD-8B75-4BC3-B7F9-249ACFFB1B59}"/>
          </ac:picMkLst>
        </pc:picChg>
        <pc:picChg chg="del">
          <ac:chgData name="羅治民" userId="6942df94-263f-4db0-b02f-9042cca1213d" providerId="ADAL" clId="{2727A790-0D3B-484C-A802-B4DFD9B74CFE}" dt="2024-04-12T08:23:36.439" v="20" actId="478"/>
          <ac:picMkLst>
            <pc:docMk/>
            <pc:sldMk cId="3147891606" sldId="336"/>
            <ac:picMk id="15" creationId="{AF94A5FA-F78A-46F0-A626-55348447DC9D}"/>
          </ac:picMkLst>
        </pc:picChg>
      </pc:sldChg>
    </pc:docChg>
  </pc:docChgLst>
</pc:chgInfo>
</file>

<file path=ppt/drawings/_rels/vmlDrawing1.vml.rels><?xml version="1.0" encoding="UTF-8" standalone="yes"?>
<Relationships xmlns="http://schemas.openxmlformats.org/package/2006/relationships"><Relationship Id="rId1" Type="http://schemas.openxmlformats.org/officeDocument/2006/relationships/image" Target="../media/image41.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5.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5A96D536-2DF4-4E41-903B-6CF628FC159D}" type="datetimeFigureOut">
              <a:rPr lang="zh-TW" altLang="en-US" smtClean="0"/>
              <a:t>2024/6/12</a:t>
            </a:fld>
            <a:endParaRPr lang="zh-TW" altLang="en-US"/>
          </a:p>
        </p:txBody>
      </p:sp>
      <p:sp>
        <p:nvSpPr>
          <p:cNvPr id="4" name="投影片影像版面配置區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D2DD1B12-5F0E-45C7-A1A4-3FFB4DA7D951}" type="slidenum">
              <a:rPr lang="zh-TW" altLang="en-US" smtClean="0"/>
              <a:t>‹#›</a:t>
            </a:fld>
            <a:endParaRPr lang="zh-TW" altLang="en-US"/>
          </a:p>
        </p:txBody>
      </p:sp>
    </p:spTree>
    <p:extLst>
      <p:ext uri="{BB962C8B-B14F-4D97-AF65-F5344CB8AC3E}">
        <p14:creationId xmlns:p14="http://schemas.microsoft.com/office/powerpoint/2010/main" val="10818601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D2DD1B12-5F0E-45C7-A1A4-3FFB4DA7D951}" type="slidenum">
              <a:rPr lang="zh-TW" altLang="en-US" smtClean="0"/>
              <a:t>4</a:t>
            </a:fld>
            <a:endParaRPr lang="zh-TW" altLang="en-US"/>
          </a:p>
        </p:txBody>
      </p:sp>
    </p:spTree>
    <p:extLst>
      <p:ext uri="{BB962C8B-B14F-4D97-AF65-F5344CB8AC3E}">
        <p14:creationId xmlns:p14="http://schemas.microsoft.com/office/powerpoint/2010/main" val="37038262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D2DD1B12-5F0E-45C7-A1A4-3FFB4DA7D951}" type="slidenum">
              <a:rPr lang="zh-TW" altLang="en-US" smtClean="0"/>
              <a:t>7</a:t>
            </a:fld>
            <a:endParaRPr lang="zh-TW" altLang="en-US"/>
          </a:p>
        </p:txBody>
      </p:sp>
    </p:spTree>
    <p:extLst>
      <p:ext uri="{BB962C8B-B14F-4D97-AF65-F5344CB8AC3E}">
        <p14:creationId xmlns:p14="http://schemas.microsoft.com/office/powerpoint/2010/main" val="32273959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 name="PlaceHolder 1"/>
          <p:cNvSpPr>
            <a:spLocks noGrp="1"/>
          </p:cNvSpPr>
          <p:nvPr>
            <p:ph type="title"/>
          </p:nvPr>
        </p:nvSpPr>
        <p:spPr>
          <a:xfrm>
            <a:off x="457110" y="273600"/>
            <a:ext cx="822933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5" name="PlaceHolder 2"/>
          <p:cNvSpPr>
            <a:spLocks noGrp="1"/>
          </p:cNvSpPr>
          <p:nvPr>
            <p:ph type="subTitle"/>
          </p:nvPr>
        </p:nvSpPr>
        <p:spPr>
          <a:xfrm>
            <a:off x="457110" y="1604520"/>
            <a:ext cx="8229330" cy="3977280"/>
          </a:xfrm>
          <a:prstGeom prst="rect">
            <a:avLst/>
          </a:prstGeom>
        </p:spPr>
        <p:txBody>
          <a:bodyPr lIns="0" tIns="0" rIns="0" bIns="0" anchor="ctr"/>
          <a:lstStyle/>
          <a:p>
            <a:pPr algn="ctr"/>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457110" y="273600"/>
            <a:ext cx="822933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7" name="PlaceHolder 2"/>
          <p:cNvSpPr>
            <a:spLocks noGrp="1"/>
          </p:cNvSpPr>
          <p:nvPr>
            <p:ph type="body"/>
          </p:nvPr>
        </p:nvSpPr>
        <p:spPr>
          <a:xfrm>
            <a:off x="457110" y="1604520"/>
            <a:ext cx="8229330" cy="3977280"/>
          </a:xfrm>
          <a:prstGeom prst="rect">
            <a:avLst/>
          </a:prstGeom>
        </p:spPr>
        <p:txBody>
          <a:bodyPr lIns="0" tIns="0" rIns="0" bIns="0">
            <a:normAutofit/>
          </a:bodyPr>
          <a:lstStyle/>
          <a:p>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8" name="PlaceHolder 1"/>
          <p:cNvSpPr>
            <a:spLocks noGrp="1"/>
          </p:cNvSpPr>
          <p:nvPr>
            <p:ph type="title"/>
          </p:nvPr>
        </p:nvSpPr>
        <p:spPr>
          <a:xfrm>
            <a:off x="457110" y="273600"/>
            <a:ext cx="822933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9" name="PlaceHolder 2"/>
          <p:cNvSpPr>
            <a:spLocks noGrp="1"/>
          </p:cNvSpPr>
          <p:nvPr>
            <p:ph type="body"/>
          </p:nvPr>
        </p:nvSpPr>
        <p:spPr>
          <a:xfrm>
            <a:off x="457110" y="1604520"/>
            <a:ext cx="4015710" cy="3977280"/>
          </a:xfrm>
          <a:prstGeom prst="rect">
            <a:avLst/>
          </a:prstGeom>
        </p:spPr>
        <p:txBody>
          <a:bodyPr lIns="0" tIns="0" rIns="0" bIns="0">
            <a:normAutofit/>
          </a:bodyPr>
          <a:lstStyle/>
          <a:p>
            <a:endParaRPr lang="en-US" sz="3200" b="0" strike="noStrike" spc="-1">
              <a:solidFill>
                <a:srgbClr val="000000"/>
              </a:solidFill>
              <a:uFill>
                <a:solidFill>
                  <a:srgbClr val="FFFFFF"/>
                </a:solidFill>
              </a:uFill>
              <a:latin typeface="Arial"/>
            </a:endParaRPr>
          </a:p>
        </p:txBody>
      </p:sp>
      <p:sp>
        <p:nvSpPr>
          <p:cNvPr id="10" name="PlaceHolder 3"/>
          <p:cNvSpPr>
            <a:spLocks noGrp="1"/>
          </p:cNvSpPr>
          <p:nvPr>
            <p:ph type="body"/>
          </p:nvPr>
        </p:nvSpPr>
        <p:spPr>
          <a:xfrm>
            <a:off x="4673970" y="1604520"/>
            <a:ext cx="4015710" cy="3977280"/>
          </a:xfrm>
          <a:prstGeom prst="rect">
            <a:avLst/>
          </a:prstGeom>
        </p:spPr>
        <p:txBody>
          <a:bodyPr lIns="0" tIns="0" rIns="0" bIns="0">
            <a:normAutofit/>
          </a:bodyPr>
          <a:lstStyle/>
          <a:p>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1" name="PlaceHolder 1"/>
          <p:cNvSpPr>
            <a:spLocks noGrp="1"/>
          </p:cNvSpPr>
          <p:nvPr>
            <p:ph type="title"/>
          </p:nvPr>
        </p:nvSpPr>
        <p:spPr>
          <a:xfrm>
            <a:off x="457110" y="273600"/>
            <a:ext cx="822933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2" name="PlaceHolder 1"/>
          <p:cNvSpPr>
            <a:spLocks noGrp="1"/>
          </p:cNvSpPr>
          <p:nvPr>
            <p:ph type="subTitle"/>
          </p:nvPr>
        </p:nvSpPr>
        <p:spPr>
          <a:xfrm>
            <a:off x="457110" y="273600"/>
            <a:ext cx="8229330" cy="5307840"/>
          </a:xfrm>
          <a:prstGeom prst="rect">
            <a:avLst/>
          </a:prstGeom>
        </p:spPr>
        <p:txBody>
          <a:bodyPr lIns="0" tIns="0" rIns="0" bIns="0" anchor="ctr"/>
          <a:lstStyle/>
          <a:p>
            <a:pPr algn="ctr"/>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3" name="PlaceHolder 1"/>
          <p:cNvSpPr>
            <a:spLocks noGrp="1"/>
          </p:cNvSpPr>
          <p:nvPr>
            <p:ph type="title"/>
          </p:nvPr>
        </p:nvSpPr>
        <p:spPr>
          <a:xfrm>
            <a:off x="457110" y="273600"/>
            <a:ext cx="822933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14" name="PlaceHolder 2"/>
          <p:cNvSpPr>
            <a:spLocks noGrp="1"/>
          </p:cNvSpPr>
          <p:nvPr>
            <p:ph type="body"/>
          </p:nvPr>
        </p:nvSpPr>
        <p:spPr>
          <a:xfrm>
            <a:off x="457110" y="1604520"/>
            <a:ext cx="4015710" cy="1896840"/>
          </a:xfrm>
          <a:prstGeom prst="rect">
            <a:avLst/>
          </a:prstGeom>
        </p:spPr>
        <p:txBody>
          <a:bodyPr lIns="0" tIns="0" rIns="0" bIns="0">
            <a:normAutofit/>
          </a:bodyPr>
          <a:lstStyle/>
          <a:p>
            <a:endParaRPr lang="en-US" sz="3200" b="0" strike="noStrike" spc="-1">
              <a:solidFill>
                <a:srgbClr val="000000"/>
              </a:solidFill>
              <a:uFill>
                <a:solidFill>
                  <a:srgbClr val="FFFFFF"/>
                </a:solidFill>
              </a:uFill>
              <a:latin typeface="Arial"/>
            </a:endParaRPr>
          </a:p>
        </p:txBody>
      </p:sp>
      <p:sp>
        <p:nvSpPr>
          <p:cNvPr id="15" name="PlaceHolder 3"/>
          <p:cNvSpPr>
            <a:spLocks noGrp="1"/>
          </p:cNvSpPr>
          <p:nvPr>
            <p:ph type="body"/>
          </p:nvPr>
        </p:nvSpPr>
        <p:spPr>
          <a:xfrm>
            <a:off x="457110" y="3682080"/>
            <a:ext cx="4015710" cy="1896840"/>
          </a:xfrm>
          <a:prstGeom prst="rect">
            <a:avLst/>
          </a:prstGeom>
        </p:spPr>
        <p:txBody>
          <a:bodyPr lIns="0" tIns="0" rIns="0" bIns="0">
            <a:normAutofit/>
          </a:bodyPr>
          <a:lstStyle/>
          <a:p>
            <a:endParaRPr lang="en-US" sz="3200" b="0" strike="noStrike" spc="-1">
              <a:solidFill>
                <a:srgbClr val="000000"/>
              </a:solidFill>
              <a:uFill>
                <a:solidFill>
                  <a:srgbClr val="FFFFFF"/>
                </a:solidFill>
              </a:uFill>
              <a:latin typeface="Arial"/>
            </a:endParaRPr>
          </a:p>
        </p:txBody>
      </p:sp>
      <p:sp>
        <p:nvSpPr>
          <p:cNvPr id="16" name="PlaceHolder 4"/>
          <p:cNvSpPr>
            <a:spLocks noGrp="1"/>
          </p:cNvSpPr>
          <p:nvPr>
            <p:ph type="body"/>
          </p:nvPr>
        </p:nvSpPr>
        <p:spPr>
          <a:xfrm>
            <a:off x="4673970" y="1604520"/>
            <a:ext cx="4015710" cy="3977280"/>
          </a:xfrm>
          <a:prstGeom prst="rect">
            <a:avLst/>
          </a:prstGeom>
        </p:spPr>
        <p:txBody>
          <a:bodyPr lIns="0" tIns="0" rIns="0" bIns="0">
            <a:normAutofit/>
          </a:bodyPr>
          <a:lstStyle/>
          <a:p>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7" name="PlaceHolder 1"/>
          <p:cNvSpPr>
            <a:spLocks noGrp="1"/>
          </p:cNvSpPr>
          <p:nvPr>
            <p:ph type="title"/>
          </p:nvPr>
        </p:nvSpPr>
        <p:spPr>
          <a:xfrm>
            <a:off x="457110" y="273600"/>
            <a:ext cx="822933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18" name="PlaceHolder 2"/>
          <p:cNvSpPr>
            <a:spLocks noGrp="1"/>
          </p:cNvSpPr>
          <p:nvPr>
            <p:ph type="body"/>
          </p:nvPr>
        </p:nvSpPr>
        <p:spPr>
          <a:xfrm>
            <a:off x="457110" y="1604520"/>
            <a:ext cx="4015710" cy="3977280"/>
          </a:xfrm>
          <a:prstGeom prst="rect">
            <a:avLst/>
          </a:prstGeom>
        </p:spPr>
        <p:txBody>
          <a:bodyPr lIns="0" tIns="0" rIns="0" bIns="0">
            <a:normAutofit/>
          </a:bodyPr>
          <a:lstStyle/>
          <a:p>
            <a:endParaRPr lang="en-US" sz="3200" b="0" strike="noStrike" spc="-1">
              <a:solidFill>
                <a:srgbClr val="000000"/>
              </a:solidFill>
              <a:uFill>
                <a:solidFill>
                  <a:srgbClr val="FFFFFF"/>
                </a:solidFill>
              </a:uFill>
              <a:latin typeface="Arial"/>
            </a:endParaRPr>
          </a:p>
        </p:txBody>
      </p:sp>
      <p:sp>
        <p:nvSpPr>
          <p:cNvPr id="19" name="PlaceHolder 3"/>
          <p:cNvSpPr>
            <a:spLocks noGrp="1"/>
          </p:cNvSpPr>
          <p:nvPr>
            <p:ph type="body"/>
          </p:nvPr>
        </p:nvSpPr>
        <p:spPr>
          <a:xfrm>
            <a:off x="4673970" y="1604520"/>
            <a:ext cx="4015710" cy="1896840"/>
          </a:xfrm>
          <a:prstGeom prst="rect">
            <a:avLst/>
          </a:prstGeom>
        </p:spPr>
        <p:txBody>
          <a:bodyPr lIns="0" tIns="0" rIns="0" bIns="0">
            <a:normAutofit/>
          </a:bodyPr>
          <a:lstStyle/>
          <a:p>
            <a:endParaRPr lang="en-US" sz="3200" b="0" strike="noStrike" spc="-1">
              <a:solidFill>
                <a:srgbClr val="000000"/>
              </a:solidFill>
              <a:uFill>
                <a:solidFill>
                  <a:srgbClr val="FFFFFF"/>
                </a:solidFill>
              </a:uFill>
              <a:latin typeface="Arial"/>
            </a:endParaRPr>
          </a:p>
        </p:txBody>
      </p:sp>
      <p:sp>
        <p:nvSpPr>
          <p:cNvPr id="20" name="PlaceHolder 4"/>
          <p:cNvSpPr>
            <a:spLocks noGrp="1"/>
          </p:cNvSpPr>
          <p:nvPr>
            <p:ph type="body"/>
          </p:nvPr>
        </p:nvSpPr>
        <p:spPr>
          <a:xfrm>
            <a:off x="4673970" y="3682080"/>
            <a:ext cx="4015710" cy="1896840"/>
          </a:xfrm>
          <a:prstGeom prst="rect">
            <a:avLst/>
          </a:prstGeom>
        </p:spPr>
        <p:txBody>
          <a:bodyPr lIns="0" tIns="0" rIns="0" bIns="0">
            <a:normAutofit/>
          </a:bodyPr>
          <a:lstStyle/>
          <a:p>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1" name="PlaceHolder 1"/>
          <p:cNvSpPr>
            <a:spLocks noGrp="1"/>
          </p:cNvSpPr>
          <p:nvPr>
            <p:ph type="title"/>
          </p:nvPr>
        </p:nvSpPr>
        <p:spPr>
          <a:xfrm>
            <a:off x="457110" y="273600"/>
            <a:ext cx="822933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22" name="PlaceHolder 2"/>
          <p:cNvSpPr>
            <a:spLocks noGrp="1"/>
          </p:cNvSpPr>
          <p:nvPr>
            <p:ph type="body"/>
          </p:nvPr>
        </p:nvSpPr>
        <p:spPr>
          <a:xfrm>
            <a:off x="457110" y="1604520"/>
            <a:ext cx="4015710" cy="1896840"/>
          </a:xfrm>
          <a:prstGeom prst="rect">
            <a:avLst/>
          </a:prstGeom>
        </p:spPr>
        <p:txBody>
          <a:bodyPr lIns="0" tIns="0" rIns="0" bIns="0">
            <a:normAutofit/>
          </a:bodyPr>
          <a:lstStyle/>
          <a:p>
            <a:endParaRPr lang="en-US" sz="3200" b="0" strike="noStrike" spc="-1">
              <a:solidFill>
                <a:srgbClr val="000000"/>
              </a:solidFill>
              <a:uFill>
                <a:solidFill>
                  <a:srgbClr val="FFFFFF"/>
                </a:solidFill>
              </a:uFill>
              <a:latin typeface="Arial"/>
            </a:endParaRPr>
          </a:p>
        </p:txBody>
      </p:sp>
      <p:sp>
        <p:nvSpPr>
          <p:cNvPr id="23" name="PlaceHolder 3"/>
          <p:cNvSpPr>
            <a:spLocks noGrp="1"/>
          </p:cNvSpPr>
          <p:nvPr>
            <p:ph type="body"/>
          </p:nvPr>
        </p:nvSpPr>
        <p:spPr>
          <a:xfrm>
            <a:off x="4673970" y="1604520"/>
            <a:ext cx="4015710" cy="1896840"/>
          </a:xfrm>
          <a:prstGeom prst="rect">
            <a:avLst/>
          </a:prstGeom>
        </p:spPr>
        <p:txBody>
          <a:bodyPr lIns="0" tIns="0" rIns="0" bIns="0">
            <a:normAutofit/>
          </a:bodyPr>
          <a:lstStyle/>
          <a:p>
            <a:endParaRPr lang="en-US" sz="3200" b="0" strike="noStrike" spc="-1">
              <a:solidFill>
                <a:srgbClr val="000000"/>
              </a:solidFill>
              <a:uFill>
                <a:solidFill>
                  <a:srgbClr val="FFFFFF"/>
                </a:solidFill>
              </a:uFill>
              <a:latin typeface="Arial"/>
            </a:endParaRPr>
          </a:p>
        </p:txBody>
      </p:sp>
      <p:sp>
        <p:nvSpPr>
          <p:cNvPr id="24" name="PlaceHolder 4"/>
          <p:cNvSpPr>
            <a:spLocks noGrp="1"/>
          </p:cNvSpPr>
          <p:nvPr>
            <p:ph type="body"/>
          </p:nvPr>
        </p:nvSpPr>
        <p:spPr>
          <a:xfrm>
            <a:off x="457110" y="3682080"/>
            <a:ext cx="8229330" cy="1896840"/>
          </a:xfrm>
          <a:prstGeom prst="rect">
            <a:avLst/>
          </a:prstGeom>
        </p:spPr>
        <p:txBody>
          <a:bodyPr lIns="0" tIns="0" rIns="0" bIns="0">
            <a:normAutofit/>
          </a:bodyPr>
          <a:lstStyle/>
          <a:p>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5" name="PlaceHolder 1"/>
          <p:cNvSpPr>
            <a:spLocks noGrp="1"/>
          </p:cNvSpPr>
          <p:nvPr>
            <p:ph type="title"/>
          </p:nvPr>
        </p:nvSpPr>
        <p:spPr>
          <a:xfrm>
            <a:off x="457110" y="273600"/>
            <a:ext cx="822933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26" name="PlaceHolder 2"/>
          <p:cNvSpPr>
            <a:spLocks noGrp="1"/>
          </p:cNvSpPr>
          <p:nvPr>
            <p:ph type="body"/>
          </p:nvPr>
        </p:nvSpPr>
        <p:spPr>
          <a:xfrm>
            <a:off x="457110" y="1604520"/>
            <a:ext cx="8229330" cy="1896840"/>
          </a:xfrm>
          <a:prstGeom prst="rect">
            <a:avLst/>
          </a:prstGeom>
        </p:spPr>
        <p:txBody>
          <a:bodyPr lIns="0" tIns="0" rIns="0" bIns="0">
            <a:normAutofit/>
          </a:bodyPr>
          <a:lstStyle/>
          <a:p>
            <a:endParaRPr lang="en-US" sz="3200" b="0" strike="noStrike" spc="-1">
              <a:solidFill>
                <a:srgbClr val="000000"/>
              </a:solidFill>
              <a:uFill>
                <a:solidFill>
                  <a:srgbClr val="FFFFFF"/>
                </a:solidFill>
              </a:uFill>
              <a:latin typeface="Arial"/>
            </a:endParaRPr>
          </a:p>
        </p:txBody>
      </p:sp>
      <p:sp>
        <p:nvSpPr>
          <p:cNvPr id="27" name="PlaceHolder 3"/>
          <p:cNvSpPr>
            <a:spLocks noGrp="1"/>
          </p:cNvSpPr>
          <p:nvPr>
            <p:ph type="body"/>
          </p:nvPr>
        </p:nvSpPr>
        <p:spPr>
          <a:xfrm>
            <a:off x="457110" y="3682080"/>
            <a:ext cx="8229330" cy="1896840"/>
          </a:xfrm>
          <a:prstGeom prst="rect">
            <a:avLst/>
          </a:prstGeom>
        </p:spPr>
        <p:txBody>
          <a:bodyPr lIns="0" tIns="0" rIns="0" bIns="0">
            <a:normAutofit/>
          </a:bodyPr>
          <a:lstStyle/>
          <a:p>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8" name="PlaceHolder 1"/>
          <p:cNvSpPr>
            <a:spLocks noGrp="1"/>
          </p:cNvSpPr>
          <p:nvPr>
            <p:ph type="title"/>
          </p:nvPr>
        </p:nvSpPr>
        <p:spPr>
          <a:xfrm>
            <a:off x="457110" y="273600"/>
            <a:ext cx="822933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29" name="PlaceHolder 2"/>
          <p:cNvSpPr>
            <a:spLocks noGrp="1"/>
          </p:cNvSpPr>
          <p:nvPr>
            <p:ph type="body"/>
          </p:nvPr>
        </p:nvSpPr>
        <p:spPr>
          <a:xfrm>
            <a:off x="457110" y="1604520"/>
            <a:ext cx="4015710" cy="1896840"/>
          </a:xfrm>
          <a:prstGeom prst="rect">
            <a:avLst/>
          </a:prstGeom>
        </p:spPr>
        <p:txBody>
          <a:bodyPr lIns="0" tIns="0" rIns="0" bIns="0">
            <a:normAutofit/>
          </a:bodyPr>
          <a:lstStyle/>
          <a:p>
            <a:endParaRPr lang="en-US" sz="3200" b="0" strike="noStrike" spc="-1">
              <a:solidFill>
                <a:srgbClr val="000000"/>
              </a:solidFill>
              <a:uFill>
                <a:solidFill>
                  <a:srgbClr val="FFFFFF"/>
                </a:solidFill>
              </a:uFill>
              <a:latin typeface="Arial"/>
            </a:endParaRPr>
          </a:p>
        </p:txBody>
      </p:sp>
      <p:sp>
        <p:nvSpPr>
          <p:cNvPr id="30" name="PlaceHolder 3"/>
          <p:cNvSpPr>
            <a:spLocks noGrp="1"/>
          </p:cNvSpPr>
          <p:nvPr>
            <p:ph type="body"/>
          </p:nvPr>
        </p:nvSpPr>
        <p:spPr>
          <a:xfrm>
            <a:off x="4673970" y="1604520"/>
            <a:ext cx="4015710" cy="1896840"/>
          </a:xfrm>
          <a:prstGeom prst="rect">
            <a:avLst/>
          </a:prstGeom>
        </p:spPr>
        <p:txBody>
          <a:bodyPr lIns="0" tIns="0" rIns="0" bIns="0">
            <a:normAutofit/>
          </a:bodyPr>
          <a:lstStyle/>
          <a:p>
            <a:endParaRPr lang="en-US" sz="3200" b="0" strike="noStrike" spc="-1">
              <a:solidFill>
                <a:srgbClr val="000000"/>
              </a:solidFill>
              <a:uFill>
                <a:solidFill>
                  <a:srgbClr val="FFFFFF"/>
                </a:solidFill>
              </a:uFill>
              <a:latin typeface="Arial"/>
            </a:endParaRPr>
          </a:p>
        </p:txBody>
      </p:sp>
      <p:sp>
        <p:nvSpPr>
          <p:cNvPr id="31" name="PlaceHolder 4"/>
          <p:cNvSpPr>
            <a:spLocks noGrp="1"/>
          </p:cNvSpPr>
          <p:nvPr>
            <p:ph type="body"/>
          </p:nvPr>
        </p:nvSpPr>
        <p:spPr>
          <a:xfrm>
            <a:off x="4673970" y="3682080"/>
            <a:ext cx="4015710" cy="1896840"/>
          </a:xfrm>
          <a:prstGeom prst="rect">
            <a:avLst/>
          </a:prstGeom>
        </p:spPr>
        <p:txBody>
          <a:bodyPr lIns="0" tIns="0" rIns="0" bIns="0">
            <a:normAutofit/>
          </a:bodyPr>
          <a:lstStyle/>
          <a:p>
            <a:endParaRPr lang="en-US" sz="3200" b="0" strike="noStrike" spc="-1">
              <a:solidFill>
                <a:srgbClr val="000000"/>
              </a:solidFill>
              <a:uFill>
                <a:solidFill>
                  <a:srgbClr val="FFFFFF"/>
                </a:solidFill>
              </a:uFill>
              <a:latin typeface="Arial"/>
            </a:endParaRPr>
          </a:p>
        </p:txBody>
      </p:sp>
      <p:sp>
        <p:nvSpPr>
          <p:cNvPr id="32" name="PlaceHolder 5"/>
          <p:cNvSpPr>
            <a:spLocks noGrp="1"/>
          </p:cNvSpPr>
          <p:nvPr>
            <p:ph type="body"/>
          </p:nvPr>
        </p:nvSpPr>
        <p:spPr>
          <a:xfrm>
            <a:off x="457110" y="3682080"/>
            <a:ext cx="4015710" cy="1896840"/>
          </a:xfrm>
          <a:prstGeom prst="rect">
            <a:avLst/>
          </a:prstGeom>
        </p:spPr>
        <p:txBody>
          <a:bodyPr lIns="0" tIns="0" rIns="0" bIns="0">
            <a:normAutofit/>
          </a:bodyPr>
          <a:lstStyle/>
          <a:p>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457110" y="273600"/>
            <a:ext cx="822933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34" name="PlaceHolder 2"/>
          <p:cNvSpPr>
            <a:spLocks noGrp="1"/>
          </p:cNvSpPr>
          <p:nvPr>
            <p:ph type="body"/>
          </p:nvPr>
        </p:nvSpPr>
        <p:spPr>
          <a:xfrm>
            <a:off x="457110" y="1604520"/>
            <a:ext cx="2649780" cy="1896840"/>
          </a:xfrm>
          <a:prstGeom prst="rect">
            <a:avLst/>
          </a:prstGeom>
        </p:spPr>
        <p:txBody>
          <a:bodyPr lIns="0" tIns="0" rIns="0" bIns="0">
            <a:normAutofit/>
          </a:bodyPr>
          <a:lstStyle/>
          <a:p>
            <a:endParaRPr lang="en-US" sz="3200" b="0" strike="noStrike" spc="-1">
              <a:solidFill>
                <a:srgbClr val="000000"/>
              </a:solidFill>
              <a:uFill>
                <a:solidFill>
                  <a:srgbClr val="FFFFFF"/>
                </a:solidFill>
              </a:uFill>
              <a:latin typeface="Arial"/>
            </a:endParaRPr>
          </a:p>
        </p:txBody>
      </p:sp>
      <p:sp>
        <p:nvSpPr>
          <p:cNvPr id="35" name="PlaceHolder 3"/>
          <p:cNvSpPr>
            <a:spLocks noGrp="1"/>
          </p:cNvSpPr>
          <p:nvPr>
            <p:ph type="body"/>
          </p:nvPr>
        </p:nvSpPr>
        <p:spPr>
          <a:xfrm>
            <a:off x="3239730" y="1604520"/>
            <a:ext cx="2649780" cy="1896840"/>
          </a:xfrm>
          <a:prstGeom prst="rect">
            <a:avLst/>
          </a:prstGeom>
        </p:spPr>
        <p:txBody>
          <a:bodyPr lIns="0" tIns="0" rIns="0" bIns="0">
            <a:normAutofit/>
          </a:bodyPr>
          <a:lstStyle/>
          <a:p>
            <a:endParaRPr lang="en-US" sz="3200" b="0" strike="noStrike" spc="-1">
              <a:solidFill>
                <a:srgbClr val="000000"/>
              </a:solidFill>
              <a:uFill>
                <a:solidFill>
                  <a:srgbClr val="FFFFFF"/>
                </a:solidFill>
              </a:uFill>
              <a:latin typeface="Arial"/>
            </a:endParaRPr>
          </a:p>
        </p:txBody>
      </p:sp>
      <p:sp>
        <p:nvSpPr>
          <p:cNvPr id="36" name="PlaceHolder 4"/>
          <p:cNvSpPr>
            <a:spLocks noGrp="1"/>
          </p:cNvSpPr>
          <p:nvPr>
            <p:ph type="body"/>
          </p:nvPr>
        </p:nvSpPr>
        <p:spPr>
          <a:xfrm>
            <a:off x="6022350" y="1604520"/>
            <a:ext cx="2649780" cy="1896840"/>
          </a:xfrm>
          <a:prstGeom prst="rect">
            <a:avLst/>
          </a:prstGeom>
        </p:spPr>
        <p:txBody>
          <a:bodyPr lIns="0" tIns="0" rIns="0" bIns="0">
            <a:normAutofit/>
          </a:bodyPr>
          <a:lstStyle/>
          <a:p>
            <a:endParaRPr lang="en-US" sz="3200" b="0" strike="noStrike" spc="-1">
              <a:solidFill>
                <a:srgbClr val="000000"/>
              </a:solidFill>
              <a:uFill>
                <a:solidFill>
                  <a:srgbClr val="FFFFFF"/>
                </a:solidFill>
              </a:uFill>
              <a:latin typeface="Arial"/>
            </a:endParaRPr>
          </a:p>
        </p:txBody>
      </p:sp>
      <p:sp>
        <p:nvSpPr>
          <p:cNvPr id="37" name="PlaceHolder 5"/>
          <p:cNvSpPr>
            <a:spLocks noGrp="1"/>
          </p:cNvSpPr>
          <p:nvPr>
            <p:ph type="body"/>
          </p:nvPr>
        </p:nvSpPr>
        <p:spPr>
          <a:xfrm>
            <a:off x="6022350" y="3682080"/>
            <a:ext cx="2649780" cy="1896840"/>
          </a:xfrm>
          <a:prstGeom prst="rect">
            <a:avLst/>
          </a:prstGeom>
        </p:spPr>
        <p:txBody>
          <a:bodyPr lIns="0" tIns="0" rIns="0" bIns="0">
            <a:normAutofit/>
          </a:bodyPr>
          <a:lstStyle/>
          <a:p>
            <a:endParaRPr lang="en-US" sz="3200" b="0" strike="noStrike" spc="-1">
              <a:solidFill>
                <a:srgbClr val="000000"/>
              </a:solidFill>
              <a:uFill>
                <a:solidFill>
                  <a:srgbClr val="FFFFFF"/>
                </a:solidFill>
              </a:uFill>
              <a:latin typeface="Arial"/>
            </a:endParaRPr>
          </a:p>
        </p:txBody>
      </p:sp>
      <p:sp>
        <p:nvSpPr>
          <p:cNvPr id="38" name="PlaceHolder 6"/>
          <p:cNvSpPr>
            <a:spLocks noGrp="1"/>
          </p:cNvSpPr>
          <p:nvPr>
            <p:ph type="body"/>
          </p:nvPr>
        </p:nvSpPr>
        <p:spPr>
          <a:xfrm>
            <a:off x="3239730" y="3682080"/>
            <a:ext cx="2649780" cy="1896840"/>
          </a:xfrm>
          <a:prstGeom prst="rect">
            <a:avLst/>
          </a:prstGeom>
        </p:spPr>
        <p:txBody>
          <a:bodyPr lIns="0" tIns="0" rIns="0" bIns="0">
            <a:normAutofit/>
          </a:bodyPr>
          <a:lstStyle/>
          <a:p>
            <a:endParaRPr lang="en-US" sz="3200" b="0" strike="noStrike" spc="-1">
              <a:solidFill>
                <a:srgbClr val="000000"/>
              </a:solidFill>
              <a:uFill>
                <a:solidFill>
                  <a:srgbClr val="FFFFFF"/>
                </a:solidFill>
              </a:uFill>
              <a:latin typeface="Arial"/>
            </a:endParaRPr>
          </a:p>
        </p:txBody>
      </p:sp>
      <p:sp>
        <p:nvSpPr>
          <p:cNvPr id="39" name="PlaceHolder 7"/>
          <p:cNvSpPr>
            <a:spLocks noGrp="1"/>
          </p:cNvSpPr>
          <p:nvPr>
            <p:ph type="body"/>
          </p:nvPr>
        </p:nvSpPr>
        <p:spPr>
          <a:xfrm>
            <a:off x="457110" y="3682080"/>
            <a:ext cx="2649780" cy="1896840"/>
          </a:xfrm>
          <a:prstGeom prst="rect">
            <a:avLst/>
          </a:prstGeom>
        </p:spPr>
        <p:txBody>
          <a:bodyPr lIns="0" tIns="0" rIns="0" bIns="0">
            <a:normAutofit/>
          </a:bodyPr>
          <a:lstStyle/>
          <a:p>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PlaceHolder 2"/>
          <p:cNvSpPr>
            <a:spLocks noGrp="1"/>
          </p:cNvSpPr>
          <p:nvPr>
            <p:ph type="title"/>
          </p:nvPr>
        </p:nvSpPr>
        <p:spPr>
          <a:xfrm>
            <a:off x="628560" y="365040"/>
            <a:ext cx="7886160" cy="660600"/>
          </a:xfrm>
          <a:prstGeom prst="rect">
            <a:avLst/>
          </a:prstGeom>
        </p:spPr>
        <p:txBody>
          <a:bodyPr lIns="0" tIns="0" rIns="0" bIns="0" anchor="ctr"/>
          <a:lstStyle/>
          <a:p>
            <a:r>
              <a:rPr lang="en-US" sz="1800" b="0" strike="noStrike" spc="-1">
                <a:solidFill>
                  <a:srgbClr val="000000"/>
                </a:solidFill>
                <a:uFill>
                  <a:solidFill>
                    <a:srgbClr val="FFFFFF"/>
                  </a:solidFill>
                </a:uFill>
                <a:latin typeface="Arial"/>
              </a:rPr>
              <a:t>請按這裡編輯題名文字格式</a:t>
            </a:r>
          </a:p>
        </p:txBody>
      </p:sp>
      <p:sp>
        <p:nvSpPr>
          <p:cNvPr id="3" name="PlaceHolder 3"/>
          <p:cNvSpPr>
            <a:spLocks noGrp="1"/>
          </p:cNvSpPr>
          <p:nvPr>
            <p:ph type="body"/>
          </p:nvPr>
        </p:nvSpPr>
        <p:spPr>
          <a:xfrm>
            <a:off x="457110" y="1604520"/>
            <a:ext cx="822933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n-US" sz="3200" b="0" strike="noStrike" spc="-1">
                <a:solidFill>
                  <a:srgbClr val="000000"/>
                </a:solidFill>
                <a:uFill>
                  <a:solidFill>
                    <a:srgbClr val="FFFFFF"/>
                  </a:solidFill>
                </a:uFill>
                <a:latin typeface="Arial"/>
              </a:rPr>
              <a:t>請按這裡編輯大綱文字格式。</a:t>
            </a:r>
          </a:p>
          <a:p>
            <a:pPr marL="864000" lvl="1" indent="-324000">
              <a:spcBef>
                <a:spcPts val="1134"/>
              </a:spcBef>
              <a:buClr>
                <a:srgbClr val="000000"/>
              </a:buClr>
              <a:buSzPct val="75000"/>
              <a:buFont typeface="Symbol" charset="2"/>
              <a:buChar char=""/>
            </a:pPr>
            <a:r>
              <a:rPr lang="en-US" sz="2800" b="0" strike="noStrike" spc="-1">
                <a:solidFill>
                  <a:srgbClr val="000000"/>
                </a:solidFill>
                <a:uFill>
                  <a:solidFill>
                    <a:srgbClr val="FFFFFF"/>
                  </a:solidFill>
                </a:uFill>
                <a:latin typeface="Arial"/>
              </a:rPr>
              <a:t>第二個大綱層次</a:t>
            </a:r>
          </a:p>
          <a:p>
            <a:pPr marL="1296000" lvl="2" indent="-288000">
              <a:spcBef>
                <a:spcPts val="850"/>
              </a:spcBef>
              <a:buClr>
                <a:srgbClr val="000000"/>
              </a:buClr>
              <a:buSzPct val="45000"/>
              <a:buFont typeface="Wingdings" charset="2"/>
              <a:buChar char=""/>
            </a:pPr>
            <a:r>
              <a:rPr lang="en-US" sz="2400" b="0" strike="noStrike" spc="-1">
                <a:solidFill>
                  <a:srgbClr val="000000"/>
                </a:solidFill>
                <a:uFill>
                  <a:solidFill>
                    <a:srgbClr val="FFFFFF"/>
                  </a:solidFill>
                </a:uFill>
                <a:latin typeface="Arial"/>
              </a:rPr>
              <a:t>第三個大綱層次</a:t>
            </a:r>
          </a:p>
          <a:p>
            <a:pPr marL="1728000" lvl="3" indent="-216000">
              <a:spcBef>
                <a:spcPts val="567"/>
              </a:spcBef>
              <a:buClr>
                <a:srgbClr val="000000"/>
              </a:buClr>
              <a:buSzPct val="75000"/>
              <a:buFont typeface="Symbol" charset="2"/>
              <a:buChar char=""/>
            </a:pPr>
            <a:r>
              <a:rPr lang="en-US" sz="2000" b="0" strike="noStrike" spc="-1">
                <a:solidFill>
                  <a:srgbClr val="000000"/>
                </a:solidFill>
                <a:uFill>
                  <a:solidFill>
                    <a:srgbClr val="FFFFFF"/>
                  </a:solidFill>
                </a:uFill>
                <a:latin typeface="Arial"/>
              </a:rPr>
              <a:t>第四個大綱層次</a:t>
            </a:r>
          </a:p>
          <a:p>
            <a:pPr marL="2160000" lvl="4" indent="-216000">
              <a:spcBef>
                <a:spcPts val="283"/>
              </a:spcBef>
              <a:buClr>
                <a:srgbClr val="000000"/>
              </a:buClr>
              <a:buSzPct val="45000"/>
              <a:buFont typeface="Wingdings" charset="2"/>
              <a:buChar char=""/>
            </a:pPr>
            <a:r>
              <a:rPr lang="en-US" sz="2000" b="0" strike="noStrike" spc="-1">
                <a:solidFill>
                  <a:srgbClr val="000000"/>
                </a:solidFill>
                <a:uFill>
                  <a:solidFill>
                    <a:srgbClr val="FFFFFF"/>
                  </a:solidFill>
                </a:uFill>
                <a:latin typeface="Arial"/>
              </a:rPr>
              <a:t>第五個大綱層次</a:t>
            </a:r>
          </a:p>
          <a:p>
            <a:pPr marL="2592000" lvl="5" indent="-216000">
              <a:spcBef>
                <a:spcPts val="283"/>
              </a:spcBef>
              <a:buClr>
                <a:srgbClr val="000000"/>
              </a:buClr>
              <a:buSzPct val="45000"/>
              <a:buFont typeface="Wingdings" charset="2"/>
              <a:buChar char=""/>
            </a:pPr>
            <a:r>
              <a:rPr lang="en-US" sz="2000" b="0" strike="noStrike" spc="-1">
                <a:solidFill>
                  <a:srgbClr val="000000"/>
                </a:solidFill>
                <a:uFill>
                  <a:solidFill>
                    <a:srgbClr val="FFFFFF"/>
                  </a:solidFill>
                </a:uFill>
                <a:latin typeface="Arial"/>
              </a:rPr>
              <a:t>第六個大綱層次</a:t>
            </a:r>
          </a:p>
          <a:p>
            <a:pPr marL="3024000" lvl="6" indent="-216000">
              <a:spcBef>
                <a:spcPts val="283"/>
              </a:spcBef>
              <a:buClr>
                <a:srgbClr val="000000"/>
              </a:buClr>
              <a:buSzPct val="45000"/>
              <a:buFont typeface="Wingdings" charset="2"/>
              <a:buChar char=""/>
            </a:pPr>
            <a:r>
              <a:rPr lang="en-US" sz="2000" b="0" strike="noStrike" spc="-1">
                <a:solidFill>
                  <a:srgbClr val="000000"/>
                </a:solidFill>
                <a:uFill>
                  <a:solidFill>
                    <a:srgbClr val="FFFFFF"/>
                  </a:solidFill>
                </a:uFill>
                <a:latin typeface="Arial"/>
              </a:rPr>
              <a:t>第七個大綱層次</a:t>
            </a:r>
          </a:p>
        </p:txBody>
      </p:sp>
      <p:pic>
        <p:nvPicPr>
          <p:cNvPr id="4" name="Picture 2">
            <a:extLst>
              <a:ext uri="{FF2B5EF4-FFF2-40B4-BE49-F238E27FC236}">
                <a16:creationId xmlns:a16="http://schemas.microsoft.com/office/drawing/2014/main" id="{E21C918F-C4B5-4C23-8CC2-BA750E41DC7E}"/>
              </a:ext>
            </a:extLst>
          </p:cNvPr>
          <p:cNvPicPr/>
          <p:nvPr userDrawn="1"/>
        </p:nvPicPr>
        <p:blipFill>
          <a:blip r:embed="rId14"/>
          <a:stretch/>
        </p:blipFill>
        <p:spPr>
          <a:xfrm>
            <a:off x="7847280" y="0"/>
            <a:ext cx="1296720" cy="1296720"/>
          </a:xfrm>
          <a:prstGeom prst="rect">
            <a:avLst/>
          </a:prstGeom>
          <a:ln>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432000" indent="-324000" algn="l" defTabSz="914400" rtl="0" eaLnBrk="1" latinLnBrk="0" hangingPunct="1">
        <a:lnSpc>
          <a:spcPct val="90000"/>
        </a:lnSpc>
        <a:spcBef>
          <a:spcPts val="1417"/>
        </a:spcBef>
        <a:buClr>
          <a:srgbClr val="000000"/>
        </a:buClr>
        <a:buSzPct val="45000"/>
        <a:buFont typeface="Wingdings" charset="2"/>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3.xml"/><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png"/><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3.xml"/><Relationship Id="rId5" Type="http://schemas.openxmlformats.org/officeDocument/2006/relationships/image" Target="../media/image15.jpeg"/><Relationship Id="rId4" Type="http://schemas.openxmlformats.org/officeDocument/2006/relationships/image" Target="../media/image14.jpeg"/></Relationships>
</file>

<file path=ppt/slides/_rels/slide9.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png"/><Relationship Id="rId1" Type="http://schemas.openxmlformats.org/officeDocument/2006/relationships/slideLayout" Target="../slideLayouts/slideLayout3.xml"/><Relationship Id="rId6" Type="http://schemas.openxmlformats.org/officeDocument/2006/relationships/image" Target="../media/image20.png"/><Relationship Id="rId11" Type="http://schemas.openxmlformats.org/officeDocument/2006/relationships/image" Target="../media/image25.png"/><Relationship Id="rId5" Type="http://schemas.openxmlformats.org/officeDocument/2006/relationships/image" Target="../media/image19.pn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29.png"/><Relationship Id="rId2" Type="http://schemas.openxmlformats.org/officeDocument/2006/relationships/image" Target="../media/image26.png"/><Relationship Id="rId1" Type="http://schemas.openxmlformats.org/officeDocument/2006/relationships/slideLayout" Target="../slideLayouts/slideLayout3.xml"/><Relationship Id="rId6" Type="http://schemas.openxmlformats.org/officeDocument/2006/relationships/image" Target="../media/image28.png"/><Relationship Id="rId5" Type="http://schemas.openxmlformats.org/officeDocument/2006/relationships/image" Target="../media/image3.png"/><Relationship Id="rId4" Type="http://schemas.openxmlformats.org/officeDocument/2006/relationships/image" Target="../media/image27.png"/></Relationships>
</file>

<file path=ppt/slides/_rels/slide1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32.png"/><Relationship Id="rId7" Type="http://schemas.openxmlformats.org/officeDocument/2006/relationships/image" Target="../media/image36.png"/><Relationship Id="rId2" Type="http://schemas.openxmlformats.org/officeDocument/2006/relationships/image" Target="../media/image31.png"/><Relationship Id="rId1" Type="http://schemas.openxmlformats.org/officeDocument/2006/relationships/slideLayout" Target="../slideLayouts/slideLayout1.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 Id="rId9" Type="http://schemas.openxmlformats.org/officeDocument/2006/relationships/image" Target="../media/image38.png"/></Relationships>
</file>

<file path=ppt/slides/_rels/slide1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17.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45.png"/><Relationship Id="rId3" Type="http://schemas.openxmlformats.org/officeDocument/2006/relationships/image" Target="../media/image34.png"/><Relationship Id="rId7" Type="http://schemas.openxmlformats.org/officeDocument/2006/relationships/image" Target="../media/image41.wmf"/><Relationship Id="rId12" Type="http://schemas.openxmlformats.org/officeDocument/2006/relationships/image" Target="../media/image44.jpeg"/><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oleObject" Target="../embeddings/oleObject1.bin"/><Relationship Id="rId11" Type="http://schemas.openxmlformats.org/officeDocument/2006/relationships/image" Target="../media/image43.png"/><Relationship Id="rId5" Type="http://schemas.openxmlformats.org/officeDocument/2006/relationships/image" Target="../media/image42.jpeg"/><Relationship Id="rId10" Type="http://schemas.openxmlformats.org/officeDocument/2006/relationships/image" Target="../media/image38.png"/><Relationship Id="rId4" Type="http://schemas.openxmlformats.org/officeDocument/2006/relationships/image" Target="../media/image35.png"/><Relationship Id="rId9" Type="http://schemas.openxmlformats.org/officeDocument/2006/relationships/image" Target="../media/image37.png"/></Relationships>
</file>

<file path=ppt/slides/_rels/slide18.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image" Target="../media/image52.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29.png"/><Relationship Id="rId1" Type="http://schemas.openxmlformats.org/officeDocument/2006/relationships/slideLayout" Target="../slideLayouts/slideLayout1.xml"/><Relationship Id="rId5" Type="http://schemas.openxmlformats.org/officeDocument/2006/relationships/image" Target="../media/image51.png"/><Relationship Id="rId4" Type="http://schemas.openxmlformats.org/officeDocument/2006/relationships/image" Target="../media/image34.png"/></Relationships>
</file>

<file path=ppt/slides/_rels/slide24.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slideLayout" Target="../slideLayouts/slideLayout1.xml"/><Relationship Id="rId1" Type="http://schemas.openxmlformats.org/officeDocument/2006/relationships/vmlDrawing" Target="../drawings/vmlDrawing2.vml"/><Relationship Id="rId5" Type="http://schemas.openxmlformats.org/officeDocument/2006/relationships/image" Target="../media/image55.wmf"/><Relationship Id="rId4" Type="http://schemas.openxmlformats.org/officeDocument/2006/relationships/oleObject" Target="../embeddings/oleObject2.bin"/></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a:extLst>
              <a:ext uri="{FF2B5EF4-FFF2-40B4-BE49-F238E27FC236}">
                <a16:creationId xmlns:a16="http://schemas.microsoft.com/office/drawing/2014/main" id="{1A94D0AD-8C14-42FE-86A9-371E2825AF09}"/>
              </a:ext>
            </a:extLst>
          </p:cNvPr>
          <p:cNvSpPr txBox="1">
            <a:spLocks/>
          </p:cNvSpPr>
          <p:nvPr/>
        </p:nvSpPr>
        <p:spPr>
          <a:xfrm>
            <a:off x="799069" y="1121240"/>
            <a:ext cx="7297711" cy="742950"/>
          </a:xfrm>
          <a:prstGeom prst="rect">
            <a:avLst/>
          </a:prstGeom>
        </p:spPr>
        <p:txBody>
          <a:bodyPr lIns="0" tIns="0" rIns="0" bIns="0"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TW" altLang="en-US" sz="3600" dirty="0">
                <a:latin typeface="Adobe 繁黑體 Std B" panose="020B0700000000000000" pitchFamily="34" charset="-120"/>
                <a:ea typeface="Adobe 繁黑體 Std B" panose="020B0700000000000000" pitchFamily="34" charset="-120"/>
              </a:rPr>
              <a:t>智慧型可擺動電風扇製作與控制</a:t>
            </a:r>
          </a:p>
        </p:txBody>
      </p:sp>
      <p:sp>
        <p:nvSpPr>
          <p:cNvPr id="6" name="文字方塊 5">
            <a:extLst>
              <a:ext uri="{FF2B5EF4-FFF2-40B4-BE49-F238E27FC236}">
                <a16:creationId xmlns:a16="http://schemas.microsoft.com/office/drawing/2014/main" id="{2B461306-2B74-411E-8B0E-851929D20CAB}"/>
              </a:ext>
            </a:extLst>
          </p:cNvPr>
          <p:cNvSpPr txBox="1"/>
          <p:nvPr/>
        </p:nvSpPr>
        <p:spPr>
          <a:xfrm>
            <a:off x="799070" y="601012"/>
            <a:ext cx="3252814" cy="300082"/>
          </a:xfrm>
          <a:prstGeom prst="rect">
            <a:avLst/>
          </a:prstGeom>
          <a:noFill/>
        </p:spPr>
        <p:txBody>
          <a:bodyPr wrap="none" rtlCol="0">
            <a:spAutoFit/>
          </a:bodyPr>
          <a:lstStyle/>
          <a:p>
            <a:r>
              <a:rPr lang="en-US" altLang="zh-TW" sz="1350" dirty="0">
                <a:ea typeface="Adobe 仿宋 Std R" panose="02020400000000000000" pitchFamily="18" charset="-128"/>
              </a:rPr>
              <a:t>2024.6.12 </a:t>
            </a:r>
            <a:r>
              <a:rPr lang="zh-TW" altLang="en-US" sz="1350" dirty="0">
                <a:ea typeface="Adobe 仿宋 Std R" panose="02020400000000000000" pitchFamily="18" charset="-128"/>
              </a:rPr>
              <a:t>高雄市中正科技中心教師研習</a:t>
            </a:r>
          </a:p>
        </p:txBody>
      </p:sp>
      <p:sp>
        <p:nvSpPr>
          <p:cNvPr id="7" name="文字方塊 20">
            <a:extLst>
              <a:ext uri="{FF2B5EF4-FFF2-40B4-BE49-F238E27FC236}">
                <a16:creationId xmlns:a16="http://schemas.microsoft.com/office/drawing/2014/main" id="{CE8E7A8F-6295-4107-9420-CE5FE1BD3AD2}"/>
              </a:ext>
            </a:extLst>
          </p:cNvPr>
          <p:cNvSpPr txBox="1">
            <a:spLocks noChangeArrowheads="1"/>
          </p:cNvSpPr>
          <p:nvPr/>
        </p:nvSpPr>
        <p:spPr bwMode="auto">
          <a:xfrm>
            <a:off x="6316147" y="5724651"/>
            <a:ext cx="264687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a:solidFill>
                  <a:schemeClr val="tx1"/>
                </a:solidFill>
                <a:latin typeface="Arial" pitchFamily="34" charset="0"/>
                <a:ea typeface="新細明體" pitchFamily="18" charset="-120"/>
              </a:defRPr>
            </a:lvl1pPr>
            <a:lvl2pPr marL="742950" indent="-285750" eaLnBrk="0" hangingPunct="0">
              <a:defRPr kumimoji="1">
                <a:solidFill>
                  <a:schemeClr val="tx1"/>
                </a:solidFill>
                <a:latin typeface="Arial" pitchFamily="34" charset="0"/>
                <a:ea typeface="新細明體" pitchFamily="18" charset="-120"/>
              </a:defRPr>
            </a:lvl2pPr>
            <a:lvl3pPr marL="1143000" indent="-228600" eaLnBrk="0" hangingPunct="0">
              <a:defRPr kumimoji="1">
                <a:solidFill>
                  <a:schemeClr val="tx1"/>
                </a:solidFill>
                <a:latin typeface="Arial" pitchFamily="34" charset="0"/>
                <a:ea typeface="新細明體" pitchFamily="18" charset="-120"/>
              </a:defRPr>
            </a:lvl3pPr>
            <a:lvl4pPr marL="1600200" indent="-228600" eaLnBrk="0" hangingPunct="0">
              <a:defRPr kumimoji="1">
                <a:solidFill>
                  <a:schemeClr val="tx1"/>
                </a:solidFill>
                <a:latin typeface="Arial" pitchFamily="34" charset="0"/>
                <a:ea typeface="新細明體" pitchFamily="18" charset="-120"/>
              </a:defRPr>
            </a:lvl4pPr>
            <a:lvl5pPr marL="2057400" indent="-228600" eaLnBrk="0" hangingPunct="0">
              <a:defRPr kumimoji="1">
                <a:solidFill>
                  <a:schemeClr val="tx1"/>
                </a:solidFill>
                <a:latin typeface="Arial" pitchFamily="34"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pitchFamily="34"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pitchFamily="34"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pitchFamily="34"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pitchFamily="34" charset="0"/>
                <a:ea typeface="新細明體" pitchFamily="18" charset="-120"/>
              </a:defRPr>
            </a:lvl9pPr>
          </a:lstStyle>
          <a:p>
            <a:pPr eaLnBrk="1" hangingPunct="1"/>
            <a:r>
              <a:rPr lang="zh-TW" altLang="en-US" sz="1200" dirty="0">
                <a:latin typeface="Adobe 仿宋 Std R" panose="02020400000000000000" pitchFamily="18" charset="-128"/>
                <a:ea typeface="Adobe 仿宋 Std R" panose="02020400000000000000" pitchFamily="18" charset="-128"/>
              </a:rPr>
              <a:t>講師：</a:t>
            </a:r>
            <a:endParaRPr lang="en-US" altLang="zh-TW" sz="1200" dirty="0">
              <a:latin typeface="Adobe 仿宋 Std R" panose="02020400000000000000" pitchFamily="18" charset="-128"/>
              <a:ea typeface="Adobe 仿宋 Std R" panose="02020400000000000000" pitchFamily="18" charset="-128"/>
            </a:endParaRPr>
          </a:p>
          <a:p>
            <a:pPr eaLnBrk="1" hangingPunct="1"/>
            <a:r>
              <a:rPr lang="zh-TW" altLang="en-US" sz="1200" dirty="0">
                <a:latin typeface="Adobe 仿宋 Std R" panose="02020400000000000000" pitchFamily="18" charset="-128"/>
                <a:ea typeface="Adobe 仿宋 Std R" panose="02020400000000000000" pitchFamily="18" charset="-128"/>
              </a:rPr>
              <a:t>羅治民 博士</a:t>
            </a:r>
            <a:endParaRPr lang="en-US" altLang="zh-TW" sz="1200" dirty="0">
              <a:latin typeface="Adobe 仿宋 Std R" panose="02020400000000000000" pitchFamily="18" charset="-128"/>
              <a:ea typeface="Adobe 仿宋 Std R" panose="02020400000000000000" pitchFamily="18" charset="-128"/>
            </a:endParaRPr>
          </a:p>
          <a:p>
            <a:pPr eaLnBrk="1" hangingPunct="1"/>
            <a:r>
              <a:rPr lang="zh-TW" altLang="en-US" sz="1200" dirty="0">
                <a:latin typeface="Adobe 仿宋 Std R" panose="02020400000000000000" pitchFamily="18" charset="-128"/>
                <a:ea typeface="Adobe 仿宋 Std R" panose="02020400000000000000" pitchFamily="18" charset="-128"/>
              </a:rPr>
              <a:t>國立台北商業大學數位多媒體設計系</a:t>
            </a:r>
            <a:endParaRPr lang="en-US" altLang="zh-TW" sz="1200" dirty="0">
              <a:latin typeface="Adobe 仿宋 Std R" panose="02020400000000000000" pitchFamily="18" charset="-128"/>
              <a:ea typeface="Adobe 仿宋 Std R" panose="02020400000000000000" pitchFamily="18" charset="-128"/>
            </a:endParaRPr>
          </a:p>
          <a:p>
            <a:pPr eaLnBrk="1" hangingPunct="1"/>
            <a:r>
              <a:rPr lang="zh-TW" altLang="en-US" sz="1200" dirty="0">
                <a:latin typeface="Adobe 仿宋 Std R" panose="02020400000000000000" pitchFamily="18" charset="-128"/>
                <a:ea typeface="Adobe 仿宋 Std R" panose="02020400000000000000" pitchFamily="18" charset="-128"/>
              </a:rPr>
              <a:t>電子郵件：</a:t>
            </a:r>
            <a:r>
              <a:rPr lang="en-US" altLang="zh-TW" sz="1200" dirty="0">
                <a:latin typeface="Adobe 仿宋 Std R" panose="02020400000000000000" pitchFamily="18" charset="-128"/>
                <a:ea typeface="Adobe 仿宋 Std R" panose="02020400000000000000" pitchFamily="18" charset="-128"/>
              </a:rPr>
              <a:t>cmlotw@ntub.edu.tw</a:t>
            </a:r>
          </a:p>
        </p:txBody>
      </p:sp>
      <p:sp>
        <p:nvSpPr>
          <p:cNvPr id="8" name="文字方塊 7">
            <a:extLst>
              <a:ext uri="{FF2B5EF4-FFF2-40B4-BE49-F238E27FC236}">
                <a16:creationId xmlns:a16="http://schemas.microsoft.com/office/drawing/2014/main" id="{8A683A86-484F-4C79-B79E-32EDD4D2BB1C}"/>
              </a:ext>
            </a:extLst>
          </p:cNvPr>
          <p:cNvSpPr txBox="1"/>
          <p:nvPr/>
        </p:nvSpPr>
        <p:spPr>
          <a:xfrm>
            <a:off x="799069" y="1960854"/>
            <a:ext cx="5089855" cy="1477328"/>
          </a:xfrm>
          <a:prstGeom prst="rect">
            <a:avLst/>
          </a:prstGeom>
          <a:noFill/>
        </p:spPr>
        <p:txBody>
          <a:bodyPr wrap="none" rtlCol="0">
            <a:spAutoFit/>
          </a:bodyPr>
          <a:lstStyle/>
          <a:p>
            <a:r>
              <a:rPr lang="zh-TW" altLang="en-US" dirty="0">
                <a:latin typeface="Adobe 仿宋 Std R" panose="02020400000000000000" pitchFamily="18" charset="-128"/>
                <a:ea typeface="Adobe 仿宋 Std R" panose="02020400000000000000" pitchFamily="18" charset="-128"/>
              </a:rPr>
              <a:t>教具製作學習主題：</a:t>
            </a:r>
            <a:endParaRPr lang="en-US" altLang="zh-TW" dirty="0">
              <a:latin typeface="Adobe 仿宋 Std R" panose="02020400000000000000" pitchFamily="18" charset="-128"/>
              <a:ea typeface="Adobe 仿宋 Std R" panose="02020400000000000000" pitchFamily="18" charset="-128"/>
            </a:endParaRPr>
          </a:p>
          <a:p>
            <a:pPr marL="285750" indent="-285750">
              <a:buBlip>
                <a:blip r:embed="rId2"/>
              </a:buBlip>
            </a:pPr>
            <a:r>
              <a:rPr lang="zh-TW" altLang="en-US" dirty="0">
                <a:solidFill>
                  <a:schemeClr val="tx1">
                    <a:lumMod val="65000"/>
                    <a:lumOff val="35000"/>
                  </a:schemeClr>
                </a:solidFill>
                <a:latin typeface="Adobe 仿宋 Std R" panose="02020400000000000000" pitchFamily="18" charset="-128"/>
                <a:ea typeface="Adobe 仿宋 Std R" panose="02020400000000000000" pitchFamily="18" charset="-128"/>
              </a:rPr>
              <a:t>能源與動力、結構與傳動機構。</a:t>
            </a:r>
            <a:endParaRPr lang="en-US" altLang="zh-TW" dirty="0">
              <a:solidFill>
                <a:schemeClr val="tx1">
                  <a:lumMod val="65000"/>
                  <a:lumOff val="35000"/>
                </a:schemeClr>
              </a:solidFill>
              <a:latin typeface="Adobe 仿宋 Std R" panose="02020400000000000000" pitchFamily="18" charset="-128"/>
              <a:ea typeface="Adobe 仿宋 Std R" panose="02020400000000000000" pitchFamily="18" charset="-128"/>
            </a:endParaRPr>
          </a:p>
          <a:p>
            <a:pPr marL="285750" indent="-285750">
              <a:buBlip>
                <a:blip r:embed="rId2"/>
              </a:buBlip>
            </a:pPr>
            <a:r>
              <a:rPr lang="zh-TW" altLang="en-US" dirty="0">
                <a:solidFill>
                  <a:schemeClr val="tx1">
                    <a:lumMod val="65000"/>
                    <a:lumOff val="35000"/>
                  </a:schemeClr>
                </a:solidFill>
                <a:latin typeface="Adobe 仿宋 Std R" panose="02020400000000000000" pitchFamily="18" charset="-128"/>
                <a:ea typeface="Adobe 仿宋 Std R" panose="02020400000000000000" pitchFamily="18" charset="-128"/>
              </a:rPr>
              <a:t>齒輪傳動機構，包括動力方向及速率的改變。</a:t>
            </a:r>
            <a:endParaRPr lang="en-US" altLang="zh-TW" dirty="0">
              <a:solidFill>
                <a:schemeClr val="tx1">
                  <a:lumMod val="65000"/>
                  <a:lumOff val="35000"/>
                </a:schemeClr>
              </a:solidFill>
              <a:latin typeface="Adobe 仿宋 Std R" panose="02020400000000000000" pitchFamily="18" charset="-128"/>
              <a:ea typeface="Adobe 仿宋 Std R" panose="02020400000000000000" pitchFamily="18" charset="-128"/>
            </a:endParaRPr>
          </a:p>
          <a:p>
            <a:pPr marL="285750" indent="-285750">
              <a:buBlip>
                <a:blip r:embed="rId2"/>
              </a:buBlip>
            </a:pPr>
            <a:r>
              <a:rPr lang="zh-TW" altLang="en-US" dirty="0">
                <a:solidFill>
                  <a:schemeClr val="tx1">
                    <a:lumMod val="65000"/>
                    <a:lumOff val="35000"/>
                  </a:schemeClr>
                </a:solidFill>
                <a:latin typeface="Adobe 仿宋 Std R" panose="02020400000000000000" pitchFamily="18" charset="-128"/>
                <a:ea typeface="Adobe 仿宋 Std R" panose="02020400000000000000" pitchFamily="18" charset="-128"/>
              </a:rPr>
              <a:t>連桿傳動機構，運動型態的改變。</a:t>
            </a:r>
            <a:endParaRPr lang="en-US" altLang="zh-TW" dirty="0">
              <a:solidFill>
                <a:schemeClr val="tx1">
                  <a:lumMod val="65000"/>
                  <a:lumOff val="35000"/>
                </a:schemeClr>
              </a:solidFill>
              <a:latin typeface="Adobe 仿宋 Std R" panose="02020400000000000000" pitchFamily="18" charset="-128"/>
              <a:ea typeface="Adobe 仿宋 Std R" panose="02020400000000000000" pitchFamily="18" charset="-128"/>
            </a:endParaRPr>
          </a:p>
          <a:p>
            <a:pPr marL="285750" indent="-285750">
              <a:buBlip>
                <a:blip r:embed="rId2"/>
              </a:buBlip>
            </a:pPr>
            <a:r>
              <a:rPr lang="zh-TW" altLang="en-US" dirty="0">
                <a:solidFill>
                  <a:schemeClr val="tx1">
                    <a:lumMod val="65000"/>
                    <a:lumOff val="35000"/>
                  </a:schemeClr>
                </a:solidFill>
                <a:latin typeface="Adobe 仿宋 Std R" panose="02020400000000000000" pitchFamily="18" charset="-128"/>
                <a:ea typeface="Adobe 仿宋 Std R" panose="02020400000000000000" pitchFamily="18" charset="-128"/>
              </a:rPr>
              <a:t>基本電路的通路與斷路。</a:t>
            </a:r>
          </a:p>
        </p:txBody>
      </p:sp>
      <p:sp>
        <p:nvSpPr>
          <p:cNvPr id="9" name="文字方塊 8">
            <a:extLst>
              <a:ext uri="{FF2B5EF4-FFF2-40B4-BE49-F238E27FC236}">
                <a16:creationId xmlns:a16="http://schemas.microsoft.com/office/drawing/2014/main" id="{81C82015-BF3C-4A50-B12E-34118500AD0A}"/>
              </a:ext>
            </a:extLst>
          </p:cNvPr>
          <p:cNvSpPr txBox="1"/>
          <p:nvPr/>
        </p:nvSpPr>
        <p:spPr>
          <a:xfrm>
            <a:off x="799069" y="3471541"/>
            <a:ext cx="4394152" cy="2031325"/>
          </a:xfrm>
          <a:prstGeom prst="rect">
            <a:avLst/>
          </a:prstGeom>
          <a:noFill/>
        </p:spPr>
        <p:txBody>
          <a:bodyPr wrap="none" rtlCol="0">
            <a:spAutoFit/>
          </a:bodyPr>
          <a:lstStyle/>
          <a:p>
            <a:r>
              <a:rPr lang="zh-TW" altLang="en-US" dirty="0">
                <a:latin typeface="Adobe 仿宋 Std R" panose="02020400000000000000" pitchFamily="18" charset="-128"/>
                <a:ea typeface="Adobe 仿宋 Std R" panose="02020400000000000000" pitchFamily="18" charset="-128"/>
              </a:rPr>
              <a:t>程式設計學習主題：</a:t>
            </a:r>
            <a:endParaRPr lang="en-US" altLang="zh-TW" dirty="0">
              <a:latin typeface="Adobe 仿宋 Std R" panose="02020400000000000000" pitchFamily="18" charset="-128"/>
              <a:ea typeface="Adobe 仿宋 Std R" panose="02020400000000000000" pitchFamily="18" charset="-128"/>
            </a:endParaRPr>
          </a:p>
          <a:p>
            <a:pPr marL="285750" indent="-285750">
              <a:buBlip>
                <a:blip r:embed="rId3"/>
              </a:buBlip>
            </a:pPr>
            <a:r>
              <a:rPr lang="zh-TW" altLang="en-US" dirty="0">
                <a:solidFill>
                  <a:schemeClr val="tx1">
                    <a:lumMod val="65000"/>
                    <a:lumOff val="35000"/>
                  </a:schemeClr>
                </a:solidFill>
                <a:latin typeface="Adobe 仿宋 Std R" panose="02020400000000000000" pitchFamily="18" charset="-128"/>
                <a:ea typeface="Adobe 仿宋 Std R" panose="02020400000000000000" pitchFamily="18" charset="-128"/>
              </a:rPr>
              <a:t>程式語言，認識 </a:t>
            </a:r>
            <a:r>
              <a:rPr lang="en-US" altLang="zh-TW" dirty="0">
                <a:solidFill>
                  <a:schemeClr val="tx1">
                    <a:lumMod val="65000"/>
                    <a:lumOff val="35000"/>
                  </a:schemeClr>
                </a:solidFill>
                <a:latin typeface="Adobe 仿宋 Std R" panose="02020400000000000000" pitchFamily="18" charset="-128"/>
                <a:ea typeface="Adobe 仿宋 Std R" panose="02020400000000000000" pitchFamily="18" charset="-128"/>
              </a:rPr>
              <a:t>Python </a:t>
            </a:r>
            <a:r>
              <a:rPr lang="zh-TW" altLang="en-US" dirty="0">
                <a:solidFill>
                  <a:schemeClr val="tx1">
                    <a:lumMod val="65000"/>
                    <a:lumOff val="35000"/>
                  </a:schemeClr>
                </a:solidFill>
                <a:latin typeface="Adobe 仿宋 Std R" panose="02020400000000000000" pitchFamily="18" charset="-128"/>
                <a:ea typeface="Adobe 仿宋 Std R" panose="02020400000000000000" pitchFamily="18" charset="-128"/>
              </a:rPr>
              <a:t>與 積木程式。</a:t>
            </a:r>
            <a:endParaRPr lang="en-US" altLang="zh-TW" dirty="0">
              <a:solidFill>
                <a:schemeClr val="tx1">
                  <a:lumMod val="65000"/>
                  <a:lumOff val="35000"/>
                </a:schemeClr>
              </a:solidFill>
              <a:latin typeface="Adobe 仿宋 Std R" panose="02020400000000000000" pitchFamily="18" charset="-128"/>
              <a:ea typeface="Adobe 仿宋 Std R" panose="02020400000000000000" pitchFamily="18" charset="-128"/>
            </a:endParaRPr>
          </a:p>
          <a:p>
            <a:pPr marL="285750" indent="-285750">
              <a:buBlip>
                <a:blip r:embed="rId3"/>
              </a:buBlip>
            </a:pPr>
            <a:r>
              <a:rPr lang="zh-TW" altLang="en-US" dirty="0">
                <a:solidFill>
                  <a:schemeClr val="tx1">
                    <a:lumMod val="65000"/>
                    <a:lumOff val="35000"/>
                  </a:schemeClr>
                </a:solidFill>
                <a:latin typeface="Adobe 仿宋 Std R" panose="02020400000000000000" pitchFamily="18" charset="-128"/>
                <a:ea typeface="Adobe 仿宋 Std R" panose="02020400000000000000" pitchFamily="18" charset="-128"/>
              </a:rPr>
              <a:t>認識微控制器與智慧型裝置的控制。</a:t>
            </a:r>
            <a:endParaRPr lang="en-US" altLang="zh-TW" dirty="0">
              <a:solidFill>
                <a:schemeClr val="tx1">
                  <a:lumMod val="65000"/>
                  <a:lumOff val="35000"/>
                </a:schemeClr>
              </a:solidFill>
              <a:latin typeface="Adobe 仿宋 Std R" panose="02020400000000000000" pitchFamily="18" charset="-128"/>
              <a:ea typeface="Adobe 仿宋 Std R" panose="02020400000000000000" pitchFamily="18" charset="-128"/>
            </a:endParaRPr>
          </a:p>
          <a:p>
            <a:pPr marL="285750" indent="-285750">
              <a:buBlip>
                <a:blip r:embed="rId3"/>
              </a:buBlip>
            </a:pPr>
            <a:r>
              <a:rPr lang="zh-TW" altLang="en-US" dirty="0">
                <a:solidFill>
                  <a:schemeClr val="tx1">
                    <a:lumMod val="65000"/>
                    <a:lumOff val="35000"/>
                  </a:schemeClr>
                </a:solidFill>
                <a:latin typeface="Adobe 仿宋 Std R" panose="02020400000000000000" pitchFamily="18" charset="-128"/>
                <a:ea typeface="Adobe 仿宋 Std R" panose="02020400000000000000" pitchFamily="18" charset="-128"/>
              </a:rPr>
              <a:t>認識電子基本訊號與程式控制。</a:t>
            </a:r>
            <a:endParaRPr lang="en-US" altLang="zh-TW" dirty="0">
              <a:solidFill>
                <a:schemeClr val="tx1">
                  <a:lumMod val="65000"/>
                  <a:lumOff val="35000"/>
                </a:schemeClr>
              </a:solidFill>
              <a:latin typeface="Adobe 仿宋 Std R" panose="02020400000000000000" pitchFamily="18" charset="-128"/>
              <a:ea typeface="Adobe 仿宋 Std R" panose="02020400000000000000" pitchFamily="18" charset="-128"/>
            </a:endParaRPr>
          </a:p>
          <a:p>
            <a:pPr marL="285750" indent="-285750">
              <a:buBlip>
                <a:blip r:embed="rId3"/>
              </a:buBlip>
            </a:pPr>
            <a:r>
              <a:rPr lang="zh-TW" altLang="en-US" dirty="0">
                <a:solidFill>
                  <a:schemeClr val="tx1">
                    <a:lumMod val="65000"/>
                    <a:lumOff val="35000"/>
                  </a:schemeClr>
                </a:solidFill>
                <a:latin typeface="Adobe 仿宋 Std R" panose="02020400000000000000" pitchFamily="18" charset="-128"/>
                <a:ea typeface="Adobe 仿宋 Std R" panose="02020400000000000000" pitchFamily="18" charset="-128"/>
              </a:rPr>
              <a:t>認識數位開關與數位模擬類比的應用。</a:t>
            </a:r>
            <a:endParaRPr lang="en-US" altLang="zh-TW" dirty="0">
              <a:solidFill>
                <a:schemeClr val="tx1">
                  <a:lumMod val="65000"/>
                  <a:lumOff val="35000"/>
                </a:schemeClr>
              </a:solidFill>
              <a:latin typeface="Adobe 仿宋 Std R" panose="02020400000000000000" pitchFamily="18" charset="-128"/>
              <a:ea typeface="Adobe 仿宋 Std R" panose="02020400000000000000" pitchFamily="18" charset="-128"/>
            </a:endParaRPr>
          </a:p>
          <a:p>
            <a:pPr marL="285750" indent="-285750">
              <a:buBlip>
                <a:blip r:embed="rId3"/>
              </a:buBlip>
            </a:pPr>
            <a:r>
              <a:rPr lang="zh-TW" altLang="en-US" dirty="0">
                <a:solidFill>
                  <a:schemeClr val="tx1">
                    <a:lumMod val="65000"/>
                    <a:lumOff val="35000"/>
                  </a:schemeClr>
                </a:solidFill>
                <a:latin typeface="Adobe 仿宋 Std R" panose="02020400000000000000" pitchFamily="18" charset="-128"/>
                <a:ea typeface="Adobe 仿宋 Std R" panose="02020400000000000000" pitchFamily="18" charset="-128"/>
              </a:rPr>
              <a:t>認識電機轉動方向與速度控制。</a:t>
            </a:r>
            <a:endParaRPr lang="en-US" altLang="zh-TW" dirty="0">
              <a:solidFill>
                <a:schemeClr val="tx1">
                  <a:lumMod val="65000"/>
                  <a:lumOff val="35000"/>
                </a:schemeClr>
              </a:solidFill>
              <a:latin typeface="Adobe 仿宋 Std R" panose="02020400000000000000" pitchFamily="18" charset="-128"/>
              <a:ea typeface="Adobe 仿宋 Std R" panose="02020400000000000000" pitchFamily="18" charset="-128"/>
            </a:endParaRPr>
          </a:p>
          <a:p>
            <a:pPr marL="285750" indent="-285750">
              <a:buBlip>
                <a:blip r:embed="rId3"/>
              </a:buBlip>
            </a:pPr>
            <a:r>
              <a:rPr lang="zh-TW" altLang="en-US" dirty="0">
                <a:solidFill>
                  <a:schemeClr val="tx1">
                    <a:lumMod val="65000"/>
                    <a:lumOff val="35000"/>
                  </a:schemeClr>
                </a:solidFill>
                <a:latin typeface="Adobe 仿宋 Std R" panose="02020400000000000000" pitchFamily="18" charset="-128"/>
                <a:ea typeface="Adobe 仿宋 Std R" panose="02020400000000000000" pitchFamily="18" charset="-128"/>
              </a:rPr>
              <a:t>認識傳感器的整合應用與智慧控制。</a:t>
            </a:r>
          </a:p>
        </p:txBody>
      </p:sp>
      <p:pic>
        <p:nvPicPr>
          <p:cNvPr id="11" name="圖片 10">
            <a:extLst>
              <a:ext uri="{FF2B5EF4-FFF2-40B4-BE49-F238E27FC236}">
                <a16:creationId xmlns:a16="http://schemas.microsoft.com/office/drawing/2014/main" id="{33A905B2-88E8-44D2-A9CE-4EEEB2F56A0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624475" y="1633288"/>
            <a:ext cx="3186150" cy="4506861"/>
          </a:xfrm>
          <a:prstGeom prst="rect">
            <a:avLst/>
          </a:prstGeom>
        </p:spPr>
      </p:pic>
    </p:spTree>
    <p:extLst>
      <p:ext uri="{BB962C8B-B14F-4D97-AF65-F5344CB8AC3E}">
        <p14:creationId xmlns:p14="http://schemas.microsoft.com/office/powerpoint/2010/main" val="3368973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字方塊 3">
            <a:extLst>
              <a:ext uri="{FF2B5EF4-FFF2-40B4-BE49-F238E27FC236}">
                <a16:creationId xmlns:a16="http://schemas.microsoft.com/office/drawing/2014/main" id="{99DCEEDE-63FC-492E-B77C-676E80F36358}"/>
              </a:ext>
            </a:extLst>
          </p:cNvPr>
          <p:cNvSpPr txBox="1"/>
          <p:nvPr/>
        </p:nvSpPr>
        <p:spPr>
          <a:xfrm>
            <a:off x="592477" y="471340"/>
            <a:ext cx="5262979" cy="646331"/>
          </a:xfrm>
          <a:prstGeom prst="rect">
            <a:avLst/>
          </a:prstGeom>
          <a:noFill/>
        </p:spPr>
        <p:txBody>
          <a:bodyPr wrap="none" rtlCol="0">
            <a:spAutoFit/>
          </a:bodyPr>
          <a:lstStyle/>
          <a:p>
            <a:r>
              <a:rPr lang="zh-TW" altLang="en-US" sz="3600" dirty="0">
                <a:latin typeface="Adobe 繁黑體 Std B" panose="020B0700000000000000" pitchFamily="34" charset="-120"/>
                <a:ea typeface="Adobe 繁黑體 Std B" panose="020B0700000000000000" pitchFamily="34" charset="-120"/>
              </a:rPr>
              <a:t>智慧型可擺動調速電風扇</a:t>
            </a:r>
          </a:p>
        </p:txBody>
      </p:sp>
      <p:sp>
        <p:nvSpPr>
          <p:cNvPr id="7" name="文字方塊 6">
            <a:extLst>
              <a:ext uri="{FF2B5EF4-FFF2-40B4-BE49-F238E27FC236}">
                <a16:creationId xmlns:a16="http://schemas.microsoft.com/office/drawing/2014/main" id="{CD294E92-FD35-4C73-9127-9F5C9CE094C4}"/>
              </a:ext>
            </a:extLst>
          </p:cNvPr>
          <p:cNvSpPr txBox="1"/>
          <p:nvPr/>
        </p:nvSpPr>
        <p:spPr>
          <a:xfrm>
            <a:off x="592477" y="1117671"/>
            <a:ext cx="6753883" cy="1200329"/>
          </a:xfrm>
          <a:prstGeom prst="rect">
            <a:avLst/>
          </a:prstGeom>
          <a:noFill/>
        </p:spPr>
        <p:txBody>
          <a:bodyPr wrap="square" rtlCol="0">
            <a:spAutoFit/>
          </a:bodyPr>
          <a:lstStyle/>
          <a:p>
            <a:pPr algn="just"/>
            <a:r>
              <a:rPr lang="zh-TW" altLang="en-US" dirty="0">
                <a:solidFill>
                  <a:schemeClr val="bg1">
                    <a:lumMod val="50000"/>
                  </a:schemeClr>
                </a:solidFill>
                <a:latin typeface="Adobe 繁黑體 Std B" panose="020B0700000000000000" pitchFamily="34" charset="-120"/>
                <a:ea typeface="Adobe 繁黑體 Std B" panose="020B0700000000000000" pitchFamily="34" charset="-120"/>
              </a:rPr>
              <a:t>課程目標：</a:t>
            </a:r>
            <a:endParaRPr lang="en-US" altLang="zh-TW" dirty="0">
              <a:solidFill>
                <a:schemeClr val="bg1">
                  <a:lumMod val="50000"/>
                </a:schemeClr>
              </a:solidFill>
              <a:latin typeface="Adobe 繁黑體 Std B" panose="020B0700000000000000" pitchFamily="34" charset="-120"/>
              <a:ea typeface="Adobe 繁黑體 Std B" panose="020B0700000000000000" pitchFamily="34" charset="-120"/>
            </a:endParaRPr>
          </a:p>
          <a:p>
            <a:pPr marL="285750" indent="-285750" algn="just">
              <a:buBlip>
                <a:blip r:embed="rId2"/>
              </a:buBlip>
            </a:pPr>
            <a:r>
              <a:rPr lang="zh-TW" altLang="en-US" dirty="0">
                <a:solidFill>
                  <a:schemeClr val="bg1">
                    <a:lumMod val="50000"/>
                  </a:schemeClr>
                </a:solidFill>
                <a:latin typeface="Adobe 繁黑體 Std B" panose="020B0700000000000000" pitchFamily="34" charset="-120"/>
                <a:ea typeface="Adobe 繁黑體 Std B" panose="020B0700000000000000" pitchFamily="34" charset="-120"/>
              </a:rPr>
              <a:t>學習基礎電子電路及簡單調速控制 </a:t>
            </a:r>
            <a:r>
              <a:rPr lang="en-US" altLang="zh-TW" dirty="0">
                <a:solidFill>
                  <a:schemeClr val="bg1">
                    <a:lumMod val="50000"/>
                  </a:schemeClr>
                </a:solidFill>
                <a:latin typeface="Adobe 繁黑體 Std B" panose="020B0700000000000000" pitchFamily="34" charset="-120"/>
                <a:ea typeface="Adobe 繁黑體 Std B" panose="020B0700000000000000" pitchFamily="34" charset="-120"/>
              </a:rPr>
              <a:t>Python </a:t>
            </a:r>
            <a:r>
              <a:rPr lang="zh-TW" altLang="en-US" dirty="0">
                <a:solidFill>
                  <a:schemeClr val="bg1">
                    <a:lumMod val="50000"/>
                  </a:schemeClr>
                </a:solidFill>
                <a:latin typeface="Adobe 繁黑體 Std B" panose="020B0700000000000000" pitchFamily="34" charset="-120"/>
                <a:ea typeface="Adobe 繁黑體 Std B" panose="020B0700000000000000" pitchFamily="34" charset="-120"/>
              </a:rPr>
              <a:t>程式。</a:t>
            </a:r>
            <a:endParaRPr lang="en-US" altLang="zh-TW" dirty="0">
              <a:solidFill>
                <a:schemeClr val="bg1">
                  <a:lumMod val="50000"/>
                </a:schemeClr>
              </a:solidFill>
              <a:latin typeface="Adobe 繁黑體 Std B" panose="020B0700000000000000" pitchFamily="34" charset="-120"/>
              <a:ea typeface="Adobe 繁黑體 Std B" panose="020B0700000000000000" pitchFamily="34" charset="-120"/>
            </a:endParaRPr>
          </a:p>
          <a:p>
            <a:pPr marL="285750" indent="-285750" algn="just">
              <a:buBlip>
                <a:blip r:embed="rId2"/>
              </a:buBlip>
            </a:pPr>
            <a:r>
              <a:rPr lang="zh-TW" altLang="en-US" dirty="0">
                <a:solidFill>
                  <a:schemeClr val="bg1">
                    <a:lumMod val="50000"/>
                  </a:schemeClr>
                </a:solidFill>
                <a:latin typeface="Adobe 繁黑體 Std B" panose="020B0700000000000000" pitchFamily="34" charset="-120"/>
                <a:ea typeface="Adobe 繁黑體 Std B" panose="020B0700000000000000" pitchFamily="34" charset="-120"/>
              </a:rPr>
              <a:t>認識結構與接合固件的應用。</a:t>
            </a:r>
            <a:endParaRPr lang="en-US" altLang="zh-TW" dirty="0">
              <a:solidFill>
                <a:schemeClr val="bg1">
                  <a:lumMod val="50000"/>
                </a:schemeClr>
              </a:solidFill>
              <a:latin typeface="Adobe 繁黑體 Std B" panose="020B0700000000000000" pitchFamily="34" charset="-120"/>
              <a:ea typeface="Adobe 繁黑體 Std B" panose="020B0700000000000000" pitchFamily="34" charset="-120"/>
            </a:endParaRPr>
          </a:p>
          <a:p>
            <a:pPr marL="285750" indent="-285750" algn="just">
              <a:buBlip>
                <a:blip r:embed="rId2"/>
              </a:buBlip>
            </a:pPr>
            <a:r>
              <a:rPr lang="zh-TW" altLang="en-US" dirty="0">
                <a:solidFill>
                  <a:schemeClr val="bg1">
                    <a:lumMod val="50000"/>
                  </a:schemeClr>
                </a:solidFill>
                <a:latin typeface="Adobe 繁黑體 Std B" panose="020B0700000000000000" pitchFamily="34" charset="-120"/>
                <a:ea typeface="Adobe 繁黑體 Std B" panose="020B0700000000000000" pitchFamily="34" charset="-120"/>
              </a:rPr>
              <a:t>認識齒輪傳動機構及連桿傳動機構設計。</a:t>
            </a:r>
            <a:endParaRPr lang="en-US" altLang="zh-TW" dirty="0">
              <a:solidFill>
                <a:schemeClr val="bg1">
                  <a:lumMod val="50000"/>
                </a:schemeClr>
              </a:solidFill>
              <a:latin typeface="Adobe 繁黑體 Std B" panose="020B0700000000000000" pitchFamily="34" charset="-120"/>
              <a:ea typeface="Adobe 繁黑體 Std B" panose="020B0700000000000000" pitchFamily="34" charset="-120"/>
            </a:endParaRPr>
          </a:p>
        </p:txBody>
      </p:sp>
      <p:sp>
        <p:nvSpPr>
          <p:cNvPr id="8" name="文字方塊 7">
            <a:extLst>
              <a:ext uri="{FF2B5EF4-FFF2-40B4-BE49-F238E27FC236}">
                <a16:creationId xmlns:a16="http://schemas.microsoft.com/office/drawing/2014/main" id="{A182CD5C-CC77-420C-91CB-63E8C77B1A92}"/>
              </a:ext>
            </a:extLst>
          </p:cNvPr>
          <p:cNvSpPr txBox="1"/>
          <p:nvPr/>
        </p:nvSpPr>
        <p:spPr>
          <a:xfrm>
            <a:off x="592472" y="2462508"/>
            <a:ext cx="6753883" cy="1754326"/>
          </a:xfrm>
          <a:prstGeom prst="rect">
            <a:avLst/>
          </a:prstGeom>
          <a:noFill/>
        </p:spPr>
        <p:txBody>
          <a:bodyPr wrap="square" rtlCol="0">
            <a:spAutoFit/>
          </a:bodyPr>
          <a:lstStyle/>
          <a:p>
            <a:pPr algn="just"/>
            <a:r>
              <a:rPr lang="zh-TW" altLang="en-US" dirty="0">
                <a:solidFill>
                  <a:schemeClr val="bg1">
                    <a:lumMod val="50000"/>
                  </a:schemeClr>
                </a:solidFill>
                <a:latin typeface="Adobe 繁黑體 Std B" panose="020B0700000000000000" pitchFamily="34" charset="-120"/>
                <a:ea typeface="Adobe 繁黑體 Std B" panose="020B0700000000000000" pitchFamily="34" charset="-120"/>
              </a:rPr>
              <a:t>課程材料：</a:t>
            </a:r>
            <a:endParaRPr lang="en-US" altLang="zh-TW" dirty="0">
              <a:solidFill>
                <a:schemeClr val="bg1">
                  <a:lumMod val="50000"/>
                </a:schemeClr>
              </a:solidFill>
              <a:latin typeface="Adobe 繁黑體 Std B" panose="020B0700000000000000" pitchFamily="34" charset="-120"/>
              <a:ea typeface="Adobe 繁黑體 Std B" panose="020B0700000000000000" pitchFamily="34" charset="-120"/>
            </a:endParaRPr>
          </a:p>
          <a:p>
            <a:pPr marL="285750" indent="-285750" algn="just">
              <a:buBlip>
                <a:blip r:embed="rId3"/>
              </a:buBlip>
            </a:pPr>
            <a:r>
              <a:rPr lang="zh-TW" altLang="en-US" dirty="0">
                <a:solidFill>
                  <a:schemeClr val="bg1">
                    <a:lumMod val="50000"/>
                  </a:schemeClr>
                </a:solidFill>
                <a:latin typeface="Adobe 繁黑體 Std B" panose="020B0700000000000000" pitchFamily="34" charset="-120"/>
                <a:ea typeface="Adobe 繁黑體 Std B" panose="020B0700000000000000" pitchFamily="34" charset="-120"/>
              </a:rPr>
              <a:t>樹莓派 </a:t>
            </a:r>
            <a:r>
              <a:rPr lang="en-US" altLang="zh-TW" dirty="0">
                <a:solidFill>
                  <a:schemeClr val="bg1">
                    <a:lumMod val="50000"/>
                  </a:schemeClr>
                </a:solidFill>
                <a:latin typeface="Adobe 繁黑體 Std B" panose="020B0700000000000000" pitchFamily="34" charset="-120"/>
                <a:ea typeface="Adobe 繁黑體 Std B" panose="020B0700000000000000" pitchFamily="34" charset="-120"/>
              </a:rPr>
              <a:t>Pico </a:t>
            </a:r>
            <a:r>
              <a:rPr lang="zh-TW" altLang="en-US" dirty="0">
                <a:solidFill>
                  <a:schemeClr val="bg1">
                    <a:lumMod val="50000"/>
                  </a:schemeClr>
                </a:solidFill>
                <a:latin typeface="Adobe 繁黑體 Std B" panose="020B0700000000000000" pitchFamily="34" charset="-120"/>
                <a:ea typeface="Adobe 繁黑體 Std B" panose="020B0700000000000000" pitchFamily="34" charset="-120"/>
              </a:rPr>
              <a:t>電路板、麵包板、跳線、鋰電池</a:t>
            </a:r>
            <a:endParaRPr lang="en-US" altLang="zh-TW" dirty="0">
              <a:solidFill>
                <a:schemeClr val="bg1">
                  <a:lumMod val="50000"/>
                </a:schemeClr>
              </a:solidFill>
              <a:latin typeface="Adobe 繁黑體 Std B" panose="020B0700000000000000" pitchFamily="34" charset="-120"/>
              <a:ea typeface="Adobe 繁黑體 Std B" panose="020B0700000000000000" pitchFamily="34" charset="-120"/>
            </a:endParaRPr>
          </a:p>
          <a:p>
            <a:pPr marL="285750" indent="-285750" algn="just">
              <a:buBlip>
                <a:blip r:embed="rId3"/>
              </a:buBlip>
            </a:pPr>
            <a:r>
              <a:rPr lang="zh-TW" altLang="en-US" dirty="0">
                <a:solidFill>
                  <a:schemeClr val="bg1">
                    <a:lumMod val="50000"/>
                  </a:schemeClr>
                </a:solidFill>
                <a:latin typeface="Adobe 繁黑體 Std B" panose="020B0700000000000000" pitchFamily="34" charset="-120"/>
                <a:ea typeface="Adobe 繁黑體 Std B" panose="020B0700000000000000" pitchFamily="34" charset="-120"/>
              </a:rPr>
              <a:t>雙出軸直流電機。</a:t>
            </a:r>
            <a:endParaRPr lang="en-US" altLang="zh-TW" dirty="0">
              <a:solidFill>
                <a:schemeClr val="bg1">
                  <a:lumMod val="50000"/>
                </a:schemeClr>
              </a:solidFill>
              <a:latin typeface="Adobe 繁黑體 Std B" panose="020B0700000000000000" pitchFamily="34" charset="-120"/>
              <a:ea typeface="Adobe 繁黑體 Std B" panose="020B0700000000000000" pitchFamily="34" charset="-120"/>
            </a:endParaRPr>
          </a:p>
          <a:p>
            <a:pPr marL="285750" indent="-285750" algn="just">
              <a:buBlip>
                <a:blip r:embed="rId3"/>
              </a:buBlip>
            </a:pPr>
            <a:r>
              <a:rPr lang="zh-TW" altLang="en-US" dirty="0">
                <a:solidFill>
                  <a:schemeClr val="bg1">
                    <a:lumMod val="50000"/>
                  </a:schemeClr>
                </a:solidFill>
                <a:latin typeface="Adobe 繁黑體 Std B" panose="020B0700000000000000" pitchFamily="34" charset="-120"/>
                <a:ea typeface="Adobe 繁黑體 Std B" panose="020B0700000000000000" pitchFamily="34" charset="-120"/>
              </a:rPr>
              <a:t>風扇葉槳、蝸桿齒輪、減速塑膠齒輪。</a:t>
            </a:r>
            <a:endParaRPr lang="en-US" altLang="zh-TW" dirty="0">
              <a:solidFill>
                <a:schemeClr val="bg1">
                  <a:lumMod val="50000"/>
                </a:schemeClr>
              </a:solidFill>
              <a:latin typeface="Adobe 繁黑體 Std B" panose="020B0700000000000000" pitchFamily="34" charset="-120"/>
              <a:ea typeface="Adobe 繁黑體 Std B" panose="020B0700000000000000" pitchFamily="34" charset="-120"/>
            </a:endParaRPr>
          </a:p>
          <a:p>
            <a:pPr marL="285750" indent="-285750" algn="just">
              <a:buBlip>
                <a:blip r:embed="rId3"/>
              </a:buBlip>
            </a:pPr>
            <a:r>
              <a:rPr lang="zh-TW" altLang="en-US" dirty="0">
                <a:solidFill>
                  <a:schemeClr val="bg1">
                    <a:lumMod val="50000"/>
                  </a:schemeClr>
                </a:solidFill>
                <a:latin typeface="Adobe 繁黑體 Std B" panose="020B0700000000000000" pitchFamily="34" charset="-120"/>
                <a:ea typeface="Adobe 繁黑體 Std B" panose="020B0700000000000000" pitchFamily="34" charset="-120"/>
              </a:rPr>
              <a:t>小鐵軸、小軸承、螺絲及螺母。</a:t>
            </a:r>
            <a:endParaRPr lang="en-US" altLang="zh-TW" dirty="0">
              <a:solidFill>
                <a:schemeClr val="bg1">
                  <a:lumMod val="50000"/>
                </a:schemeClr>
              </a:solidFill>
              <a:latin typeface="Adobe 繁黑體 Std B" panose="020B0700000000000000" pitchFamily="34" charset="-120"/>
              <a:ea typeface="Adobe 繁黑體 Std B" panose="020B0700000000000000" pitchFamily="34" charset="-120"/>
            </a:endParaRPr>
          </a:p>
          <a:p>
            <a:pPr marL="285750" indent="-285750" algn="just">
              <a:buBlip>
                <a:blip r:embed="rId3"/>
              </a:buBlip>
            </a:pPr>
            <a:r>
              <a:rPr lang="zh-TW" altLang="en-US" dirty="0">
                <a:solidFill>
                  <a:schemeClr val="bg1">
                    <a:lumMod val="50000"/>
                  </a:schemeClr>
                </a:solidFill>
                <a:latin typeface="Adobe 繁黑體 Std B" panose="020B0700000000000000" pitchFamily="34" charset="-120"/>
                <a:ea typeface="Adobe 繁黑體 Std B" panose="020B0700000000000000" pitchFamily="34" charset="-120"/>
              </a:rPr>
              <a:t>底座與支架結構，使用雷射切割壓克力板</a:t>
            </a:r>
            <a:r>
              <a:rPr lang="en-US" altLang="zh-TW" dirty="0">
                <a:solidFill>
                  <a:schemeClr val="bg1">
                    <a:lumMod val="50000"/>
                  </a:schemeClr>
                </a:solidFill>
                <a:latin typeface="Adobe 繁黑體 Std B" panose="020B0700000000000000" pitchFamily="34" charset="-120"/>
                <a:ea typeface="Adobe 繁黑體 Std B" panose="020B0700000000000000" pitchFamily="34" charset="-120"/>
              </a:rPr>
              <a:t>(</a:t>
            </a:r>
            <a:r>
              <a:rPr lang="zh-TW" altLang="en-US" dirty="0">
                <a:solidFill>
                  <a:schemeClr val="bg1">
                    <a:lumMod val="50000"/>
                  </a:schemeClr>
                </a:solidFill>
                <a:latin typeface="Adobe 繁黑體 Std B" panose="020B0700000000000000" pitchFamily="34" charset="-120"/>
                <a:ea typeface="Adobe 繁黑體 Std B" panose="020B0700000000000000" pitchFamily="34" charset="-120"/>
              </a:rPr>
              <a:t>或膠合板</a:t>
            </a:r>
            <a:r>
              <a:rPr lang="en-US" altLang="zh-TW" dirty="0">
                <a:solidFill>
                  <a:schemeClr val="bg1">
                    <a:lumMod val="50000"/>
                  </a:schemeClr>
                </a:solidFill>
                <a:latin typeface="Adobe 繁黑體 Std B" panose="020B0700000000000000" pitchFamily="34" charset="-120"/>
                <a:ea typeface="Adobe 繁黑體 Std B" panose="020B0700000000000000" pitchFamily="34" charset="-120"/>
              </a:rPr>
              <a:t>)</a:t>
            </a:r>
            <a:r>
              <a:rPr lang="zh-TW" altLang="en-US" dirty="0">
                <a:solidFill>
                  <a:schemeClr val="bg1">
                    <a:lumMod val="50000"/>
                  </a:schemeClr>
                </a:solidFill>
                <a:latin typeface="Adobe 繁黑體 Std B" panose="020B0700000000000000" pitchFamily="34" charset="-120"/>
                <a:ea typeface="Adobe 繁黑體 Std B" panose="020B0700000000000000" pitchFamily="34" charset="-120"/>
              </a:rPr>
              <a:t>。</a:t>
            </a:r>
          </a:p>
        </p:txBody>
      </p:sp>
      <p:sp>
        <p:nvSpPr>
          <p:cNvPr id="9" name="文字方塊 8">
            <a:extLst>
              <a:ext uri="{FF2B5EF4-FFF2-40B4-BE49-F238E27FC236}">
                <a16:creationId xmlns:a16="http://schemas.microsoft.com/office/drawing/2014/main" id="{691C6EAF-A356-4FDD-B6F2-4774B6197F0A}"/>
              </a:ext>
            </a:extLst>
          </p:cNvPr>
          <p:cNvSpPr txBox="1"/>
          <p:nvPr/>
        </p:nvSpPr>
        <p:spPr>
          <a:xfrm>
            <a:off x="592471" y="4361342"/>
            <a:ext cx="7932404" cy="1477328"/>
          </a:xfrm>
          <a:prstGeom prst="rect">
            <a:avLst/>
          </a:prstGeom>
          <a:noFill/>
        </p:spPr>
        <p:txBody>
          <a:bodyPr wrap="square" rtlCol="0">
            <a:spAutoFit/>
          </a:bodyPr>
          <a:lstStyle/>
          <a:p>
            <a:pPr algn="just"/>
            <a:r>
              <a:rPr lang="zh-TW" altLang="en-US" dirty="0">
                <a:solidFill>
                  <a:schemeClr val="bg1">
                    <a:lumMod val="50000"/>
                  </a:schemeClr>
                </a:solidFill>
                <a:latin typeface="Adobe 繁黑體 Std B" panose="020B0700000000000000" pitchFamily="34" charset="-120"/>
                <a:ea typeface="Adobe 繁黑體 Std B" panose="020B0700000000000000" pitchFamily="34" charset="-120"/>
              </a:rPr>
              <a:t>課程工具：</a:t>
            </a:r>
            <a:endParaRPr lang="en-US" altLang="zh-TW" dirty="0">
              <a:solidFill>
                <a:schemeClr val="bg1">
                  <a:lumMod val="50000"/>
                </a:schemeClr>
              </a:solidFill>
              <a:latin typeface="Adobe 繁黑體 Std B" panose="020B0700000000000000" pitchFamily="34" charset="-120"/>
              <a:ea typeface="Adobe 繁黑體 Std B" panose="020B0700000000000000" pitchFamily="34" charset="-120"/>
            </a:endParaRPr>
          </a:p>
          <a:p>
            <a:pPr marL="285750" indent="-285750" algn="just">
              <a:buBlip>
                <a:blip r:embed="rId4"/>
              </a:buBlip>
            </a:pPr>
            <a:r>
              <a:rPr lang="zh-TW" altLang="en-US" dirty="0">
                <a:solidFill>
                  <a:schemeClr val="bg1">
                    <a:lumMod val="50000"/>
                  </a:schemeClr>
                </a:solidFill>
                <a:latin typeface="Adobe 繁黑體 Std B" panose="020B0700000000000000" pitchFamily="34" charset="-120"/>
                <a:ea typeface="Adobe 繁黑體 Std B" panose="020B0700000000000000" pitchFamily="34" charset="-120"/>
              </a:rPr>
              <a:t>筆記型電腦或桌上型電腦。</a:t>
            </a:r>
            <a:endParaRPr lang="en-US" altLang="zh-TW" dirty="0">
              <a:solidFill>
                <a:schemeClr val="bg1">
                  <a:lumMod val="50000"/>
                </a:schemeClr>
              </a:solidFill>
              <a:latin typeface="Adobe 繁黑體 Std B" panose="020B0700000000000000" pitchFamily="34" charset="-120"/>
              <a:ea typeface="Adobe 繁黑體 Std B" panose="020B0700000000000000" pitchFamily="34" charset="-120"/>
            </a:endParaRPr>
          </a:p>
          <a:p>
            <a:pPr marL="285750" indent="-285750" algn="just">
              <a:buBlip>
                <a:blip r:embed="rId4"/>
              </a:buBlip>
            </a:pPr>
            <a:r>
              <a:rPr lang="zh-TW" altLang="en-US" dirty="0">
                <a:solidFill>
                  <a:schemeClr val="bg1">
                    <a:lumMod val="50000"/>
                  </a:schemeClr>
                </a:solidFill>
                <a:latin typeface="Adobe 繁黑體 Std B" panose="020B0700000000000000" pitchFamily="34" charset="-120"/>
                <a:ea typeface="Adobe 繁黑體 Std B" panose="020B0700000000000000" pitchFamily="34" charset="-120"/>
              </a:rPr>
              <a:t>軟體：</a:t>
            </a:r>
            <a:r>
              <a:rPr lang="en-US" altLang="zh-TW" dirty="0" err="1">
                <a:solidFill>
                  <a:schemeClr val="bg1">
                    <a:lumMod val="50000"/>
                  </a:schemeClr>
                </a:solidFill>
                <a:latin typeface="Adobe 繁黑體 Std B" panose="020B0700000000000000" pitchFamily="34" charset="-120"/>
                <a:ea typeface="Adobe 繁黑體 Std B" panose="020B0700000000000000" pitchFamily="34" charset="-120"/>
              </a:rPr>
              <a:t>Thonny</a:t>
            </a:r>
            <a:r>
              <a:rPr lang="en-US" altLang="zh-TW" dirty="0">
                <a:solidFill>
                  <a:schemeClr val="bg1">
                    <a:lumMod val="50000"/>
                  </a:schemeClr>
                </a:solidFill>
                <a:latin typeface="Adobe 繁黑體 Std B" panose="020B0700000000000000" pitchFamily="34" charset="-120"/>
                <a:ea typeface="Adobe 繁黑體 Std B" panose="020B0700000000000000" pitchFamily="34" charset="-120"/>
              </a:rPr>
              <a:t> IDE </a:t>
            </a:r>
            <a:r>
              <a:rPr lang="zh-TW" altLang="en-US" dirty="0">
                <a:solidFill>
                  <a:schemeClr val="bg1">
                    <a:lumMod val="50000"/>
                  </a:schemeClr>
                </a:solidFill>
                <a:latin typeface="Adobe 繁黑體 Std B" panose="020B0700000000000000" pitchFamily="34" charset="-120"/>
                <a:ea typeface="Adobe 繁黑體 Std B" panose="020B0700000000000000" pitchFamily="34" charset="-120"/>
              </a:rPr>
              <a:t>或 </a:t>
            </a:r>
            <a:r>
              <a:rPr lang="en-US" altLang="zh-TW" dirty="0" err="1">
                <a:solidFill>
                  <a:schemeClr val="bg1">
                    <a:lumMod val="50000"/>
                  </a:schemeClr>
                </a:solidFill>
                <a:latin typeface="Adobe 繁黑體 Std B" panose="020B0700000000000000" pitchFamily="34" charset="-120"/>
                <a:ea typeface="Adobe 繁黑體 Std B" panose="020B0700000000000000" pitchFamily="34" charset="-120"/>
              </a:rPr>
              <a:t>mangoblock</a:t>
            </a:r>
            <a:r>
              <a:rPr lang="en-US" altLang="zh-TW" dirty="0">
                <a:solidFill>
                  <a:schemeClr val="bg1">
                    <a:lumMod val="50000"/>
                  </a:schemeClr>
                </a:solidFill>
                <a:latin typeface="Adobe 繁黑體 Std B" panose="020B0700000000000000" pitchFamily="34" charset="-120"/>
                <a:ea typeface="Adobe 繁黑體 Std B" panose="020B0700000000000000" pitchFamily="34" charset="-120"/>
              </a:rPr>
              <a:t> </a:t>
            </a:r>
            <a:r>
              <a:rPr lang="zh-TW" altLang="en-US" dirty="0">
                <a:solidFill>
                  <a:schemeClr val="bg1">
                    <a:lumMod val="50000"/>
                  </a:schemeClr>
                </a:solidFill>
                <a:latin typeface="Adobe 繁黑體 Std B" panose="020B0700000000000000" pitchFamily="34" charset="-120"/>
                <a:ea typeface="Adobe 繁黑體 Std B" panose="020B0700000000000000" pitchFamily="34" charset="-120"/>
              </a:rPr>
              <a:t>積木程式編輯器。。</a:t>
            </a:r>
            <a:endParaRPr lang="en-US" altLang="zh-TW" dirty="0">
              <a:solidFill>
                <a:schemeClr val="bg1">
                  <a:lumMod val="50000"/>
                </a:schemeClr>
              </a:solidFill>
              <a:latin typeface="Adobe 繁黑體 Std B" panose="020B0700000000000000" pitchFamily="34" charset="-120"/>
              <a:ea typeface="Adobe 繁黑體 Std B" panose="020B0700000000000000" pitchFamily="34" charset="-120"/>
            </a:endParaRPr>
          </a:p>
          <a:p>
            <a:pPr marL="285750" indent="-285750" algn="just">
              <a:buBlip>
                <a:blip r:embed="rId4"/>
              </a:buBlip>
            </a:pPr>
            <a:r>
              <a:rPr lang="zh-TW" altLang="en-US" dirty="0">
                <a:solidFill>
                  <a:schemeClr val="bg1">
                    <a:lumMod val="50000"/>
                  </a:schemeClr>
                </a:solidFill>
                <a:latin typeface="Adobe 繁黑體 Std B" panose="020B0700000000000000" pitchFamily="34" charset="-120"/>
                <a:ea typeface="Adobe 繁黑體 Std B" panose="020B0700000000000000" pitchFamily="34" charset="-120"/>
              </a:rPr>
              <a:t>螺絲起子、小手鉗。</a:t>
            </a:r>
            <a:endParaRPr lang="en-US" altLang="zh-TW" dirty="0">
              <a:solidFill>
                <a:schemeClr val="bg1">
                  <a:lumMod val="50000"/>
                </a:schemeClr>
              </a:solidFill>
              <a:latin typeface="Adobe 繁黑體 Std B" panose="020B0700000000000000" pitchFamily="34" charset="-120"/>
              <a:ea typeface="Adobe 繁黑體 Std B" panose="020B0700000000000000" pitchFamily="34" charset="-120"/>
            </a:endParaRPr>
          </a:p>
          <a:p>
            <a:pPr marL="285750" indent="-285750" algn="just">
              <a:buBlip>
                <a:blip r:embed="rId4"/>
              </a:buBlip>
            </a:pPr>
            <a:r>
              <a:rPr lang="zh-TW" altLang="en-US" dirty="0">
                <a:solidFill>
                  <a:schemeClr val="bg1">
                    <a:lumMod val="50000"/>
                  </a:schemeClr>
                </a:solidFill>
                <a:latin typeface="Adobe 繁黑體 Std B" panose="020B0700000000000000" pitchFamily="34" charset="-120"/>
                <a:ea typeface="Adobe 繁黑體 Std B" panose="020B0700000000000000" pitchFamily="34" charset="-120"/>
              </a:rPr>
              <a:t>雷射切割機及</a:t>
            </a:r>
            <a:r>
              <a:rPr lang="en-US" altLang="zh-TW" dirty="0">
                <a:solidFill>
                  <a:schemeClr val="bg1">
                    <a:lumMod val="50000"/>
                  </a:schemeClr>
                </a:solidFill>
                <a:latin typeface="Adobe 繁黑體 Std B" panose="020B0700000000000000" pitchFamily="34" charset="-120"/>
                <a:ea typeface="Adobe 繁黑體 Std B" panose="020B0700000000000000" pitchFamily="34" charset="-120"/>
              </a:rPr>
              <a:t>3D</a:t>
            </a:r>
            <a:r>
              <a:rPr lang="zh-TW" altLang="en-US" dirty="0">
                <a:solidFill>
                  <a:schemeClr val="bg1">
                    <a:lumMod val="50000"/>
                  </a:schemeClr>
                </a:solidFill>
                <a:latin typeface="Adobe 繁黑體 Std B" panose="020B0700000000000000" pitchFamily="34" charset="-120"/>
                <a:ea typeface="Adobe 繁黑體 Std B" panose="020B0700000000000000" pitchFamily="34" charset="-120"/>
              </a:rPr>
              <a:t>列印機。</a:t>
            </a:r>
          </a:p>
        </p:txBody>
      </p:sp>
    </p:spTree>
    <p:extLst>
      <p:ext uri="{BB962C8B-B14F-4D97-AF65-F5344CB8AC3E}">
        <p14:creationId xmlns:p14="http://schemas.microsoft.com/office/powerpoint/2010/main" val="39642137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字方塊 3">
            <a:extLst>
              <a:ext uri="{FF2B5EF4-FFF2-40B4-BE49-F238E27FC236}">
                <a16:creationId xmlns:a16="http://schemas.microsoft.com/office/drawing/2014/main" id="{99DCEEDE-63FC-492E-B77C-676E80F36358}"/>
              </a:ext>
            </a:extLst>
          </p:cNvPr>
          <p:cNvSpPr txBox="1"/>
          <p:nvPr/>
        </p:nvSpPr>
        <p:spPr>
          <a:xfrm>
            <a:off x="1354477" y="1538140"/>
            <a:ext cx="2646878" cy="830997"/>
          </a:xfrm>
          <a:prstGeom prst="rect">
            <a:avLst/>
          </a:prstGeom>
          <a:noFill/>
        </p:spPr>
        <p:txBody>
          <a:bodyPr wrap="none" rtlCol="0">
            <a:spAutoFit/>
          </a:bodyPr>
          <a:lstStyle/>
          <a:p>
            <a:r>
              <a:rPr lang="zh-TW" altLang="en-US" sz="4800" dirty="0">
                <a:latin typeface="Adobe 繁黑體 Std B" panose="020B0700000000000000" pitchFamily="34" charset="-120"/>
                <a:ea typeface="Adobe 繁黑體 Std B" panose="020B0700000000000000" pitchFamily="34" charset="-120"/>
              </a:rPr>
              <a:t>教具製作</a:t>
            </a:r>
          </a:p>
        </p:txBody>
      </p:sp>
      <p:sp>
        <p:nvSpPr>
          <p:cNvPr id="2" name="文字方塊 1">
            <a:extLst>
              <a:ext uri="{FF2B5EF4-FFF2-40B4-BE49-F238E27FC236}">
                <a16:creationId xmlns:a16="http://schemas.microsoft.com/office/drawing/2014/main" id="{4A2B2D06-0F4A-4FBD-B589-25E6E633A95A}"/>
              </a:ext>
            </a:extLst>
          </p:cNvPr>
          <p:cNvSpPr txBox="1"/>
          <p:nvPr/>
        </p:nvSpPr>
        <p:spPr>
          <a:xfrm>
            <a:off x="1354477" y="2505670"/>
            <a:ext cx="3704860" cy="1200329"/>
          </a:xfrm>
          <a:prstGeom prst="rect">
            <a:avLst/>
          </a:prstGeom>
          <a:noFill/>
        </p:spPr>
        <p:txBody>
          <a:bodyPr wrap="none" rtlCol="0">
            <a:spAutoFit/>
          </a:bodyPr>
          <a:lstStyle/>
          <a:p>
            <a:pPr marL="285750" indent="-285750">
              <a:buBlip>
                <a:blip r:embed="rId2"/>
              </a:buBlip>
            </a:pPr>
            <a:r>
              <a:rPr lang="zh-TW" altLang="en-US" dirty="0">
                <a:latin typeface="Adobe 仿宋 Std R" panose="02020400000000000000" pitchFamily="18" charset="-128"/>
                <a:ea typeface="Adobe 仿宋 Std R" panose="02020400000000000000" pitchFamily="18" charset="-128"/>
              </a:rPr>
              <a:t>認識風扇的擺頭運動原理</a:t>
            </a:r>
            <a:endParaRPr lang="en-US" altLang="zh-TW" dirty="0">
              <a:latin typeface="Adobe 仿宋 Std R" panose="02020400000000000000" pitchFamily="18" charset="-128"/>
              <a:ea typeface="Adobe 仿宋 Std R" panose="02020400000000000000" pitchFamily="18" charset="-128"/>
            </a:endParaRPr>
          </a:p>
          <a:p>
            <a:pPr marL="285750" indent="-285750">
              <a:buBlip>
                <a:blip r:embed="rId2"/>
              </a:buBlip>
            </a:pPr>
            <a:r>
              <a:rPr lang="zh-TW" altLang="en-US" dirty="0">
                <a:latin typeface="Adobe 仿宋 Std R" panose="02020400000000000000" pitchFamily="18" charset="-128"/>
                <a:ea typeface="Adobe 仿宋 Std R" panose="02020400000000000000" pitchFamily="18" charset="-128"/>
              </a:rPr>
              <a:t>認識組裝程序與設計思考</a:t>
            </a:r>
            <a:endParaRPr lang="en-US" altLang="zh-TW" dirty="0">
              <a:latin typeface="Adobe 仿宋 Std R" panose="02020400000000000000" pitchFamily="18" charset="-128"/>
              <a:ea typeface="Adobe 仿宋 Std R" panose="02020400000000000000" pitchFamily="18" charset="-128"/>
            </a:endParaRPr>
          </a:p>
          <a:p>
            <a:pPr marL="285750" indent="-285750">
              <a:buBlip>
                <a:blip r:embed="rId2"/>
              </a:buBlip>
            </a:pPr>
            <a:r>
              <a:rPr lang="zh-TW" altLang="en-US" dirty="0">
                <a:latin typeface="Adobe 仿宋 Std R" panose="02020400000000000000" pitchFamily="18" charset="-128"/>
                <a:ea typeface="Adobe 仿宋 Std R" panose="02020400000000000000" pitchFamily="18" charset="-128"/>
              </a:rPr>
              <a:t>認識結構設計及扣件應用</a:t>
            </a:r>
            <a:endParaRPr lang="en-US" altLang="zh-TW" dirty="0">
              <a:latin typeface="Adobe 仿宋 Std R" panose="02020400000000000000" pitchFamily="18" charset="-128"/>
              <a:ea typeface="Adobe 仿宋 Std R" panose="02020400000000000000" pitchFamily="18" charset="-128"/>
            </a:endParaRPr>
          </a:p>
          <a:p>
            <a:pPr marL="285750" indent="-285750">
              <a:buBlip>
                <a:blip r:embed="rId2"/>
              </a:buBlip>
            </a:pPr>
            <a:r>
              <a:rPr lang="zh-TW" altLang="en-US" dirty="0">
                <a:latin typeface="Adobe 仿宋 Std R" panose="02020400000000000000" pitchFamily="18" charset="-128"/>
                <a:ea typeface="Adobe 仿宋 Std R" panose="02020400000000000000" pitchFamily="18" charset="-128"/>
              </a:rPr>
              <a:t>認識基本電路的斷路與通路設計</a:t>
            </a:r>
          </a:p>
        </p:txBody>
      </p:sp>
      <p:pic>
        <p:nvPicPr>
          <p:cNvPr id="5" name="圖片 4">
            <a:extLst>
              <a:ext uri="{FF2B5EF4-FFF2-40B4-BE49-F238E27FC236}">
                <a16:creationId xmlns:a16="http://schemas.microsoft.com/office/drawing/2014/main" id="{982AD964-D564-42FB-BC1D-76960BF9D1B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409495" y="1181100"/>
            <a:ext cx="4029984" cy="5372100"/>
          </a:xfrm>
          <a:prstGeom prst="rect">
            <a:avLst/>
          </a:prstGeom>
        </p:spPr>
      </p:pic>
    </p:spTree>
    <p:extLst>
      <p:ext uri="{BB962C8B-B14F-4D97-AF65-F5344CB8AC3E}">
        <p14:creationId xmlns:p14="http://schemas.microsoft.com/office/powerpoint/2010/main" val="17255014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字方塊 3">
            <a:extLst>
              <a:ext uri="{FF2B5EF4-FFF2-40B4-BE49-F238E27FC236}">
                <a16:creationId xmlns:a16="http://schemas.microsoft.com/office/drawing/2014/main" id="{99DCEEDE-63FC-492E-B77C-676E80F36358}"/>
              </a:ext>
            </a:extLst>
          </p:cNvPr>
          <p:cNvSpPr txBox="1"/>
          <p:nvPr/>
        </p:nvSpPr>
        <p:spPr>
          <a:xfrm>
            <a:off x="592477" y="471340"/>
            <a:ext cx="4801314" cy="646331"/>
          </a:xfrm>
          <a:prstGeom prst="rect">
            <a:avLst/>
          </a:prstGeom>
          <a:noFill/>
        </p:spPr>
        <p:txBody>
          <a:bodyPr wrap="none" rtlCol="0">
            <a:spAutoFit/>
          </a:bodyPr>
          <a:lstStyle/>
          <a:p>
            <a:r>
              <a:rPr lang="zh-TW" altLang="en-US" sz="3600" dirty="0">
                <a:latin typeface="Adobe 繁黑體 Std B" panose="020B0700000000000000" pitchFamily="34" charset="-120"/>
                <a:ea typeface="Adobe 繁黑體 Std B" panose="020B0700000000000000" pitchFamily="34" charset="-120"/>
              </a:rPr>
              <a:t>認識風扇擺頭運動機構</a:t>
            </a:r>
          </a:p>
        </p:txBody>
      </p:sp>
      <p:sp>
        <p:nvSpPr>
          <p:cNvPr id="3" name="文字方塊 2">
            <a:extLst>
              <a:ext uri="{FF2B5EF4-FFF2-40B4-BE49-F238E27FC236}">
                <a16:creationId xmlns:a16="http://schemas.microsoft.com/office/drawing/2014/main" id="{ECC5B087-CA12-493A-A085-E30C7619184B}"/>
              </a:ext>
            </a:extLst>
          </p:cNvPr>
          <p:cNvSpPr txBox="1"/>
          <p:nvPr/>
        </p:nvSpPr>
        <p:spPr>
          <a:xfrm>
            <a:off x="592477" y="1117671"/>
            <a:ext cx="7656173" cy="1477328"/>
          </a:xfrm>
          <a:prstGeom prst="rect">
            <a:avLst/>
          </a:prstGeom>
          <a:noFill/>
        </p:spPr>
        <p:txBody>
          <a:bodyPr wrap="square" rtlCol="0">
            <a:spAutoFit/>
          </a:bodyPr>
          <a:lstStyle/>
          <a:p>
            <a:pPr algn="just"/>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機構</a:t>
            </a:r>
            <a:r>
              <a:rPr lang="en-US" altLang="zh-TW" dirty="0">
                <a:solidFill>
                  <a:schemeClr val="tx1">
                    <a:lumMod val="50000"/>
                    <a:lumOff val="50000"/>
                  </a:schemeClr>
                </a:solidFill>
                <a:latin typeface="Adobe 繁黑體 Std B" panose="020B0700000000000000" pitchFamily="34" charset="-120"/>
                <a:ea typeface="Adobe 繁黑體 Std B" panose="020B0700000000000000" pitchFamily="34" charset="-120"/>
              </a:rPr>
              <a:t>(</a:t>
            </a:r>
            <a:r>
              <a:rPr lang="en-US" altLang="zh-TW" dirty="0">
                <a:solidFill>
                  <a:schemeClr val="tx1">
                    <a:lumMod val="50000"/>
                    <a:lumOff val="50000"/>
                  </a:schemeClr>
                </a:solidFill>
              </a:rPr>
              <a:t>mechanisms</a:t>
            </a:r>
            <a:r>
              <a:rPr lang="en-US" altLang="zh-TW" dirty="0">
                <a:solidFill>
                  <a:schemeClr val="tx1">
                    <a:lumMod val="50000"/>
                    <a:lumOff val="50000"/>
                  </a:schemeClr>
                </a:solidFill>
                <a:latin typeface="Adobe 繁黑體 Std B" panose="020B0700000000000000" pitchFamily="34" charset="-120"/>
                <a:ea typeface="Adobe 繁黑體 Std B" panose="020B0700000000000000" pitchFamily="34" charset="-120"/>
              </a:rPr>
              <a:t>)</a:t>
            </a:r>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a:t>
            </a:r>
            <a:endParaRPr lang="en-US" altLang="zh-TW" dirty="0">
              <a:solidFill>
                <a:schemeClr val="tx1">
                  <a:lumMod val="50000"/>
                  <a:lumOff val="50000"/>
                </a:schemeClr>
              </a:solidFill>
              <a:latin typeface="Adobe 繁黑體 Std B" panose="020B0700000000000000" pitchFamily="34" charset="-120"/>
              <a:ea typeface="Adobe 繁黑體 Std B" panose="020B0700000000000000" pitchFamily="34" charset="-120"/>
            </a:endParaRPr>
          </a:p>
          <a:p>
            <a:pPr marL="285750" indent="-285750" algn="just">
              <a:buBlip>
                <a:blip r:embed="rId3"/>
              </a:buBlip>
            </a:pPr>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由兩個以上的機件</a:t>
            </a:r>
            <a:r>
              <a:rPr lang="en-US" altLang="zh-TW" dirty="0">
                <a:solidFill>
                  <a:schemeClr val="tx1">
                    <a:lumMod val="50000"/>
                    <a:lumOff val="50000"/>
                  </a:schemeClr>
                </a:solidFill>
                <a:latin typeface="Adobe 繁黑體 Std B" panose="020B0700000000000000" pitchFamily="34" charset="-120"/>
                <a:ea typeface="Adobe 繁黑體 Std B" panose="020B0700000000000000" pitchFamily="34" charset="-120"/>
              </a:rPr>
              <a:t>(machine parts)</a:t>
            </a:r>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組成。</a:t>
            </a:r>
            <a:endParaRPr lang="en-US" altLang="zh-TW" dirty="0">
              <a:solidFill>
                <a:schemeClr val="bg1">
                  <a:lumMod val="50000"/>
                </a:schemeClr>
              </a:solidFill>
              <a:latin typeface="Adobe 繁黑體 Std B" panose="020B0700000000000000" pitchFamily="34" charset="-120"/>
              <a:ea typeface="Adobe 繁黑體 Std B" panose="020B0700000000000000" pitchFamily="34" charset="-120"/>
            </a:endParaRPr>
          </a:p>
          <a:p>
            <a:pPr marL="285750" indent="-285750" algn="just">
              <a:buBlip>
                <a:blip r:embed="rId3"/>
              </a:buBlip>
            </a:pPr>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機構的運動有特定的路徑，並會產生特定的動作。</a:t>
            </a:r>
            <a:endParaRPr lang="en-US" altLang="zh-TW" dirty="0">
              <a:solidFill>
                <a:schemeClr val="tx1">
                  <a:lumMod val="50000"/>
                  <a:lumOff val="50000"/>
                </a:schemeClr>
              </a:solidFill>
              <a:latin typeface="Adobe 繁黑體 Std B" panose="020B0700000000000000" pitchFamily="34" charset="-120"/>
              <a:ea typeface="Adobe 繁黑體 Std B" panose="020B0700000000000000" pitchFamily="34" charset="-120"/>
            </a:endParaRPr>
          </a:p>
          <a:p>
            <a:pPr marL="285750" indent="-285750" algn="just">
              <a:buBlip>
                <a:blip r:embed="rId3"/>
              </a:buBlip>
            </a:pPr>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當其中一個機件運動時，其他的機件也會跟著運動而達到所預期的功能。</a:t>
            </a:r>
            <a:endParaRPr lang="en-US" altLang="zh-TW" dirty="0">
              <a:solidFill>
                <a:schemeClr val="tx1">
                  <a:lumMod val="50000"/>
                  <a:lumOff val="50000"/>
                </a:schemeClr>
              </a:solidFill>
              <a:latin typeface="Adobe 繁黑體 Std B" panose="020B0700000000000000" pitchFamily="34" charset="-120"/>
              <a:ea typeface="Adobe 繁黑體 Std B" panose="020B0700000000000000" pitchFamily="34" charset="-120"/>
            </a:endParaRPr>
          </a:p>
          <a:p>
            <a:pPr marL="285750" indent="-285750" algn="just">
              <a:buBlip>
                <a:blip r:embed="rId3"/>
              </a:buBlip>
            </a:pPr>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常見的機構有：連桿機構、齒輪機構、凸輪機構。</a:t>
            </a:r>
            <a:endParaRPr lang="en-US" altLang="zh-TW" dirty="0">
              <a:solidFill>
                <a:schemeClr val="tx1">
                  <a:lumMod val="50000"/>
                  <a:lumOff val="50000"/>
                </a:schemeClr>
              </a:solidFill>
              <a:latin typeface="Adobe 繁黑體 Std B" panose="020B0700000000000000" pitchFamily="34" charset="-120"/>
              <a:ea typeface="Adobe 繁黑體 Std B" panose="020B0700000000000000" pitchFamily="34" charset="-120"/>
            </a:endParaRPr>
          </a:p>
        </p:txBody>
      </p:sp>
      <p:sp>
        <p:nvSpPr>
          <p:cNvPr id="5" name="文字方塊 4">
            <a:extLst>
              <a:ext uri="{FF2B5EF4-FFF2-40B4-BE49-F238E27FC236}">
                <a16:creationId xmlns:a16="http://schemas.microsoft.com/office/drawing/2014/main" id="{A42305FD-F8DC-463A-9C17-A314C840A8EA}"/>
              </a:ext>
            </a:extLst>
          </p:cNvPr>
          <p:cNvSpPr txBox="1"/>
          <p:nvPr/>
        </p:nvSpPr>
        <p:spPr>
          <a:xfrm>
            <a:off x="592477" y="2788920"/>
            <a:ext cx="7656173" cy="923330"/>
          </a:xfrm>
          <a:prstGeom prst="rect">
            <a:avLst/>
          </a:prstGeom>
          <a:noFill/>
        </p:spPr>
        <p:txBody>
          <a:bodyPr wrap="square" rtlCol="0">
            <a:spAutoFit/>
          </a:bodyPr>
          <a:lstStyle/>
          <a:p>
            <a:pPr algn="just"/>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風扇擺頭運動應用的機構：</a:t>
            </a:r>
            <a:endParaRPr lang="en-US" altLang="zh-TW" dirty="0">
              <a:solidFill>
                <a:schemeClr val="tx1">
                  <a:lumMod val="50000"/>
                  <a:lumOff val="50000"/>
                </a:schemeClr>
              </a:solidFill>
              <a:latin typeface="Adobe 繁黑體 Std B" panose="020B0700000000000000" pitchFamily="34" charset="-120"/>
              <a:ea typeface="Adobe 繁黑體 Std B" panose="020B0700000000000000" pitchFamily="34" charset="-120"/>
            </a:endParaRPr>
          </a:p>
          <a:p>
            <a:pPr marL="285750" indent="-285750" algn="just">
              <a:buBlip>
                <a:blip r:embed="rId3"/>
              </a:buBlip>
            </a:pPr>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齒輪機構，目的在將電機的轉動方向改變，並將轉速減慢，帶動連桿。</a:t>
            </a:r>
            <a:endParaRPr lang="en-US" altLang="zh-TW" dirty="0">
              <a:solidFill>
                <a:schemeClr val="bg1">
                  <a:lumMod val="50000"/>
                </a:schemeClr>
              </a:solidFill>
              <a:latin typeface="Adobe 繁黑體 Std B" panose="020B0700000000000000" pitchFamily="34" charset="-120"/>
              <a:ea typeface="Adobe 繁黑體 Std B" panose="020B0700000000000000" pitchFamily="34" charset="-120"/>
            </a:endParaRPr>
          </a:p>
          <a:p>
            <a:pPr marL="285750" indent="-285750" algn="just">
              <a:buBlip>
                <a:blip r:embed="rId3"/>
              </a:buBlip>
            </a:pPr>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連桿機構，用以將族轉運動改變成為搖擺運動。</a:t>
            </a:r>
            <a:endParaRPr lang="en-US" altLang="zh-TW" dirty="0">
              <a:solidFill>
                <a:schemeClr val="tx1">
                  <a:lumMod val="50000"/>
                  <a:lumOff val="50000"/>
                </a:schemeClr>
              </a:solidFill>
              <a:latin typeface="Adobe 繁黑體 Std B" panose="020B0700000000000000" pitchFamily="34" charset="-120"/>
              <a:ea typeface="Adobe 繁黑體 Std B" panose="020B0700000000000000" pitchFamily="34" charset="-120"/>
            </a:endParaRPr>
          </a:p>
        </p:txBody>
      </p:sp>
      <p:pic>
        <p:nvPicPr>
          <p:cNvPr id="12" name="圖片 11">
            <a:extLst>
              <a:ext uri="{FF2B5EF4-FFF2-40B4-BE49-F238E27FC236}">
                <a16:creationId xmlns:a16="http://schemas.microsoft.com/office/drawing/2014/main" id="{8A3148C5-4E31-450C-A978-A06BFB4977C5}"/>
              </a:ext>
            </a:extLst>
          </p:cNvPr>
          <p:cNvPicPr>
            <a:picLocks noChangeAspect="1"/>
          </p:cNvPicPr>
          <p:nvPr/>
        </p:nvPicPr>
        <p:blipFill>
          <a:blip r:embed="rId4"/>
          <a:stretch>
            <a:fillRect/>
          </a:stretch>
        </p:blipFill>
        <p:spPr>
          <a:xfrm>
            <a:off x="455847" y="3712250"/>
            <a:ext cx="3964716" cy="2993041"/>
          </a:xfrm>
          <a:prstGeom prst="rect">
            <a:avLst/>
          </a:prstGeom>
        </p:spPr>
      </p:pic>
      <p:pic>
        <p:nvPicPr>
          <p:cNvPr id="14" name="圖片 13">
            <a:extLst>
              <a:ext uri="{FF2B5EF4-FFF2-40B4-BE49-F238E27FC236}">
                <a16:creationId xmlns:a16="http://schemas.microsoft.com/office/drawing/2014/main" id="{617CB3B5-F1E7-4C8F-B2B2-843B8D844DD1}"/>
              </a:ext>
            </a:extLst>
          </p:cNvPr>
          <p:cNvPicPr>
            <a:picLocks noChangeAspect="1"/>
          </p:cNvPicPr>
          <p:nvPr/>
        </p:nvPicPr>
        <p:blipFill>
          <a:blip r:embed="rId5"/>
          <a:stretch>
            <a:fillRect/>
          </a:stretch>
        </p:blipFill>
        <p:spPr>
          <a:xfrm>
            <a:off x="4723439" y="4200433"/>
            <a:ext cx="3735368" cy="2016673"/>
          </a:xfrm>
          <a:prstGeom prst="rect">
            <a:avLst/>
          </a:prstGeom>
        </p:spPr>
      </p:pic>
    </p:spTree>
    <p:extLst>
      <p:ext uri="{BB962C8B-B14F-4D97-AF65-F5344CB8AC3E}">
        <p14:creationId xmlns:p14="http://schemas.microsoft.com/office/powerpoint/2010/main" val="4358732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字方塊 3">
            <a:extLst>
              <a:ext uri="{FF2B5EF4-FFF2-40B4-BE49-F238E27FC236}">
                <a16:creationId xmlns:a16="http://schemas.microsoft.com/office/drawing/2014/main" id="{99DCEEDE-63FC-492E-B77C-676E80F36358}"/>
              </a:ext>
            </a:extLst>
          </p:cNvPr>
          <p:cNvSpPr txBox="1"/>
          <p:nvPr/>
        </p:nvSpPr>
        <p:spPr>
          <a:xfrm>
            <a:off x="592477" y="471340"/>
            <a:ext cx="2954655" cy="646331"/>
          </a:xfrm>
          <a:prstGeom prst="rect">
            <a:avLst/>
          </a:prstGeom>
          <a:noFill/>
        </p:spPr>
        <p:txBody>
          <a:bodyPr wrap="none" rtlCol="0">
            <a:spAutoFit/>
          </a:bodyPr>
          <a:lstStyle/>
          <a:p>
            <a:r>
              <a:rPr lang="zh-TW" altLang="en-US" sz="3600" dirty="0">
                <a:latin typeface="Adobe 繁黑體 Std B" panose="020B0700000000000000" pitchFamily="34" charset="-120"/>
                <a:ea typeface="Adobe 繁黑體 Std B" panose="020B0700000000000000" pitchFamily="34" charset="-120"/>
              </a:rPr>
              <a:t>認識連桿機構</a:t>
            </a:r>
          </a:p>
        </p:txBody>
      </p:sp>
      <p:sp>
        <p:nvSpPr>
          <p:cNvPr id="3" name="文字方塊 2">
            <a:extLst>
              <a:ext uri="{FF2B5EF4-FFF2-40B4-BE49-F238E27FC236}">
                <a16:creationId xmlns:a16="http://schemas.microsoft.com/office/drawing/2014/main" id="{ECC5B087-CA12-493A-A085-E30C7619184B}"/>
              </a:ext>
            </a:extLst>
          </p:cNvPr>
          <p:cNvSpPr txBox="1"/>
          <p:nvPr/>
        </p:nvSpPr>
        <p:spPr>
          <a:xfrm>
            <a:off x="592477" y="1117671"/>
            <a:ext cx="7656173" cy="3416320"/>
          </a:xfrm>
          <a:prstGeom prst="rect">
            <a:avLst/>
          </a:prstGeom>
          <a:noFill/>
        </p:spPr>
        <p:txBody>
          <a:bodyPr wrap="square" rtlCol="0">
            <a:spAutoFit/>
          </a:bodyPr>
          <a:lstStyle/>
          <a:p>
            <a:pPr marL="285750" indent="-285750" algn="just">
              <a:buBlip>
                <a:blip r:embed="rId2"/>
              </a:buBlip>
            </a:pPr>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連桿機構，是傳動機構中的一種以連桿為動力傳送的運動機構，目的在約束機械的運動範圍，產生特定的運動模式。</a:t>
            </a:r>
            <a:endParaRPr lang="en-US" altLang="zh-TW" dirty="0">
              <a:solidFill>
                <a:schemeClr val="tx1">
                  <a:lumMod val="50000"/>
                  <a:lumOff val="50000"/>
                </a:schemeClr>
              </a:solidFill>
              <a:latin typeface="Adobe 繁黑體 Std B" panose="020B0700000000000000" pitchFamily="34" charset="-120"/>
              <a:ea typeface="Adobe 繁黑體 Std B" panose="020B0700000000000000" pitchFamily="34" charset="-120"/>
            </a:endParaRPr>
          </a:p>
          <a:p>
            <a:pPr marL="285750" indent="-285750" algn="just">
              <a:buBlip>
                <a:blip r:embed="rId2"/>
              </a:buBlip>
            </a:pPr>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四連桿機構是應用相當廣泛的連桿機構，電風扇的擺頭運動就是應用四連桿機構，將旋轉型動力轉換為搖擺型的運動。</a:t>
            </a:r>
            <a:endParaRPr lang="en-US" altLang="zh-TW" dirty="0">
              <a:solidFill>
                <a:schemeClr val="tx1">
                  <a:lumMod val="50000"/>
                  <a:lumOff val="50000"/>
                </a:schemeClr>
              </a:solidFill>
              <a:latin typeface="Adobe 繁黑體 Std B" panose="020B0700000000000000" pitchFamily="34" charset="-120"/>
              <a:ea typeface="Adobe 繁黑體 Std B" panose="020B0700000000000000" pitchFamily="34" charset="-120"/>
            </a:endParaRPr>
          </a:p>
          <a:p>
            <a:pPr marL="285750" indent="-285750" algn="just">
              <a:buBlip>
                <a:blip r:embed="rId2"/>
              </a:buBlip>
            </a:pPr>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四連桿機構，是由四個連桿所組成的運動機構，其組件如下：</a:t>
            </a:r>
            <a:endParaRPr lang="en-US" altLang="zh-TW" dirty="0">
              <a:solidFill>
                <a:schemeClr val="tx1">
                  <a:lumMod val="50000"/>
                  <a:lumOff val="50000"/>
                </a:schemeClr>
              </a:solidFill>
              <a:latin typeface="Adobe 繁黑體 Std B" panose="020B0700000000000000" pitchFamily="34" charset="-120"/>
              <a:ea typeface="Adobe 繁黑體 Std B" panose="020B0700000000000000" pitchFamily="34" charset="-120"/>
            </a:endParaRPr>
          </a:p>
          <a:p>
            <a:pPr marL="742950" lvl="1" indent="-285750" algn="just">
              <a:buBlip>
                <a:blip r:embed="rId3"/>
              </a:buBlip>
            </a:pPr>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曲柄</a:t>
            </a:r>
            <a:r>
              <a:rPr lang="en-US" altLang="zh-TW" dirty="0">
                <a:solidFill>
                  <a:schemeClr val="tx1">
                    <a:lumMod val="50000"/>
                    <a:lumOff val="50000"/>
                  </a:schemeClr>
                </a:solidFill>
                <a:latin typeface="Adobe 繁黑體 Std B" panose="020B0700000000000000" pitchFamily="34" charset="-120"/>
                <a:ea typeface="Adobe 繁黑體 Std B" panose="020B0700000000000000" pitchFamily="34" charset="-120"/>
              </a:rPr>
              <a:t>(crank)</a:t>
            </a:r>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，是動力輸入的連桿，在機構中是主動桿，其運動方式以遶著固定軸進行</a:t>
            </a:r>
            <a:r>
              <a:rPr lang="en-US" altLang="zh-TW" dirty="0">
                <a:solidFill>
                  <a:schemeClr val="tx1">
                    <a:lumMod val="50000"/>
                    <a:lumOff val="50000"/>
                  </a:schemeClr>
                </a:solidFill>
                <a:latin typeface="Adobe 繁黑體 Std B" panose="020B0700000000000000" pitchFamily="34" charset="-120"/>
                <a:ea typeface="Adobe 繁黑體 Std B" panose="020B0700000000000000" pitchFamily="34" charset="-120"/>
              </a:rPr>
              <a:t>360</a:t>
            </a:r>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度的旋轉運動，圖中的</a:t>
            </a:r>
            <a:r>
              <a:rPr lang="en-US" altLang="zh-TW" dirty="0">
                <a:solidFill>
                  <a:schemeClr val="tx1">
                    <a:lumMod val="50000"/>
                    <a:lumOff val="50000"/>
                  </a:schemeClr>
                </a:solidFill>
                <a:latin typeface="Adobe 繁黑體 Std B" panose="020B0700000000000000" pitchFamily="34" charset="-120"/>
                <a:ea typeface="Adobe 繁黑體 Std B" panose="020B0700000000000000" pitchFamily="34" charset="-120"/>
              </a:rPr>
              <a:t>AB</a:t>
            </a:r>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桿。</a:t>
            </a:r>
            <a:endParaRPr lang="en-US" altLang="zh-TW" dirty="0">
              <a:solidFill>
                <a:schemeClr val="tx1">
                  <a:lumMod val="50000"/>
                  <a:lumOff val="50000"/>
                </a:schemeClr>
              </a:solidFill>
              <a:latin typeface="Adobe 繁黑體 Std B" panose="020B0700000000000000" pitchFamily="34" charset="-120"/>
              <a:ea typeface="Adobe 繁黑體 Std B" panose="020B0700000000000000" pitchFamily="34" charset="-120"/>
            </a:endParaRPr>
          </a:p>
          <a:p>
            <a:pPr marL="742950" lvl="1" indent="-285750" algn="just">
              <a:buBlip>
                <a:blip r:embed="rId3"/>
              </a:buBlip>
            </a:pPr>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搖桿</a:t>
            </a:r>
            <a:r>
              <a:rPr lang="en-US" altLang="zh-TW" dirty="0">
                <a:solidFill>
                  <a:schemeClr val="tx1">
                    <a:lumMod val="50000"/>
                    <a:lumOff val="50000"/>
                  </a:schemeClr>
                </a:solidFill>
                <a:latin typeface="Adobe 繁黑體 Std B" panose="020B0700000000000000" pitchFamily="34" charset="-120"/>
                <a:ea typeface="Adobe 繁黑體 Std B" panose="020B0700000000000000" pitchFamily="34" charset="-120"/>
              </a:rPr>
              <a:t>(rocker)</a:t>
            </a:r>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，在機構中僅能以固定軸為中心進行搖擺運動，動力來自於主動桿，是一種從動桿，圖中的</a:t>
            </a:r>
            <a:r>
              <a:rPr lang="en-US" altLang="zh-TW" dirty="0">
                <a:solidFill>
                  <a:schemeClr val="tx1">
                    <a:lumMod val="50000"/>
                    <a:lumOff val="50000"/>
                  </a:schemeClr>
                </a:solidFill>
                <a:latin typeface="Adobe 繁黑體 Std B" panose="020B0700000000000000" pitchFamily="34" charset="-120"/>
                <a:ea typeface="Adobe 繁黑體 Std B" panose="020B0700000000000000" pitchFamily="34" charset="-120"/>
              </a:rPr>
              <a:t>CD</a:t>
            </a:r>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桿。</a:t>
            </a:r>
            <a:endParaRPr lang="en-US" altLang="zh-TW" dirty="0">
              <a:solidFill>
                <a:schemeClr val="tx1">
                  <a:lumMod val="50000"/>
                  <a:lumOff val="50000"/>
                </a:schemeClr>
              </a:solidFill>
              <a:latin typeface="Adobe 繁黑體 Std B" panose="020B0700000000000000" pitchFamily="34" charset="-120"/>
              <a:ea typeface="Adobe 繁黑體 Std B" panose="020B0700000000000000" pitchFamily="34" charset="-120"/>
            </a:endParaRPr>
          </a:p>
          <a:p>
            <a:pPr marL="742950" lvl="1" indent="-285750" algn="just">
              <a:buBlip>
                <a:blip r:embed="rId3"/>
              </a:buBlip>
            </a:pPr>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浮桿</a:t>
            </a:r>
            <a:r>
              <a:rPr lang="en-US" altLang="zh-TW" dirty="0">
                <a:solidFill>
                  <a:schemeClr val="tx1">
                    <a:lumMod val="50000"/>
                    <a:lumOff val="50000"/>
                  </a:schemeClr>
                </a:solidFill>
                <a:latin typeface="Adobe 繁黑體 Std B" panose="020B0700000000000000" pitchFamily="34" charset="-120"/>
                <a:ea typeface="Adobe 繁黑體 Std B" panose="020B0700000000000000" pitchFamily="34" charset="-120"/>
              </a:rPr>
              <a:t>(floating link)</a:t>
            </a:r>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，連接主動桿與從動桿，以傳送動力的連接桿，又稱為連接桿</a:t>
            </a:r>
            <a:r>
              <a:rPr lang="en-US" altLang="zh-TW" dirty="0">
                <a:solidFill>
                  <a:schemeClr val="tx1">
                    <a:lumMod val="50000"/>
                    <a:lumOff val="50000"/>
                  </a:schemeClr>
                </a:solidFill>
                <a:latin typeface="Adobe 繁黑體 Std B" panose="020B0700000000000000" pitchFamily="34" charset="-120"/>
                <a:ea typeface="Adobe 繁黑體 Std B" panose="020B0700000000000000" pitchFamily="34" charset="-120"/>
              </a:rPr>
              <a:t>(connecting)</a:t>
            </a:r>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，圖中的</a:t>
            </a:r>
            <a:r>
              <a:rPr lang="en-US" altLang="zh-TW" dirty="0">
                <a:solidFill>
                  <a:schemeClr val="tx1">
                    <a:lumMod val="50000"/>
                    <a:lumOff val="50000"/>
                  </a:schemeClr>
                </a:solidFill>
                <a:latin typeface="Adobe 繁黑體 Std B" panose="020B0700000000000000" pitchFamily="34" charset="-120"/>
                <a:ea typeface="Adobe 繁黑體 Std B" panose="020B0700000000000000" pitchFamily="34" charset="-120"/>
              </a:rPr>
              <a:t>BC</a:t>
            </a:r>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桿。</a:t>
            </a:r>
            <a:endParaRPr lang="en-US" altLang="zh-TW" dirty="0">
              <a:solidFill>
                <a:schemeClr val="tx1">
                  <a:lumMod val="50000"/>
                  <a:lumOff val="50000"/>
                </a:schemeClr>
              </a:solidFill>
              <a:latin typeface="Adobe 繁黑體 Std B" panose="020B0700000000000000" pitchFamily="34" charset="-120"/>
              <a:ea typeface="Adobe 繁黑體 Std B" panose="020B0700000000000000" pitchFamily="34" charset="-120"/>
            </a:endParaRPr>
          </a:p>
          <a:p>
            <a:pPr marL="742950" lvl="1" indent="-285750" algn="just">
              <a:buBlip>
                <a:blip r:embed="rId3"/>
              </a:buBlip>
            </a:pPr>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固定桿，又稱為聯中線</a:t>
            </a:r>
            <a:r>
              <a:rPr lang="en-US" altLang="zh-TW" dirty="0">
                <a:solidFill>
                  <a:schemeClr val="tx1">
                    <a:lumMod val="50000"/>
                    <a:lumOff val="50000"/>
                  </a:schemeClr>
                </a:solidFill>
                <a:latin typeface="Adobe 繁黑體 Std B" panose="020B0700000000000000" pitchFamily="34" charset="-120"/>
                <a:ea typeface="Adobe 繁黑體 Std B" panose="020B0700000000000000" pitchFamily="34" charset="-120"/>
              </a:rPr>
              <a:t>(line of center)</a:t>
            </a:r>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，圖中的</a:t>
            </a:r>
            <a:r>
              <a:rPr lang="en-US" altLang="zh-TW" dirty="0">
                <a:solidFill>
                  <a:schemeClr val="tx1">
                    <a:lumMod val="50000"/>
                    <a:lumOff val="50000"/>
                  </a:schemeClr>
                </a:solidFill>
                <a:latin typeface="Adobe 繁黑體 Std B" panose="020B0700000000000000" pitchFamily="34" charset="-120"/>
                <a:ea typeface="Adobe 繁黑體 Std B" panose="020B0700000000000000" pitchFamily="34" charset="-120"/>
              </a:rPr>
              <a:t>AD</a:t>
            </a:r>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桿。</a:t>
            </a:r>
            <a:endParaRPr lang="en-US" altLang="zh-TW" dirty="0">
              <a:solidFill>
                <a:schemeClr val="tx1">
                  <a:lumMod val="50000"/>
                  <a:lumOff val="50000"/>
                </a:schemeClr>
              </a:solidFill>
              <a:latin typeface="Adobe 繁黑體 Std B" panose="020B0700000000000000" pitchFamily="34" charset="-120"/>
              <a:ea typeface="Adobe 繁黑體 Std B" panose="020B0700000000000000" pitchFamily="34" charset="-120"/>
            </a:endParaRPr>
          </a:p>
        </p:txBody>
      </p:sp>
      <p:pic>
        <p:nvPicPr>
          <p:cNvPr id="6" name="圖片 5">
            <a:extLst>
              <a:ext uri="{FF2B5EF4-FFF2-40B4-BE49-F238E27FC236}">
                <a16:creationId xmlns:a16="http://schemas.microsoft.com/office/drawing/2014/main" id="{45BF1C9C-F684-42E2-9389-E1537E529788}"/>
              </a:ext>
            </a:extLst>
          </p:cNvPr>
          <p:cNvPicPr>
            <a:picLocks noChangeAspect="1"/>
          </p:cNvPicPr>
          <p:nvPr/>
        </p:nvPicPr>
        <p:blipFill>
          <a:blip r:embed="rId4"/>
          <a:stretch>
            <a:fillRect/>
          </a:stretch>
        </p:blipFill>
        <p:spPr>
          <a:xfrm>
            <a:off x="3965729" y="4771383"/>
            <a:ext cx="3589446" cy="1937892"/>
          </a:xfrm>
          <a:prstGeom prst="rect">
            <a:avLst/>
          </a:prstGeom>
        </p:spPr>
      </p:pic>
      <p:sp>
        <p:nvSpPr>
          <p:cNvPr id="2" name="文字方塊 1">
            <a:extLst>
              <a:ext uri="{FF2B5EF4-FFF2-40B4-BE49-F238E27FC236}">
                <a16:creationId xmlns:a16="http://schemas.microsoft.com/office/drawing/2014/main" id="{93D94935-FC3C-4561-923E-4C4612CA79A3}"/>
              </a:ext>
            </a:extLst>
          </p:cNvPr>
          <p:cNvSpPr txBox="1"/>
          <p:nvPr/>
        </p:nvSpPr>
        <p:spPr>
          <a:xfrm>
            <a:off x="6819900" y="6196160"/>
            <a:ext cx="338554" cy="369332"/>
          </a:xfrm>
          <a:prstGeom prst="rect">
            <a:avLst/>
          </a:prstGeom>
          <a:noFill/>
        </p:spPr>
        <p:txBody>
          <a:bodyPr wrap="none" rtlCol="0">
            <a:spAutoFit/>
          </a:bodyPr>
          <a:lstStyle/>
          <a:p>
            <a:r>
              <a:rPr lang="en-US" altLang="zh-TW" dirty="0"/>
              <a:t>A</a:t>
            </a:r>
            <a:endParaRPr lang="zh-TW" altLang="en-US" dirty="0"/>
          </a:p>
        </p:txBody>
      </p:sp>
      <p:sp>
        <p:nvSpPr>
          <p:cNvPr id="7" name="文字方塊 6">
            <a:extLst>
              <a:ext uri="{FF2B5EF4-FFF2-40B4-BE49-F238E27FC236}">
                <a16:creationId xmlns:a16="http://schemas.microsoft.com/office/drawing/2014/main" id="{AC45CDC9-57CD-4A65-966E-1A40AE3BF06E}"/>
              </a:ext>
            </a:extLst>
          </p:cNvPr>
          <p:cNvSpPr txBox="1"/>
          <p:nvPr/>
        </p:nvSpPr>
        <p:spPr>
          <a:xfrm>
            <a:off x="6552260" y="5180322"/>
            <a:ext cx="338554" cy="369332"/>
          </a:xfrm>
          <a:prstGeom prst="rect">
            <a:avLst/>
          </a:prstGeom>
          <a:noFill/>
        </p:spPr>
        <p:txBody>
          <a:bodyPr wrap="none" rtlCol="0">
            <a:spAutoFit/>
          </a:bodyPr>
          <a:lstStyle/>
          <a:p>
            <a:r>
              <a:rPr lang="en-US" altLang="zh-TW" dirty="0"/>
              <a:t>B</a:t>
            </a:r>
            <a:endParaRPr lang="zh-TW" altLang="en-US" dirty="0"/>
          </a:p>
        </p:txBody>
      </p:sp>
      <p:sp>
        <p:nvSpPr>
          <p:cNvPr id="9" name="文字方塊 8">
            <a:extLst>
              <a:ext uri="{FF2B5EF4-FFF2-40B4-BE49-F238E27FC236}">
                <a16:creationId xmlns:a16="http://schemas.microsoft.com/office/drawing/2014/main" id="{CE49E862-67F1-4C09-92A7-7C69A60D9D0B}"/>
              </a:ext>
            </a:extLst>
          </p:cNvPr>
          <p:cNvSpPr txBox="1"/>
          <p:nvPr/>
        </p:nvSpPr>
        <p:spPr>
          <a:xfrm>
            <a:off x="4715922" y="4468021"/>
            <a:ext cx="351378" cy="369332"/>
          </a:xfrm>
          <a:prstGeom prst="rect">
            <a:avLst/>
          </a:prstGeom>
          <a:noFill/>
        </p:spPr>
        <p:txBody>
          <a:bodyPr wrap="none" rtlCol="0">
            <a:spAutoFit/>
          </a:bodyPr>
          <a:lstStyle/>
          <a:p>
            <a:r>
              <a:rPr lang="en-US" altLang="zh-TW" dirty="0"/>
              <a:t>C</a:t>
            </a:r>
            <a:endParaRPr lang="zh-TW" altLang="en-US" dirty="0"/>
          </a:p>
        </p:txBody>
      </p:sp>
      <p:sp>
        <p:nvSpPr>
          <p:cNvPr id="11" name="文字方塊 10">
            <a:extLst>
              <a:ext uri="{FF2B5EF4-FFF2-40B4-BE49-F238E27FC236}">
                <a16:creationId xmlns:a16="http://schemas.microsoft.com/office/drawing/2014/main" id="{5DC18C1D-B3C8-455A-B861-691B4D2E2D90}"/>
              </a:ext>
            </a:extLst>
          </p:cNvPr>
          <p:cNvSpPr txBox="1"/>
          <p:nvPr/>
        </p:nvSpPr>
        <p:spPr>
          <a:xfrm>
            <a:off x="4276832" y="6252386"/>
            <a:ext cx="351378" cy="369332"/>
          </a:xfrm>
          <a:prstGeom prst="rect">
            <a:avLst/>
          </a:prstGeom>
          <a:noFill/>
        </p:spPr>
        <p:txBody>
          <a:bodyPr wrap="none" rtlCol="0">
            <a:spAutoFit/>
          </a:bodyPr>
          <a:lstStyle/>
          <a:p>
            <a:r>
              <a:rPr lang="en-US" altLang="zh-TW" dirty="0"/>
              <a:t>D</a:t>
            </a:r>
            <a:endParaRPr lang="zh-TW" altLang="en-US" dirty="0"/>
          </a:p>
        </p:txBody>
      </p:sp>
    </p:spTree>
    <p:extLst>
      <p:ext uri="{BB962C8B-B14F-4D97-AF65-F5344CB8AC3E}">
        <p14:creationId xmlns:p14="http://schemas.microsoft.com/office/powerpoint/2010/main" val="15352703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字方塊 3">
            <a:extLst>
              <a:ext uri="{FF2B5EF4-FFF2-40B4-BE49-F238E27FC236}">
                <a16:creationId xmlns:a16="http://schemas.microsoft.com/office/drawing/2014/main" id="{99DCEEDE-63FC-492E-B77C-676E80F36358}"/>
              </a:ext>
            </a:extLst>
          </p:cNvPr>
          <p:cNvSpPr txBox="1"/>
          <p:nvPr/>
        </p:nvSpPr>
        <p:spPr>
          <a:xfrm>
            <a:off x="592477" y="471340"/>
            <a:ext cx="3877985" cy="646331"/>
          </a:xfrm>
          <a:prstGeom prst="rect">
            <a:avLst/>
          </a:prstGeom>
          <a:noFill/>
        </p:spPr>
        <p:txBody>
          <a:bodyPr wrap="none" rtlCol="0">
            <a:spAutoFit/>
          </a:bodyPr>
          <a:lstStyle/>
          <a:p>
            <a:r>
              <a:rPr lang="zh-TW" altLang="en-US" sz="3600" dirty="0">
                <a:latin typeface="Adobe 繁黑體 Std B" panose="020B0700000000000000" pitchFamily="34" charset="-120"/>
                <a:ea typeface="Adobe 繁黑體 Std B" panose="020B0700000000000000" pitchFamily="34" charset="-120"/>
              </a:rPr>
              <a:t>認識齒輪傳動機構</a:t>
            </a:r>
          </a:p>
        </p:txBody>
      </p:sp>
      <p:sp>
        <p:nvSpPr>
          <p:cNvPr id="3" name="文字方塊 2">
            <a:extLst>
              <a:ext uri="{FF2B5EF4-FFF2-40B4-BE49-F238E27FC236}">
                <a16:creationId xmlns:a16="http://schemas.microsoft.com/office/drawing/2014/main" id="{ECC5B087-CA12-493A-A085-E30C7619184B}"/>
              </a:ext>
            </a:extLst>
          </p:cNvPr>
          <p:cNvSpPr txBox="1"/>
          <p:nvPr/>
        </p:nvSpPr>
        <p:spPr>
          <a:xfrm>
            <a:off x="592477" y="1117671"/>
            <a:ext cx="6753883" cy="923330"/>
          </a:xfrm>
          <a:prstGeom prst="rect">
            <a:avLst/>
          </a:prstGeom>
          <a:noFill/>
        </p:spPr>
        <p:txBody>
          <a:bodyPr wrap="square" rtlCol="0">
            <a:spAutoFit/>
          </a:bodyPr>
          <a:lstStyle/>
          <a:p>
            <a:pPr algn="just"/>
            <a:r>
              <a:rPr lang="zh-TW" altLang="en-US" dirty="0">
                <a:solidFill>
                  <a:schemeClr val="bg1">
                    <a:lumMod val="50000"/>
                  </a:schemeClr>
                </a:solidFill>
                <a:latin typeface="Adobe 繁黑體 Std B" panose="020B0700000000000000" pitchFamily="34" charset="-120"/>
                <a:ea typeface="Adobe 繁黑體 Std B" panose="020B0700000000000000" pitchFamily="34" charset="-120"/>
              </a:rPr>
              <a:t>蝸桿齒輪：</a:t>
            </a:r>
            <a:endParaRPr lang="en-US" altLang="zh-TW" dirty="0">
              <a:solidFill>
                <a:schemeClr val="bg1">
                  <a:lumMod val="50000"/>
                </a:schemeClr>
              </a:solidFill>
              <a:latin typeface="Adobe 繁黑體 Std B" panose="020B0700000000000000" pitchFamily="34" charset="-120"/>
              <a:ea typeface="Adobe 繁黑體 Std B" panose="020B0700000000000000" pitchFamily="34" charset="-120"/>
            </a:endParaRPr>
          </a:p>
          <a:p>
            <a:pPr marL="285750" indent="-285750" algn="just">
              <a:buBlip>
                <a:blip r:embed="rId2"/>
              </a:buBlip>
            </a:pPr>
            <a:r>
              <a:rPr lang="zh-TW" altLang="en-US" dirty="0">
                <a:solidFill>
                  <a:schemeClr val="bg1">
                    <a:lumMod val="50000"/>
                  </a:schemeClr>
                </a:solidFill>
                <a:latin typeface="Adobe 繁黑體 Std B" panose="020B0700000000000000" pitchFamily="34" charset="-120"/>
                <a:ea typeface="Adobe 繁黑體 Std B" panose="020B0700000000000000" pitchFamily="34" charset="-120"/>
              </a:rPr>
              <a:t>轉向傳動。</a:t>
            </a:r>
            <a:endParaRPr lang="en-US" altLang="zh-TW" dirty="0">
              <a:solidFill>
                <a:schemeClr val="bg1">
                  <a:lumMod val="50000"/>
                </a:schemeClr>
              </a:solidFill>
              <a:latin typeface="Adobe 繁黑體 Std B" panose="020B0700000000000000" pitchFamily="34" charset="-120"/>
              <a:ea typeface="Adobe 繁黑體 Std B" panose="020B0700000000000000" pitchFamily="34" charset="-120"/>
            </a:endParaRPr>
          </a:p>
          <a:p>
            <a:pPr marL="285750" indent="-285750" algn="just">
              <a:buBlip>
                <a:blip r:embed="rId2"/>
              </a:buBlip>
            </a:pPr>
            <a:r>
              <a:rPr lang="zh-TW" altLang="en-US" dirty="0">
                <a:solidFill>
                  <a:schemeClr val="bg1">
                    <a:lumMod val="50000"/>
                  </a:schemeClr>
                </a:solidFill>
                <a:latin typeface="Adobe 繁黑體 Std B" panose="020B0700000000000000" pitchFamily="34" charset="-120"/>
                <a:ea typeface="Adobe 繁黑體 Std B" panose="020B0700000000000000" pitchFamily="34" charset="-120"/>
              </a:rPr>
              <a:t>減速傳動。</a:t>
            </a:r>
            <a:endParaRPr lang="en-US" altLang="zh-TW" dirty="0">
              <a:solidFill>
                <a:schemeClr val="bg1">
                  <a:lumMod val="50000"/>
                </a:schemeClr>
              </a:solidFill>
              <a:latin typeface="Adobe 繁黑體 Std B" panose="020B0700000000000000" pitchFamily="34" charset="-120"/>
              <a:ea typeface="Adobe 繁黑體 Std B" panose="020B0700000000000000" pitchFamily="34" charset="-120"/>
            </a:endParaRPr>
          </a:p>
        </p:txBody>
      </p:sp>
      <p:pic>
        <p:nvPicPr>
          <p:cNvPr id="7" name="圖片 6">
            <a:extLst>
              <a:ext uri="{FF2B5EF4-FFF2-40B4-BE49-F238E27FC236}">
                <a16:creationId xmlns:a16="http://schemas.microsoft.com/office/drawing/2014/main" id="{1BD0E455-984A-40B1-B630-7EC94A05D073}"/>
              </a:ext>
            </a:extLst>
          </p:cNvPr>
          <p:cNvPicPr>
            <a:picLocks noChangeAspect="1"/>
          </p:cNvPicPr>
          <p:nvPr/>
        </p:nvPicPr>
        <p:blipFill>
          <a:blip r:embed="rId3"/>
          <a:stretch>
            <a:fillRect/>
          </a:stretch>
        </p:blipFill>
        <p:spPr>
          <a:xfrm>
            <a:off x="455847" y="3712250"/>
            <a:ext cx="3964716" cy="2993041"/>
          </a:xfrm>
          <a:prstGeom prst="rect">
            <a:avLst/>
          </a:prstGeom>
        </p:spPr>
      </p:pic>
    </p:spTree>
    <p:extLst>
      <p:ext uri="{BB962C8B-B14F-4D97-AF65-F5344CB8AC3E}">
        <p14:creationId xmlns:p14="http://schemas.microsoft.com/office/powerpoint/2010/main" val="9060597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字方塊 3">
            <a:extLst>
              <a:ext uri="{FF2B5EF4-FFF2-40B4-BE49-F238E27FC236}">
                <a16:creationId xmlns:a16="http://schemas.microsoft.com/office/drawing/2014/main" id="{99DCEEDE-63FC-492E-B77C-676E80F36358}"/>
              </a:ext>
            </a:extLst>
          </p:cNvPr>
          <p:cNvSpPr txBox="1"/>
          <p:nvPr/>
        </p:nvSpPr>
        <p:spPr>
          <a:xfrm>
            <a:off x="592477" y="471340"/>
            <a:ext cx="3877985" cy="646331"/>
          </a:xfrm>
          <a:prstGeom prst="rect">
            <a:avLst/>
          </a:prstGeom>
          <a:noFill/>
        </p:spPr>
        <p:txBody>
          <a:bodyPr wrap="none" rtlCol="0">
            <a:spAutoFit/>
          </a:bodyPr>
          <a:lstStyle/>
          <a:p>
            <a:r>
              <a:rPr lang="zh-TW" altLang="en-US" sz="3600" dirty="0">
                <a:latin typeface="Adobe 繁黑體 Std B" panose="020B0700000000000000" pitchFamily="34" charset="-120"/>
                <a:ea typeface="Adobe 繁黑體 Std B" panose="020B0700000000000000" pitchFamily="34" charset="-120"/>
              </a:rPr>
              <a:t>風扇擺頭運動原理</a:t>
            </a:r>
          </a:p>
        </p:txBody>
      </p:sp>
      <p:sp>
        <p:nvSpPr>
          <p:cNvPr id="3" name="文字方塊 2">
            <a:extLst>
              <a:ext uri="{FF2B5EF4-FFF2-40B4-BE49-F238E27FC236}">
                <a16:creationId xmlns:a16="http://schemas.microsoft.com/office/drawing/2014/main" id="{ECC5B087-CA12-493A-A085-E30C7619184B}"/>
              </a:ext>
            </a:extLst>
          </p:cNvPr>
          <p:cNvSpPr txBox="1"/>
          <p:nvPr/>
        </p:nvSpPr>
        <p:spPr>
          <a:xfrm>
            <a:off x="592477" y="1117671"/>
            <a:ext cx="7656173" cy="2031325"/>
          </a:xfrm>
          <a:prstGeom prst="rect">
            <a:avLst/>
          </a:prstGeom>
          <a:noFill/>
        </p:spPr>
        <p:txBody>
          <a:bodyPr wrap="square" rtlCol="0">
            <a:spAutoFit/>
          </a:bodyPr>
          <a:lstStyle/>
          <a:p>
            <a:pPr marL="285750" indent="-285750" algn="just">
              <a:buBlip>
                <a:blip r:embed="rId3"/>
              </a:buBlip>
            </a:pPr>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由電機帶動蝸桿，再由蝸桿驅動蝸輪齒輪，並由大小齒輪的嚙合傳動，達到運動方向的改變及減速。</a:t>
            </a:r>
            <a:endParaRPr lang="en-US" altLang="zh-TW" dirty="0">
              <a:solidFill>
                <a:schemeClr val="bg1">
                  <a:lumMod val="50000"/>
                </a:schemeClr>
              </a:solidFill>
              <a:latin typeface="Adobe 繁黑體 Std B" panose="020B0700000000000000" pitchFamily="34" charset="-120"/>
              <a:ea typeface="Adobe 繁黑體 Std B" panose="020B0700000000000000" pitchFamily="34" charset="-120"/>
            </a:endParaRPr>
          </a:p>
          <a:p>
            <a:pPr marL="285750" indent="-285750" algn="just">
              <a:buBlip>
                <a:blip r:embed="rId3"/>
              </a:buBlip>
            </a:pPr>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再由最後一個齒輪遶</a:t>
            </a:r>
            <a:r>
              <a:rPr lang="en-US" altLang="zh-TW" dirty="0">
                <a:solidFill>
                  <a:schemeClr val="tx1">
                    <a:lumMod val="50000"/>
                    <a:lumOff val="50000"/>
                  </a:schemeClr>
                </a:solidFill>
                <a:latin typeface="Adobe 繁黑體 Std B" panose="020B0700000000000000" pitchFamily="34" charset="-120"/>
                <a:ea typeface="Adobe 繁黑體 Std B" panose="020B0700000000000000" pitchFamily="34" charset="-120"/>
              </a:rPr>
              <a:t>A</a:t>
            </a:r>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軸轉動來驅動</a:t>
            </a:r>
            <a:r>
              <a:rPr lang="en-US" altLang="zh-TW" dirty="0">
                <a:solidFill>
                  <a:schemeClr val="tx1">
                    <a:lumMod val="50000"/>
                    <a:lumOff val="50000"/>
                  </a:schemeClr>
                </a:solidFill>
                <a:latin typeface="Adobe 繁黑體 Std B" panose="020B0700000000000000" pitchFamily="34" charset="-120"/>
                <a:ea typeface="Adobe 繁黑體 Std B" panose="020B0700000000000000" pitchFamily="34" charset="-120"/>
              </a:rPr>
              <a:t>B</a:t>
            </a:r>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軸點的旋轉運動。</a:t>
            </a:r>
            <a:endParaRPr lang="en-US" altLang="zh-TW" dirty="0">
              <a:solidFill>
                <a:schemeClr val="tx1">
                  <a:lumMod val="50000"/>
                  <a:lumOff val="50000"/>
                </a:schemeClr>
              </a:solidFill>
              <a:latin typeface="Adobe 繁黑體 Std B" panose="020B0700000000000000" pitchFamily="34" charset="-120"/>
              <a:ea typeface="Adobe 繁黑體 Std B" panose="020B0700000000000000" pitchFamily="34" charset="-120"/>
            </a:endParaRPr>
          </a:p>
          <a:p>
            <a:pPr marL="285750" indent="-285750" algn="just">
              <a:buBlip>
                <a:blip r:embed="rId3"/>
              </a:buBlip>
            </a:pPr>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接著由</a:t>
            </a:r>
            <a:r>
              <a:rPr lang="en-US" altLang="zh-TW" dirty="0">
                <a:solidFill>
                  <a:schemeClr val="tx1">
                    <a:lumMod val="50000"/>
                    <a:lumOff val="50000"/>
                  </a:schemeClr>
                </a:solidFill>
                <a:latin typeface="Adobe 繁黑體 Std B" panose="020B0700000000000000" pitchFamily="34" charset="-120"/>
                <a:ea typeface="Adobe 繁黑體 Std B" panose="020B0700000000000000" pitchFamily="34" charset="-120"/>
              </a:rPr>
              <a:t>B</a:t>
            </a:r>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軸點和</a:t>
            </a:r>
            <a:r>
              <a:rPr lang="en-US" altLang="zh-TW" dirty="0">
                <a:solidFill>
                  <a:schemeClr val="tx1">
                    <a:lumMod val="50000"/>
                    <a:lumOff val="50000"/>
                  </a:schemeClr>
                </a:solidFill>
                <a:latin typeface="Adobe 繁黑體 Std B" panose="020B0700000000000000" pitchFamily="34" charset="-120"/>
                <a:ea typeface="Adobe 繁黑體 Std B" panose="020B0700000000000000" pitchFamily="34" charset="-120"/>
              </a:rPr>
              <a:t>C</a:t>
            </a:r>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軸點連接的</a:t>
            </a:r>
            <a:r>
              <a:rPr lang="en-US" altLang="zh-TW" dirty="0">
                <a:solidFill>
                  <a:schemeClr val="tx1">
                    <a:lumMod val="50000"/>
                    <a:lumOff val="50000"/>
                  </a:schemeClr>
                </a:solidFill>
                <a:latin typeface="Adobe 繁黑體 Std B" panose="020B0700000000000000" pitchFamily="34" charset="-120"/>
                <a:ea typeface="Adobe 繁黑體 Std B" panose="020B0700000000000000" pitchFamily="34" charset="-120"/>
              </a:rPr>
              <a:t>BC</a:t>
            </a:r>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連桿，推動</a:t>
            </a:r>
            <a:r>
              <a:rPr lang="en-US" altLang="zh-TW" dirty="0">
                <a:solidFill>
                  <a:schemeClr val="tx1">
                    <a:lumMod val="50000"/>
                    <a:lumOff val="50000"/>
                  </a:schemeClr>
                </a:solidFill>
                <a:latin typeface="Adobe 繁黑體 Std B" panose="020B0700000000000000" pitchFamily="34" charset="-120"/>
                <a:ea typeface="Adobe 繁黑體 Std B" panose="020B0700000000000000" pitchFamily="34" charset="-120"/>
              </a:rPr>
              <a:t>CD</a:t>
            </a:r>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點的搖桿擺動。</a:t>
            </a:r>
            <a:endParaRPr lang="en-US" altLang="zh-TW" dirty="0">
              <a:solidFill>
                <a:schemeClr val="tx1">
                  <a:lumMod val="50000"/>
                  <a:lumOff val="50000"/>
                </a:schemeClr>
              </a:solidFill>
              <a:latin typeface="Adobe 繁黑體 Std B" panose="020B0700000000000000" pitchFamily="34" charset="-120"/>
              <a:ea typeface="Adobe 繁黑體 Std B" panose="020B0700000000000000" pitchFamily="34" charset="-120"/>
            </a:endParaRPr>
          </a:p>
          <a:p>
            <a:pPr marL="285750" indent="-285750" algn="just">
              <a:buBlip>
                <a:blip r:embed="rId3"/>
              </a:buBlip>
            </a:pPr>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本機構的設計為</a:t>
            </a:r>
            <a:r>
              <a:rPr lang="en-US" altLang="zh-TW" dirty="0">
                <a:solidFill>
                  <a:schemeClr val="tx1">
                    <a:lumMod val="50000"/>
                    <a:lumOff val="50000"/>
                  </a:schemeClr>
                </a:solidFill>
                <a:latin typeface="Adobe 繁黑體 Std B" panose="020B0700000000000000" pitchFamily="34" charset="-120"/>
                <a:ea typeface="Adobe 繁黑體 Std B" panose="020B0700000000000000" pitchFamily="34" charset="-120"/>
              </a:rPr>
              <a:t>C</a:t>
            </a:r>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點遶著</a:t>
            </a:r>
            <a:r>
              <a:rPr lang="en-US" altLang="zh-TW" dirty="0">
                <a:solidFill>
                  <a:schemeClr val="tx1">
                    <a:lumMod val="50000"/>
                    <a:lumOff val="50000"/>
                  </a:schemeClr>
                </a:solidFill>
                <a:latin typeface="Adobe 繁黑體 Std B" panose="020B0700000000000000" pitchFamily="34" charset="-120"/>
                <a:ea typeface="Adobe 繁黑體 Std B" panose="020B0700000000000000" pitchFamily="34" charset="-120"/>
              </a:rPr>
              <a:t>D</a:t>
            </a:r>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點進行擺動運動，</a:t>
            </a:r>
            <a:r>
              <a:rPr lang="en-US" altLang="zh-TW" dirty="0">
                <a:solidFill>
                  <a:schemeClr val="tx1">
                    <a:lumMod val="50000"/>
                    <a:lumOff val="50000"/>
                  </a:schemeClr>
                </a:solidFill>
                <a:latin typeface="Adobe 繁黑體 Std B" panose="020B0700000000000000" pitchFamily="34" charset="-120"/>
                <a:ea typeface="Adobe 繁黑體 Std B" panose="020B0700000000000000" pitchFamily="34" charset="-120"/>
              </a:rPr>
              <a:t>C</a:t>
            </a:r>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點與風扇機體形成</a:t>
            </a:r>
            <a:r>
              <a:rPr lang="en-US" altLang="zh-TW" dirty="0">
                <a:solidFill>
                  <a:schemeClr val="tx1">
                    <a:lumMod val="50000"/>
                    <a:lumOff val="50000"/>
                  </a:schemeClr>
                </a:solidFill>
                <a:latin typeface="Adobe 繁黑體 Std B" panose="020B0700000000000000" pitchFamily="34" charset="-120"/>
                <a:ea typeface="Adobe 繁黑體 Std B" panose="020B0700000000000000" pitchFamily="34" charset="-120"/>
              </a:rPr>
              <a:t>CD</a:t>
            </a:r>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的搖桿連桿，因此</a:t>
            </a:r>
            <a:r>
              <a:rPr lang="en-US" altLang="zh-TW" dirty="0">
                <a:solidFill>
                  <a:schemeClr val="tx1">
                    <a:lumMod val="50000"/>
                    <a:lumOff val="50000"/>
                  </a:schemeClr>
                </a:solidFill>
                <a:latin typeface="Adobe 繁黑體 Std B" panose="020B0700000000000000" pitchFamily="34" charset="-120"/>
                <a:ea typeface="Adobe 繁黑體 Std B" panose="020B0700000000000000" pitchFamily="34" charset="-120"/>
              </a:rPr>
              <a:t>B</a:t>
            </a:r>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點的推力將造成風扇機體以</a:t>
            </a:r>
            <a:r>
              <a:rPr lang="en-US" altLang="zh-TW" dirty="0">
                <a:solidFill>
                  <a:schemeClr val="tx1">
                    <a:lumMod val="50000"/>
                    <a:lumOff val="50000"/>
                  </a:schemeClr>
                </a:solidFill>
                <a:latin typeface="Adobe 繁黑體 Std B" panose="020B0700000000000000" pitchFamily="34" charset="-120"/>
                <a:ea typeface="Adobe 繁黑體 Std B" panose="020B0700000000000000" pitchFamily="34" charset="-120"/>
              </a:rPr>
              <a:t>D</a:t>
            </a:r>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點為中心軸進行擺動運動。</a:t>
            </a:r>
            <a:endParaRPr lang="en-US" altLang="zh-TW" dirty="0">
              <a:solidFill>
                <a:schemeClr val="tx1">
                  <a:lumMod val="50000"/>
                  <a:lumOff val="50000"/>
                </a:schemeClr>
              </a:solidFill>
              <a:latin typeface="Adobe 繁黑體 Std B" panose="020B0700000000000000" pitchFamily="34" charset="-120"/>
              <a:ea typeface="Adobe 繁黑體 Std B" panose="020B0700000000000000" pitchFamily="34" charset="-120"/>
            </a:endParaRPr>
          </a:p>
          <a:p>
            <a:pPr marL="285750" indent="-285750" algn="just">
              <a:buBlip>
                <a:blip r:embed="rId3"/>
              </a:buBlip>
            </a:pPr>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本機構的連桿功能如下：</a:t>
            </a:r>
            <a:endParaRPr lang="en-US" altLang="zh-TW" dirty="0">
              <a:solidFill>
                <a:schemeClr val="tx1">
                  <a:lumMod val="50000"/>
                  <a:lumOff val="50000"/>
                </a:schemeClr>
              </a:solidFill>
              <a:latin typeface="Adobe 繁黑體 Std B" panose="020B0700000000000000" pitchFamily="34" charset="-120"/>
              <a:ea typeface="Adobe 繁黑體 Std B" panose="020B0700000000000000" pitchFamily="34" charset="-120"/>
            </a:endParaRPr>
          </a:p>
        </p:txBody>
      </p:sp>
      <p:pic>
        <p:nvPicPr>
          <p:cNvPr id="11" name="圖片 10">
            <a:extLst>
              <a:ext uri="{FF2B5EF4-FFF2-40B4-BE49-F238E27FC236}">
                <a16:creationId xmlns:a16="http://schemas.microsoft.com/office/drawing/2014/main" id="{9CA859F8-018B-45FE-8A75-92E481EF264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11180" y="2899886"/>
            <a:ext cx="2938517" cy="3548539"/>
          </a:xfrm>
          <a:prstGeom prst="rect">
            <a:avLst/>
          </a:prstGeom>
        </p:spPr>
      </p:pic>
      <p:sp>
        <p:nvSpPr>
          <p:cNvPr id="13" name="文字方塊 12">
            <a:extLst>
              <a:ext uri="{FF2B5EF4-FFF2-40B4-BE49-F238E27FC236}">
                <a16:creationId xmlns:a16="http://schemas.microsoft.com/office/drawing/2014/main" id="{B29CB49E-D5A4-438B-B06E-7BEB5D5883B5}"/>
              </a:ext>
            </a:extLst>
          </p:cNvPr>
          <p:cNvSpPr txBox="1"/>
          <p:nvPr/>
        </p:nvSpPr>
        <p:spPr>
          <a:xfrm>
            <a:off x="5419725" y="5467350"/>
            <a:ext cx="338554" cy="369332"/>
          </a:xfrm>
          <a:prstGeom prst="rect">
            <a:avLst/>
          </a:prstGeom>
          <a:noFill/>
        </p:spPr>
        <p:txBody>
          <a:bodyPr wrap="none" rtlCol="0">
            <a:spAutoFit/>
          </a:bodyPr>
          <a:lstStyle/>
          <a:p>
            <a:r>
              <a:rPr lang="en-US" altLang="zh-TW" dirty="0"/>
              <a:t>A</a:t>
            </a:r>
            <a:endParaRPr lang="zh-TW" altLang="en-US" dirty="0"/>
          </a:p>
        </p:txBody>
      </p:sp>
      <p:sp>
        <p:nvSpPr>
          <p:cNvPr id="15" name="文字方塊 14">
            <a:extLst>
              <a:ext uri="{FF2B5EF4-FFF2-40B4-BE49-F238E27FC236}">
                <a16:creationId xmlns:a16="http://schemas.microsoft.com/office/drawing/2014/main" id="{AF199493-4240-45F2-80A1-ECB09A2C52A9}"/>
              </a:ext>
            </a:extLst>
          </p:cNvPr>
          <p:cNvSpPr txBox="1"/>
          <p:nvPr/>
        </p:nvSpPr>
        <p:spPr>
          <a:xfrm>
            <a:off x="5589002" y="5957887"/>
            <a:ext cx="338554" cy="369332"/>
          </a:xfrm>
          <a:prstGeom prst="rect">
            <a:avLst/>
          </a:prstGeom>
          <a:noFill/>
        </p:spPr>
        <p:txBody>
          <a:bodyPr wrap="none" rtlCol="0">
            <a:spAutoFit/>
          </a:bodyPr>
          <a:lstStyle/>
          <a:p>
            <a:r>
              <a:rPr lang="en-US" altLang="zh-TW" dirty="0"/>
              <a:t>B</a:t>
            </a:r>
            <a:endParaRPr lang="zh-TW" altLang="en-US" dirty="0"/>
          </a:p>
        </p:txBody>
      </p:sp>
      <p:sp>
        <p:nvSpPr>
          <p:cNvPr id="17" name="文字方塊 16">
            <a:extLst>
              <a:ext uri="{FF2B5EF4-FFF2-40B4-BE49-F238E27FC236}">
                <a16:creationId xmlns:a16="http://schemas.microsoft.com/office/drawing/2014/main" id="{08DB841A-6C50-4ACE-B5DF-DD94E717DC96}"/>
              </a:ext>
            </a:extLst>
          </p:cNvPr>
          <p:cNvSpPr txBox="1"/>
          <p:nvPr/>
        </p:nvSpPr>
        <p:spPr>
          <a:xfrm>
            <a:off x="8006864" y="5098018"/>
            <a:ext cx="351378" cy="369332"/>
          </a:xfrm>
          <a:prstGeom prst="rect">
            <a:avLst/>
          </a:prstGeom>
          <a:noFill/>
        </p:spPr>
        <p:txBody>
          <a:bodyPr wrap="none" rtlCol="0">
            <a:spAutoFit/>
          </a:bodyPr>
          <a:lstStyle/>
          <a:p>
            <a:r>
              <a:rPr lang="en-US" altLang="zh-TW" dirty="0"/>
              <a:t>C</a:t>
            </a:r>
            <a:endParaRPr lang="zh-TW" altLang="en-US" dirty="0"/>
          </a:p>
        </p:txBody>
      </p:sp>
      <p:sp>
        <p:nvSpPr>
          <p:cNvPr id="18" name="文字方塊 17">
            <a:extLst>
              <a:ext uri="{FF2B5EF4-FFF2-40B4-BE49-F238E27FC236}">
                <a16:creationId xmlns:a16="http://schemas.microsoft.com/office/drawing/2014/main" id="{0BAB49A9-C026-4104-BA67-432E498AF02D}"/>
              </a:ext>
            </a:extLst>
          </p:cNvPr>
          <p:cNvSpPr txBox="1"/>
          <p:nvPr/>
        </p:nvSpPr>
        <p:spPr>
          <a:xfrm>
            <a:off x="6076950" y="4000500"/>
            <a:ext cx="351378" cy="369332"/>
          </a:xfrm>
          <a:prstGeom prst="rect">
            <a:avLst/>
          </a:prstGeom>
          <a:noFill/>
        </p:spPr>
        <p:txBody>
          <a:bodyPr wrap="none" rtlCol="0">
            <a:spAutoFit/>
          </a:bodyPr>
          <a:lstStyle/>
          <a:p>
            <a:r>
              <a:rPr lang="en-US" altLang="zh-TW" dirty="0"/>
              <a:t>D</a:t>
            </a:r>
            <a:endParaRPr lang="zh-TW" altLang="en-US" dirty="0"/>
          </a:p>
        </p:txBody>
      </p:sp>
      <p:sp>
        <p:nvSpPr>
          <p:cNvPr id="19" name="弧形 18">
            <a:extLst>
              <a:ext uri="{FF2B5EF4-FFF2-40B4-BE49-F238E27FC236}">
                <a16:creationId xmlns:a16="http://schemas.microsoft.com/office/drawing/2014/main" id="{6A863C45-8492-4DD8-8739-2E973D8D7096}"/>
              </a:ext>
            </a:extLst>
          </p:cNvPr>
          <p:cNvSpPr/>
          <p:nvPr/>
        </p:nvSpPr>
        <p:spPr>
          <a:xfrm rot="10240234">
            <a:off x="5457131" y="2375577"/>
            <a:ext cx="2880000" cy="2880000"/>
          </a:xfrm>
          <a:prstGeom prst="arc">
            <a:avLst>
              <a:gd name="adj1" fmla="val 16200000"/>
              <a:gd name="adj2" fmla="val 21599642"/>
            </a:avLst>
          </a:prstGeom>
          <a:ln w="19050">
            <a:solidFill>
              <a:srgbClr val="FF0000"/>
            </a:solidFill>
            <a:headEnd type="triangle" w="lg" len="lg"/>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ln w="19050">
                <a:solidFill>
                  <a:schemeClr val="tx1"/>
                </a:solidFill>
              </a:ln>
            </a:endParaRPr>
          </a:p>
        </p:txBody>
      </p:sp>
      <p:sp>
        <p:nvSpPr>
          <p:cNvPr id="20" name="文字方塊 19">
            <a:extLst>
              <a:ext uri="{FF2B5EF4-FFF2-40B4-BE49-F238E27FC236}">
                <a16:creationId xmlns:a16="http://schemas.microsoft.com/office/drawing/2014/main" id="{C455EF70-F958-4BF2-8723-FF6A4A7E3C84}"/>
              </a:ext>
            </a:extLst>
          </p:cNvPr>
          <p:cNvSpPr txBox="1"/>
          <p:nvPr/>
        </p:nvSpPr>
        <p:spPr>
          <a:xfrm>
            <a:off x="938158" y="3148996"/>
            <a:ext cx="3864477" cy="1477328"/>
          </a:xfrm>
          <a:prstGeom prst="rect">
            <a:avLst/>
          </a:prstGeom>
          <a:noFill/>
        </p:spPr>
        <p:txBody>
          <a:bodyPr wrap="square" rtlCol="0">
            <a:spAutoFit/>
          </a:bodyPr>
          <a:lstStyle/>
          <a:p>
            <a:pPr marL="285750" indent="-285750">
              <a:buBlip>
                <a:blip r:embed="rId5"/>
              </a:buBlip>
            </a:pPr>
            <a:r>
              <a:rPr lang="en-US" altLang="zh-TW" dirty="0">
                <a:latin typeface="Adobe 仿宋 Std R" panose="02020400000000000000" pitchFamily="18" charset="-128"/>
                <a:ea typeface="Adobe 仿宋 Std R" panose="02020400000000000000" pitchFamily="18" charset="-128"/>
              </a:rPr>
              <a:t>A</a:t>
            </a:r>
            <a:r>
              <a:rPr lang="zh-TW" altLang="en-US" dirty="0">
                <a:latin typeface="Adobe 仿宋 Std R" panose="02020400000000000000" pitchFamily="18" charset="-128"/>
                <a:ea typeface="Adobe 仿宋 Std R" panose="02020400000000000000" pitchFamily="18" charset="-128"/>
              </a:rPr>
              <a:t>點為動力來源的旋轉軸</a:t>
            </a:r>
            <a:endParaRPr lang="en-US" altLang="zh-TW" dirty="0">
              <a:latin typeface="Adobe 仿宋 Std R" panose="02020400000000000000" pitchFamily="18" charset="-128"/>
              <a:ea typeface="Adobe 仿宋 Std R" panose="02020400000000000000" pitchFamily="18" charset="-128"/>
            </a:endParaRPr>
          </a:p>
          <a:p>
            <a:pPr marL="285750" indent="-285750">
              <a:buBlip>
                <a:blip r:embed="rId5"/>
              </a:buBlip>
            </a:pPr>
            <a:r>
              <a:rPr lang="en-US" altLang="zh-TW" dirty="0">
                <a:latin typeface="Adobe 仿宋 Std R" panose="02020400000000000000" pitchFamily="18" charset="-128"/>
                <a:ea typeface="Adobe 仿宋 Std R" panose="02020400000000000000" pitchFamily="18" charset="-128"/>
              </a:rPr>
              <a:t>AB</a:t>
            </a:r>
            <a:r>
              <a:rPr lang="zh-TW" altLang="en-US" dirty="0">
                <a:latin typeface="Adobe 仿宋 Std R" panose="02020400000000000000" pitchFamily="18" charset="-128"/>
                <a:ea typeface="Adobe 仿宋 Std R" panose="02020400000000000000" pitchFamily="18" charset="-128"/>
              </a:rPr>
              <a:t>點為曲柄連桿</a:t>
            </a:r>
            <a:endParaRPr lang="en-US" altLang="zh-TW" dirty="0">
              <a:latin typeface="Adobe 仿宋 Std R" panose="02020400000000000000" pitchFamily="18" charset="-128"/>
              <a:ea typeface="Adobe 仿宋 Std R" panose="02020400000000000000" pitchFamily="18" charset="-128"/>
            </a:endParaRPr>
          </a:p>
          <a:p>
            <a:pPr marL="285750" indent="-285750">
              <a:buBlip>
                <a:blip r:embed="rId5"/>
              </a:buBlip>
            </a:pPr>
            <a:r>
              <a:rPr lang="en-US" altLang="zh-TW" dirty="0">
                <a:latin typeface="Adobe 仿宋 Std R" panose="02020400000000000000" pitchFamily="18" charset="-128"/>
                <a:ea typeface="Adobe 仿宋 Std R" panose="02020400000000000000" pitchFamily="18" charset="-128"/>
              </a:rPr>
              <a:t>BC</a:t>
            </a:r>
            <a:r>
              <a:rPr lang="zh-TW" altLang="en-US" dirty="0">
                <a:latin typeface="Adobe 仿宋 Std R" panose="02020400000000000000" pitchFamily="18" charset="-128"/>
                <a:ea typeface="Adobe 仿宋 Std R" panose="02020400000000000000" pitchFamily="18" charset="-128"/>
              </a:rPr>
              <a:t>點為連接桿</a:t>
            </a:r>
            <a:r>
              <a:rPr lang="en-US" altLang="zh-TW" dirty="0">
                <a:latin typeface="Adobe 仿宋 Std R" panose="02020400000000000000" pitchFamily="18" charset="-128"/>
                <a:ea typeface="Adobe 仿宋 Std R" panose="02020400000000000000" pitchFamily="18" charset="-128"/>
              </a:rPr>
              <a:t>(</a:t>
            </a:r>
            <a:r>
              <a:rPr lang="zh-TW" altLang="en-US" dirty="0">
                <a:latin typeface="Adobe 仿宋 Std R" panose="02020400000000000000" pitchFamily="18" charset="-128"/>
                <a:ea typeface="Adobe 仿宋 Std R" panose="02020400000000000000" pitchFamily="18" charset="-128"/>
              </a:rPr>
              <a:t>浮桿</a:t>
            </a:r>
            <a:r>
              <a:rPr lang="en-US" altLang="zh-TW" dirty="0">
                <a:latin typeface="Adobe 仿宋 Std R" panose="02020400000000000000" pitchFamily="18" charset="-128"/>
                <a:ea typeface="Adobe 仿宋 Std R" panose="02020400000000000000" pitchFamily="18" charset="-128"/>
              </a:rPr>
              <a:t>)</a:t>
            </a:r>
          </a:p>
          <a:p>
            <a:pPr marL="285750" indent="-285750">
              <a:buBlip>
                <a:blip r:embed="rId5"/>
              </a:buBlip>
            </a:pPr>
            <a:r>
              <a:rPr lang="en-US" altLang="zh-TW" dirty="0">
                <a:latin typeface="Adobe 仿宋 Std R" panose="02020400000000000000" pitchFamily="18" charset="-128"/>
                <a:ea typeface="Adobe 仿宋 Std R" panose="02020400000000000000" pitchFamily="18" charset="-128"/>
              </a:rPr>
              <a:t>CD</a:t>
            </a:r>
            <a:r>
              <a:rPr lang="zh-TW" altLang="en-US" dirty="0">
                <a:latin typeface="Adobe 仿宋 Std R" panose="02020400000000000000" pitchFamily="18" charset="-128"/>
                <a:ea typeface="Adobe 仿宋 Std R" panose="02020400000000000000" pitchFamily="18" charset="-128"/>
              </a:rPr>
              <a:t>點構成搖桿</a:t>
            </a:r>
            <a:endParaRPr lang="en-US" altLang="zh-TW" dirty="0">
              <a:latin typeface="Adobe 仿宋 Std R" panose="02020400000000000000" pitchFamily="18" charset="-128"/>
              <a:ea typeface="Adobe 仿宋 Std R" panose="02020400000000000000" pitchFamily="18" charset="-128"/>
            </a:endParaRPr>
          </a:p>
          <a:p>
            <a:pPr marL="285750" indent="-285750">
              <a:buBlip>
                <a:blip r:embed="rId5"/>
              </a:buBlip>
            </a:pPr>
            <a:r>
              <a:rPr lang="en-US" altLang="zh-TW" dirty="0">
                <a:latin typeface="Adobe 仿宋 Std R" panose="02020400000000000000" pitchFamily="18" charset="-128"/>
                <a:ea typeface="Adobe 仿宋 Std R" panose="02020400000000000000" pitchFamily="18" charset="-128"/>
              </a:rPr>
              <a:t>AD</a:t>
            </a:r>
            <a:r>
              <a:rPr lang="zh-TW" altLang="en-US" dirty="0">
                <a:latin typeface="Adobe 仿宋 Std R" panose="02020400000000000000" pitchFamily="18" charset="-128"/>
                <a:ea typeface="Adobe 仿宋 Std R" panose="02020400000000000000" pitchFamily="18" charset="-128"/>
              </a:rPr>
              <a:t>點為聯心線</a:t>
            </a:r>
          </a:p>
        </p:txBody>
      </p:sp>
    </p:spTree>
    <p:extLst>
      <p:ext uri="{BB962C8B-B14F-4D97-AF65-F5344CB8AC3E}">
        <p14:creationId xmlns:p14="http://schemas.microsoft.com/office/powerpoint/2010/main" val="27307250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字方塊 3">
            <a:extLst>
              <a:ext uri="{FF2B5EF4-FFF2-40B4-BE49-F238E27FC236}">
                <a16:creationId xmlns:a16="http://schemas.microsoft.com/office/drawing/2014/main" id="{99DCEEDE-63FC-492E-B77C-676E80F36358}"/>
              </a:ext>
            </a:extLst>
          </p:cNvPr>
          <p:cNvSpPr txBox="1"/>
          <p:nvPr/>
        </p:nvSpPr>
        <p:spPr>
          <a:xfrm>
            <a:off x="592477" y="471340"/>
            <a:ext cx="1107996" cy="646331"/>
          </a:xfrm>
          <a:prstGeom prst="rect">
            <a:avLst/>
          </a:prstGeom>
          <a:noFill/>
        </p:spPr>
        <p:txBody>
          <a:bodyPr wrap="none" rtlCol="0">
            <a:spAutoFit/>
          </a:bodyPr>
          <a:lstStyle/>
          <a:p>
            <a:r>
              <a:rPr lang="zh-TW" altLang="en-US" sz="3600" dirty="0">
                <a:latin typeface="Adobe 繁黑體 Std B" panose="020B0700000000000000" pitchFamily="34" charset="-120"/>
                <a:ea typeface="Adobe 繁黑體 Std B" panose="020B0700000000000000" pitchFamily="34" charset="-120"/>
              </a:rPr>
              <a:t>材料</a:t>
            </a:r>
          </a:p>
        </p:txBody>
      </p:sp>
      <p:pic>
        <p:nvPicPr>
          <p:cNvPr id="3" name="圖片 2">
            <a:extLst>
              <a:ext uri="{FF2B5EF4-FFF2-40B4-BE49-F238E27FC236}">
                <a16:creationId xmlns:a16="http://schemas.microsoft.com/office/drawing/2014/main" id="{6453DC44-F901-46FF-940A-755CB211CDE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92477" y="1143000"/>
            <a:ext cx="2369399" cy="2286000"/>
          </a:xfrm>
          <a:prstGeom prst="rect">
            <a:avLst/>
          </a:prstGeom>
        </p:spPr>
        <p:style>
          <a:lnRef idx="2">
            <a:schemeClr val="accent3">
              <a:shade val="50000"/>
            </a:schemeClr>
          </a:lnRef>
          <a:fillRef idx="1">
            <a:schemeClr val="accent3"/>
          </a:fillRef>
          <a:effectRef idx="0">
            <a:schemeClr val="accent3"/>
          </a:effectRef>
          <a:fontRef idx="minor">
            <a:schemeClr val="lt1"/>
          </a:fontRef>
        </p:style>
      </p:pic>
      <p:pic>
        <p:nvPicPr>
          <p:cNvPr id="6" name="圖片 5">
            <a:extLst>
              <a:ext uri="{FF2B5EF4-FFF2-40B4-BE49-F238E27FC236}">
                <a16:creationId xmlns:a16="http://schemas.microsoft.com/office/drawing/2014/main" id="{674AF45E-A51A-450A-894A-D9C44CFE5E1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676096" y="1143000"/>
            <a:ext cx="2901361" cy="2286000"/>
          </a:xfrm>
          <a:prstGeom prst="rect">
            <a:avLst/>
          </a:prstGeom>
        </p:spPr>
        <p:style>
          <a:lnRef idx="2">
            <a:schemeClr val="accent4">
              <a:shade val="50000"/>
            </a:schemeClr>
          </a:lnRef>
          <a:fillRef idx="1">
            <a:schemeClr val="accent4"/>
          </a:fillRef>
          <a:effectRef idx="0">
            <a:schemeClr val="accent4"/>
          </a:effectRef>
          <a:fontRef idx="minor">
            <a:schemeClr val="lt1"/>
          </a:fontRef>
        </p:style>
      </p:pic>
      <p:pic>
        <p:nvPicPr>
          <p:cNvPr id="8" name="圖片 7">
            <a:extLst>
              <a:ext uri="{FF2B5EF4-FFF2-40B4-BE49-F238E27FC236}">
                <a16:creationId xmlns:a16="http://schemas.microsoft.com/office/drawing/2014/main" id="{0F39BFA2-0A4F-4BBF-8322-75EF181AFEC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063327" y="3514725"/>
            <a:ext cx="3149329" cy="2914650"/>
          </a:xfrm>
          <a:prstGeom prst="rect">
            <a:avLst/>
          </a:prstGeom>
        </p:spPr>
        <p:style>
          <a:lnRef idx="2">
            <a:schemeClr val="accent6">
              <a:shade val="50000"/>
            </a:schemeClr>
          </a:lnRef>
          <a:fillRef idx="1">
            <a:schemeClr val="accent6"/>
          </a:fillRef>
          <a:effectRef idx="0">
            <a:schemeClr val="accent6"/>
          </a:effectRef>
          <a:fontRef idx="minor">
            <a:schemeClr val="lt1"/>
          </a:fontRef>
        </p:style>
      </p:pic>
      <p:pic>
        <p:nvPicPr>
          <p:cNvPr id="10" name="圖片 9">
            <a:extLst>
              <a:ext uri="{FF2B5EF4-FFF2-40B4-BE49-F238E27FC236}">
                <a16:creationId xmlns:a16="http://schemas.microsoft.com/office/drawing/2014/main" id="{E0332C39-6C0E-474A-B998-078A764B23B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92477" y="3514725"/>
            <a:ext cx="4261772" cy="2619375"/>
          </a:xfrm>
          <a:prstGeom prst="rect">
            <a:avLst/>
          </a:prstGeom>
        </p:spPr>
        <p:style>
          <a:lnRef idx="2">
            <a:schemeClr val="accent5">
              <a:shade val="50000"/>
            </a:schemeClr>
          </a:lnRef>
          <a:fillRef idx="1">
            <a:schemeClr val="accent5"/>
          </a:fillRef>
          <a:effectRef idx="0">
            <a:schemeClr val="accent5"/>
          </a:effectRef>
          <a:fontRef idx="minor">
            <a:schemeClr val="lt1"/>
          </a:fontRef>
        </p:style>
      </p:pic>
    </p:spTree>
    <p:extLst>
      <p:ext uri="{BB962C8B-B14F-4D97-AF65-F5344CB8AC3E}">
        <p14:creationId xmlns:p14="http://schemas.microsoft.com/office/powerpoint/2010/main" val="29836134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字方塊 3">
            <a:extLst>
              <a:ext uri="{FF2B5EF4-FFF2-40B4-BE49-F238E27FC236}">
                <a16:creationId xmlns:a16="http://schemas.microsoft.com/office/drawing/2014/main" id="{99DCEEDE-63FC-492E-B77C-676E80F36358}"/>
              </a:ext>
            </a:extLst>
          </p:cNvPr>
          <p:cNvSpPr txBox="1"/>
          <p:nvPr/>
        </p:nvSpPr>
        <p:spPr>
          <a:xfrm>
            <a:off x="592477" y="471340"/>
            <a:ext cx="2031325" cy="646331"/>
          </a:xfrm>
          <a:prstGeom prst="rect">
            <a:avLst/>
          </a:prstGeom>
          <a:noFill/>
        </p:spPr>
        <p:txBody>
          <a:bodyPr wrap="none" rtlCol="0">
            <a:spAutoFit/>
          </a:bodyPr>
          <a:lstStyle/>
          <a:p>
            <a:r>
              <a:rPr lang="zh-TW" altLang="en-US" sz="3600" dirty="0">
                <a:latin typeface="Adobe 繁黑體 Std B" panose="020B0700000000000000" pitchFamily="34" charset="-120"/>
                <a:ea typeface="Adobe 繁黑體 Std B" panose="020B0700000000000000" pitchFamily="34" charset="-120"/>
              </a:rPr>
              <a:t>組裝程序</a:t>
            </a:r>
          </a:p>
        </p:txBody>
      </p:sp>
      <p:pic>
        <p:nvPicPr>
          <p:cNvPr id="3" name="圖片 2">
            <a:extLst>
              <a:ext uri="{FF2B5EF4-FFF2-40B4-BE49-F238E27FC236}">
                <a16:creationId xmlns:a16="http://schemas.microsoft.com/office/drawing/2014/main" id="{F5F48D4A-5A3C-4759-A818-85D6808AB40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05129" y="1285875"/>
            <a:ext cx="1484597" cy="1381125"/>
          </a:xfrm>
          <a:prstGeom prst="rect">
            <a:avLst/>
          </a:prstGeom>
        </p:spPr>
      </p:pic>
      <p:pic>
        <p:nvPicPr>
          <p:cNvPr id="6" name="圖片 5">
            <a:extLst>
              <a:ext uri="{FF2B5EF4-FFF2-40B4-BE49-F238E27FC236}">
                <a16:creationId xmlns:a16="http://schemas.microsoft.com/office/drawing/2014/main" id="{264552F8-87B6-4387-B3E5-839E12FBBA5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938127" y="1285875"/>
            <a:ext cx="1484597" cy="1422962"/>
          </a:xfrm>
          <a:prstGeom prst="rect">
            <a:avLst/>
          </a:prstGeom>
        </p:spPr>
      </p:pic>
      <p:sp>
        <p:nvSpPr>
          <p:cNvPr id="7" name="箭號: 向右 6">
            <a:extLst>
              <a:ext uri="{FF2B5EF4-FFF2-40B4-BE49-F238E27FC236}">
                <a16:creationId xmlns:a16="http://schemas.microsoft.com/office/drawing/2014/main" id="{D6CB93A8-DCC0-41D8-929F-D9237D746D99}"/>
              </a:ext>
            </a:extLst>
          </p:cNvPr>
          <p:cNvSpPr/>
          <p:nvPr/>
        </p:nvSpPr>
        <p:spPr>
          <a:xfrm>
            <a:off x="2438400" y="1809750"/>
            <a:ext cx="314325" cy="495300"/>
          </a:xfrm>
          <a:prstGeom prst="right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9" name="圖片 8">
            <a:extLst>
              <a:ext uri="{FF2B5EF4-FFF2-40B4-BE49-F238E27FC236}">
                <a16:creationId xmlns:a16="http://schemas.microsoft.com/office/drawing/2014/main" id="{D6DAD00D-2431-4DE0-B73D-32EEF43431A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71125" y="1352550"/>
            <a:ext cx="1228768" cy="914400"/>
          </a:xfrm>
          <a:prstGeom prst="rect">
            <a:avLst/>
          </a:prstGeom>
        </p:spPr>
      </p:pic>
      <p:sp>
        <p:nvSpPr>
          <p:cNvPr id="10" name="箭號: 向右 9">
            <a:extLst>
              <a:ext uri="{FF2B5EF4-FFF2-40B4-BE49-F238E27FC236}">
                <a16:creationId xmlns:a16="http://schemas.microsoft.com/office/drawing/2014/main" id="{5BF8D0B2-1065-457D-A312-BAB974256DFC}"/>
              </a:ext>
            </a:extLst>
          </p:cNvPr>
          <p:cNvSpPr/>
          <p:nvPr/>
        </p:nvSpPr>
        <p:spPr>
          <a:xfrm>
            <a:off x="4612888" y="1809750"/>
            <a:ext cx="314325" cy="495300"/>
          </a:xfrm>
          <a:prstGeom prst="right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12" name="圖片 11">
            <a:extLst>
              <a:ext uri="{FF2B5EF4-FFF2-40B4-BE49-F238E27FC236}">
                <a16:creationId xmlns:a16="http://schemas.microsoft.com/office/drawing/2014/main" id="{BF1BC173-EFBE-43E6-AFA5-07BE62B5A6A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876470" y="885825"/>
            <a:ext cx="1907812" cy="2543175"/>
          </a:xfrm>
          <a:prstGeom prst="rect">
            <a:avLst/>
          </a:prstGeom>
        </p:spPr>
      </p:pic>
      <p:sp>
        <p:nvSpPr>
          <p:cNvPr id="13" name="箭號: 向右 12">
            <a:extLst>
              <a:ext uri="{FF2B5EF4-FFF2-40B4-BE49-F238E27FC236}">
                <a16:creationId xmlns:a16="http://schemas.microsoft.com/office/drawing/2014/main" id="{B2F8AF75-4E49-406B-B419-42729D4E2D18}"/>
              </a:ext>
            </a:extLst>
          </p:cNvPr>
          <p:cNvSpPr/>
          <p:nvPr/>
        </p:nvSpPr>
        <p:spPr>
          <a:xfrm>
            <a:off x="6562145" y="1809750"/>
            <a:ext cx="314325" cy="495300"/>
          </a:xfrm>
          <a:prstGeom prst="right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15" name="圖片 14">
            <a:extLst>
              <a:ext uri="{FF2B5EF4-FFF2-40B4-BE49-F238E27FC236}">
                <a16:creationId xmlns:a16="http://schemas.microsoft.com/office/drawing/2014/main" id="{9815F33B-7BA0-4B22-B37B-532FD6F51FBA}"/>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608139" y="2708837"/>
            <a:ext cx="1410591" cy="1873883"/>
          </a:xfrm>
          <a:prstGeom prst="rect">
            <a:avLst/>
          </a:prstGeom>
        </p:spPr>
      </p:pic>
      <p:sp>
        <p:nvSpPr>
          <p:cNvPr id="16" name="箭號: 向右 15">
            <a:extLst>
              <a:ext uri="{FF2B5EF4-FFF2-40B4-BE49-F238E27FC236}">
                <a16:creationId xmlns:a16="http://schemas.microsoft.com/office/drawing/2014/main" id="{9D6753F7-3958-410F-9079-CB14DFCEB79F}"/>
              </a:ext>
            </a:extLst>
          </p:cNvPr>
          <p:cNvSpPr/>
          <p:nvPr/>
        </p:nvSpPr>
        <p:spPr>
          <a:xfrm>
            <a:off x="1290264" y="3429000"/>
            <a:ext cx="314325" cy="495300"/>
          </a:xfrm>
          <a:prstGeom prst="right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18" name="圖片 17">
            <a:extLst>
              <a:ext uri="{FF2B5EF4-FFF2-40B4-BE49-F238E27FC236}">
                <a16:creationId xmlns:a16="http://schemas.microsoft.com/office/drawing/2014/main" id="{6E92714F-6092-4182-8CF9-216361D2115D}"/>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553846" y="2469442"/>
            <a:ext cx="1780154" cy="2083509"/>
          </a:xfrm>
          <a:prstGeom prst="rect">
            <a:avLst/>
          </a:prstGeom>
        </p:spPr>
      </p:pic>
      <p:sp>
        <p:nvSpPr>
          <p:cNvPr id="19" name="箭號: 向右 18">
            <a:extLst>
              <a:ext uri="{FF2B5EF4-FFF2-40B4-BE49-F238E27FC236}">
                <a16:creationId xmlns:a16="http://schemas.microsoft.com/office/drawing/2014/main" id="{2BB9CC7A-5EEE-4B37-A3BE-E636E1A9DA70}"/>
              </a:ext>
            </a:extLst>
          </p:cNvPr>
          <p:cNvSpPr/>
          <p:nvPr/>
        </p:nvSpPr>
        <p:spPr>
          <a:xfrm>
            <a:off x="3088824" y="3429000"/>
            <a:ext cx="314325" cy="495300"/>
          </a:xfrm>
          <a:prstGeom prst="right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箭號: 向右 13">
            <a:extLst>
              <a:ext uri="{FF2B5EF4-FFF2-40B4-BE49-F238E27FC236}">
                <a16:creationId xmlns:a16="http://schemas.microsoft.com/office/drawing/2014/main" id="{487A37A8-3DA7-4B00-94CE-CE07E1A0C88C}"/>
              </a:ext>
            </a:extLst>
          </p:cNvPr>
          <p:cNvSpPr/>
          <p:nvPr/>
        </p:nvSpPr>
        <p:spPr>
          <a:xfrm>
            <a:off x="5236281" y="3398128"/>
            <a:ext cx="314325" cy="495300"/>
          </a:xfrm>
          <a:prstGeom prst="right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5" name="圖片 4">
            <a:extLst>
              <a:ext uri="{FF2B5EF4-FFF2-40B4-BE49-F238E27FC236}">
                <a16:creationId xmlns:a16="http://schemas.microsoft.com/office/drawing/2014/main" id="{CDB01B72-01CD-49F8-948F-D5BD810EDF9F}"/>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729908" y="2324102"/>
            <a:ext cx="1900533" cy="2266950"/>
          </a:xfrm>
          <a:prstGeom prst="rect">
            <a:avLst/>
          </a:prstGeom>
        </p:spPr>
      </p:pic>
      <p:sp>
        <p:nvSpPr>
          <p:cNvPr id="17" name="箭號: 向右 16">
            <a:extLst>
              <a:ext uri="{FF2B5EF4-FFF2-40B4-BE49-F238E27FC236}">
                <a16:creationId xmlns:a16="http://schemas.microsoft.com/office/drawing/2014/main" id="{F06BCDE9-E04B-426E-BBFA-32987181F650}"/>
              </a:ext>
            </a:extLst>
          </p:cNvPr>
          <p:cNvSpPr/>
          <p:nvPr/>
        </p:nvSpPr>
        <p:spPr>
          <a:xfrm>
            <a:off x="1226385" y="5198353"/>
            <a:ext cx="314325" cy="495300"/>
          </a:xfrm>
          <a:prstGeom prst="right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11" name="圖片 10">
            <a:extLst>
              <a:ext uri="{FF2B5EF4-FFF2-40B4-BE49-F238E27FC236}">
                <a16:creationId xmlns:a16="http://schemas.microsoft.com/office/drawing/2014/main" id="{94950AC8-AECB-4389-BB1D-AFC891B9F2F1}"/>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1708307" y="4594788"/>
            <a:ext cx="2324917" cy="1873883"/>
          </a:xfrm>
          <a:prstGeom prst="rect">
            <a:avLst/>
          </a:prstGeom>
        </p:spPr>
      </p:pic>
      <p:pic>
        <p:nvPicPr>
          <p:cNvPr id="21" name="圖片 20">
            <a:extLst>
              <a:ext uri="{FF2B5EF4-FFF2-40B4-BE49-F238E27FC236}">
                <a16:creationId xmlns:a16="http://schemas.microsoft.com/office/drawing/2014/main" id="{9042F1FE-071D-4900-92E0-EB96AC80D3C0}"/>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4046583" y="4338162"/>
            <a:ext cx="2156515" cy="2467925"/>
          </a:xfrm>
          <a:prstGeom prst="rect">
            <a:avLst/>
          </a:prstGeom>
        </p:spPr>
      </p:pic>
      <p:sp>
        <p:nvSpPr>
          <p:cNvPr id="22" name="箭號: 向右 21">
            <a:extLst>
              <a:ext uri="{FF2B5EF4-FFF2-40B4-BE49-F238E27FC236}">
                <a16:creationId xmlns:a16="http://schemas.microsoft.com/office/drawing/2014/main" id="{1430B32E-F999-49C1-A93C-E64CACF39CDD}"/>
              </a:ext>
            </a:extLst>
          </p:cNvPr>
          <p:cNvSpPr/>
          <p:nvPr/>
        </p:nvSpPr>
        <p:spPr>
          <a:xfrm>
            <a:off x="3736647" y="5198353"/>
            <a:ext cx="314325" cy="495300"/>
          </a:xfrm>
          <a:prstGeom prst="right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3" name="箭號: 向右 22">
            <a:extLst>
              <a:ext uri="{FF2B5EF4-FFF2-40B4-BE49-F238E27FC236}">
                <a16:creationId xmlns:a16="http://schemas.microsoft.com/office/drawing/2014/main" id="{47836530-8607-4888-906E-6BC84C820B6D}"/>
              </a:ext>
            </a:extLst>
          </p:cNvPr>
          <p:cNvSpPr/>
          <p:nvPr/>
        </p:nvSpPr>
        <p:spPr>
          <a:xfrm>
            <a:off x="6027853" y="5198353"/>
            <a:ext cx="314325" cy="495300"/>
          </a:xfrm>
          <a:prstGeom prst="right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24" name="圖片 23">
            <a:extLst>
              <a:ext uri="{FF2B5EF4-FFF2-40B4-BE49-F238E27FC236}">
                <a16:creationId xmlns:a16="http://schemas.microsoft.com/office/drawing/2014/main" id="{4FBD745D-DC8E-46E1-A8BE-9B542AE8A58A}"/>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6875985" y="4312527"/>
            <a:ext cx="2105988" cy="2374023"/>
          </a:xfrm>
          <a:prstGeom prst="rect">
            <a:avLst/>
          </a:prstGeom>
        </p:spPr>
      </p:pic>
    </p:spTree>
    <p:extLst>
      <p:ext uri="{BB962C8B-B14F-4D97-AF65-F5344CB8AC3E}">
        <p14:creationId xmlns:p14="http://schemas.microsoft.com/office/powerpoint/2010/main" val="10038234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圖片 10">
            <a:extLst>
              <a:ext uri="{FF2B5EF4-FFF2-40B4-BE49-F238E27FC236}">
                <a16:creationId xmlns:a16="http://schemas.microsoft.com/office/drawing/2014/main" id="{3036F1EB-512E-4CF2-965E-B56E66AF149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75095" y="3314700"/>
            <a:ext cx="4498300" cy="3374486"/>
          </a:xfrm>
          <a:prstGeom prst="rect">
            <a:avLst/>
          </a:prstGeom>
        </p:spPr>
      </p:pic>
      <p:sp>
        <p:nvSpPr>
          <p:cNvPr id="4" name="文字方塊 3">
            <a:extLst>
              <a:ext uri="{FF2B5EF4-FFF2-40B4-BE49-F238E27FC236}">
                <a16:creationId xmlns:a16="http://schemas.microsoft.com/office/drawing/2014/main" id="{99DCEEDE-63FC-492E-B77C-676E80F36358}"/>
              </a:ext>
            </a:extLst>
          </p:cNvPr>
          <p:cNvSpPr txBox="1"/>
          <p:nvPr/>
        </p:nvSpPr>
        <p:spPr>
          <a:xfrm>
            <a:off x="695176" y="821664"/>
            <a:ext cx="2646878" cy="830997"/>
          </a:xfrm>
          <a:prstGeom prst="rect">
            <a:avLst/>
          </a:prstGeom>
          <a:noFill/>
        </p:spPr>
        <p:txBody>
          <a:bodyPr wrap="none" rtlCol="0">
            <a:spAutoFit/>
          </a:bodyPr>
          <a:lstStyle/>
          <a:p>
            <a:r>
              <a:rPr lang="zh-TW" altLang="en-US" sz="4800" dirty="0">
                <a:latin typeface="Adobe 繁黑體 Std B" panose="020B0700000000000000" pitchFamily="34" charset="-120"/>
                <a:ea typeface="Adobe 繁黑體 Std B" panose="020B0700000000000000" pitchFamily="34" charset="-120"/>
              </a:rPr>
              <a:t>智慧控制</a:t>
            </a:r>
          </a:p>
        </p:txBody>
      </p:sp>
      <p:sp>
        <p:nvSpPr>
          <p:cNvPr id="2" name="文字方塊 1">
            <a:extLst>
              <a:ext uri="{FF2B5EF4-FFF2-40B4-BE49-F238E27FC236}">
                <a16:creationId xmlns:a16="http://schemas.microsoft.com/office/drawing/2014/main" id="{4A2B2D06-0F4A-4FBD-B589-25E6E633A95A}"/>
              </a:ext>
            </a:extLst>
          </p:cNvPr>
          <p:cNvSpPr txBox="1"/>
          <p:nvPr/>
        </p:nvSpPr>
        <p:spPr>
          <a:xfrm>
            <a:off x="695176" y="1605631"/>
            <a:ext cx="3013967" cy="923330"/>
          </a:xfrm>
          <a:prstGeom prst="rect">
            <a:avLst/>
          </a:prstGeom>
          <a:noFill/>
        </p:spPr>
        <p:txBody>
          <a:bodyPr wrap="none" rtlCol="0">
            <a:spAutoFit/>
          </a:bodyPr>
          <a:lstStyle/>
          <a:p>
            <a:pPr marL="285750" indent="-285750">
              <a:buBlip>
                <a:blip r:embed="rId3"/>
              </a:buBlip>
            </a:pPr>
            <a:r>
              <a:rPr lang="zh-TW" altLang="en-US" dirty="0">
                <a:latin typeface="Adobe 仿宋 Std R" panose="02020400000000000000" pitchFamily="18" charset="-128"/>
                <a:ea typeface="Adobe 仿宋 Std R" panose="02020400000000000000" pitchFamily="18" charset="-128"/>
              </a:rPr>
              <a:t>認識積木程式</a:t>
            </a:r>
            <a:endParaRPr lang="en-US" altLang="zh-TW" dirty="0">
              <a:latin typeface="Adobe 仿宋 Std R" panose="02020400000000000000" pitchFamily="18" charset="-128"/>
              <a:ea typeface="Adobe 仿宋 Std R" panose="02020400000000000000" pitchFamily="18" charset="-128"/>
            </a:endParaRPr>
          </a:p>
          <a:p>
            <a:pPr marL="285750" indent="-285750">
              <a:buBlip>
                <a:blip r:embed="rId3"/>
              </a:buBlip>
            </a:pPr>
            <a:r>
              <a:rPr lang="zh-TW" altLang="en-US" dirty="0">
                <a:latin typeface="Adobe 仿宋 Std R" panose="02020400000000000000" pitchFamily="18" charset="-128"/>
                <a:ea typeface="Adobe 仿宋 Std R" panose="02020400000000000000" pitchFamily="18" charset="-128"/>
              </a:rPr>
              <a:t>了解控制程式編寫邏輯</a:t>
            </a:r>
            <a:endParaRPr lang="en-US" altLang="zh-TW" dirty="0">
              <a:latin typeface="Adobe 仿宋 Std R" panose="02020400000000000000" pitchFamily="18" charset="-128"/>
              <a:ea typeface="Adobe 仿宋 Std R" panose="02020400000000000000" pitchFamily="18" charset="-128"/>
            </a:endParaRPr>
          </a:p>
          <a:p>
            <a:pPr marL="285750" indent="-285750">
              <a:buBlip>
                <a:blip r:embed="rId3"/>
              </a:buBlip>
            </a:pPr>
            <a:r>
              <a:rPr lang="zh-TW" altLang="en-US" dirty="0">
                <a:latin typeface="Adobe 仿宋 Std R" panose="02020400000000000000" pitchFamily="18" charset="-128"/>
                <a:ea typeface="Adobe 仿宋 Std R" panose="02020400000000000000" pitchFamily="18" charset="-128"/>
              </a:rPr>
              <a:t>了解感測器與 </a:t>
            </a:r>
            <a:r>
              <a:rPr lang="en-US" altLang="zh-TW" dirty="0">
                <a:latin typeface="Adobe 仿宋 Std R" panose="02020400000000000000" pitchFamily="18" charset="-128"/>
                <a:ea typeface="Adobe 仿宋 Std R" panose="02020400000000000000" pitchFamily="18" charset="-128"/>
              </a:rPr>
              <a:t>IoT </a:t>
            </a:r>
            <a:r>
              <a:rPr lang="zh-TW" altLang="en-US" dirty="0">
                <a:latin typeface="Adobe 仿宋 Std R" panose="02020400000000000000" pitchFamily="18" charset="-128"/>
                <a:ea typeface="Adobe 仿宋 Std R" panose="02020400000000000000" pitchFamily="18" charset="-128"/>
              </a:rPr>
              <a:t>的應用</a:t>
            </a:r>
          </a:p>
        </p:txBody>
      </p:sp>
      <p:pic>
        <p:nvPicPr>
          <p:cNvPr id="9" name="圖片 8">
            <a:extLst>
              <a:ext uri="{FF2B5EF4-FFF2-40B4-BE49-F238E27FC236}">
                <a16:creationId xmlns:a16="http://schemas.microsoft.com/office/drawing/2014/main" id="{84C8FD81-997F-4E1B-B3FA-073D2970DB8A}"/>
              </a:ext>
            </a:extLst>
          </p:cNvPr>
          <p:cNvPicPr>
            <a:picLocks noChangeAspect="1"/>
          </p:cNvPicPr>
          <p:nvPr/>
        </p:nvPicPr>
        <p:blipFill>
          <a:blip r:embed="rId4"/>
          <a:stretch>
            <a:fillRect/>
          </a:stretch>
        </p:blipFill>
        <p:spPr>
          <a:xfrm>
            <a:off x="6027084" y="5248275"/>
            <a:ext cx="1335742" cy="1149753"/>
          </a:xfrm>
          <a:prstGeom prst="rect">
            <a:avLst/>
          </a:prstGeom>
        </p:spPr>
      </p:pic>
      <p:cxnSp>
        <p:nvCxnSpPr>
          <p:cNvPr id="13" name="直線單箭頭接點 12">
            <a:extLst>
              <a:ext uri="{FF2B5EF4-FFF2-40B4-BE49-F238E27FC236}">
                <a16:creationId xmlns:a16="http://schemas.microsoft.com/office/drawing/2014/main" id="{9229B679-F02D-4B0D-9B53-6D2A2B946358}"/>
              </a:ext>
            </a:extLst>
          </p:cNvPr>
          <p:cNvCxnSpPr>
            <a:stCxn id="9" idx="1"/>
          </p:cNvCxnSpPr>
          <p:nvPr/>
        </p:nvCxnSpPr>
        <p:spPr>
          <a:xfrm flipH="1" flipV="1">
            <a:off x="4495800" y="5823151"/>
            <a:ext cx="1531284" cy="1"/>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8" name="直線接點 17">
            <a:extLst>
              <a:ext uri="{FF2B5EF4-FFF2-40B4-BE49-F238E27FC236}">
                <a16:creationId xmlns:a16="http://schemas.microsoft.com/office/drawing/2014/main" id="{B3AA7971-A557-4135-AF8A-DD55C7DBD4E0}"/>
              </a:ext>
            </a:extLst>
          </p:cNvPr>
          <p:cNvCxnSpPr/>
          <p:nvPr/>
        </p:nvCxnSpPr>
        <p:spPr>
          <a:xfrm>
            <a:off x="2505075" y="5648325"/>
            <a:ext cx="0" cy="87630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 name="直線接點 21">
            <a:extLst>
              <a:ext uri="{FF2B5EF4-FFF2-40B4-BE49-F238E27FC236}">
                <a16:creationId xmlns:a16="http://schemas.microsoft.com/office/drawing/2014/main" id="{9B4838D1-FE22-439D-BA93-D3AC55BDEB44}"/>
              </a:ext>
            </a:extLst>
          </p:cNvPr>
          <p:cNvCxnSpPr>
            <a:cxnSpLocks/>
          </p:cNvCxnSpPr>
          <p:nvPr/>
        </p:nvCxnSpPr>
        <p:spPr>
          <a:xfrm flipH="1" flipV="1">
            <a:off x="7800975" y="4238625"/>
            <a:ext cx="1" cy="2286001"/>
          </a:xfrm>
          <a:prstGeom prst="line">
            <a:avLst/>
          </a:prstGeom>
          <a:ln w="19050">
            <a:solidFill>
              <a:srgbClr val="FF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3" name="文字方塊 2">
            <a:extLst>
              <a:ext uri="{FF2B5EF4-FFF2-40B4-BE49-F238E27FC236}">
                <a16:creationId xmlns:a16="http://schemas.microsoft.com/office/drawing/2014/main" id="{902D3AE4-30B6-47EF-A0B9-B804A15D3A00}"/>
              </a:ext>
            </a:extLst>
          </p:cNvPr>
          <p:cNvSpPr txBox="1"/>
          <p:nvPr/>
        </p:nvSpPr>
        <p:spPr>
          <a:xfrm>
            <a:off x="689293" y="2435765"/>
            <a:ext cx="2550698" cy="1754326"/>
          </a:xfrm>
          <a:prstGeom prst="rect">
            <a:avLst/>
          </a:prstGeom>
          <a:noFill/>
        </p:spPr>
        <p:txBody>
          <a:bodyPr wrap="none" rtlCol="0">
            <a:spAutoFit/>
          </a:bodyPr>
          <a:lstStyle/>
          <a:p>
            <a:pPr marL="285750" indent="-285750">
              <a:buBlip>
                <a:blip r:embed="rId5"/>
              </a:buBlip>
            </a:pPr>
            <a:r>
              <a:rPr lang="zh-TW" altLang="en-US" dirty="0">
                <a:latin typeface="Adobe 仿宋 Std R" panose="02020400000000000000" pitchFamily="18" charset="-128"/>
                <a:ea typeface="Adobe 仿宋 Std R" panose="02020400000000000000" pitchFamily="18" charset="-128"/>
              </a:rPr>
              <a:t>按鈕開關</a:t>
            </a:r>
            <a:endParaRPr lang="en-US" altLang="zh-TW" dirty="0">
              <a:latin typeface="Adobe 仿宋 Std R" panose="02020400000000000000" pitchFamily="18" charset="-128"/>
              <a:ea typeface="Adobe 仿宋 Std R" panose="02020400000000000000" pitchFamily="18" charset="-128"/>
            </a:endParaRPr>
          </a:p>
          <a:p>
            <a:pPr marL="285750" indent="-285750">
              <a:buBlip>
                <a:blip r:embed="rId5"/>
              </a:buBlip>
            </a:pPr>
            <a:r>
              <a:rPr lang="zh-TW" altLang="en-US" dirty="0">
                <a:latin typeface="Adobe 仿宋 Std R" panose="02020400000000000000" pitchFamily="18" charset="-128"/>
                <a:ea typeface="Adobe 仿宋 Std R" panose="02020400000000000000" pitchFamily="18" charset="-128"/>
              </a:rPr>
              <a:t>電機轉動控制</a:t>
            </a:r>
            <a:endParaRPr lang="en-US" altLang="zh-TW" dirty="0">
              <a:latin typeface="Adobe 仿宋 Std R" panose="02020400000000000000" pitchFamily="18" charset="-128"/>
              <a:ea typeface="Adobe 仿宋 Std R" panose="02020400000000000000" pitchFamily="18" charset="-128"/>
            </a:endParaRPr>
          </a:p>
          <a:p>
            <a:pPr marL="285750" indent="-285750">
              <a:buBlip>
                <a:blip r:embed="rId5"/>
              </a:buBlip>
            </a:pPr>
            <a:r>
              <a:rPr lang="zh-TW" altLang="en-US" dirty="0">
                <a:latin typeface="Adobe 仿宋 Std R" panose="02020400000000000000" pitchFamily="18" charset="-128"/>
                <a:ea typeface="Adobe 仿宋 Std R" panose="02020400000000000000" pitchFamily="18" charset="-128"/>
              </a:rPr>
              <a:t>按鈕與電機調速應用</a:t>
            </a:r>
            <a:endParaRPr lang="en-US" altLang="zh-TW" dirty="0">
              <a:latin typeface="Adobe 仿宋 Std R" panose="02020400000000000000" pitchFamily="18" charset="-128"/>
              <a:ea typeface="Adobe 仿宋 Std R" panose="02020400000000000000" pitchFamily="18" charset="-128"/>
            </a:endParaRPr>
          </a:p>
          <a:p>
            <a:pPr marL="285750" indent="-285750">
              <a:buBlip>
                <a:blip r:embed="rId5"/>
              </a:buBlip>
            </a:pPr>
            <a:r>
              <a:rPr lang="zh-TW" altLang="en-US" dirty="0">
                <a:latin typeface="Adobe 仿宋 Std R" panose="02020400000000000000" pitchFamily="18" charset="-128"/>
                <a:ea typeface="Adobe 仿宋 Std R" panose="02020400000000000000" pitchFamily="18" charset="-128"/>
              </a:rPr>
              <a:t>感測開關應用</a:t>
            </a:r>
            <a:endParaRPr lang="en-US" altLang="zh-TW" dirty="0">
              <a:latin typeface="Adobe 仿宋 Std R" panose="02020400000000000000" pitchFamily="18" charset="-128"/>
              <a:ea typeface="Adobe 仿宋 Std R" panose="02020400000000000000" pitchFamily="18" charset="-128"/>
            </a:endParaRPr>
          </a:p>
          <a:p>
            <a:pPr marL="285750" indent="-285750">
              <a:buBlip>
                <a:blip r:embed="rId5"/>
              </a:buBlip>
            </a:pPr>
            <a:r>
              <a:rPr lang="zh-TW" altLang="en-US" dirty="0">
                <a:latin typeface="Adobe 仿宋 Std R" panose="02020400000000000000" pitchFamily="18" charset="-128"/>
                <a:ea typeface="Adobe 仿宋 Std R" panose="02020400000000000000" pitchFamily="18" charset="-128"/>
              </a:rPr>
              <a:t>訊息顯示</a:t>
            </a:r>
            <a:endParaRPr lang="en-US" altLang="zh-TW" dirty="0">
              <a:latin typeface="Adobe 仿宋 Std R" panose="02020400000000000000" pitchFamily="18" charset="-128"/>
              <a:ea typeface="Adobe 仿宋 Std R" panose="02020400000000000000" pitchFamily="18" charset="-128"/>
            </a:endParaRPr>
          </a:p>
          <a:p>
            <a:pPr marL="285750" indent="-285750">
              <a:buBlip>
                <a:blip r:embed="rId5"/>
              </a:buBlip>
            </a:pPr>
            <a:r>
              <a:rPr lang="zh-TW" altLang="en-US" dirty="0">
                <a:latin typeface="Adobe 仿宋 Std R" panose="02020400000000000000" pitchFamily="18" charset="-128"/>
                <a:ea typeface="Adobe 仿宋 Std R" panose="02020400000000000000" pitchFamily="18" charset="-128"/>
              </a:rPr>
              <a:t>藍芽遙控</a:t>
            </a:r>
          </a:p>
        </p:txBody>
      </p:sp>
      <p:pic>
        <p:nvPicPr>
          <p:cNvPr id="6" name="圖片 5">
            <a:extLst>
              <a:ext uri="{FF2B5EF4-FFF2-40B4-BE49-F238E27FC236}">
                <a16:creationId xmlns:a16="http://schemas.microsoft.com/office/drawing/2014/main" id="{FFEBD998-27B3-4B38-B2F6-E54A2D6D4D3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397295" y="749031"/>
            <a:ext cx="3464335" cy="3905250"/>
          </a:xfrm>
          <a:prstGeom prst="rect">
            <a:avLst/>
          </a:prstGeom>
        </p:spPr>
      </p:pic>
      <p:pic>
        <p:nvPicPr>
          <p:cNvPr id="12" name="圖片 11">
            <a:extLst>
              <a:ext uri="{FF2B5EF4-FFF2-40B4-BE49-F238E27FC236}">
                <a16:creationId xmlns:a16="http://schemas.microsoft.com/office/drawing/2014/main" id="{9012E933-A83C-4DD5-A1C0-BB15A5916D0A}"/>
              </a:ext>
            </a:extLst>
          </p:cNvPr>
          <p:cNvPicPr>
            <a:picLocks noChangeAspect="1"/>
          </p:cNvPicPr>
          <p:nvPr/>
        </p:nvPicPr>
        <p:blipFill>
          <a:blip r:embed="rId7"/>
          <a:stretch>
            <a:fillRect/>
          </a:stretch>
        </p:blipFill>
        <p:spPr>
          <a:xfrm flipH="1">
            <a:off x="3709143" y="2169577"/>
            <a:ext cx="1851242" cy="1711323"/>
          </a:xfrm>
          <a:prstGeom prst="rect">
            <a:avLst/>
          </a:prstGeom>
        </p:spPr>
      </p:pic>
      <p:cxnSp>
        <p:nvCxnSpPr>
          <p:cNvPr id="20" name="直線接點 19">
            <a:extLst>
              <a:ext uri="{FF2B5EF4-FFF2-40B4-BE49-F238E27FC236}">
                <a16:creationId xmlns:a16="http://schemas.microsoft.com/office/drawing/2014/main" id="{0E426993-7612-4A83-8096-D028515943EB}"/>
              </a:ext>
            </a:extLst>
          </p:cNvPr>
          <p:cNvCxnSpPr>
            <a:cxnSpLocks/>
          </p:cNvCxnSpPr>
          <p:nvPr/>
        </p:nvCxnSpPr>
        <p:spPr>
          <a:xfrm>
            <a:off x="2505075" y="6524625"/>
            <a:ext cx="529590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直線單箭頭接點 14">
            <a:extLst>
              <a:ext uri="{FF2B5EF4-FFF2-40B4-BE49-F238E27FC236}">
                <a16:creationId xmlns:a16="http://schemas.microsoft.com/office/drawing/2014/main" id="{8A3E0979-C40E-4AFB-A5D0-B06704F1C8D3}"/>
              </a:ext>
            </a:extLst>
          </p:cNvPr>
          <p:cNvCxnSpPr/>
          <p:nvPr/>
        </p:nvCxnSpPr>
        <p:spPr>
          <a:xfrm flipH="1">
            <a:off x="4876800" y="3880900"/>
            <a:ext cx="590550" cy="1367375"/>
          </a:xfrm>
          <a:prstGeom prst="straightConnector1">
            <a:avLst/>
          </a:prstGeom>
          <a:ln w="19050">
            <a:solidFill>
              <a:srgbClr val="FF0000"/>
            </a:solidFill>
            <a:tailEnd type="arrow"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907189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字方塊 3">
            <a:extLst>
              <a:ext uri="{FF2B5EF4-FFF2-40B4-BE49-F238E27FC236}">
                <a16:creationId xmlns:a16="http://schemas.microsoft.com/office/drawing/2014/main" id="{99DCEEDE-63FC-492E-B77C-676E80F36358}"/>
              </a:ext>
            </a:extLst>
          </p:cNvPr>
          <p:cNvSpPr txBox="1"/>
          <p:nvPr/>
        </p:nvSpPr>
        <p:spPr>
          <a:xfrm>
            <a:off x="592477" y="471340"/>
            <a:ext cx="3877985" cy="646331"/>
          </a:xfrm>
          <a:prstGeom prst="rect">
            <a:avLst/>
          </a:prstGeom>
          <a:noFill/>
        </p:spPr>
        <p:txBody>
          <a:bodyPr wrap="none" rtlCol="0">
            <a:spAutoFit/>
          </a:bodyPr>
          <a:lstStyle/>
          <a:p>
            <a:r>
              <a:rPr lang="zh-TW" altLang="en-US" sz="3600" dirty="0">
                <a:latin typeface="Adobe 繁黑體 Std B" panose="020B0700000000000000" pitchFamily="34" charset="-120"/>
                <a:ea typeface="Adobe 繁黑體 Std B" panose="020B0700000000000000" pitchFamily="34" charset="-120"/>
              </a:rPr>
              <a:t>智慧型控制電路板</a:t>
            </a:r>
          </a:p>
        </p:txBody>
      </p:sp>
      <p:pic>
        <p:nvPicPr>
          <p:cNvPr id="3" name="圖片 2">
            <a:extLst>
              <a:ext uri="{FF2B5EF4-FFF2-40B4-BE49-F238E27FC236}">
                <a16:creationId xmlns:a16="http://schemas.microsoft.com/office/drawing/2014/main" id="{D591DE93-B9F6-4ECA-A8F4-B562EDE9EBA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66012" y="1343024"/>
            <a:ext cx="6208900" cy="4657725"/>
          </a:xfrm>
          <a:prstGeom prst="rect">
            <a:avLst/>
          </a:prstGeom>
        </p:spPr>
      </p:pic>
      <p:cxnSp>
        <p:nvCxnSpPr>
          <p:cNvPr id="5" name="直線接點 4">
            <a:extLst>
              <a:ext uri="{FF2B5EF4-FFF2-40B4-BE49-F238E27FC236}">
                <a16:creationId xmlns:a16="http://schemas.microsoft.com/office/drawing/2014/main" id="{62E95E7A-E836-41AC-9932-E33369674903}"/>
              </a:ext>
            </a:extLst>
          </p:cNvPr>
          <p:cNvCxnSpPr/>
          <p:nvPr/>
        </p:nvCxnSpPr>
        <p:spPr>
          <a:xfrm flipH="1">
            <a:off x="2790825" y="4495800"/>
            <a:ext cx="123825" cy="15240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 name="直線接點 5">
            <a:extLst>
              <a:ext uri="{FF2B5EF4-FFF2-40B4-BE49-F238E27FC236}">
                <a16:creationId xmlns:a16="http://schemas.microsoft.com/office/drawing/2014/main" id="{33896ED5-CCD3-447C-A3A9-98D42CDAB178}"/>
              </a:ext>
            </a:extLst>
          </p:cNvPr>
          <p:cNvCxnSpPr/>
          <p:nvPr/>
        </p:nvCxnSpPr>
        <p:spPr>
          <a:xfrm flipH="1">
            <a:off x="3219450" y="4676775"/>
            <a:ext cx="123825" cy="15240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直線接點 7">
            <a:extLst>
              <a:ext uri="{FF2B5EF4-FFF2-40B4-BE49-F238E27FC236}">
                <a16:creationId xmlns:a16="http://schemas.microsoft.com/office/drawing/2014/main" id="{B6F6D776-DCA0-4FC4-8BF1-FC6833ECF604}"/>
              </a:ext>
            </a:extLst>
          </p:cNvPr>
          <p:cNvCxnSpPr/>
          <p:nvPr/>
        </p:nvCxnSpPr>
        <p:spPr>
          <a:xfrm>
            <a:off x="2790825" y="4648200"/>
            <a:ext cx="428625" cy="180975"/>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直線單箭頭接點 9">
            <a:extLst>
              <a:ext uri="{FF2B5EF4-FFF2-40B4-BE49-F238E27FC236}">
                <a16:creationId xmlns:a16="http://schemas.microsoft.com/office/drawing/2014/main" id="{47E6343A-6842-4C87-9C0B-EE6CF04492FB}"/>
              </a:ext>
            </a:extLst>
          </p:cNvPr>
          <p:cNvCxnSpPr/>
          <p:nvPr/>
        </p:nvCxnSpPr>
        <p:spPr>
          <a:xfrm>
            <a:off x="1076325" y="4162425"/>
            <a:ext cx="933450" cy="0"/>
          </a:xfrm>
          <a:prstGeom prst="straightConnector1">
            <a:avLst/>
          </a:prstGeom>
          <a:ln w="19050">
            <a:solidFill>
              <a:srgbClr val="FF0000"/>
            </a:solidFill>
            <a:tailEnd type="arrow" w="lg" len="lg"/>
          </a:ln>
        </p:spPr>
        <p:style>
          <a:lnRef idx="1">
            <a:schemeClr val="accent1"/>
          </a:lnRef>
          <a:fillRef idx="0">
            <a:schemeClr val="accent1"/>
          </a:fillRef>
          <a:effectRef idx="0">
            <a:schemeClr val="accent1"/>
          </a:effectRef>
          <a:fontRef idx="minor">
            <a:schemeClr val="tx1"/>
          </a:fontRef>
        </p:style>
      </p:cxnSp>
      <p:sp>
        <p:nvSpPr>
          <p:cNvPr id="11" name="文字方塊 10">
            <a:extLst>
              <a:ext uri="{FF2B5EF4-FFF2-40B4-BE49-F238E27FC236}">
                <a16:creationId xmlns:a16="http://schemas.microsoft.com/office/drawing/2014/main" id="{0AF31CD4-7134-4509-9F41-2695DA3E90FB}"/>
              </a:ext>
            </a:extLst>
          </p:cNvPr>
          <p:cNvSpPr txBox="1"/>
          <p:nvPr/>
        </p:nvSpPr>
        <p:spPr>
          <a:xfrm>
            <a:off x="522327" y="3867150"/>
            <a:ext cx="1107996" cy="369332"/>
          </a:xfrm>
          <a:prstGeom prst="rect">
            <a:avLst/>
          </a:prstGeom>
          <a:noFill/>
        </p:spPr>
        <p:txBody>
          <a:bodyPr wrap="none" rtlCol="0">
            <a:spAutoFit/>
          </a:bodyPr>
          <a:lstStyle/>
          <a:p>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電源開關</a:t>
            </a:r>
          </a:p>
        </p:txBody>
      </p:sp>
      <p:cxnSp>
        <p:nvCxnSpPr>
          <p:cNvPr id="12" name="直線單箭頭接點 11">
            <a:extLst>
              <a:ext uri="{FF2B5EF4-FFF2-40B4-BE49-F238E27FC236}">
                <a16:creationId xmlns:a16="http://schemas.microsoft.com/office/drawing/2014/main" id="{B1DB388F-8EC2-446E-88C5-3490E08E8DDF}"/>
              </a:ext>
            </a:extLst>
          </p:cNvPr>
          <p:cNvCxnSpPr/>
          <p:nvPr/>
        </p:nvCxnSpPr>
        <p:spPr>
          <a:xfrm>
            <a:off x="2009775" y="4752975"/>
            <a:ext cx="933450" cy="0"/>
          </a:xfrm>
          <a:prstGeom prst="straightConnector1">
            <a:avLst/>
          </a:prstGeom>
          <a:ln w="19050">
            <a:solidFill>
              <a:srgbClr val="FF0000"/>
            </a:solidFill>
            <a:tailEnd type="arrow" w="lg" len="lg"/>
          </a:ln>
        </p:spPr>
        <p:style>
          <a:lnRef idx="1">
            <a:schemeClr val="accent1"/>
          </a:lnRef>
          <a:fillRef idx="0">
            <a:schemeClr val="accent1"/>
          </a:fillRef>
          <a:effectRef idx="0">
            <a:schemeClr val="accent1"/>
          </a:effectRef>
          <a:fontRef idx="minor">
            <a:schemeClr val="tx1"/>
          </a:fontRef>
        </p:style>
      </p:cxnSp>
      <p:sp>
        <p:nvSpPr>
          <p:cNvPr id="13" name="文字方塊 12">
            <a:extLst>
              <a:ext uri="{FF2B5EF4-FFF2-40B4-BE49-F238E27FC236}">
                <a16:creationId xmlns:a16="http://schemas.microsoft.com/office/drawing/2014/main" id="{677C79D7-ED86-41C6-88F7-32FFC8B2E5A3}"/>
              </a:ext>
            </a:extLst>
          </p:cNvPr>
          <p:cNvSpPr txBox="1"/>
          <p:nvPr/>
        </p:nvSpPr>
        <p:spPr>
          <a:xfrm>
            <a:off x="1241465" y="4463534"/>
            <a:ext cx="1107996" cy="369332"/>
          </a:xfrm>
          <a:prstGeom prst="rect">
            <a:avLst/>
          </a:prstGeom>
          <a:noFill/>
        </p:spPr>
        <p:txBody>
          <a:bodyPr wrap="none" rtlCol="0">
            <a:spAutoFit/>
          </a:bodyPr>
          <a:lstStyle/>
          <a:p>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電機接口</a:t>
            </a:r>
          </a:p>
        </p:txBody>
      </p:sp>
      <p:sp>
        <p:nvSpPr>
          <p:cNvPr id="14" name="左大括弧 13">
            <a:extLst>
              <a:ext uri="{FF2B5EF4-FFF2-40B4-BE49-F238E27FC236}">
                <a16:creationId xmlns:a16="http://schemas.microsoft.com/office/drawing/2014/main" id="{43FFC3C4-CC2E-482B-89DC-BF86D992C6DB}"/>
              </a:ext>
            </a:extLst>
          </p:cNvPr>
          <p:cNvSpPr/>
          <p:nvPr/>
        </p:nvSpPr>
        <p:spPr>
          <a:xfrm rot="17905160">
            <a:off x="3848362" y="4744029"/>
            <a:ext cx="247650" cy="854002"/>
          </a:xfrm>
          <a:prstGeom prst="leftBrace">
            <a:avLst/>
          </a:prstGeom>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cxnSp>
        <p:nvCxnSpPr>
          <p:cNvPr id="15" name="直線單箭頭接點 14">
            <a:extLst>
              <a:ext uri="{FF2B5EF4-FFF2-40B4-BE49-F238E27FC236}">
                <a16:creationId xmlns:a16="http://schemas.microsoft.com/office/drawing/2014/main" id="{F5331A60-2352-4794-B87C-C8AE8F19A04C}"/>
              </a:ext>
            </a:extLst>
          </p:cNvPr>
          <p:cNvCxnSpPr/>
          <p:nvPr/>
        </p:nvCxnSpPr>
        <p:spPr>
          <a:xfrm>
            <a:off x="2943225" y="5286375"/>
            <a:ext cx="933450" cy="0"/>
          </a:xfrm>
          <a:prstGeom prst="straightConnector1">
            <a:avLst/>
          </a:prstGeom>
          <a:ln w="19050">
            <a:solidFill>
              <a:srgbClr val="FF0000"/>
            </a:solidFill>
            <a:tailEnd type="arrow" w="lg" len="lg"/>
          </a:ln>
        </p:spPr>
        <p:style>
          <a:lnRef idx="1">
            <a:schemeClr val="accent1"/>
          </a:lnRef>
          <a:fillRef idx="0">
            <a:schemeClr val="accent1"/>
          </a:fillRef>
          <a:effectRef idx="0">
            <a:schemeClr val="accent1"/>
          </a:effectRef>
          <a:fontRef idx="minor">
            <a:schemeClr val="tx1"/>
          </a:fontRef>
        </p:style>
      </p:cxnSp>
      <p:sp>
        <p:nvSpPr>
          <p:cNvPr id="16" name="文字方塊 15">
            <a:extLst>
              <a:ext uri="{FF2B5EF4-FFF2-40B4-BE49-F238E27FC236}">
                <a16:creationId xmlns:a16="http://schemas.microsoft.com/office/drawing/2014/main" id="{53EE2686-053C-486A-87A0-B843CEAA6E76}"/>
              </a:ext>
            </a:extLst>
          </p:cNvPr>
          <p:cNvSpPr txBox="1"/>
          <p:nvPr/>
        </p:nvSpPr>
        <p:spPr>
          <a:xfrm>
            <a:off x="2107937" y="5007530"/>
            <a:ext cx="1338828" cy="369332"/>
          </a:xfrm>
          <a:prstGeom prst="rect">
            <a:avLst/>
          </a:prstGeom>
          <a:noFill/>
        </p:spPr>
        <p:txBody>
          <a:bodyPr wrap="none" rtlCol="0">
            <a:spAutoFit/>
          </a:bodyPr>
          <a:lstStyle/>
          <a:p>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傳感器接口</a:t>
            </a:r>
          </a:p>
        </p:txBody>
      </p:sp>
      <p:cxnSp>
        <p:nvCxnSpPr>
          <p:cNvPr id="18" name="直線單箭頭接點 17">
            <a:extLst>
              <a:ext uri="{FF2B5EF4-FFF2-40B4-BE49-F238E27FC236}">
                <a16:creationId xmlns:a16="http://schemas.microsoft.com/office/drawing/2014/main" id="{542A62D9-0C34-4CE2-8A6B-C0824E6E5287}"/>
              </a:ext>
            </a:extLst>
          </p:cNvPr>
          <p:cNvCxnSpPr/>
          <p:nvPr/>
        </p:nvCxnSpPr>
        <p:spPr>
          <a:xfrm>
            <a:off x="4991100" y="5192196"/>
            <a:ext cx="0" cy="808553"/>
          </a:xfrm>
          <a:prstGeom prst="straightConnector1">
            <a:avLst/>
          </a:prstGeom>
          <a:ln w="19050">
            <a:solidFill>
              <a:srgbClr val="FF0000"/>
            </a:solidFill>
            <a:headEnd type="arrow" w="lg" len="lg"/>
            <a:tailEnd type="none" w="med" len="med"/>
          </a:ln>
        </p:spPr>
        <p:style>
          <a:lnRef idx="1">
            <a:schemeClr val="accent1"/>
          </a:lnRef>
          <a:fillRef idx="0">
            <a:schemeClr val="accent1"/>
          </a:fillRef>
          <a:effectRef idx="0">
            <a:schemeClr val="accent1"/>
          </a:effectRef>
          <a:fontRef idx="minor">
            <a:schemeClr val="tx1"/>
          </a:fontRef>
        </p:style>
      </p:cxnSp>
      <p:sp>
        <p:nvSpPr>
          <p:cNvPr id="19" name="文字方塊 18">
            <a:extLst>
              <a:ext uri="{FF2B5EF4-FFF2-40B4-BE49-F238E27FC236}">
                <a16:creationId xmlns:a16="http://schemas.microsoft.com/office/drawing/2014/main" id="{C6B4BBA4-5421-4D8E-9B4B-F6F3A34787F4}"/>
              </a:ext>
            </a:extLst>
          </p:cNvPr>
          <p:cNvSpPr txBox="1"/>
          <p:nvPr/>
        </p:nvSpPr>
        <p:spPr>
          <a:xfrm>
            <a:off x="3972187" y="6000749"/>
            <a:ext cx="1774845" cy="369332"/>
          </a:xfrm>
          <a:prstGeom prst="rect">
            <a:avLst/>
          </a:prstGeom>
          <a:noFill/>
        </p:spPr>
        <p:txBody>
          <a:bodyPr wrap="none" rtlCol="0">
            <a:spAutoFit/>
          </a:bodyPr>
          <a:lstStyle/>
          <a:p>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重置按鈕</a:t>
            </a:r>
            <a:r>
              <a:rPr lang="en-US" altLang="zh-TW" dirty="0">
                <a:solidFill>
                  <a:schemeClr val="tx1">
                    <a:lumMod val="50000"/>
                    <a:lumOff val="50000"/>
                  </a:schemeClr>
                </a:solidFill>
                <a:latin typeface="Adobe 繁黑體 Std B" panose="020B0700000000000000" pitchFamily="34" charset="-120"/>
                <a:ea typeface="Adobe 繁黑體 Std B" panose="020B0700000000000000" pitchFamily="34" charset="-120"/>
              </a:rPr>
              <a:t>(reset)</a:t>
            </a:r>
            <a:endPar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endParaRPr>
          </a:p>
        </p:txBody>
      </p:sp>
      <p:cxnSp>
        <p:nvCxnSpPr>
          <p:cNvPr id="20" name="直線單箭頭接點 19">
            <a:extLst>
              <a:ext uri="{FF2B5EF4-FFF2-40B4-BE49-F238E27FC236}">
                <a16:creationId xmlns:a16="http://schemas.microsoft.com/office/drawing/2014/main" id="{EC2EBA6A-5F0D-49B7-9067-09F9798E6A62}"/>
              </a:ext>
            </a:extLst>
          </p:cNvPr>
          <p:cNvCxnSpPr/>
          <p:nvPr/>
        </p:nvCxnSpPr>
        <p:spPr>
          <a:xfrm>
            <a:off x="862013" y="3133725"/>
            <a:ext cx="933450" cy="0"/>
          </a:xfrm>
          <a:prstGeom prst="straightConnector1">
            <a:avLst/>
          </a:prstGeom>
          <a:ln w="19050">
            <a:solidFill>
              <a:srgbClr val="FF0000"/>
            </a:solidFill>
            <a:tailEnd type="arrow" w="lg" len="lg"/>
          </a:ln>
        </p:spPr>
        <p:style>
          <a:lnRef idx="1">
            <a:schemeClr val="accent1"/>
          </a:lnRef>
          <a:fillRef idx="0">
            <a:schemeClr val="accent1"/>
          </a:fillRef>
          <a:effectRef idx="0">
            <a:schemeClr val="accent1"/>
          </a:effectRef>
          <a:fontRef idx="minor">
            <a:schemeClr val="tx1"/>
          </a:fontRef>
        </p:style>
      </p:cxnSp>
      <p:sp>
        <p:nvSpPr>
          <p:cNvPr id="21" name="文字方塊 20">
            <a:extLst>
              <a:ext uri="{FF2B5EF4-FFF2-40B4-BE49-F238E27FC236}">
                <a16:creationId xmlns:a16="http://schemas.microsoft.com/office/drawing/2014/main" id="{FA52E600-F0A2-4C1E-90D4-380F1528E89C}"/>
              </a:ext>
            </a:extLst>
          </p:cNvPr>
          <p:cNvSpPr txBox="1"/>
          <p:nvPr/>
        </p:nvSpPr>
        <p:spPr>
          <a:xfrm>
            <a:off x="560015" y="2806184"/>
            <a:ext cx="1107996" cy="369332"/>
          </a:xfrm>
          <a:prstGeom prst="rect">
            <a:avLst/>
          </a:prstGeom>
          <a:noFill/>
        </p:spPr>
        <p:txBody>
          <a:bodyPr wrap="none" rtlCol="0">
            <a:spAutoFit/>
          </a:bodyPr>
          <a:lstStyle/>
          <a:p>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電源接口</a:t>
            </a:r>
          </a:p>
        </p:txBody>
      </p:sp>
      <p:sp>
        <p:nvSpPr>
          <p:cNvPr id="22" name="橢圓 21">
            <a:extLst>
              <a:ext uri="{FF2B5EF4-FFF2-40B4-BE49-F238E27FC236}">
                <a16:creationId xmlns:a16="http://schemas.microsoft.com/office/drawing/2014/main" id="{44A020D5-A942-44C6-8EEA-E21D1ED69930}"/>
              </a:ext>
            </a:extLst>
          </p:cNvPr>
          <p:cNvSpPr/>
          <p:nvPr/>
        </p:nvSpPr>
        <p:spPr>
          <a:xfrm>
            <a:off x="2476500" y="2914650"/>
            <a:ext cx="628650" cy="51434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24" name="直線接點 23">
            <a:extLst>
              <a:ext uri="{FF2B5EF4-FFF2-40B4-BE49-F238E27FC236}">
                <a16:creationId xmlns:a16="http://schemas.microsoft.com/office/drawing/2014/main" id="{751A7834-4671-4543-AA44-E9C8A61D06F5}"/>
              </a:ext>
            </a:extLst>
          </p:cNvPr>
          <p:cNvCxnSpPr/>
          <p:nvPr/>
        </p:nvCxnSpPr>
        <p:spPr>
          <a:xfrm>
            <a:off x="676275" y="2476500"/>
            <a:ext cx="954048"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6" name="直線單箭頭接點 25">
            <a:extLst>
              <a:ext uri="{FF2B5EF4-FFF2-40B4-BE49-F238E27FC236}">
                <a16:creationId xmlns:a16="http://schemas.microsoft.com/office/drawing/2014/main" id="{4BFC9536-5FCD-4509-8007-345D842D5690}"/>
              </a:ext>
            </a:extLst>
          </p:cNvPr>
          <p:cNvCxnSpPr/>
          <p:nvPr/>
        </p:nvCxnSpPr>
        <p:spPr>
          <a:xfrm>
            <a:off x="1630323" y="2476500"/>
            <a:ext cx="979527" cy="657225"/>
          </a:xfrm>
          <a:prstGeom prst="straightConnector1">
            <a:avLst/>
          </a:prstGeom>
          <a:ln w="19050">
            <a:solidFill>
              <a:srgbClr val="FF0000"/>
            </a:solidFill>
            <a:tailEnd type="arrow" w="lg" len="lg"/>
          </a:ln>
        </p:spPr>
        <p:style>
          <a:lnRef idx="1">
            <a:schemeClr val="accent1"/>
          </a:lnRef>
          <a:fillRef idx="0">
            <a:schemeClr val="accent1"/>
          </a:fillRef>
          <a:effectRef idx="0">
            <a:schemeClr val="accent1"/>
          </a:effectRef>
          <a:fontRef idx="minor">
            <a:schemeClr val="tx1"/>
          </a:fontRef>
        </p:style>
      </p:cxnSp>
      <p:sp>
        <p:nvSpPr>
          <p:cNvPr id="27" name="文字方塊 26">
            <a:extLst>
              <a:ext uri="{FF2B5EF4-FFF2-40B4-BE49-F238E27FC236}">
                <a16:creationId xmlns:a16="http://schemas.microsoft.com/office/drawing/2014/main" id="{18064687-3A5A-4146-B6FE-C23EAF396DD6}"/>
              </a:ext>
            </a:extLst>
          </p:cNvPr>
          <p:cNvSpPr txBox="1"/>
          <p:nvPr/>
        </p:nvSpPr>
        <p:spPr>
          <a:xfrm>
            <a:off x="225802" y="2184680"/>
            <a:ext cx="2031325" cy="369332"/>
          </a:xfrm>
          <a:prstGeom prst="rect">
            <a:avLst/>
          </a:prstGeom>
          <a:noFill/>
        </p:spPr>
        <p:txBody>
          <a:bodyPr wrap="none" rtlCol="0">
            <a:spAutoFit/>
          </a:bodyPr>
          <a:lstStyle/>
          <a:p>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舵機或傳感器接口</a:t>
            </a:r>
          </a:p>
        </p:txBody>
      </p:sp>
      <p:cxnSp>
        <p:nvCxnSpPr>
          <p:cNvPr id="29" name="接點: 肘形 28">
            <a:extLst>
              <a:ext uri="{FF2B5EF4-FFF2-40B4-BE49-F238E27FC236}">
                <a16:creationId xmlns:a16="http://schemas.microsoft.com/office/drawing/2014/main" id="{4AAC1B6B-A0AF-4BBE-9617-733A8B255FA9}"/>
              </a:ext>
            </a:extLst>
          </p:cNvPr>
          <p:cNvCxnSpPr>
            <a:cxnSpLocks/>
          </p:cNvCxnSpPr>
          <p:nvPr/>
        </p:nvCxnSpPr>
        <p:spPr>
          <a:xfrm>
            <a:off x="1007804" y="1799780"/>
            <a:ext cx="1753322" cy="489020"/>
          </a:xfrm>
          <a:prstGeom prst="bentConnector3">
            <a:avLst>
              <a:gd name="adj1" fmla="val 99979"/>
            </a:avLst>
          </a:prstGeom>
          <a:ln w="19050">
            <a:solidFill>
              <a:srgbClr val="FF0000"/>
            </a:solidFill>
            <a:tailEnd type="arrow" w="lg" len="lg"/>
          </a:ln>
        </p:spPr>
        <p:style>
          <a:lnRef idx="1">
            <a:schemeClr val="accent1"/>
          </a:lnRef>
          <a:fillRef idx="0">
            <a:schemeClr val="accent1"/>
          </a:fillRef>
          <a:effectRef idx="0">
            <a:schemeClr val="accent1"/>
          </a:effectRef>
          <a:fontRef idx="minor">
            <a:schemeClr val="tx1"/>
          </a:fontRef>
        </p:style>
      </p:cxnSp>
      <p:sp>
        <p:nvSpPr>
          <p:cNvPr id="33" name="文字方塊 32">
            <a:extLst>
              <a:ext uri="{FF2B5EF4-FFF2-40B4-BE49-F238E27FC236}">
                <a16:creationId xmlns:a16="http://schemas.microsoft.com/office/drawing/2014/main" id="{153B6F41-56AB-40ED-92CE-BAFFCC4731F7}"/>
              </a:ext>
            </a:extLst>
          </p:cNvPr>
          <p:cNvSpPr txBox="1"/>
          <p:nvPr/>
        </p:nvSpPr>
        <p:spPr>
          <a:xfrm>
            <a:off x="831592" y="1489417"/>
            <a:ext cx="1451038" cy="369332"/>
          </a:xfrm>
          <a:prstGeom prst="rect">
            <a:avLst/>
          </a:prstGeom>
          <a:noFill/>
        </p:spPr>
        <p:txBody>
          <a:bodyPr wrap="none" rtlCol="0">
            <a:spAutoFit/>
          </a:bodyPr>
          <a:lstStyle/>
          <a:p>
            <a:r>
              <a:rPr lang="en-US" altLang="zh-TW" dirty="0">
                <a:solidFill>
                  <a:schemeClr val="tx1">
                    <a:lumMod val="50000"/>
                    <a:lumOff val="50000"/>
                  </a:schemeClr>
                </a:solidFill>
                <a:latin typeface="Adobe 繁黑體 Std B" panose="020B0700000000000000" pitchFamily="34" charset="-120"/>
                <a:ea typeface="Adobe 繁黑體 Std B" panose="020B0700000000000000" pitchFamily="34" charset="-120"/>
              </a:rPr>
              <a:t>OLED</a:t>
            </a:r>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顯示器</a:t>
            </a:r>
          </a:p>
        </p:txBody>
      </p:sp>
      <p:cxnSp>
        <p:nvCxnSpPr>
          <p:cNvPr id="34" name="直線單箭頭接點 33">
            <a:extLst>
              <a:ext uri="{FF2B5EF4-FFF2-40B4-BE49-F238E27FC236}">
                <a16:creationId xmlns:a16="http://schemas.microsoft.com/office/drawing/2014/main" id="{D1342549-F596-49B1-94E6-C267680E36F0}"/>
              </a:ext>
            </a:extLst>
          </p:cNvPr>
          <p:cNvCxnSpPr>
            <a:cxnSpLocks/>
          </p:cNvCxnSpPr>
          <p:nvPr/>
        </p:nvCxnSpPr>
        <p:spPr>
          <a:xfrm>
            <a:off x="889102" y="3526867"/>
            <a:ext cx="2392260" cy="19050"/>
          </a:xfrm>
          <a:prstGeom prst="straightConnector1">
            <a:avLst/>
          </a:prstGeom>
          <a:ln w="19050">
            <a:solidFill>
              <a:srgbClr val="FF0000"/>
            </a:solidFill>
            <a:tailEnd type="arrow" w="lg" len="lg"/>
          </a:ln>
        </p:spPr>
        <p:style>
          <a:lnRef idx="1">
            <a:schemeClr val="accent1"/>
          </a:lnRef>
          <a:fillRef idx="0">
            <a:schemeClr val="accent1"/>
          </a:fillRef>
          <a:effectRef idx="0">
            <a:schemeClr val="accent1"/>
          </a:effectRef>
          <a:fontRef idx="minor">
            <a:schemeClr val="tx1"/>
          </a:fontRef>
        </p:style>
      </p:cxnSp>
      <p:sp>
        <p:nvSpPr>
          <p:cNvPr id="36" name="文字方塊 35">
            <a:extLst>
              <a:ext uri="{FF2B5EF4-FFF2-40B4-BE49-F238E27FC236}">
                <a16:creationId xmlns:a16="http://schemas.microsoft.com/office/drawing/2014/main" id="{40AD4989-5CFF-4A0B-A07D-DF7A93964D2E}"/>
              </a:ext>
            </a:extLst>
          </p:cNvPr>
          <p:cNvSpPr txBox="1"/>
          <p:nvPr/>
        </p:nvSpPr>
        <p:spPr>
          <a:xfrm>
            <a:off x="522327" y="3206417"/>
            <a:ext cx="981359" cy="369332"/>
          </a:xfrm>
          <a:prstGeom prst="rect">
            <a:avLst/>
          </a:prstGeom>
          <a:noFill/>
        </p:spPr>
        <p:txBody>
          <a:bodyPr wrap="none" rtlCol="0">
            <a:spAutoFit/>
          </a:bodyPr>
          <a:lstStyle/>
          <a:p>
            <a:r>
              <a:rPr lang="en-US" altLang="zh-TW" dirty="0">
                <a:solidFill>
                  <a:schemeClr val="tx1">
                    <a:lumMod val="50000"/>
                    <a:lumOff val="50000"/>
                  </a:schemeClr>
                </a:solidFill>
                <a:latin typeface="Adobe 繁黑體 Std B" panose="020B0700000000000000" pitchFamily="34" charset="-120"/>
                <a:ea typeface="Adobe 繁黑體 Std B" panose="020B0700000000000000" pitchFamily="34" charset="-120"/>
              </a:rPr>
              <a:t>I2C</a:t>
            </a:r>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接口</a:t>
            </a:r>
          </a:p>
        </p:txBody>
      </p:sp>
      <p:cxnSp>
        <p:nvCxnSpPr>
          <p:cNvPr id="37" name="直線單箭頭接點 36">
            <a:extLst>
              <a:ext uri="{FF2B5EF4-FFF2-40B4-BE49-F238E27FC236}">
                <a16:creationId xmlns:a16="http://schemas.microsoft.com/office/drawing/2014/main" id="{5B58F04C-2A7C-44D7-BCD7-65AFFFEF784E}"/>
              </a:ext>
            </a:extLst>
          </p:cNvPr>
          <p:cNvCxnSpPr>
            <a:cxnSpLocks/>
          </p:cNvCxnSpPr>
          <p:nvPr/>
        </p:nvCxnSpPr>
        <p:spPr>
          <a:xfrm flipH="1">
            <a:off x="3937324" y="1388773"/>
            <a:ext cx="738187" cy="524805"/>
          </a:xfrm>
          <a:prstGeom prst="straightConnector1">
            <a:avLst/>
          </a:prstGeom>
          <a:ln w="19050">
            <a:solidFill>
              <a:srgbClr val="FF0000"/>
            </a:solidFill>
            <a:tailEnd type="arrow" w="lg" len="lg"/>
          </a:ln>
        </p:spPr>
        <p:style>
          <a:lnRef idx="1">
            <a:schemeClr val="accent1"/>
          </a:lnRef>
          <a:fillRef idx="0">
            <a:schemeClr val="accent1"/>
          </a:fillRef>
          <a:effectRef idx="0">
            <a:schemeClr val="accent1"/>
          </a:effectRef>
          <a:fontRef idx="minor">
            <a:schemeClr val="tx1"/>
          </a:fontRef>
        </p:style>
      </p:cxnSp>
      <p:cxnSp>
        <p:nvCxnSpPr>
          <p:cNvPr id="40" name="直線單箭頭接點 39">
            <a:extLst>
              <a:ext uri="{FF2B5EF4-FFF2-40B4-BE49-F238E27FC236}">
                <a16:creationId xmlns:a16="http://schemas.microsoft.com/office/drawing/2014/main" id="{B87AAA4B-DCDF-4F1D-B61D-24A124DC0545}"/>
              </a:ext>
            </a:extLst>
          </p:cNvPr>
          <p:cNvCxnSpPr>
            <a:cxnSpLocks/>
            <a:stCxn id="43" idx="1"/>
          </p:cNvCxnSpPr>
          <p:nvPr/>
        </p:nvCxnSpPr>
        <p:spPr>
          <a:xfrm flipH="1">
            <a:off x="4119213" y="2063340"/>
            <a:ext cx="990336" cy="220218"/>
          </a:xfrm>
          <a:prstGeom prst="straightConnector1">
            <a:avLst/>
          </a:prstGeom>
          <a:ln w="19050">
            <a:solidFill>
              <a:srgbClr val="FF0000"/>
            </a:solidFill>
            <a:tailEnd type="arrow" w="lg" len="lg"/>
          </a:ln>
        </p:spPr>
        <p:style>
          <a:lnRef idx="1">
            <a:schemeClr val="accent1"/>
          </a:lnRef>
          <a:fillRef idx="0">
            <a:schemeClr val="accent1"/>
          </a:fillRef>
          <a:effectRef idx="0">
            <a:schemeClr val="accent1"/>
          </a:effectRef>
          <a:fontRef idx="minor">
            <a:schemeClr val="tx1"/>
          </a:fontRef>
        </p:style>
      </p:cxnSp>
      <p:sp>
        <p:nvSpPr>
          <p:cNvPr id="42" name="文字方塊 41">
            <a:extLst>
              <a:ext uri="{FF2B5EF4-FFF2-40B4-BE49-F238E27FC236}">
                <a16:creationId xmlns:a16="http://schemas.microsoft.com/office/drawing/2014/main" id="{C16B4D4A-382C-48FA-B18D-0AEE17C5B14F}"/>
              </a:ext>
            </a:extLst>
          </p:cNvPr>
          <p:cNvSpPr txBox="1"/>
          <p:nvPr/>
        </p:nvSpPr>
        <p:spPr>
          <a:xfrm>
            <a:off x="4639729" y="1165509"/>
            <a:ext cx="2319866" cy="646331"/>
          </a:xfrm>
          <a:prstGeom prst="rect">
            <a:avLst/>
          </a:prstGeom>
          <a:noFill/>
        </p:spPr>
        <p:txBody>
          <a:bodyPr wrap="none" rtlCol="0">
            <a:spAutoFit/>
          </a:bodyPr>
          <a:lstStyle/>
          <a:p>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蜂鳴器、</a:t>
            </a:r>
            <a:r>
              <a:rPr lang="en-US" altLang="zh-TW" dirty="0">
                <a:solidFill>
                  <a:schemeClr val="tx1">
                    <a:lumMod val="50000"/>
                    <a:lumOff val="50000"/>
                  </a:schemeClr>
                </a:solidFill>
                <a:latin typeface="Adobe 繁黑體 Std B" panose="020B0700000000000000" pitchFamily="34" charset="-120"/>
                <a:ea typeface="Adobe 繁黑體 Std B" panose="020B0700000000000000" pitchFamily="34" charset="-120"/>
              </a:rPr>
              <a:t>SD</a:t>
            </a:r>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卡讀卡器</a:t>
            </a:r>
            <a:endParaRPr lang="en-US" altLang="zh-TW" dirty="0">
              <a:solidFill>
                <a:schemeClr val="tx1">
                  <a:lumMod val="50000"/>
                  <a:lumOff val="50000"/>
                </a:schemeClr>
              </a:solidFill>
              <a:latin typeface="Adobe 繁黑體 Std B" panose="020B0700000000000000" pitchFamily="34" charset="-120"/>
              <a:ea typeface="Adobe 繁黑體 Std B" panose="020B0700000000000000" pitchFamily="34" charset="-120"/>
            </a:endParaRPr>
          </a:p>
          <a:p>
            <a:r>
              <a:rPr lang="en-US" altLang="zh-TW" dirty="0">
                <a:solidFill>
                  <a:schemeClr val="tx1">
                    <a:lumMod val="50000"/>
                    <a:lumOff val="50000"/>
                  </a:schemeClr>
                </a:solidFill>
                <a:latin typeface="Adobe 繁黑體 Std B" panose="020B0700000000000000" pitchFamily="34" charset="-120"/>
                <a:ea typeface="Adobe 繁黑體 Std B" panose="020B0700000000000000" pitchFamily="34" charset="-120"/>
              </a:rPr>
              <a:t>(</a:t>
            </a:r>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在藍芽模組下方</a:t>
            </a:r>
            <a:r>
              <a:rPr lang="en-US" altLang="zh-TW" dirty="0">
                <a:solidFill>
                  <a:schemeClr val="tx1">
                    <a:lumMod val="50000"/>
                    <a:lumOff val="50000"/>
                  </a:schemeClr>
                </a:solidFill>
                <a:latin typeface="Adobe 繁黑體 Std B" panose="020B0700000000000000" pitchFamily="34" charset="-120"/>
                <a:ea typeface="Adobe 繁黑體 Std B" panose="020B0700000000000000" pitchFamily="34" charset="-120"/>
              </a:rPr>
              <a:t>)</a:t>
            </a:r>
            <a:endPar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endParaRPr>
          </a:p>
        </p:txBody>
      </p:sp>
      <p:sp>
        <p:nvSpPr>
          <p:cNvPr id="43" name="文字方塊 42">
            <a:extLst>
              <a:ext uri="{FF2B5EF4-FFF2-40B4-BE49-F238E27FC236}">
                <a16:creationId xmlns:a16="http://schemas.microsoft.com/office/drawing/2014/main" id="{1A770A32-4BE8-45FE-8B53-FD0651FFD223}"/>
              </a:ext>
            </a:extLst>
          </p:cNvPr>
          <p:cNvSpPr txBox="1"/>
          <p:nvPr/>
        </p:nvSpPr>
        <p:spPr>
          <a:xfrm>
            <a:off x="5109549" y="1878674"/>
            <a:ext cx="2031325" cy="369332"/>
          </a:xfrm>
          <a:prstGeom prst="rect">
            <a:avLst/>
          </a:prstGeom>
          <a:noFill/>
        </p:spPr>
        <p:txBody>
          <a:bodyPr wrap="none" rtlCol="0">
            <a:spAutoFit/>
          </a:bodyPr>
          <a:lstStyle/>
          <a:p>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陶瓷天線藍芽模組</a:t>
            </a:r>
          </a:p>
        </p:txBody>
      </p:sp>
      <p:cxnSp>
        <p:nvCxnSpPr>
          <p:cNvPr id="45" name="直線單箭頭接點 44">
            <a:extLst>
              <a:ext uri="{FF2B5EF4-FFF2-40B4-BE49-F238E27FC236}">
                <a16:creationId xmlns:a16="http://schemas.microsoft.com/office/drawing/2014/main" id="{8989A79F-4997-4286-BF72-34A10C918B1E}"/>
              </a:ext>
            </a:extLst>
          </p:cNvPr>
          <p:cNvCxnSpPr>
            <a:cxnSpLocks/>
          </p:cNvCxnSpPr>
          <p:nvPr/>
        </p:nvCxnSpPr>
        <p:spPr>
          <a:xfrm flipH="1">
            <a:off x="4249465" y="2396695"/>
            <a:ext cx="979760" cy="300023"/>
          </a:xfrm>
          <a:prstGeom prst="straightConnector1">
            <a:avLst/>
          </a:prstGeom>
          <a:ln w="19050">
            <a:solidFill>
              <a:srgbClr val="FF0000"/>
            </a:solidFill>
            <a:tailEnd type="arrow" w="lg" len="lg"/>
          </a:ln>
        </p:spPr>
        <p:style>
          <a:lnRef idx="1">
            <a:schemeClr val="accent1"/>
          </a:lnRef>
          <a:fillRef idx="0">
            <a:schemeClr val="accent1"/>
          </a:fillRef>
          <a:effectRef idx="0">
            <a:schemeClr val="accent1"/>
          </a:effectRef>
          <a:fontRef idx="minor">
            <a:schemeClr val="tx1"/>
          </a:fontRef>
        </p:style>
      </p:cxnSp>
      <p:sp>
        <p:nvSpPr>
          <p:cNvPr id="49" name="文字方塊 48">
            <a:extLst>
              <a:ext uri="{FF2B5EF4-FFF2-40B4-BE49-F238E27FC236}">
                <a16:creationId xmlns:a16="http://schemas.microsoft.com/office/drawing/2014/main" id="{6D34DCAF-8877-48D4-8BF0-36553A3A4B33}"/>
              </a:ext>
            </a:extLst>
          </p:cNvPr>
          <p:cNvSpPr txBox="1"/>
          <p:nvPr/>
        </p:nvSpPr>
        <p:spPr>
          <a:xfrm>
            <a:off x="5266730" y="2240855"/>
            <a:ext cx="2031325" cy="369332"/>
          </a:xfrm>
          <a:prstGeom prst="rect">
            <a:avLst/>
          </a:prstGeom>
          <a:noFill/>
        </p:spPr>
        <p:txBody>
          <a:bodyPr wrap="none" rtlCol="0">
            <a:spAutoFit/>
          </a:bodyPr>
          <a:lstStyle/>
          <a:p>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藍芽模組供電按鈕</a:t>
            </a:r>
          </a:p>
        </p:txBody>
      </p:sp>
      <p:cxnSp>
        <p:nvCxnSpPr>
          <p:cNvPr id="50" name="直線單箭頭接點 49">
            <a:extLst>
              <a:ext uri="{FF2B5EF4-FFF2-40B4-BE49-F238E27FC236}">
                <a16:creationId xmlns:a16="http://schemas.microsoft.com/office/drawing/2014/main" id="{0DC73FC5-594D-4642-B0D5-713F58952228}"/>
              </a:ext>
            </a:extLst>
          </p:cNvPr>
          <p:cNvCxnSpPr>
            <a:cxnSpLocks/>
          </p:cNvCxnSpPr>
          <p:nvPr/>
        </p:nvCxnSpPr>
        <p:spPr>
          <a:xfrm flipH="1">
            <a:off x="6125211" y="3064661"/>
            <a:ext cx="1094739" cy="0"/>
          </a:xfrm>
          <a:prstGeom prst="straightConnector1">
            <a:avLst/>
          </a:prstGeom>
          <a:ln w="19050">
            <a:solidFill>
              <a:srgbClr val="FF0000"/>
            </a:solidFill>
            <a:tailEnd type="arrow" w="lg" len="lg"/>
          </a:ln>
        </p:spPr>
        <p:style>
          <a:lnRef idx="1">
            <a:schemeClr val="accent1"/>
          </a:lnRef>
          <a:fillRef idx="0">
            <a:schemeClr val="accent1"/>
          </a:fillRef>
          <a:effectRef idx="0">
            <a:schemeClr val="accent1"/>
          </a:effectRef>
          <a:fontRef idx="minor">
            <a:schemeClr val="tx1"/>
          </a:fontRef>
        </p:style>
      </p:cxnSp>
      <p:sp>
        <p:nvSpPr>
          <p:cNvPr id="52" name="文字方塊 51">
            <a:extLst>
              <a:ext uri="{FF2B5EF4-FFF2-40B4-BE49-F238E27FC236}">
                <a16:creationId xmlns:a16="http://schemas.microsoft.com/office/drawing/2014/main" id="{C6767E7B-F1BC-43DD-94C3-68D66BE13E69}"/>
              </a:ext>
            </a:extLst>
          </p:cNvPr>
          <p:cNvSpPr txBox="1"/>
          <p:nvPr/>
        </p:nvSpPr>
        <p:spPr>
          <a:xfrm>
            <a:off x="6498014" y="2764393"/>
            <a:ext cx="2430474" cy="369332"/>
          </a:xfrm>
          <a:prstGeom prst="rect">
            <a:avLst/>
          </a:prstGeom>
          <a:noFill/>
        </p:spPr>
        <p:txBody>
          <a:bodyPr wrap="none" rtlCol="0">
            <a:spAutoFit/>
          </a:bodyPr>
          <a:lstStyle/>
          <a:p>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樹莓派 </a:t>
            </a:r>
            <a:r>
              <a:rPr lang="en-US" altLang="zh-TW" dirty="0">
                <a:solidFill>
                  <a:schemeClr val="tx1">
                    <a:lumMod val="50000"/>
                    <a:lumOff val="50000"/>
                  </a:schemeClr>
                </a:solidFill>
                <a:latin typeface="Adobe 繁黑體 Std B" panose="020B0700000000000000" pitchFamily="34" charset="-120"/>
                <a:ea typeface="Adobe 繁黑體 Std B" panose="020B0700000000000000" pitchFamily="34" charset="-120"/>
              </a:rPr>
              <a:t>Pico Boot </a:t>
            </a:r>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按鈕</a:t>
            </a:r>
          </a:p>
        </p:txBody>
      </p:sp>
      <p:cxnSp>
        <p:nvCxnSpPr>
          <p:cNvPr id="53" name="直線單箭頭接點 52">
            <a:extLst>
              <a:ext uri="{FF2B5EF4-FFF2-40B4-BE49-F238E27FC236}">
                <a16:creationId xmlns:a16="http://schemas.microsoft.com/office/drawing/2014/main" id="{9D8C070E-86EF-45EB-B468-8FA9C4B3EA27}"/>
              </a:ext>
            </a:extLst>
          </p:cNvPr>
          <p:cNvCxnSpPr>
            <a:cxnSpLocks/>
          </p:cNvCxnSpPr>
          <p:nvPr/>
        </p:nvCxnSpPr>
        <p:spPr>
          <a:xfrm flipH="1" flipV="1">
            <a:off x="4614382" y="3391083"/>
            <a:ext cx="2434118" cy="184666"/>
          </a:xfrm>
          <a:prstGeom prst="straightConnector1">
            <a:avLst/>
          </a:prstGeom>
          <a:ln w="19050">
            <a:solidFill>
              <a:srgbClr val="FF0000"/>
            </a:solidFill>
            <a:tailEnd type="arrow" w="lg" len="lg"/>
          </a:ln>
        </p:spPr>
        <p:style>
          <a:lnRef idx="1">
            <a:schemeClr val="accent1"/>
          </a:lnRef>
          <a:fillRef idx="0">
            <a:schemeClr val="accent1"/>
          </a:fillRef>
          <a:effectRef idx="0">
            <a:schemeClr val="accent1"/>
          </a:effectRef>
          <a:fontRef idx="minor">
            <a:schemeClr val="tx1"/>
          </a:fontRef>
        </p:style>
      </p:cxnSp>
      <p:sp>
        <p:nvSpPr>
          <p:cNvPr id="55" name="文字方塊 54">
            <a:extLst>
              <a:ext uri="{FF2B5EF4-FFF2-40B4-BE49-F238E27FC236}">
                <a16:creationId xmlns:a16="http://schemas.microsoft.com/office/drawing/2014/main" id="{D0CE2D22-A5FF-4F49-AFBA-0C2642362D7C}"/>
              </a:ext>
            </a:extLst>
          </p:cNvPr>
          <p:cNvSpPr txBox="1"/>
          <p:nvPr/>
        </p:nvSpPr>
        <p:spPr>
          <a:xfrm>
            <a:off x="6847512" y="3244329"/>
            <a:ext cx="2031325" cy="369332"/>
          </a:xfrm>
          <a:prstGeom prst="rect">
            <a:avLst/>
          </a:prstGeom>
          <a:noFill/>
        </p:spPr>
        <p:txBody>
          <a:bodyPr wrap="none" rtlCol="0">
            <a:spAutoFit/>
          </a:bodyPr>
          <a:lstStyle/>
          <a:p>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開放腳位接線端子</a:t>
            </a:r>
          </a:p>
        </p:txBody>
      </p:sp>
      <p:cxnSp>
        <p:nvCxnSpPr>
          <p:cNvPr id="56" name="直線單箭頭接點 55">
            <a:extLst>
              <a:ext uri="{FF2B5EF4-FFF2-40B4-BE49-F238E27FC236}">
                <a16:creationId xmlns:a16="http://schemas.microsoft.com/office/drawing/2014/main" id="{70E410CB-1E05-478F-8E22-4FB62FCC47E0}"/>
              </a:ext>
            </a:extLst>
          </p:cNvPr>
          <p:cNvCxnSpPr>
            <a:cxnSpLocks/>
          </p:cNvCxnSpPr>
          <p:nvPr/>
        </p:nvCxnSpPr>
        <p:spPr>
          <a:xfrm flipH="1">
            <a:off x="5965598" y="4381056"/>
            <a:ext cx="993997" cy="0"/>
          </a:xfrm>
          <a:prstGeom prst="straightConnector1">
            <a:avLst/>
          </a:prstGeom>
          <a:ln w="19050">
            <a:solidFill>
              <a:srgbClr val="FF0000"/>
            </a:solidFill>
            <a:tailEnd type="arrow" w="lg" len="lg"/>
          </a:ln>
        </p:spPr>
        <p:style>
          <a:lnRef idx="1">
            <a:schemeClr val="accent1"/>
          </a:lnRef>
          <a:fillRef idx="0">
            <a:schemeClr val="accent1"/>
          </a:fillRef>
          <a:effectRef idx="0">
            <a:schemeClr val="accent1"/>
          </a:effectRef>
          <a:fontRef idx="minor">
            <a:schemeClr val="tx1"/>
          </a:fontRef>
        </p:style>
      </p:cxnSp>
      <p:sp>
        <p:nvSpPr>
          <p:cNvPr id="58" name="文字方塊 57">
            <a:extLst>
              <a:ext uri="{FF2B5EF4-FFF2-40B4-BE49-F238E27FC236}">
                <a16:creationId xmlns:a16="http://schemas.microsoft.com/office/drawing/2014/main" id="{678B9806-6261-4CA4-B4D8-C78866446329}"/>
              </a:ext>
            </a:extLst>
          </p:cNvPr>
          <p:cNvSpPr txBox="1"/>
          <p:nvPr/>
        </p:nvSpPr>
        <p:spPr>
          <a:xfrm>
            <a:off x="6349584" y="4094202"/>
            <a:ext cx="2178802" cy="369332"/>
          </a:xfrm>
          <a:prstGeom prst="rect">
            <a:avLst/>
          </a:prstGeom>
          <a:noFill/>
        </p:spPr>
        <p:txBody>
          <a:bodyPr wrap="none" rtlCol="0">
            <a:spAutoFit/>
          </a:bodyPr>
          <a:lstStyle/>
          <a:p>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萬用電路板</a:t>
            </a:r>
            <a:r>
              <a:rPr lang="en-US" altLang="zh-TW" dirty="0">
                <a:solidFill>
                  <a:schemeClr val="tx1">
                    <a:lumMod val="50000"/>
                    <a:lumOff val="50000"/>
                  </a:schemeClr>
                </a:solidFill>
                <a:latin typeface="Adobe 繁黑體 Std B" panose="020B0700000000000000" pitchFamily="34" charset="-120"/>
                <a:ea typeface="Adobe 繁黑體 Std B" panose="020B0700000000000000" pitchFamily="34" charset="-120"/>
              </a:rPr>
              <a:t>(</a:t>
            </a:r>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麵包板</a:t>
            </a:r>
            <a:r>
              <a:rPr lang="en-US" altLang="zh-TW" dirty="0">
                <a:solidFill>
                  <a:schemeClr val="tx1">
                    <a:lumMod val="50000"/>
                    <a:lumOff val="50000"/>
                  </a:schemeClr>
                </a:solidFill>
                <a:latin typeface="Adobe 繁黑體 Std B" panose="020B0700000000000000" pitchFamily="34" charset="-120"/>
                <a:ea typeface="Adobe 繁黑體 Std B" panose="020B0700000000000000" pitchFamily="34" charset="-120"/>
              </a:rPr>
              <a:t>)</a:t>
            </a:r>
            <a:endPar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endParaRPr>
          </a:p>
        </p:txBody>
      </p:sp>
    </p:spTree>
    <p:extLst>
      <p:ext uri="{BB962C8B-B14F-4D97-AF65-F5344CB8AC3E}">
        <p14:creationId xmlns:p14="http://schemas.microsoft.com/office/powerpoint/2010/main" val="10923620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圖片 11">
            <a:extLst>
              <a:ext uri="{FF2B5EF4-FFF2-40B4-BE49-F238E27FC236}">
                <a16:creationId xmlns:a16="http://schemas.microsoft.com/office/drawing/2014/main" id="{4AA30160-3FFD-4D6E-9087-30AB26693EE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73121" y="908082"/>
            <a:ext cx="6208900" cy="4657725"/>
          </a:xfrm>
          <a:prstGeom prst="rect">
            <a:avLst/>
          </a:prstGeom>
        </p:spPr>
      </p:pic>
      <p:sp>
        <p:nvSpPr>
          <p:cNvPr id="101" name="CustomShape 1"/>
          <p:cNvSpPr/>
          <p:nvPr/>
        </p:nvSpPr>
        <p:spPr>
          <a:xfrm>
            <a:off x="628920" y="471600"/>
            <a:ext cx="7886160" cy="608807"/>
          </a:xfrm>
          <a:prstGeom prst="rect">
            <a:avLst/>
          </a:prstGeom>
          <a:noFill/>
          <a:ln>
            <a:noFill/>
          </a:ln>
        </p:spPr>
        <p:style>
          <a:lnRef idx="0">
            <a:scrgbClr r="0" g="0" b="0"/>
          </a:lnRef>
          <a:fillRef idx="0">
            <a:scrgbClr r="0" g="0" b="0"/>
          </a:fillRef>
          <a:effectRef idx="0">
            <a:scrgbClr r="0" g="0" b="0"/>
          </a:effectRef>
          <a:fontRef idx="minor"/>
        </p:style>
        <p:txBody>
          <a:bodyPr lIns="67500" tIns="33750" rIns="67500" bIns="33750"/>
          <a:lstStyle/>
          <a:p>
            <a:pPr>
              <a:lnSpc>
                <a:spcPct val="100000"/>
              </a:lnSpc>
            </a:pPr>
            <a:r>
              <a:rPr lang="zh-TW" altLang="en-US" sz="3600" spc="-1" dirty="0">
                <a:solidFill>
                  <a:srgbClr val="000000"/>
                </a:solidFill>
                <a:uFill>
                  <a:solidFill>
                    <a:srgbClr val="FFFFFF"/>
                  </a:solidFill>
                </a:uFill>
                <a:latin typeface="Adobe 繁黑體 Std B"/>
                <a:ea typeface="Adobe 繁黑體 Std B"/>
              </a:rPr>
              <a:t>安裝及更新韌體</a:t>
            </a:r>
            <a:endParaRPr lang="en-US" sz="3600" spc="-1" dirty="0">
              <a:solidFill>
                <a:schemeClr val="tx1">
                  <a:lumMod val="50000"/>
                  <a:lumOff val="50000"/>
                </a:schemeClr>
              </a:solidFill>
              <a:uFill>
                <a:solidFill>
                  <a:srgbClr val="FFFFFF"/>
                </a:solidFill>
              </a:uFill>
              <a:latin typeface="Arial"/>
            </a:endParaRPr>
          </a:p>
        </p:txBody>
      </p:sp>
      <p:sp>
        <p:nvSpPr>
          <p:cNvPr id="7" name="橢圓 6">
            <a:extLst>
              <a:ext uri="{FF2B5EF4-FFF2-40B4-BE49-F238E27FC236}">
                <a16:creationId xmlns:a16="http://schemas.microsoft.com/office/drawing/2014/main" id="{2B44A876-BE56-48A4-8D31-17C577F85E9D}"/>
              </a:ext>
            </a:extLst>
          </p:cNvPr>
          <p:cNvSpPr/>
          <p:nvPr/>
        </p:nvSpPr>
        <p:spPr>
          <a:xfrm>
            <a:off x="4517854" y="2428427"/>
            <a:ext cx="643813" cy="36389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8" name="橢圓 7">
            <a:extLst>
              <a:ext uri="{FF2B5EF4-FFF2-40B4-BE49-F238E27FC236}">
                <a16:creationId xmlns:a16="http://schemas.microsoft.com/office/drawing/2014/main" id="{F7813D4F-8CEE-4AF5-A2A4-ACFD09A3D55E}"/>
              </a:ext>
            </a:extLst>
          </p:cNvPr>
          <p:cNvSpPr/>
          <p:nvPr/>
        </p:nvSpPr>
        <p:spPr>
          <a:xfrm>
            <a:off x="4678456" y="1109590"/>
            <a:ext cx="322607" cy="32190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350" dirty="0"/>
              <a:t>1</a:t>
            </a:r>
            <a:endParaRPr lang="zh-TW" altLang="en-US" sz="1350" dirty="0"/>
          </a:p>
        </p:txBody>
      </p:sp>
      <p:sp>
        <p:nvSpPr>
          <p:cNvPr id="11" name="橢圓 10">
            <a:extLst>
              <a:ext uri="{FF2B5EF4-FFF2-40B4-BE49-F238E27FC236}">
                <a16:creationId xmlns:a16="http://schemas.microsoft.com/office/drawing/2014/main" id="{BD5F5147-30A0-41D1-A2FF-735A77AB7EFC}"/>
              </a:ext>
            </a:extLst>
          </p:cNvPr>
          <p:cNvSpPr/>
          <p:nvPr/>
        </p:nvSpPr>
        <p:spPr>
          <a:xfrm>
            <a:off x="5099004" y="1972068"/>
            <a:ext cx="322607" cy="32190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350" dirty="0"/>
              <a:t>2</a:t>
            </a:r>
            <a:endParaRPr lang="zh-TW" altLang="en-US" sz="1350" dirty="0"/>
          </a:p>
        </p:txBody>
      </p:sp>
      <p:sp>
        <p:nvSpPr>
          <p:cNvPr id="10" name="文字方塊 9">
            <a:extLst>
              <a:ext uri="{FF2B5EF4-FFF2-40B4-BE49-F238E27FC236}">
                <a16:creationId xmlns:a16="http://schemas.microsoft.com/office/drawing/2014/main" id="{E27AE73D-1370-4510-9831-452F50224CA3}"/>
              </a:ext>
            </a:extLst>
          </p:cNvPr>
          <p:cNvSpPr txBox="1"/>
          <p:nvPr/>
        </p:nvSpPr>
        <p:spPr>
          <a:xfrm>
            <a:off x="5047316" y="1067004"/>
            <a:ext cx="2766092" cy="715581"/>
          </a:xfrm>
          <a:prstGeom prst="rect">
            <a:avLst/>
          </a:prstGeom>
          <a:noFill/>
        </p:spPr>
        <p:txBody>
          <a:bodyPr wrap="square" rtlCol="0">
            <a:spAutoFit/>
          </a:bodyPr>
          <a:lstStyle/>
          <a:p>
            <a:r>
              <a:rPr lang="zh-TW" altLang="en-US" sz="1350" dirty="0">
                <a:latin typeface="Adobe 仿宋 Std R" panose="02020400000000000000" pitchFamily="18" charset="-128"/>
                <a:ea typeface="Adobe 仿宋 Std R" panose="02020400000000000000" pitchFamily="18" charset="-128"/>
              </a:rPr>
              <a:t>同時按下</a:t>
            </a:r>
            <a:r>
              <a:rPr lang="en-US" altLang="zh-TW" sz="1350" dirty="0">
                <a:latin typeface="Adobe 仿宋 Std R" panose="02020400000000000000" pitchFamily="18" charset="-128"/>
                <a:ea typeface="Adobe 仿宋 Std R" panose="02020400000000000000" pitchFamily="18" charset="-128"/>
              </a:rPr>
              <a:t>Raspberry Pi Pico</a:t>
            </a:r>
            <a:r>
              <a:rPr lang="zh-TW" altLang="en-US" sz="1350" dirty="0">
                <a:latin typeface="Adobe 仿宋 Std R" panose="02020400000000000000" pitchFamily="18" charset="-128"/>
                <a:ea typeface="Adobe 仿宋 Std R" panose="02020400000000000000" pitchFamily="18" charset="-128"/>
              </a:rPr>
              <a:t>板上的白色按鈕</a:t>
            </a:r>
            <a:r>
              <a:rPr lang="en-US" altLang="zh-TW" sz="1350" dirty="0">
                <a:latin typeface="Adobe 仿宋 Std R" panose="02020400000000000000" pitchFamily="18" charset="-128"/>
                <a:ea typeface="Adobe 仿宋 Std R" panose="02020400000000000000" pitchFamily="18" charset="-128"/>
              </a:rPr>
              <a:t>, </a:t>
            </a:r>
            <a:r>
              <a:rPr lang="zh-TW" altLang="en-US" sz="1350" dirty="0">
                <a:latin typeface="Adobe 仿宋 Std R" panose="02020400000000000000" pitchFamily="18" charset="-128"/>
                <a:ea typeface="Adobe 仿宋 Std R" panose="02020400000000000000" pitchFamily="18" charset="-128"/>
              </a:rPr>
              <a:t>及開發板上的黑色按鈕。約</a:t>
            </a:r>
            <a:r>
              <a:rPr lang="en-US" altLang="zh-TW" sz="1350" dirty="0">
                <a:latin typeface="Adobe 仿宋 Std R" panose="02020400000000000000" pitchFamily="18" charset="-128"/>
                <a:ea typeface="Adobe 仿宋 Std R" panose="02020400000000000000" pitchFamily="18" charset="-128"/>
              </a:rPr>
              <a:t>3</a:t>
            </a:r>
            <a:r>
              <a:rPr lang="zh-TW" altLang="en-US" sz="1350" dirty="0">
                <a:latin typeface="Adobe 仿宋 Std R" panose="02020400000000000000" pitchFamily="18" charset="-128"/>
                <a:ea typeface="Adobe 仿宋 Std R" panose="02020400000000000000" pitchFamily="18" charset="-128"/>
              </a:rPr>
              <a:t>秒鐘會開啟檔案總管。</a:t>
            </a:r>
          </a:p>
        </p:txBody>
      </p:sp>
      <p:sp>
        <p:nvSpPr>
          <p:cNvPr id="13" name="橢圓 12">
            <a:extLst>
              <a:ext uri="{FF2B5EF4-FFF2-40B4-BE49-F238E27FC236}">
                <a16:creationId xmlns:a16="http://schemas.microsoft.com/office/drawing/2014/main" id="{CE7B5674-EE30-479E-8B64-5CAE8EA50E05}"/>
              </a:ext>
            </a:extLst>
          </p:cNvPr>
          <p:cNvSpPr/>
          <p:nvPr/>
        </p:nvSpPr>
        <p:spPr>
          <a:xfrm>
            <a:off x="3615968" y="4550792"/>
            <a:ext cx="643813" cy="36389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14" name="文字方塊 13">
            <a:extLst>
              <a:ext uri="{FF2B5EF4-FFF2-40B4-BE49-F238E27FC236}">
                <a16:creationId xmlns:a16="http://schemas.microsoft.com/office/drawing/2014/main" id="{D3D606AE-BF8B-41F6-87E0-35C6F53E5414}"/>
              </a:ext>
            </a:extLst>
          </p:cNvPr>
          <p:cNvSpPr txBox="1"/>
          <p:nvPr/>
        </p:nvSpPr>
        <p:spPr>
          <a:xfrm>
            <a:off x="5588296" y="1881262"/>
            <a:ext cx="2823873" cy="923330"/>
          </a:xfrm>
          <a:prstGeom prst="rect">
            <a:avLst/>
          </a:prstGeom>
          <a:noFill/>
        </p:spPr>
        <p:txBody>
          <a:bodyPr wrap="square" rtlCol="0">
            <a:spAutoFit/>
          </a:bodyPr>
          <a:lstStyle/>
          <a:p>
            <a:r>
              <a:rPr lang="zh-TW" altLang="en-US" sz="1350" dirty="0">
                <a:latin typeface="Adobe 仿宋 Std R" panose="02020400000000000000" pitchFamily="18" charset="-128"/>
                <a:ea typeface="Adobe 仿宋 Std R" panose="02020400000000000000" pitchFamily="18" charset="-128"/>
              </a:rPr>
              <a:t>使用檔案總管將韌體以托拉方式放到新開啟的檔案總管中，便會進行上傳。 上傳結束便會關閉該檔案總管視窗。</a:t>
            </a:r>
          </a:p>
        </p:txBody>
      </p:sp>
      <p:pic>
        <p:nvPicPr>
          <p:cNvPr id="4" name="圖片 3">
            <a:extLst>
              <a:ext uri="{FF2B5EF4-FFF2-40B4-BE49-F238E27FC236}">
                <a16:creationId xmlns:a16="http://schemas.microsoft.com/office/drawing/2014/main" id="{F60E4DED-2162-4AC7-A589-D1F6A6A6FD0D}"/>
              </a:ext>
            </a:extLst>
          </p:cNvPr>
          <p:cNvPicPr>
            <a:picLocks noChangeAspect="1"/>
          </p:cNvPicPr>
          <p:nvPr/>
        </p:nvPicPr>
        <p:blipFill>
          <a:blip r:embed="rId3"/>
          <a:stretch>
            <a:fillRect/>
          </a:stretch>
        </p:blipFill>
        <p:spPr>
          <a:xfrm>
            <a:off x="4801186" y="3970711"/>
            <a:ext cx="3713894" cy="2031578"/>
          </a:xfrm>
          <a:prstGeom prst="rect">
            <a:avLst/>
          </a:prstGeom>
        </p:spPr>
      </p:pic>
      <p:sp>
        <p:nvSpPr>
          <p:cNvPr id="5" name="箭號: 弧形右彎 4">
            <a:extLst>
              <a:ext uri="{FF2B5EF4-FFF2-40B4-BE49-F238E27FC236}">
                <a16:creationId xmlns:a16="http://schemas.microsoft.com/office/drawing/2014/main" id="{CF6845D6-ADFE-4775-96A8-ACBDDB23C02A}"/>
              </a:ext>
            </a:extLst>
          </p:cNvPr>
          <p:cNvSpPr/>
          <p:nvPr/>
        </p:nvSpPr>
        <p:spPr>
          <a:xfrm rot="6605361">
            <a:off x="7009516" y="3778043"/>
            <a:ext cx="659902" cy="1694648"/>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solidFill>
                <a:schemeClr val="tx1"/>
              </a:solidFill>
            </a:endParaRPr>
          </a:p>
        </p:txBody>
      </p:sp>
    </p:spTree>
    <p:extLst>
      <p:ext uri="{BB962C8B-B14F-4D97-AF65-F5344CB8AC3E}">
        <p14:creationId xmlns:p14="http://schemas.microsoft.com/office/powerpoint/2010/main" val="3915201935"/>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CustomShape 1"/>
          <p:cNvSpPr/>
          <p:nvPr/>
        </p:nvSpPr>
        <p:spPr>
          <a:xfrm>
            <a:off x="628920" y="530955"/>
            <a:ext cx="7886160" cy="495450"/>
          </a:xfrm>
          <a:prstGeom prst="rect">
            <a:avLst/>
          </a:prstGeom>
          <a:noFill/>
          <a:ln>
            <a:noFill/>
          </a:ln>
        </p:spPr>
        <p:style>
          <a:lnRef idx="0">
            <a:scrgbClr r="0" g="0" b="0"/>
          </a:lnRef>
          <a:fillRef idx="0">
            <a:scrgbClr r="0" g="0" b="0"/>
          </a:fillRef>
          <a:effectRef idx="0">
            <a:scrgbClr r="0" g="0" b="0"/>
          </a:effectRef>
          <a:fontRef idx="minor"/>
        </p:style>
        <p:txBody>
          <a:bodyPr lIns="67500" tIns="33750" rIns="67500" bIns="33750"/>
          <a:lstStyle/>
          <a:p>
            <a:pPr>
              <a:lnSpc>
                <a:spcPct val="100000"/>
              </a:lnSpc>
            </a:pPr>
            <a:r>
              <a:rPr lang="en-US" sz="3600" spc="-1" dirty="0">
                <a:solidFill>
                  <a:srgbClr val="000000"/>
                </a:solidFill>
                <a:uFill>
                  <a:solidFill>
                    <a:srgbClr val="FFFFFF"/>
                  </a:solidFill>
                </a:uFill>
                <a:latin typeface="Adobe 繁黑體 Std B"/>
                <a:ea typeface="Adobe 繁黑體 Std B"/>
              </a:rPr>
              <a:t>PICO X2 </a:t>
            </a:r>
            <a:r>
              <a:rPr lang="en-US" sz="3600" spc="-1" dirty="0" err="1">
                <a:solidFill>
                  <a:srgbClr val="000000"/>
                </a:solidFill>
                <a:uFill>
                  <a:solidFill>
                    <a:srgbClr val="FFFFFF"/>
                  </a:solidFill>
                </a:uFill>
                <a:latin typeface="Adobe 繁黑體 Std B"/>
                <a:ea typeface="Adobe 繁黑體 Std B"/>
              </a:rPr>
              <a:t>腳位</a:t>
            </a:r>
            <a:r>
              <a:rPr lang="zh-TW" altLang="en-US" sz="3600" spc="-1" dirty="0">
                <a:solidFill>
                  <a:srgbClr val="000000"/>
                </a:solidFill>
                <a:uFill>
                  <a:solidFill>
                    <a:srgbClr val="FFFFFF"/>
                  </a:solidFill>
                </a:uFill>
                <a:latin typeface="Adobe 繁黑體 Std B"/>
                <a:ea typeface="Adobe 繁黑體 Std B"/>
              </a:rPr>
              <a:t>名稱及定義</a:t>
            </a:r>
            <a:endParaRPr lang="en-US" sz="3600" spc="-1" dirty="0">
              <a:solidFill>
                <a:srgbClr val="000000"/>
              </a:solidFill>
              <a:uFill>
                <a:solidFill>
                  <a:srgbClr val="FFFFFF"/>
                </a:solidFill>
              </a:uFill>
              <a:latin typeface="Arial"/>
            </a:endParaRPr>
          </a:p>
        </p:txBody>
      </p:sp>
      <p:graphicFrame>
        <p:nvGraphicFramePr>
          <p:cNvPr id="105" name="Table 2"/>
          <p:cNvGraphicFramePr/>
          <p:nvPr/>
        </p:nvGraphicFramePr>
        <p:xfrm>
          <a:off x="846753" y="1721250"/>
          <a:ext cx="7431833" cy="3515130"/>
        </p:xfrm>
        <a:graphic>
          <a:graphicData uri="http://schemas.openxmlformats.org/drawingml/2006/table">
            <a:tbl>
              <a:tblPr/>
              <a:tblGrid>
                <a:gridCol w="2366800">
                  <a:extLst>
                    <a:ext uri="{9D8B030D-6E8A-4147-A177-3AD203B41FA5}">
                      <a16:colId xmlns:a16="http://schemas.microsoft.com/office/drawing/2014/main" val="20000"/>
                    </a:ext>
                  </a:extLst>
                </a:gridCol>
                <a:gridCol w="5065033">
                  <a:extLst>
                    <a:ext uri="{9D8B030D-6E8A-4147-A177-3AD203B41FA5}">
                      <a16:colId xmlns:a16="http://schemas.microsoft.com/office/drawing/2014/main" val="20001"/>
                    </a:ext>
                  </a:extLst>
                </a:gridCol>
              </a:tblGrid>
              <a:tr h="390420">
                <a:tc>
                  <a:txBody>
                    <a:bodyPr/>
                    <a:lstStyle/>
                    <a:p>
                      <a:r>
                        <a:rPr lang="en-US" sz="1400" b="0" strike="noStrike" spc="-1" dirty="0">
                          <a:solidFill>
                            <a:srgbClr val="000000"/>
                          </a:solidFill>
                          <a:uFill>
                            <a:solidFill>
                              <a:srgbClr val="FFFFFF"/>
                            </a:solidFill>
                          </a:uFill>
                          <a:latin typeface="Arial"/>
                        </a:rPr>
                        <a:t>GP0, GP1</a:t>
                      </a:r>
                    </a:p>
                  </a:txBody>
                  <a:tcPr marL="67500" marR="67500" marT="34290" marB="34290">
                    <a:lnL w="720">
                      <a:solidFill>
                        <a:srgbClr val="FFFFFF"/>
                      </a:solidFill>
                    </a:lnL>
                    <a:lnR w="720">
                      <a:solidFill>
                        <a:srgbClr val="FFFFFF"/>
                      </a:solidFill>
                    </a:lnR>
                    <a:lnT w="720">
                      <a:solidFill>
                        <a:srgbClr val="FFFFFF"/>
                      </a:solidFill>
                    </a:lnT>
                    <a:lnB w="720">
                      <a:solidFill>
                        <a:srgbClr val="FFFFFF"/>
                      </a:solidFill>
                    </a:lnB>
                    <a:solidFill>
                      <a:srgbClr val="B3B3B3"/>
                    </a:solidFill>
                  </a:tcPr>
                </a:tc>
                <a:tc>
                  <a:txBody>
                    <a:bodyPr/>
                    <a:lstStyle/>
                    <a:p>
                      <a:r>
                        <a:rPr lang="zh-TW" altLang="en-US" sz="1400" b="0" strike="noStrike" spc="-1" dirty="0">
                          <a:solidFill>
                            <a:srgbClr val="000000"/>
                          </a:solidFill>
                          <a:uFill>
                            <a:solidFill>
                              <a:srgbClr val="FFFFFF"/>
                            </a:solidFill>
                          </a:uFill>
                          <a:latin typeface="Arial"/>
                        </a:rPr>
                        <a:t>第一組</a:t>
                      </a:r>
                      <a:r>
                        <a:rPr lang="en-US" altLang="zh-TW" sz="1400" b="0" strike="noStrike" spc="-1" dirty="0">
                          <a:solidFill>
                            <a:srgbClr val="000000"/>
                          </a:solidFill>
                          <a:uFill>
                            <a:solidFill>
                              <a:srgbClr val="FFFFFF"/>
                            </a:solidFill>
                          </a:uFill>
                          <a:latin typeface="Arial"/>
                        </a:rPr>
                        <a:t>UART</a:t>
                      </a:r>
                      <a:r>
                        <a:rPr lang="zh-TW" altLang="en-US" sz="1400" b="0" strike="noStrike" spc="-1" dirty="0">
                          <a:solidFill>
                            <a:srgbClr val="000000"/>
                          </a:solidFill>
                          <a:uFill>
                            <a:solidFill>
                              <a:srgbClr val="FFFFFF"/>
                            </a:solidFill>
                          </a:uFill>
                          <a:latin typeface="Arial"/>
                        </a:rPr>
                        <a:t>的 </a:t>
                      </a:r>
                      <a:r>
                        <a:rPr lang="en-US" altLang="zh-TW" sz="1400" b="0" strike="noStrike" spc="-1" dirty="0">
                          <a:solidFill>
                            <a:srgbClr val="000000"/>
                          </a:solidFill>
                          <a:uFill>
                            <a:solidFill>
                              <a:srgbClr val="FFFFFF"/>
                            </a:solidFill>
                          </a:uFill>
                          <a:latin typeface="Arial"/>
                        </a:rPr>
                        <a:t>TX, RX</a:t>
                      </a:r>
                      <a:endParaRPr lang="en-US" sz="1400" b="0" strike="noStrike" spc="-1" dirty="0">
                        <a:solidFill>
                          <a:srgbClr val="000000"/>
                        </a:solidFill>
                        <a:uFill>
                          <a:solidFill>
                            <a:srgbClr val="FFFFFF"/>
                          </a:solidFill>
                        </a:uFill>
                        <a:latin typeface="Arial"/>
                      </a:endParaRPr>
                    </a:p>
                  </a:txBody>
                  <a:tcPr marL="67500" marR="67500" marT="34290" marB="34290">
                    <a:lnL w="720">
                      <a:solidFill>
                        <a:srgbClr val="FFFFFF"/>
                      </a:solidFill>
                    </a:lnL>
                    <a:lnR w="720">
                      <a:solidFill>
                        <a:srgbClr val="FFFFFF"/>
                      </a:solidFill>
                    </a:lnR>
                    <a:lnT w="720">
                      <a:solidFill>
                        <a:srgbClr val="FFFFFF"/>
                      </a:solidFill>
                    </a:lnT>
                    <a:lnB w="720">
                      <a:solidFill>
                        <a:srgbClr val="FFFFFF"/>
                      </a:solidFill>
                    </a:lnB>
                    <a:solidFill>
                      <a:srgbClr val="B3B3B3"/>
                    </a:solidFill>
                  </a:tcPr>
                </a:tc>
                <a:extLst>
                  <a:ext uri="{0D108BD9-81ED-4DB2-BD59-A6C34878D82A}">
                    <a16:rowId xmlns:a16="http://schemas.microsoft.com/office/drawing/2014/main" val="10000"/>
                  </a:ext>
                </a:extLst>
              </a:tr>
              <a:tr h="390420">
                <a:tc>
                  <a:txBody>
                    <a:bodyPr/>
                    <a:lstStyle/>
                    <a:p>
                      <a:r>
                        <a:rPr lang="en-US" sz="1400" b="0" strike="noStrike" spc="-1" dirty="0">
                          <a:solidFill>
                            <a:srgbClr val="000000"/>
                          </a:solidFill>
                          <a:uFill>
                            <a:solidFill>
                              <a:srgbClr val="FFFFFF"/>
                            </a:solidFill>
                          </a:uFill>
                          <a:latin typeface="Arial"/>
                        </a:rPr>
                        <a:t>GP2, GP3, GP4</a:t>
                      </a:r>
                    </a:p>
                  </a:txBody>
                  <a:tcPr marL="67500" marR="67500" marT="34290" marB="3429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lstStyle/>
                    <a:p>
                      <a:r>
                        <a:rPr lang="zh-TW" altLang="en-US" sz="1400" b="0" strike="noStrike" spc="-1" dirty="0">
                          <a:solidFill>
                            <a:srgbClr val="000000"/>
                          </a:solidFill>
                          <a:uFill>
                            <a:solidFill>
                              <a:srgbClr val="FFFFFF"/>
                            </a:solidFill>
                          </a:uFill>
                          <a:latin typeface="Arial"/>
                        </a:rPr>
                        <a:t>開放式</a:t>
                      </a:r>
                      <a:r>
                        <a:rPr lang="en-US" altLang="zh-TW" sz="1400" b="0" strike="noStrike" spc="-1" dirty="0">
                          <a:solidFill>
                            <a:srgbClr val="000000"/>
                          </a:solidFill>
                          <a:uFill>
                            <a:solidFill>
                              <a:srgbClr val="FFFFFF"/>
                            </a:solidFill>
                          </a:uFill>
                          <a:latin typeface="Arial"/>
                        </a:rPr>
                        <a:t>GPIO,</a:t>
                      </a:r>
                      <a:r>
                        <a:rPr lang="en-US" sz="1400" b="0" strike="noStrike" spc="-1" dirty="0">
                          <a:solidFill>
                            <a:srgbClr val="000000"/>
                          </a:solidFill>
                          <a:uFill>
                            <a:solidFill>
                              <a:srgbClr val="FFFFFF"/>
                            </a:solidFill>
                          </a:uFill>
                          <a:latin typeface="Arial"/>
                        </a:rPr>
                        <a:t> </a:t>
                      </a:r>
                      <a:r>
                        <a:rPr lang="en-US" sz="1400" b="0" strike="noStrike" spc="-1" dirty="0" err="1">
                          <a:solidFill>
                            <a:srgbClr val="000000"/>
                          </a:solidFill>
                          <a:uFill>
                            <a:solidFill>
                              <a:srgbClr val="FFFFFF"/>
                            </a:solidFill>
                          </a:uFill>
                          <a:latin typeface="Arial"/>
                        </a:rPr>
                        <a:t>可做</a:t>
                      </a:r>
                      <a:r>
                        <a:rPr lang="zh-TW" altLang="en-US" sz="1400" b="0" strike="noStrike" spc="-1" dirty="0">
                          <a:solidFill>
                            <a:srgbClr val="000000"/>
                          </a:solidFill>
                          <a:uFill>
                            <a:solidFill>
                              <a:srgbClr val="FFFFFF"/>
                            </a:solidFill>
                          </a:uFill>
                          <a:latin typeface="Arial"/>
                        </a:rPr>
                        <a:t>數位輸入輸出、</a:t>
                      </a:r>
                      <a:r>
                        <a:rPr lang="en-US" altLang="zh-TW" sz="1400" b="0" strike="noStrike" spc="-1" dirty="0" err="1">
                          <a:solidFill>
                            <a:srgbClr val="000000"/>
                          </a:solidFill>
                          <a:uFill>
                            <a:solidFill>
                              <a:srgbClr val="FFFFFF"/>
                            </a:solidFill>
                          </a:uFill>
                          <a:latin typeface="Arial"/>
                        </a:rPr>
                        <a:t>PWM</a:t>
                      </a:r>
                      <a:r>
                        <a:rPr lang="en-US" sz="1400" b="0" strike="noStrike" spc="-1" dirty="0" err="1">
                          <a:solidFill>
                            <a:srgbClr val="000000"/>
                          </a:solidFill>
                          <a:uFill>
                            <a:solidFill>
                              <a:srgbClr val="FFFFFF"/>
                            </a:solidFill>
                          </a:uFill>
                          <a:latin typeface="Arial"/>
                        </a:rPr>
                        <a:t>類比輸出使用</a:t>
                      </a:r>
                      <a:endParaRPr lang="en-US" sz="1400" b="0" strike="noStrike" spc="-1" dirty="0">
                        <a:solidFill>
                          <a:srgbClr val="000000"/>
                        </a:solidFill>
                        <a:uFill>
                          <a:solidFill>
                            <a:srgbClr val="FFFFFF"/>
                          </a:solidFill>
                        </a:uFill>
                        <a:latin typeface="Arial"/>
                      </a:endParaRPr>
                    </a:p>
                  </a:txBody>
                  <a:tcPr marL="67500" marR="67500" marT="34290" marB="34290">
                    <a:lnL w="720">
                      <a:solidFill>
                        <a:srgbClr val="FFFFFF"/>
                      </a:solidFill>
                    </a:lnL>
                    <a:lnR w="720">
                      <a:solidFill>
                        <a:srgbClr val="FFFFFF"/>
                      </a:solidFill>
                    </a:lnR>
                    <a:lnT w="720">
                      <a:solidFill>
                        <a:srgbClr val="FFFFFF"/>
                      </a:solidFill>
                    </a:lnT>
                    <a:lnB w="720">
                      <a:solidFill>
                        <a:srgbClr val="FFFFFF"/>
                      </a:solidFill>
                    </a:lnB>
                    <a:solidFill>
                      <a:srgbClr val="CCCCCC"/>
                    </a:solidFill>
                  </a:tcPr>
                </a:tc>
                <a:extLst>
                  <a:ext uri="{0D108BD9-81ED-4DB2-BD59-A6C34878D82A}">
                    <a16:rowId xmlns:a16="http://schemas.microsoft.com/office/drawing/2014/main" val="10001"/>
                  </a:ext>
                </a:extLst>
              </a:tr>
              <a:tr h="390420">
                <a:tc>
                  <a:txBody>
                    <a:bodyPr/>
                    <a:lstStyle/>
                    <a:p>
                      <a:r>
                        <a:rPr lang="en-US" sz="1400" b="0" strike="noStrike" spc="-1" dirty="0">
                          <a:solidFill>
                            <a:srgbClr val="000000"/>
                          </a:solidFill>
                          <a:uFill>
                            <a:solidFill>
                              <a:srgbClr val="FFFFFF"/>
                            </a:solidFill>
                          </a:uFill>
                          <a:latin typeface="Arial"/>
                        </a:rPr>
                        <a:t>ADC0, ADC1, ADC2</a:t>
                      </a:r>
                    </a:p>
                  </a:txBody>
                  <a:tcPr marL="67500" marR="67500" marT="34290" marB="3429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a:lstStyle/>
                    <a:p>
                      <a:r>
                        <a:rPr lang="zh-TW" altLang="en-US" sz="1400" b="0" strike="noStrike" spc="-1" dirty="0">
                          <a:solidFill>
                            <a:srgbClr val="000000"/>
                          </a:solidFill>
                          <a:uFill>
                            <a:solidFill>
                              <a:srgbClr val="FFFFFF"/>
                            </a:solidFill>
                          </a:uFill>
                          <a:latin typeface="Arial"/>
                        </a:rPr>
                        <a:t>開放式</a:t>
                      </a:r>
                      <a:r>
                        <a:rPr lang="en-US" sz="1400" b="0" strike="noStrike" spc="-1" dirty="0" err="1">
                          <a:solidFill>
                            <a:srgbClr val="000000"/>
                          </a:solidFill>
                          <a:uFill>
                            <a:solidFill>
                              <a:srgbClr val="FFFFFF"/>
                            </a:solidFill>
                          </a:uFill>
                          <a:latin typeface="Arial"/>
                        </a:rPr>
                        <a:t>類比輸入</a:t>
                      </a:r>
                      <a:r>
                        <a:rPr lang="en-US" sz="1400" b="0" strike="noStrike" spc="-1" dirty="0">
                          <a:solidFill>
                            <a:srgbClr val="000000"/>
                          </a:solidFill>
                          <a:uFill>
                            <a:solidFill>
                              <a:srgbClr val="FFFFFF"/>
                            </a:solidFill>
                          </a:uFill>
                          <a:latin typeface="Arial"/>
                        </a:rPr>
                        <a:t>, </a:t>
                      </a:r>
                      <a:r>
                        <a:rPr lang="zh-TW" altLang="en-US" sz="1400" b="0" strike="noStrike" spc="-1" dirty="0">
                          <a:solidFill>
                            <a:srgbClr val="000000"/>
                          </a:solidFill>
                          <a:uFill>
                            <a:solidFill>
                              <a:srgbClr val="FFFFFF"/>
                            </a:solidFill>
                          </a:uFill>
                          <a:latin typeface="Arial"/>
                        </a:rPr>
                        <a:t>也可當數位輸入及輸出。對映</a:t>
                      </a:r>
                      <a:r>
                        <a:rPr lang="en-US" altLang="zh-TW" sz="1400" b="0" strike="noStrike" spc="-1" dirty="0">
                          <a:solidFill>
                            <a:srgbClr val="000000"/>
                          </a:solidFill>
                          <a:uFill>
                            <a:solidFill>
                              <a:srgbClr val="FFFFFF"/>
                            </a:solidFill>
                          </a:uFill>
                          <a:latin typeface="Arial"/>
                        </a:rPr>
                        <a:t>GP26,27,28</a:t>
                      </a:r>
                      <a:endParaRPr lang="en-US" sz="1400" b="0" strike="noStrike" spc="-1" dirty="0">
                        <a:solidFill>
                          <a:srgbClr val="000000"/>
                        </a:solidFill>
                        <a:uFill>
                          <a:solidFill>
                            <a:srgbClr val="FFFFFF"/>
                          </a:solidFill>
                        </a:uFill>
                        <a:latin typeface="Arial"/>
                      </a:endParaRPr>
                    </a:p>
                  </a:txBody>
                  <a:tcPr marL="67500" marR="67500" marT="34290" marB="34290">
                    <a:lnL w="720">
                      <a:solidFill>
                        <a:srgbClr val="FFFFFF"/>
                      </a:solidFill>
                    </a:lnL>
                    <a:lnR w="720">
                      <a:solidFill>
                        <a:srgbClr val="FFFFFF"/>
                      </a:solidFill>
                    </a:lnR>
                    <a:lnT w="720">
                      <a:solidFill>
                        <a:srgbClr val="FFFFFF"/>
                      </a:solidFill>
                    </a:lnT>
                    <a:lnB w="720">
                      <a:solidFill>
                        <a:srgbClr val="FFFFFF"/>
                      </a:solidFill>
                    </a:lnB>
                    <a:solidFill>
                      <a:srgbClr val="E6E6E6"/>
                    </a:solidFill>
                  </a:tcPr>
                </a:tc>
                <a:extLst>
                  <a:ext uri="{0D108BD9-81ED-4DB2-BD59-A6C34878D82A}">
                    <a16:rowId xmlns:a16="http://schemas.microsoft.com/office/drawing/2014/main" val="10002"/>
                  </a:ext>
                </a:extLst>
              </a:tr>
              <a:tr h="390420">
                <a:tc>
                  <a:txBody>
                    <a:bodyPr/>
                    <a:lstStyle/>
                    <a:p>
                      <a:r>
                        <a:rPr lang="en-US" sz="1400" b="0" strike="noStrike" spc="-1" dirty="0">
                          <a:solidFill>
                            <a:srgbClr val="000000"/>
                          </a:solidFill>
                          <a:uFill>
                            <a:solidFill>
                              <a:srgbClr val="FFFFFF"/>
                            </a:solidFill>
                          </a:uFill>
                          <a:latin typeface="Arial"/>
                        </a:rPr>
                        <a:t>SCL, SDA</a:t>
                      </a:r>
                    </a:p>
                  </a:txBody>
                  <a:tcPr marL="67500" marR="67500" marT="34290" marB="3429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lstStyle/>
                    <a:p>
                      <a:r>
                        <a:rPr lang="en-US" sz="1400" b="0" strike="noStrike" spc="-1" dirty="0">
                          <a:solidFill>
                            <a:srgbClr val="000000"/>
                          </a:solidFill>
                          <a:uFill>
                            <a:solidFill>
                              <a:srgbClr val="FFFFFF"/>
                            </a:solidFill>
                          </a:uFill>
                          <a:latin typeface="Arial"/>
                        </a:rPr>
                        <a:t>I2C</a:t>
                      </a:r>
                      <a:r>
                        <a:rPr lang="zh-TW" altLang="en-US" sz="1400" b="0" strike="noStrike" spc="-1" dirty="0">
                          <a:solidFill>
                            <a:srgbClr val="000000"/>
                          </a:solidFill>
                          <a:uFill>
                            <a:solidFill>
                              <a:srgbClr val="FFFFFF"/>
                            </a:solidFill>
                          </a:uFill>
                          <a:latin typeface="Arial"/>
                        </a:rPr>
                        <a:t>通訊介面</a:t>
                      </a:r>
                      <a:r>
                        <a:rPr lang="en-US" altLang="zh-TW" sz="1400" b="0" strike="noStrike" spc="-1" dirty="0">
                          <a:solidFill>
                            <a:srgbClr val="000000"/>
                          </a:solidFill>
                          <a:uFill>
                            <a:solidFill>
                              <a:srgbClr val="FFFFFF"/>
                            </a:solidFill>
                          </a:uFill>
                          <a:latin typeface="Arial"/>
                        </a:rPr>
                        <a:t>, </a:t>
                      </a:r>
                      <a:r>
                        <a:rPr lang="zh-TW" altLang="en-US" sz="1400" b="0" strike="noStrike" spc="-1" dirty="0">
                          <a:solidFill>
                            <a:srgbClr val="000000"/>
                          </a:solidFill>
                          <a:uFill>
                            <a:solidFill>
                              <a:srgbClr val="FFFFFF"/>
                            </a:solidFill>
                          </a:uFill>
                          <a:latin typeface="Arial"/>
                        </a:rPr>
                        <a:t>對映</a:t>
                      </a:r>
                      <a:r>
                        <a:rPr lang="en-US" altLang="zh-TW" sz="1400" b="0" strike="noStrike" spc="-1" dirty="0">
                          <a:solidFill>
                            <a:srgbClr val="000000"/>
                          </a:solidFill>
                          <a:uFill>
                            <a:solidFill>
                              <a:srgbClr val="FFFFFF"/>
                            </a:solidFill>
                          </a:uFill>
                          <a:latin typeface="Arial"/>
                        </a:rPr>
                        <a:t>GP21, 20</a:t>
                      </a:r>
                      <a:endParaRPr lang="en-US" sz="1400" b="0" strike="noStrike" spc="-1" dirty="0">
                        <a:solidFill>
                          <a:srgbClr val="000000"/>
                        </a:solidFill>
                        <a:uFill>
                          <a:solidFill>
                            <a:srgbClr val="FFFFFF"/>
                          </a:solidFill>
                        </a:uFill>
                        <a:latin typeface="Arial"/>
                      </a:endParaRPr>
                    </a:p>
                  </a:txBody>
                  <a:tcPr marL="67500" marR="67500" marT="34290" marB="34290">
                    <a:lnL w="720">
                      <a:solidFill>
                        <a:srgbClr val="FFFFFF"/>
                      </a:solidFill>
                    </a:lnL>
                    <a:lnR w="720">
                      <a:solidFill>
                        <a:srgbClr val="FFFFFF"/>
                      </a:solidFill>
                    </a:lnR>
                    <a:lnT w="720">
                      <a:solidFill>
                        <a:srgbClr val="FFFFFF"/>
                      </a:solidFill>
                    </a:lnT>
                    <a:lnB w="720">
                      <a:solidFill>
                        <a:srgbClr val="FFFFFF"/>
                      </a:solidFill>
                    </a:lnB>
                    <a:solidFill>
                      <a:srgbClr val="CCCCCC"/>
                    </a:solidFill>
                  </a:tcPr>
                </a:tc>
                <a:extLst>
                  <a:ext uri="{0D108BD9-81ED-4DB2-BD59-A6C34878D82A}">
                    <a16:rowId xmlns:a16="http://schemas.microsoft.com/office/drawing/2014/main" val="10003"/>
                  </a:ext>
                </a:extLst>
              </a:tr>
              <a:tr h="390420">
                <a:tc>
                  <a:txBody>
                    <a:bodyPr/>
                    <a:lstStyle/>
                    <a:p>
                      <a:r>
                        <a:rPr lang="en-US" sz="1400" b="0" strike="noStrike" spc="-1" dirty="0">
                          <a:solidFill>
                            <a:srgbClr val="000000"/>
                          </a:solidFill>
                          <a:uFill>
                            <a:solidFill>
                              <a:srgbClr val="FFFFFF"/>
                            </a:solidFill>
                          </a:uFill>
                          <a:latin typeface="Arial"/>
                        </a:rPr>
                        <a:t>SCLK, MOSI, MISO, CS</a:t>
                      </a:r>
                    </a:p>
                  </a:txBody>
                  <a:tcPr marL="67500" marR="67500" marT="34290" marB="3429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a:lstStyle/>
                    <a:p>
                      <a:r>
                        <a:rPr lang="en-US" sz="1400" b="0" strike="noStrike" spc="-1" dirty="0">
                          <a:solidFill>
                            <a:srgbClr val="000000"/>
                          </a:solidFill>
                          <a:uFill>
                            <a:solidFill>
                              <a:srgbClr val="FFFFFF"/>
                            </a:solidFill>
                          </a:uFill>
                          <a:latin typeface="Arial"/>
                        </a:rPr>
                        <a:t>SPI</a:t>
                      </a:r>
                      <a:r>
                        <a:rPr lang="zh-TW" altLang="en-US" sz="1400" b="0" strike="noStrike" spc="-1" dirty="0">
                          <a:solidFill>
                            <a:srgbClr val="000000"/>
                          </a:solidFill>
                          <a:uFill>
                            <a:solidFill>
                              <a:srgbClr val="FFFFFF"/>
                            </a:solidFill>
                          </a:uFill>
                          <a:latin typeface="Arial"/>
                        </a:rPr>
                        <a:t>通訊介面</a:t>
                      </a:r>
                      <a:r>
                        <a:rPr lang="en-US" altLang="zh-TW" sz="1400" b="0" strike="noStrike" spc="-1" dirty="0">
                          <a:solidFill>
                            <a:srgbClr val="000000"/>
                          </a:solidFill>
                          <a:uFill>
                            <a:solidFill>
                              <a:srgbClr val="FFFFFF"/>
                            </a:solidFill>
                          </a:uFill>
                          <a:latin typeface="Arial"/>
                        </a:rPr>
                        <a:t>, </a:t>
                      </a:r>
                      <a:r>
                        <a:rPr lang="zh-TW" altLang="en-US" sz="1400" b="0" strike="noStrike" spc="-1" dirty="0">
                          <a:solidFill>
                            <a:srgbClr val="000000"/>
                          </a:solidFill>
                          <a:uFill>
                            <a:solidFill>
                              <a:srgbClr val="FFFFFF"/>
                            </a:solidFill>
                          </a:uFill>
                          <a:latin typeface="Arial"/>
                        </a:rPr>
                        <a:t>對映</a:t>
                      </a:r>
                      <a:r>
                        <a:rPr lang="en-US" altLang="zh-TW" sz="1400" b="0" strike="noStrike" spc="-1" dirty="0">
                          <a:solidFill>
                            <a:srgbClr val="000000"/>
                          </a:solidFill>
                          <a:uFill>
                            <a:solidFill>
                              <a:srgbClr val="FFFFFF"/>
                            </a:solidFill>
                          </a:uFill>
                          <a:latin typeface="Arial"/>
                        </a:rPr>
                        <a:t>GP18, 19, 16, 17</a:t>
                      </a:r>
                      <a:endParaRPr lang="en-US" sz="1400" b="0" strike="noStrike" spc="-1" dirty="0">
                        <a:solidFill>
                          <a:srgbClr val="000000"/>
                        </a:solidFill>
                        <a:uFill>
                          <a:solidFill>
                            <a:srgbClr val="FFFFFF"/>
                          </a:solidFill>
                        </a:uFill>
                        <a:latin typeface="Arial"/>
                      </a:endParaRPr>
                    </a:p>
                  </a:txBody>
                  <a:tcPr marL="67500" marR="67500" marT="34290" marB="34290">
                    <a:lnL w="720">
                      <a:solidFill>
                        <a:srgbClr val="FFFFFF"/>
                      </a:solidFill>
                    </a:lnL>
                    <a:lnR w="720">
                      <a:solidFill>
                        <a:srgbClr val="FFFFFF"/>
                      </a:solidFill>
                    </a:lnR>
                    <a:lnT w="720">
                      <a:solidFill>
                        <a:srgbClr val="FFFFFF"/>
                      </a:solidFill>
                    </a:lnT>
                    <a:lnB w="720">
                      <a:solidFill>
                        <a:srgbClr val="FFFFFF"/>
                      </a:solidFill>
                    </a:lnB>
                    <a:solidFill>
                      <a:srgbClr val="E6E6E6"/>
                    </a:solidFill>
                  </a:tcPr>
                </a:tc>
                <a:extLst>
                  <a:ext uri="{0D108BD9-81ED-4DB2-BD59-A6C34878D82A}">
                    <a16:rowId xmlns:a16="http://schemas.microsoft.com/office/drawing/2014/main" val="10004"/>
                  </a:ext>
                </a:extLst>
              </a:tr>
              <a:tr h="390420">
                <a:tc>
                  <a:txBody>
                    <a:bodyPr/>
                    <a:lstStyle/>
                    <a:p>
                      <a:r>
                        <a:rPr lang="en-US" sz="1400" b="0" strike="noStrike" spc="-1" dirty="0">
                          <a:solidFill>
                            <a:srgbClr val="000000"/>
                          </a:solidFill>
                          <a:uFill>
                            <a:solidFill>
                              <a:srgbClr val="FFFFFF"/>
                            </a:solidFill>
                          </a:uFill>
                          <a:latin typeface="Arial"/>
                        </a:rPr>
                        <a:t>M1_A, M1_B, M2_A, M2_B</a:t>
                      </a:r>
                    </a:p>
                  </a:txBody>
                  <a:tcPr marL="67500" marR="67500" marT="34290" marB="3429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lstStyle/>
                    <a:p>
                      <a:r>
                        <a:rPr lang="zh-TW" altLang="en-US" sz="1400" b="0" strike="noStrike" spc="-1" dirty="0">
                          <a:solidFill>
                            <a:srgbClr val="000000"/>
                          </a:solidFill>
                          <a:uFill>
                            <a:solidFill>
                              <a:srgbClr val="FFFFFF"/>
                            </a:solidFill>
                          </a:uFill>
                          <a:latin typeface="Arial"/>
                        </a:rPr>
                        <a:t>電機接口</a:t>
                      </a:r>
                      <a:r>
                        <a:rPr lang="en-US" altLang="zh-TW" sz="1400" b="0" strike="noStrike" spc="-1" dirty="0">
                          <a:solidFill>
                            <a:srgbClr val="000000"/>
                          </a:solidFill>
                          <a:uFill>
                            <a:solidFill>
                              <a:srgbClr val="FFFFFF"/>
                            </a:solidFill>
                          </a:uFill>
                          <a:latin typeface="Arial"/>
                        </a:rPr>
                        <a:t>, </a:t>
                      </a:r>
                      <a:r>
                        <a:rPr lang="zh-TW" altLang="en-US" sz="1400" b="0" strike="noStrike" spc="-1" dirty="0">
                          <a:solidFill>
                            <a:srgbClr val="000000"/>
                          </a:solidFill>
                          <a:uFill>
                            <a:solidFill>
                              <a:srgbClr val="FFFFFF"/>
                            </a:solidFill>
                          </a:uFill>
                          <a:latin typeface="Arial"/>
                        </a:rPr>
                        <a:t>對映</a:t>
                      </a:r>
                      <a:r>
                        <a:rPr lang="en-US" altLang="zh-TW" sz="1400" b="0" strike="noStrike" spc="-1" dirty="0">
                          <a:solidFill>
                            <a:srgbClr val="000000"/>
                          </a:solidFill>
                          <a:uFill>
                            <a:solidFill>
                              <a:srgbClr val="FFFFFF"/>
                            </a:solidFill>
                          </a:uFill>
                          <a:latin typeface="Arial"/>
                        </a:rPr>
                        <a:t>GP9, 8, 11, 10</a:t>
                      </a:r>
                      <a:endParaRPr lang="en-US" sz="1400" b="0" strike="noStrike" spc="-1" dirty="0">
                        <a:solidFill>
                          <a:srgbClr val="000000"/>
                        </a:solidFill>
                        <a:uFill>
                          <a:solidFill>
                            <a:srgbClr val="FFFFFF"/>
                          </a:solidFill>
                        </a:uFill>
                        <a:latin typeface="Arial"/>
                      </a:endParaRPr>
                    </a:p>
                  </a:txBody>
                  <a:tcPr marL="67500" marR="67500" marT="34290" marB="34290">
                    <a:lnL w="720">
                      <a:solidFill>
                        <a:srgbClr val="FFFFFF"/>
                      </a:solidFill>
                    </a:lnL>
                    <a:lnR w="720">
                      <a:solidFill>
                        <a:srgbClr val="FFFFFF"/>
                      </a:solidFill>
                    </a:lnR>
                    <a:lnT w="720">
                      <a:solidFill>
                        <a:srgbClr val="FFFFFF"/>
                      </a:solidFill>
                    </a:lnT>
                    <a:lnB w="720">
                      <a:solidFill>
                        <a:srgbClr val="FFFFFF"/>
                      </a:solidFill>
                    </a:lnB>
                    <a:solidFill>
                      <a:srgbClr val="CCCCCC"/>
                    </a:solidFill>
                  </a:tcPr>
                </a:tc>
                <a:extLst>
                  <a:ext uri="{0D108BD9-81ED-4DB2-BD59-A6C34878D82A}">
                    <a16:rowId xmlns:a16="http://schemas.microsoft.com/office/drawing/2014/main" val="10005"/>
                  </a:ext>
                </a:extLst>
              </a:tr>
              <a:tr h="390420">
                <a:tc>
                  <a:txBody>
                    <a:bodyPr/>
                    <a:lstStyle/>
                    <a:p>
                      <a:r>
                        <a:rPr lang="en-US" sz="1400" b="0" strike="noStrike" spc="-1" dirty="0">
                          <a:solidFill>
                            <a:srgbClr val="000000"/>
                          </a:solidFill>
                          <a:uFill>
                            <a:solidFill>
                              <a:srgbClr val="FFFFFF"/>
                            </a:solidFill>
                          </a:uFill>
                          <a:latin typeface="Arial"/>
                        </a:rPr>
                        <a:t>SERVO1, SERVO2</a:t>
                      </a:r>
                    </a:p>
                  </a:txBody>
                  <a:tcPr marL="67500" marR="67500" marT="34290" marB="3429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a:lstStyle/>
                    <a:p>
                      <a:r>
                        <a:rPr lang="zh-TW" altLang="en-US" sz="1400" b="0" strike="noStrike" spc="-1" dirty="0">
                          <a:solidFill>
                            <a:srgbClr val="000000"/>
                          </a:solidFill>
                          <a:uFill>
                            <a:solidFill>
                              <a:srgbClr val="FFFFFF"/>
                            </a:solidFill>
                          </a:uFill>
                          <a:latin typeface="Arial"/>
                        </a:rPr>
                        <a:t>舵機接口</a:t>
                      </a:r>
                      <a:r>
                        <a:rPr lang="en-US" altLang="zh-TW" sz="1400" b="0" strike="noStrike" spc="-1" dirty="0">
                          <a:solidFill>
                            <a:srgbClr val="000000"/>
                          </a:solidFill>
                          <a:uFill>
                            <a:solidFill>
                              <a:srgbClr val="FFFFFF"/>
                            </a:solidFill>
                          </a:uFill>
                          <a:latin typeface="Arial"/>
                        </a:rPr>
                        <a:t>, </a:t>
                      </a:r>
                      <a:r>
                        <a:rPr lang="zh-TW" altLang="en-US" sz="1400" b="0" strike="noStrike" spc="-1" dirty="0">
                          <a:solidFill>
                            <a:srgbClr val="000000"/>
                          </a:solidFill>
                          <a:uFill>
                            <a:solidFill>
                              <a:srgbClr val="FFFFFF"/>
                            </a:solidFill>
                          </a:uFill>
                          <a:latin typeface="Arial"/>
                        </a:rPr>
                        <a:t>對映</a:t>
                      </a:r>
                      <a:r>
                        <a:rPr lang="en-US" altLang="zh-TW" sz="1400" b="0" strike="noStrike" spc="-1" dirty="0">
                          <a:solidFill>
                            <a:srgbClr val="000000"/>
                          </a:solidFill>
                          <a:uFill>
                            <a:solidFill>
                              <a:srgbClr val="FFFFFF"/>
                            </a:solidFill>
                          </a:uFill>
                          <a:latin typeface="Arial"/>
                        </a:rPr>
                        <a:t>GP6, 7</a:t>
                      </a:r>
                      <a:endParaRPr lang="en-US" sz="1400" b="0" strike="noStrike" spc="-1" dirty="0">
                        <a:solidFill>
                          <a:srgbClr val="000000"/>
                        </a:solidFill>
                        <a:uFill>
                          <a:solidFill>
                            <a:srgbClr val="FFFFFF"/>
                          </a:solidFill>
                        </a:uFill>
                        <a:latin typeface="Arial"/>
                      </a:endParaRPr>
                    </a:p>
                  </a:txBody>
                  <a:tcPr marL="67500" marR="67500" marT="34290" marB="34290">
                    <a:lnL w="720">
                      <a:solidFill>
                        <a:srgbClr val="FFFFFF"/>
                      </a:solidFill>
                    </a:lnL>
                    <a:lnR w="720">
                      <a:solidFill>
                        <a:srgbClr val="FFFFFF"/>
                      </a:solidFill>
                    </a:lnR>
                    <a:lnT w="720">
                      <a:solidFill>
                        <a:srgbClr val="FFFFFF"/>
                      </a:solidFill>
                    </a:lnT>
                    <a:lnB w="720">
                      <a:solidFill>
                        <a:srgbClr val="FFFFFF"/>
                      </a:solidFill>
                    </a:lnB>
                    <a:solidFill>
                      <a:srgbClr val="E6E6E6"/>
                    </a:solidFill>
                  </a:tcPr>
                </a:tc>
                <a:extLst>
                  <a:ext uri="{0D108BD9-81ED-4DB2-BD59-A6C34878D82A}">
                    <a16:rowId xmlns:a16="http://schemas.microsoft.com/office/drawing/2014/main" val="10006"/>
                  </a:ext>
                </a:extLst>
              </a:tr>
              <a:tr h="390420">
                <a:tc>
                  <a:txBody>
                    <a:bodyPr/>
                    <a:lstStyle/>
                    <a:p>
                      <a:r>
                        <a:rPr lang="en-US" sz="1400" b="0" strike="noStrike" spc="-1" dirty="0">
                          <a:solidFill>
                            <a:srgbClr val="000000"/>
                          </a:solidFill>
                          <a:uFill>
                            <a:solidFill>
                              <a:srgbClr val="FFFFFF"/>
                            </a:solidFill>
                          </a:uFill>
                          <a:latin typeface="Arial"/>
                        </a:rPr>
                        <a:t>BUZZER</a:t>
                      </a:r>
                    </a:p>
                  </a:txBody>
                  <a:tcPr marL="67500" marR="67500" marT="34290" marB="3429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lstStyle/>
                    <a:p>
                      <a:r>
                        <a:rPr lang="zh-TW" altLang="en-US" sz="1400" b="0" strike="noStrike" spc="-1" dirty="0">
                          <a:solidFill>
                            <a:srgbClr val="000000"/>
                          </a:solidFill>
                          <a:uFill>
                            <a:solidFill>
                              <a:srgbClr val="FFFFFF"/>
                            </a:solidFill>
                          </a:uFill>
                          <a:latin typeface="Arial"/>
                        </a:rPr>
                        <a:t>蜂鳴器</a:t>
                      </a:r>
                      <a:r>
                        <a:rPr lang="en-US" altLang="zh-TW" sz="1400" b="0" strike="noStrike" spc="-1" dirty="0">
                          <a:solidFill>
                            <a:srgbClr val="000000"/>
                          </a:solidFill>
                          <a:uFill>
                            <a:solidFill>
                              <a:srgbClr val="FFFFFF"/>
                            </a:solidFill>
                          </a:uFill>
                          <a:latin typeface="Arial"/>
                        </a:rPr>
                        <a:t>, </a:t>
                      </a:r>
                      <a:r>
                        <a:rPr lang="zh-TW" altLang="en-US" sz="1400" b="0" strike="noStrike" spc="-1" dirty="0">
                          <a:solidFill>
                            <a:srgbClr val="000000"/>
                          </a:solidFill>
                          <a:uFill>
                            <a:solidFill>
                              <a:srgbClr val="FFFFFF"/>
                            </a:solidFill>
                          </a:uFill>
                          <a:latin typeface="Arial"/>
                        </a:rPr>
                        <a:t>對映</a:t>
                      </a:r>
                      <a:r>
                        <a:rPr lang="en-US" altLang="zh-TW" sz="1400" b="0" strike="noStrike" spc="-1" dirty="0">
                          <a:solidFill>
                            <a:srgbClr val="000000"/>
                          </a:solidFill>
                          <a:uFill>
                            <a:solidFill>
                              <a:srgbClr val="FFFFFF"/>
                            </a:solidFill>
                          </a:uFill>
                          <a:latin typeface="Arial"/>
                        </a:rPr>
                        <a:t>GP22</a:t>
                      </a:r>
                      <a:r>
                        <a:rPr lang="en-US" sz="1400" b="0" strike="noStrike" spc="-1" dirty="0">
                          <a:solidFill>
                            <a:srgbClr val="000000"/>
                          </a:solidFill>
                          <a:uFill>
                            <a:solidFill>
                              <a:srgbClr val="FFFFFF"/>
                            </a:solidFill>
                          </a:uFill>
                          <a:latin typeface="Arial"/>
                        </a:rPr>
                        <a:t> </a:t>
                      </a:r>
                    </a:p>
                  </a:txBody>
                  <a:tcPr marL="67500" marR="67500" marT="34290" marB="34290">
                    <a:lnL w="720">
                      <a:solidFill>
                        <a:srgbClr val="FFFFFF"/>
                      </a:solidFill>
                    </a:lnL>
                    <a:lnR w="720">
                      <a:solidFill>
                        <a:srgbClr val="FFFFFF"/>
                      </a:solidFill>
                    </a:lnR>
                    <a:lnT w="720">
                      <a:solidFill>
                        <a:srgbClr val="FFFFFF"/>
                      </a:solidFill>
                    </a:lnT>
                    <a:lnB w="720">
                      <a:solidFill>
                        <a:srgbClr val="FFFFFF"/>
                      </a:solidFill>
                    </a:lnB>
                    <a:solidFill>
                      <a:srgbClr val="CCCCCC"/>
                    </a:solidFill>
                  </a:tcPr>
                </a:tc>
                <a:extLst>
                  <a:ext uri="{0D108BD9-81ED-4DB2-BD59-A6C34878D82A}">
                    <a16:rowId xmlns:a16="http://schemas.microsoft.com/office/drawing/2014/main" val="10007"/>
                  </a:ext>
                </a:extLst>
              </a:tr>
              <a:tr h="391770">
                <a:tc>
                  <a:txBody>
                    <a:bodyPr/>
                    <a:lstStyle/>
                    <a:p>
                      <a:r>
                        <a:rPr lang="en-US" sz="1400" b="0" strike="noStrike" spc="-1" dirty="0">
                          <a:solidFill>
                            <a:srgbClr val="000000"/>
                          </a:solidFill>
                          <a:uFill>
                            <a:solidFill>
                              <a:srgbClr val="FFFFFF"/>
                            </a:solidFill>
                          </a:uFill>
                          <a:latin typeface="Arial"/>
                        </a:rPr>
                        <a:t>SDCARD </a:t>
                      </a:r>
                    </a:p>
                  </a:txBody>
                  <a:tcPr marL="67500" marR="67500" marT="34290" marB="3429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a:lstStyle/>
                    <a:p>
                      <a:r>
                        <a:rPr lang="zh-TW" altLang="en-US" sz="1400" b="0" strike="noStrike" spc="-1" dirty="0">
                          <a:solidFill>
                            <a:srgbClr val="000000"/>
                          </a:solidFill>
                          <a:uFill>
                            <a:solidFill>
                              <a:srgbClr val="FFFFFF"/>
                            </a:solidFill>
                          </a:uFill>
                          <a:latin typeface="Arial"/>
                        </a:rPr>
                        <a:t>內建</a:t>
                      </a:r>
                      <a:r>
                        <a:rPr lang="en-US" altLang="zh-TW" sz="1400" b="0" strike="noStrike" spc="-1" dirty="0">
                          <a:solidFill>
                            <a:srgbClr val="000000"/>
                          </a:solidFill>
                          <a:uFill>
                            <a:solidFill>
                              <a:srgbClr val="FFFFFF"/>
                            </a:solidFill>
                          </a:uFill>
                          <a:latin typeface="Arial"/>
                        </a:rPr>
                        <a:t>TF</a:t>
                      </a:r>
                      <a:r>
                        <a:rPr lang="zh-TW" altLang="en-US" sz="1400" b="0" strike="noStrike" spc="-1" dirty="0">
                          <a:solidFill>
                            <a:srgbClr val="000000"/>
                          </a:solidFill>
                          <a:uFill>
                            <a:solidFill>
                              <a:srgbClr val="FFFFFF"/>
                            </a:solidFill>
                          </a:uFill>
                          <a:latin typeface="Arial"/>
                        </a:rPr>
                        <a:t>卡腳位</a:t>
                      </a:r>
                      <a:r>
                        <a:rPr lang="en-US" altLang="zh-TW" sz="1400" b="0" strike="noStrike" spc="-1" dirty="0">
                          <a:solidFill>
                            <a:srgbClr val="000000"/>
                          </a:solidFill>
                          <a:uFill>
                            <a:solidFill>
                              <a:srgbClr val="FFFFFF"/>
                            </a:solidFill>
                          </a:uFill>
                          <a:latin typeface="Arial"/>
                        </a:rPr>
                        <a:t>, </a:t>
                      </a:r>
                      <a:r>
                        <a:rPr lang="zh-TW" altLang="en-US" sz="1400" b="0" strike="noStrike" spc="-1" dirty="0">
                          <a:solidFill>
                            <a:srgbClr val="000000"/>
                          </a:solidFill>
                          <a:uFill>
                            <a:solidFill>
                              <a:srgbClr val="FFFFFF"/>
                            </a:solidFill>
                          </a:uFill>
                          <a:latin typeface="Arial"/>
                        </a:rPr>
                        <a:t>對映</a:t>
                      </a:r>
                      <a:r>
                        <a:rPr lang="en-US" altLang="zh-TW" sz="1400" b="0" strike="noStrike" spc="-1" dirty="0">
                          <a:solidFill>
                            <a:srgbClr val="000000"/>
                          </a:solidFill>
                          <a:uFill>
                            <a:solidFill>
                              <a:srgbClr val="FFFFFF"/>
                            </a:solidFill>
                          </a:uFill>
                          <a:latin typeface="Arial"/>
                        </a:rPr>
                        <a:t>GP5</a:t>
                      </a:r>
                      <a:endParaRPr lang="en-US" sz="1400" b="0" strike="noStrike" spc="-1" dirty="0">
                        <a:solidFill>
                          <a:srgbClr val="000000"/>
                        </a:solidFill>
                        <a:uFill>
                          <a:solidFill>
                            <a:srgbClr val="FFFFFF"/>
                          </a:solidFill>
                        </a:uFill>
                        <a:latin typeface="Arial"/>
                      </a:endParaRPr>
                    </a:p>
                  </a:txBody>
                  <a:tcPr marL="67500" marR="67500" marT="34290" marB="34290">
                    <a:lnL w="720">
                      <a:solidFill>
                        <a:srgbClr val="FFFFFF"/>
                      </a:solidFill>
                    </a:lnL>
                    <a:lnR w="720">
                      <a:solidFill>
                        <a:srgbClr val="FFFFFF"/>
                      </a:solidFill>
                    </a:lnR>
                    <a:lnT w="720">
                      <a:solidFill>
                        <a:srgbClr val="FFFFFF"/>
                      </a:solidFill>
                    </a:lnT>
                    <a:lnB w="720">
                      <a:solidFill>
                        <a:srgbClr val="FFFFFF"/>
                      </a:solidFill>
                    </a:lnB>
                    <a:solidFill>
                      <a:srgbClr val="E6E6E6"/>
                    </a:solidFill>
                  </a:tcPr>
                </a:tc>
                <a:extLst>
                  <a:ext uri="{0D108BD9-81ED-4DB2-BD59-A6C34878D82A}">
                    <a16:rowId xmlns:a16="http://schemas.microsoft.com/office/drawing/2014/main" val="10008"/>
                  </a:ext>
                </a:extLst>
              </a:tr>
            </a:tbl>
          </a:graphicData>
        </a:graphic>
      </p:graphicFrame>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CustomShape 1"/>
          <p:cNvSpPr/>
          <p:nvPr/>
        </p:nvSpPr>
        <p:spPr>
          <a:xfrm>
            <a:off x="628920" y="471600"/>
            <a:ext cx="7886160" cy="495450"/>
          </a:xfrm>
          <a:prstGeom prst="rect">
            <a:avLst/>
          </a:prstGeom>
          <a:noFill/>
          <a:ln>
            <a:noFill/>
          </a:ln>
        </p:spPr>
        <p:style>
          <a:lnRef idx="0">
            <a:scrgbClr r="0" g="0" b="0"/>
          </a:lnRef>
          <a:fillRef idx="0">
            <a:scrgbClr r="0" g="0" b="0"/>
          </a:fillRef>
          <a:effectRef idx="0">
            <a:scrgbClr r="0" g="0" b="0"/>
          </a:effectRef>
          <a:fontRef idx="minor"/>
        </p:style>
        <p:txBody>
          <a:bodyPr lIns="67500" tIns="33750" rIns="67500" bIns="33750"/>
          <a:lstStyle/>
          <a:p>
            <a:pPr>
              <a:lnSpc>
                <a:spcPct val="100000"/>
              </a:lnSpc>
            </a:pPr>
            <a:r>
              <a:rPr lang="en-US" sz="3600" spc="-1" dirty="0">
                <a:solidFill>
                  <a:srgbClr val="000000"/>
                </a:solidFill>
                <a:uFill>
                  <a:solidFill>
                    <a:srgbClr val="FFFFFF"/>
                  </a:solidFill>
                </a:uFill>
                <a:latin typeface="Adobe 繁黑體 Std B"/>
                <a:ea typeface="Adobe 繁黑體 Std B"/>
              </a:rPr>
              <a:t>PICO X2 </a:t>
            </a:r>
            <a:r>
              <a:rPr lang="en-US" sz="3600" spc="-1" dirty="0" err="1">
                <a:solidFill>
                  <a:srgbClr val="000000"/>
                </a:solidFill>
                <a:uFill>
                  <a:solidFill>
                    <a:srgbClr val="FFFFFF"/>
                  </a:solidFill>
                </a:uFill>
                <a:latin typeface="Adobe 繁黑體 Std B"/>
                <a:ea typeface="Adobe 繁黑體 Std B"/>
              </a:rPr>
              <a:t>腳位</a:t>
            </a:r>
            <a:r>
              <a:rPr lang="zh-TW" altLang="en-US" sz="3600" spc="-1" dirty="0">
                <a:solidFill>
                  <a:srgbClr val="000000"/>
                </a:solidFill>
                <a:uFill>
                  <a:solidFill>
                    <a:srgbClr val="FFFFFF"/>
                  </a:solidFill>
                </a:uFill>
                <a:latin typeface="Adobe 繁黑體 Std B"/>
                <a:ea typeface="Adobe 繁黑體 Std B"/>
              </a:rPr>
              <a:t>名稱及定義</a:t>
            </a:r>
            <a:endParaRPr lang="en-US" sz="3600" spc="-1" dirty="0">
              <a:solidFill>
                <a:srgbClr val="000000"/>
              </a:solidFill>
              <a:uFill>
                <a:solidFill>
                  <a:srgbClr val="FFFFFF"/>
                </a:solidFill>
              </a:uFill>
              <a:latin typeface="Arial"/>
            </a:endParaRPr>
          </a:p>
        </p:txBody>
      </p:sp>
      <p:graphicFrame>
        <p:nvGraphicFramePr>
          <p:cNvPr id="105" name="Table 2"/>
          <p:cNvGraphicFramePr/>
          <p:nvPr/>
        </p:nvGraphicFramePr>
        <p:xfrm>
          <a:off x="720790" y="1721249"/>
          <a:ext cx="7669763" cy="2760946"/>
        </p:xfrm>
        <a:graphic>
          <a:graphicData uri="http://schemas.openxmlformats.org/drawingml/2006/table">
            <a:tbl>
              <a:tblPr/>
              <a:tblGrid>
                <a:gridCol w="2442573">
                  <a:extLst>
                    <a:ext uri="{9D8B030D-6E8A-4147-A177-3AD203B41FA5}">
                      <a16:colId xmlns:a16="http://schemas.microsoft.com/office/drawing/2014/main" val="20000"/>
                    </a:ext>
                  </a:extLst>
                </a:gridCol>
                <a:gridCol w="5227190">
                  <a:extLst>
                    <a:ext uri="{9D8B030D-6E8A-4147-A177-3AD203B41FA5}">
                      <a16:colId xmlns:a16="http://schemas.microsoft.com/office/drawing/2014/main" val="20001"/>
                    </a:ext>
                  </a:extLst>
                </a:gridCol>
              </a:tblGrid>
              <a:tr h="573611">
                <a:tc>
                  <a:txBody>
                    <a:bodyPr/>
                    <a:lstStyle/>
                    <a:p>
                      <a:r>
                        <a:rPr lang="en-US" sz="1400" b="0" strike="noStrike" spc="-1" dirty="0">
                          <a:solidFill>
                            <a:srgbClr val="000000"/>
                          </a:solidFill>
                          <a:uFill>
                            <a:solidFill>
                              <a:srgbClr val="FFFFFF"/>
                            </a:solidFill>
                          </a:uFill>
                          <a:latin typeface="Arial"/>
                        </a:rPr>
                        <a:t>SENSOR1_TRIG, SENSOR1_ECHO</a:t>
                      </a:r>
                    </a:p>
                  </a:txBody>
                  <a:tcPr marL="67500" marR="67500" marT="34290" marB="34290">
                    <a:lnL w="720">
                      <a:solidFill>
                        <a:srgbClr val="FFFFFF"/>
                      </a:solidFill>
                    </a:lnL>
                    <a:lnR w="720">
                      <a:solidFill>
                        <a:srgbClr val="FFFFFF"/>
                      </a:solidFill>
                    </a:lnR>
                    <a:lnT w="720">
                      <a:solidFill>
                        <a:srgbClr val="FFFFFF"/>
                      </a:solidFill>
                    </a:lnT>
                    <a:lnB w="720">
                      <a:solidFill>
                        <a:srgbClr val="FFFFFF"/>
                      </a:solidFill>
                    </a:lnB>
                    <a:solidFill>
                      <a:srgbClr val="B3B3B3"/>
                    </a:solidFill>
                  </a:tcPr>
                </a:tc>
                <a:tc>
                  <a:txBody>
                    <a:bodyPr/>
                    <a:lstStyle/>
                    <a:p>
                      <a:r>
                        <a:rPr lang="zh-TW" altLang="en-US" sz="1400" b="0" strike="noStrike" spc="-1" dirty="0">
                          <a:solidFill>
                            <a:srgbClr val="000000"/>
                          </a:solidFill>
                          <a:uFill>
                            <a:solidFill>
                              <a:srgbClr val="FFFFFF"/>
                            </a:solidFill>
                          </a:uFill>
                          <a:latin typeface="Arial"/>
                        </a:rPr>
                        <a:t>感測器接口</a:t>
                      </a:r>
                      <a:r>
                        <a:rPr lang="en-US" altLang="zh-TW" sz="1400" b="0" strike="noStrike" spc="-1" dirty="0">
                          <a:solidFill>
                            <a:srgbClr val="000000"/>
                          </a:solidFill>
                          <a:uFill>
                            <a:solidFill>
                              <a:srgbClr val="FFFFFF"/>
                            </a:solidFill>
                          </a:uFill>
                          <a:latin typeface="Arial"/>
                        </a:rPr>
                        <a:t>(1), </a:t>
                      </a:r>
                      <a:r>
                        <a:rPr lang="zh-TW" altLang="en-US" sz="1400" b="0" strike="noStrike" spc="-1" dirty="0">
                          <a:solidFill>
                            <a:srgbClr val="000000"/>
                          </a:solidFill>
                          <a:uFill>
                            <a:solidFill>
                              <a:srgbClr val="FFFFFF"/>
                            </a:solidFill>
                          </a:uFill>
                          <a:latin typeface="Arial"/>
                        </a:rPr>
                        <a:t>用於聲波測距感測器時定義</a:t>
                      </a:r>
                      <a:r>
                        <a:rPr lang="en-US" altLang="zh-TW" sz="1400" b="0" strike="noStrike" spc="-1" dirty="0">
                          <a:solidFill>
                            <a:srgbClr val="000000"/>
                          </a:solidFill>
                          <a:uFill>
                            <a:solidFill>
                              <a:srgbClr val="FFFFFF"/>
                            </a:solidFill>
                          </a:uFill>
                          <a:latin typeface="Arial"/>
                        </a:rPr>
                        <a:t>, </a:t>
                      </a:r>
                      <a:r>
                        <a:rPr lang="zh-TW" altLang="en-US" sz="1400" b="0" strike="noStrike" spc="-1" dirty="0">
                          <a:solidFill>
                            <a:srgbClr val="000000"/>
                          </a:solidFill>
                          <a:uFill>
                            <a:solidFill>
                              <a:srgbClr val="FFFFFF"/>
                            </a:solidFill>
                          </a:uFill>
                          <a:latin typeface="Arial"/>
                        </a:rPr>
                        <a:t>對映</a:t>
                      </a:r>
                      <a:r>
                        <a:rPr lang="en-US" altLang="zh-TW" sz="1400" b="0" strike="noStrike" spc="-1" dirty="0">
                          <a:solidFill>
                            <a:srgbClr val="000000"/>
                          </a:solidFill>
                          <a:uFill>
                            <a:solidFill>
                              <a:srgbClr val="FFFFFF"/>
                            </a:solidFill>
                          </a:uFill>
                          <a:latin typeface="Arial"/>
                        </a:rPr>
                        <a:t>GP12, 13</a:t>
                      </a:r>
                      <a:endParaRPr lang="en-US" sz="1400" b="0" strike="noStrike" spc="-1" dirty="0">
                        <a:solidFill>
                          <a:srgbClr val="000000"/>
                        </a:solidFill>
                        <a:uFill>
                          <a:solidFill>
                            <a:srgbClr val="FFFFFF"/>
                          </a:solidFill>
                        </a:uFill>
                        <a:latin typeface="Arial"/>
                      </a:endParaRPr>
                    </a:p>
                  </a:txBody>
                  <a:tcPr marL="67500" marR="67500" marT="34290" marB="34290">
                    <a:lnL w="720">
                      <a:solidFill>
                        <a:srgbClr val="FFFFFF"/>
                      </a:solidFill>
                    </a:lnL>
                    <a:lnR w="720">
                      <a:solidFill>
                        <a:srgbClr val="FFFFFF"/>
                      </a:solidFill>
                    </a:lnR>
                    <a:lnT w="720">
                      <a:solidFill>
                        <a:srgbClr val="FFFFFF"/>
                      </a:solidFill>
                    </a:lnT>
                    <a:lnB w="720">
                      <a:solidFill>
                        <a:srgbClr val="FFFFFF"/>
                      </a:solidFill>
                    </a:lnB>
                    <a:solidFill>
                      <a:srgbClr val="B3B3B3"/>
                    </a:solidFill>
                  </a:tcPr>
                </a:tc>
                <a:extLst>
                  <a:ext uri="{0D108BD9-81ED-4DB2-BD59-A6C34878D82A}">
                    <a16:rowId xmlns:a16="http://schemas.microsoft.com/office/drawing/2014/main" val="10000"/>
                  </a:ext>
                </a:extLst>
              </a:tr>
              <a:tr h="57361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400" b="0" strike="noStrike" spc="-1" dirty="0">
                          <a:solidFill>
                            <a:srgbClr val="000000"/>
                          </a:solidFill>
                          <a:uFill>
                            <a:solidFill>
                              <a:srgbClr val="FFFFFF"/>
                            </a:solidFill>
                          </a:uFill>
                          <a:latin typeface="+mn-lt"/>
                        </a:rPr>
                        <a:t>SENSOR2_TRIG, SENSOR2_ECHO</a:t>
                      </a:r>
                    </a:p>
                  </a:txBody>
                  <a:tcPr marL="67500" marR="67500" marT="34290" marB="3429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lstStyle/>
                    <a:p>
                      <a:r>
                        <a:rPr lang="zh-TW" altLang="en-US" sz="1400" b="0" strike="noStrike" spc="-1" dirty="0">
                          <a:solidFill>
                            <a:srgbClr val="000000"/>
                          </a:solidFill>
                          <a:uFill>
                            <a:solidFill>
                              <a:srgbClr val="FFFFFF"/>
                            </a:solidFill>
                          </a:uFill>
                          <a:latin typeface="+mn-lt"/>
                        </a:rPr>
                        <a:t>感測器接口</a:t>
                      </a:r>
                      <a:r>
                        <a:rPr lang="en-US" altLang="zh-TW" sz="1400" b="0" strike="noStrike" spc="-1" dirty="0">
                          <a:solidFill>
                            <a:srgbClr val="000000"/>
                          </a:solidFill>
                          <a:uFill>
                            <a:solidFill>
                              <a:srgbClr val="FFFFFF"/>
                            </a:solidFill>
                          </a:uFill>
                          <a:latin typeface="+mn-lt"/>
                        </a:rPr>
                        <a:t>(2), </a:t>
                      </a:r>
                      <a:r>
                        <a:rPr lang="zh-TW" altLang="en-US" sz="1400" b="0" strike="noStrike" spc="-1" dirty="0">
                          <a:solidFill>
                            <a:srgbClr val="000000"/>
                          </a:solidFill>
                          <a:uFill>
                            <a:solidFill>
                              <a:srgbClr val="FFFFFF"/>
                            </a:solidFill>
                          </a:uFill>
                          <a:latin typeface="+mn-lt"/>
                        </a:rPr>
                        <a:t>用於聲波測距感測器時定義</a:t>
                      </a:r>
                      <a:r>
                        <a:rPr lang="en-US" altLang="zh-TW" sz="1400" b="0" strike="noStrike" spc="-1" dirty="0">
                          <a:solidFill>
                            <a:srgbClr val="000000"/>
                          </a:solidFill>
                          <a:uFill>
                            <a:solidFill>
                              <a:srgbClr val="FFFFFF"/>
                            </a:solidFill>
                          </a:uFill>
                          <a:latin typeface="+mn-lt"/>
                        </a:rPr>
                        <a:t>, </a:t>
                      </a:r>
                      <a:r>
                        <a:rPr lang="zh-TW" altLang="en-US" sz="1400" b="0" strike="noStrike" spc="-1" dirty="0">
                          <a:solidFill>
                            <a:srgbClr val="000000"/>
                          </a:solidFill>
                          <a:uFill>
                            <a:solidFill>
                              <a:srgbClr val="FFFFFF"/>
                            </a:solidFill>
                          </a:uFill>
                          <a:latin typeface="+mn-lt"/>
                        </a:rPr>
                        <a:t>對映</a:t>
                      </a:r>
                      <a:r>
                        <a:rPr lang="en-US" altLang="zh-TW" sz="1400" b="0" strike="noStrike" spc="-1" dirty="0">
                          <a:solidFill>
                            <a:srgbClr val="000000"/>
                          </a:solidFill>
                          <a:uFill>
                            <a:solidFill>
                              <a:srgbClr val="FFFFFF"/>
                            </a:solidFill>
                          </a:uFill>
                          <a:latin typeface="+mn-lt"/>
                        </a:rPr>
                        <a:t>GP14, 15</a:t>
                      </a:r>
                    </a:p>
                  </a:txBody>
                  <a:tcPr marL="67500" marR="67500" marT="34290" marB="34290">
                    <a:lnL w="720">
                      <a:solidFill>
                        <a:srgbClr val="FFFFFF"/>
                      </a:solidFill>
                    </a:lnL>
                    <a:lnR w="720">
                      <a:solidFill>
                        <a:srgbClr val="FFFFFF"/>
                      </a:solidFill>
                    </a:lnR>
                    <a:lnT w="720">
                      <a:solidFill>
                        <a:srgbClr val="FFFFFF"/>
                      </a:solidFill>
                    </a:lnT>
                    <a:lnB w="720">
                      <a:solidFill>
                        <a:srgbClr val="FFFFFF"/>
                      </a:solidFill>
                    </a:lnB>
                    <a:solidFill>
                      <a:srgbClr val="CCCCCC"/>
                    </a:solidFill>
                  </a:tcPr>
                </a:tc>
                <a:extLst>
                  <a:ext uri="{0D108BD9-81ED-4DB2-BD59-A6C34878D82A}">
                    <a16:rowId xmlns:a16="http://schemas.microsoft.com/office/drawing/2014/main" val="10001"/>
                  </a:ext>
                </a:extLst>
              </a:tr>
              <a:tr h="57361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400" b="0" strike="noStrike" spc="-1" dirty="0">
                          <a:solidFill>
                            <a:srgbClr val="000000"/>
                          </a:solidFill>
                          <a:uFill>
                            <a:solidFill>
                              <a:srgbClr val="FFFFFF"/>
                            </a:solidFill>
                          </a:uFill>
                          <a:latin typeface="+mn-lt"/>
                        </a:rPr>
                        <a:t>SENSOR1_RIGHT, SENSOR1_LEFT</a:t>
                      </a:r>
                    </a:p>
                  </a:txBody>
                  <a:tcPr marL="67500" marR="67500" marT="34290" marB="3429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a:lstStyle/>
                    <a:p>
                      <a:r>
                        <a:rPr lang="zh-TW" altLang="en-US" sz="1400" b="0" strike="noStrike" spc="-1" dirty="0">
                          <a:solidFill>
                            <a:srgbClr val="000000"/>
                          </a:solidFill>
                          <a:uFill>
                            <a:solidFill>
                              <a:srgbClr val="FFFFFF"/>
                            </a:solidFill>
                          </a:uFill>
                          <a:latin typeface="+mn-lt"/>
                        </a:rPr>
                        <a:t>感測器接口</a:t>
                      </a:r>
                      <a:r>
                        <a:rPr lang="en-US" altLang="zh-TW" sz="1400" b="0" strike="noStrike" spc="-1" dirty="0">
                          <a:solidFill>
                            <a:srgbClr val="000000"/>
                          </a:solidFill>
                          <a:uFill>
                            <a:solidFill>
                              <a:srgbClr val="FFFFFF"/>
                            </a:solidFill>
                          </a:uFill>
                          <a:latin typeface="+mn-lt"/>
                        </a:rPr>
                        <a:t>(1), </a:t>
                      </a:r>
                      <a:r>
                        <a:rPr lang="zh-TW" altLang="en-US" sz="1400" b="0" strike="noStrike" spc="-1" dirty="0">
                          <a:solidFill>
                            <a:srgbClr val="000000"/>
                          </a:solidFill>
                          <a:uFill>
                            <a:solidFill>
                              <a:srgbClr val="FFFFFF"/>
                            </a:solidFill>
                          </a:uFill>
                          <a:latin typeface="+mn-lt"/>
                        </a:rPr>
                        <a:t>用於紅外線尋線感測器時定義</a:t>
                      </a:r>
                      <a:r>
                        <a:rPr lang="en-US" altLang="zh-TW" sz="1400" b="0" strike="noStrike" spc="-1" dirty="0">
                          <a:solidFill>
                            <a:srgbClr val="000000"/>
                          </a:solidFill>
                          <a:uFill>
                            <a:solidFill>
                              <a:srgbClr val="FFFFFF"/>
                            </a:solidFill>
                          </a:uFill>
                          <a:latin typeface="+mn-lt"/>
                        </a:rPr>
                        <a:t>, </a:t>
                      </a:r>
                      <a:r>
                        <a:rPr lang="zh-TW" altLang="en-US" sz="1400" b="0" strike="noStrike" spc="-1" dirty="0">
                          <a:solidFill>
                            <a:srgbClr val="000000"/>
                          </a:solidFill>
                          <a:uFill>
                            <a:solidFill>
                              <a:srgbClr val="FFFFFF"/>
                            </a:solidFill>
                          </a:uFill>
                          <a:latin typeface="+mn-lt"/>
                        </a:rPr>
                        <a:t>對映</a:t>
                      </a:r>
                      <a:r>
                        <a:rPr lang="en-US" altLang="zh-TW" sz="1400" b="0" strike="noStrike" spc="-1" dirty="0">
                          <a:solidFill>
                            <a:srgbClr val="000000"/>
                          </a:solidFill>
                          <a:uFill>
                            <a:solidFill>
                              <a:srgbClr val="FFFFFF"/>
                            </a:solidFill>
                          </a:uFill>
                          <a:latin typeface="+mn-lt"/>
                        </a:rPr>
                        <a:t>GP12, 13</a:t>
                      </a:r>
                    </a:p>
                  </a:txBody>
                  <a:tcPr marL="67500" marR="67500" marT="34290" marB="34290">
                    <a:lnL w="720">
                      <a:solidFill>
                        <a:srgbClr val="FFFFFF"/>
                      </a:solidFill>
                    </a:lnL>
                    <a:lnR w="720">
                      <a:solidFill>
                        <a:srgbClr val="FFFFFF"/>
                      </a:solidFill>
                    </a:lnR>
                    <a:lnT w="720">
                      <a:solidFill>
                        <a:srgbClr val="FFFFFF"/>
                      </a:solidFill>
                    </a:lnT>
                    <a:lnB w="720">
                      <a:solidFill>
                        <a:srgbClr val="FFFFFF"/>
                      </a:solidFill>
                    </a:lnB>
                    <a:solidFill>
                      <a:srgbClr val="E6E6E6"/>
                    </a:solidFill>
                  </a:tcPr>
                </a:tc>
                <a:extLst>
                  <a:ext uri="{0D108BD9-81ED-4DB2-BD59-A6C34878D82A}">
                    <a16:rowId xmlns:a16="http://schemas.microsoft.com/office/drawing/2014/main" val="10002"/>
                  </a:ext>
                </a:extLst>
              </a:tr>
              <a:tr h="57361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400" b="0" strike="noStrike" spc="-1" dirty="0">
                          <a:solidFill>
                            <a:srgbClr val="000000"/>
                          </a:solidFill>
                          <a:uFill>
                            <a:solidFill>
                              <a:srgbClr val="FFFFFF"/>
                            </a:solidFill>
                          </a:uFill>
                          <a:latin typeface="+mn-lt"/>
                        </a:rPr>
                        <a:t>SENSOR2_RIGHT, SENSOR2_LEFT</a:t>
                      </a:r>
                    </a:p>
                  </a:txBody>
                  <a:tcPr marL="67500" marR="67500" marT="34290" marB="3429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400" b="0" strike="noStrike" spc="-1" dirty="0">
                          <a:solidFill>
                            <a:srgbClr val="000000"/>
                          </a:solidFill>
                          <a:uFill>
                            <a:solidFill>
                              <a:srgbClr val="FFFFFF"/>
                            </a:solidFill>
                          </a:uFill>
                          <a:latin typeface="+mn-lt"/>
                        </a:rPr>
                        <a:t>感測器接口</a:t>
                      </a:r>
                      <a:r>
                        <a:rPr lang="en-US" altLang="zh-TW" sz="1400" b="0" strike="noStrike" spc="-1" dirty="0">
                          <a:solidFill>
                            <a:srgbClr val="000000"/>
                          </a:solidFill>
                          <a:uFill>
                            <a:solidFill>
                              <a:srgbClr val="FFFFFF"/>
                            </a:solidFill>
                          </a:uFill>
                          <a:latin typeface="+mn-lt"/>
                        </a:rPr>
                        <a:t>(2), </a:t>
                      </a:r>
                      <a:r>
                        <a:rPr lang="zh-TW" altLang="en-US" sz="1400" b="0" strike="noStrike" spc="-1" dirty="0">
                          <a:solidFill>
                            <a:srgbClr val="000000"/>
                          </a:solidFill>
                          <a:uFill>
                            <a:solidFill>
                              <a:srgbClr val="FFFFFF"/>
                            </a:solidFill>
                          </a:uFill>
                          <a:latin typeface="+mn-lt"/>
                        </a:rPr>
                        <a:t>用於紅外線尋線感測器時定義</a:t>
                      </a:r>
                      <a:r>
                        <a:rPr lang="en-US" altLang="zh-TW" sz="1400" b="0" strike="noStrike" spc="-1" dirty="0">
                          <a:solidFill>
                            <a:srgbClr val="000000"/>
                          </a:solidFill>
                          <a:uFill>
                            <a:solidFill>
                              <a:srgbClr val="FFFFFF"/>
                            </a:solidFill>
                          </a:uFill>
                          <a:latin typeface="+mn-lt"/>
                        </a:rPr>
                        <a:t>, </a:t>
                      </a:r>
                      <a:r>
                        <a:rPr lang="zh-TW" altLang="en-US" sz="1400" b="0" strike="noStrike" spc="-1" dirty="0">
                          <a:solidFill>
                            <a:srgbClr val="000000"/>
                          </a:solidFill>
                          <a:uFill>
                            <a:solidFill>
                              <a:srgbClr val="FFFFFF"/>
                            </a:solidFill>
                          </a:uFill>
                          <a:latin typeface="+mn-lt"/>
                        </a:rPr>
                        <a:t>對映</a:t>
                      </a:r>
                      <a:r>
                        <a:rPr lang="en-US" altLang="zh-TW" sz="1400" b="0" strike="noStrike" spc="-1" dirty="0">
                          <a:solidFill>
                            <a:srgbClr val="000000"/>
                          </a:solidFill>
                          <a:uFill>
                            <a:solidFill>
                              <a:srgbClr val="FFFFFF"/>
                            </a:solidFill>
                          </a:uFill>
                          <a:latin typeface="+mn-lt"/>
                        </a:rPr>
                        <a:t>GP14, 15</a:t>
                      </a:r>
                    </a:p>
                    <a:p>
                      <a:endParaRPr lang="en-US" sz="1400" b="0" strike="noStrike" spc="-1" dirty="0">
                        <a:solidFill>
                          <a:srgbClr val="000000"/>
                        </a:solidFill>
                        <a:uFill>
                          <a:solidFill>
                            <a:srgbClr val="FFFFFF"/>
                          </a:solidFill>
                        </a:uFill>
                        <a:latin typeface="Arial"/>
                      </a:endParaRPr>
                    </a:p>
                  </a:txBody>
                  <a:tcPr marL="67500" marR="67500" marT="34290" marB="34290">
                    <a:lnL w="720">
                      <a:solidFill>
                        <a:srgbClr val="FFFFFF"/>
                      </a:solidFill>
                    </a:lnL>
                    <a:lnR w="720">
                      <a:solidFill>
                        <a:srgbClr val="FFFFFF"/>
                      </a:solidFill>
                    </a:lnR>
                    <a:lnT w="720">
                      <a:solidFill>
                        <a:srgbClr val="FFFFFF"/>
                      </a:solidFill>
                    </a:lnT>
                    <a:lnB w="720">
                      <a:solidFill>
                        <a:srgbClr val="FFFFFF"/>
                      </a:solidFill>
                    </a:lnB>
                    <a:solidFill>
                      <a:srgbClr val="CCCCCC"/>
                    </a:solidFill>
                  </a:tcPr>
                </a:tc>
                <a:extLst>
                  <a:ext uri="{0D108BD9-81ED-4DB2-BD59-A6C34878D82A}">
                    <a16:rowId xmlns:a16="http://schemas.microsoft.com/office/drawing/2014/main" val="10003"/>
                  </a:ext>
                </a:extLst>
              </a:tr>
              <a:tr h="466502">
                <a:tc>
                  <a:txBody>
                    <a:bodyPr/>
                    <a:lstStyle/>
                    <a:p>
                      <a:r>
                        <a:rPr lang="en-US" sz="1400" b="0" strike="noStrike" spc="-1" dirty="0">
                          <a:solidFill>
                            <a:srgbClr val="000000"/>
                          </a:solidFill>
                          <a:uFill>
                            <a:solidFill>
                              <a:srgbClr val="FFFFFF"/>
                            </a:solidFill>
                          </a:uFill>
                          <a:latin typeface="Arial"/>
                        </a:rPr>
                        <a:t>WIFI_TX, WIFI_RX</a:t>
                      </a:r>
                    </a:p>
                  </a:txBody>
                  <a:tcPr marL="67500" marR="67500" marT="34290" marB="34290">
                    <a:lnL w="720">
                      <a:solidFill>
                        <a:srgbClr val="FFFFFF"/>
                      </a:solidFill>
                    </a:lnL>
                    <a:lnR w="720">
                      <a:solidFill>
                        <a:srgbClr val="FFFFFF"/>
                      </a:solidFill>
                    </a:lnR>
                    <a:lnT w="720">
                      <a:solidFill>
                        <a:srgbClr val="FFFFFF"/>
                      </a:solidFill>
                    </a:lnT>
                    <a:lnB w="720" cap="flat" cmpd="sng" algn="ctr">
                      <a:solidFill>
                        <a:srgbClr val="FFFFFF"/>
                      </a:solidFill>
                      <a:prstDash val="solid"/>
                      <a:round/>
                      <a:headEnd type="none" w="med" len="med"/>
                      <a:tailEnd type="none" w="med" len="med"/>
                    </a:lnB>
                    <a:solidFill>
                      <a:srgbClr val="E6E6E6"/>
                    </a:solidFill>
                  </a:tcPr>
                </a:tc>
                <a:tc>
                  <a:txBody>
                    <a:bodyPr/>
                    <a:lstStyle/>
                    <a:p>
                      <a:r>
                        <a:rPr lang="zh-TW" altLang="en-US" sz="1400" b="0" strike="noStrike" spc="-1" dirty="0">
                          <a:solidFill>
                            <a:srgbClr val="000000"/>
                          </a:solidFill>
                          <a:uFill>
                            <a:solidFill>
                              <a:srgbClr val="FFFFFF"/>
                            </a:solidFill>
                          </a:uFill>
                          <a:latin typeface="Arial"/>
                        </a:rPr>
                        <a:t>無線網路攝影機接口</a:t>
                      </a:r>
                      <a:r>
                        <a:rPr lang="en-US" altLang="zh-TW" sz="1400" b="0" strike="noStrike" spc="-1" dirty="0">
                          <a:solidFill>
                            <a:srgbClr val="000000"/>
                          </a:solidFill>
                          <a:uFill>
                            <a:solidFill>
                              <a:srgbClr val="FFFFFF"/>
                            </a:solidFill>
                          </a:uFill>
                          <a:latin typeface="Arial"/>
                        </a:rPr>
                        <a:t>, </a:t>
                      </a:r>
                      <a:r>
                        <a:rPr lang="zh-TW" altLang="en-US" sz="1400" b="0" strike="noStrike" spc="-1" dirty="0">
                          <a:solidFill>
                            <a:srgbClr val="000000"/>
                          </a:solidFill>
                          <a:uFill>
                            <a:solidFill>
                              <a:srgbClr val="FFFFFF"/>
                            </a:solidFill>
                          </a:uFill>
                          <a:latin typeface="Arial"/>
                        </a:rPr>
                        <a:t>對映</a:t>
                      </a:r>
                      <a:r>
                        <a:rPr lang="en-US" altLang="zh-TW" sz="1400" b="0" strike="noStrike" spc="-1" dirty="0">
                          <a:solidFill>
                            <a:srgbClr val="000000"/>
                          </a:solidFill>
                          <a:uFill>
                            <a:solidFill>
                              <a:srgbClr val="FFFFFF"/>
                            </a:solidFill>
                          </a:uFill>
                          <a:latin typeface="Arial"/>
                        </a:rPr>
                        <a:t>GP12, 13</a:t>
                      </a:r>
                      <a:endParaRPr lang="en-US" sz="1400" b="0" strike="noStrike" spc="-1" dirty="0">
                        <a:solidFill>
                          <a:srgbClr val="000000"/>
                        </a:solidFill>
                        <a:uFill>
                          <a:solidFill>
                            <a:srgbClr val="FFFFFF"/>
                          </a:solidFill>
                        </a:uFill>
                        <a:latin typeface="Arial"/>
                      </a:endParaRPr>
                    </a:p>
                  </a:txBody>
                  <a:tcPr marL="67500" marR="67500" marT="34290" marB="34290">
                    <a:lnL w="720">
                      <a:solidFill>
                        <a:srgbClr val="FFFFFF"/>
                      </a:solidFill>
                    </a:lnL>
                    <a:lnR w="720">
                      <a:solidFill>
                        <a:srgbClr val="FFFFFF"/>
                      </a:solidFill>
                    </a:lnR>
                    <a:lnT w="720">
                      <a:solidFill>
                        <a:srgbClr val="FFFFFF"/>
                      </a:solidFill>
                    </a:lnT>
                    <a:lnB w="720" cap="flat" cmpd="sng" algn="ctr">
                      <a:solidFill>
                        <a:srgbClr val="FFFFFF"/>
                      </a:solidFill>
                      <a:prstDash val="solid"/>
                      <a:round/>
                      <a:headEnd type="none" w="med" len="med"/>
                      <a:tailEnd type="none" w="med" len="med"/>
                    </a:lnB>
                    <a:solidFill>
                      <a:srgbClr val="E6E6E6"/>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296186612"/>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圖片 14" descr="一張含有 文字 的圖片&#10;&#10;自動產生的描述">
            <a:extLst>
              <a:ext uri="{FF2B5EF4-FFF2-40B4-BE49-F238E27FC236}">
                <a16:creationId xmlns:a16="http://schemas.microsoft.com/office/drawing/2014/main" id="{DF2D9B51-9843-4932-B389-FBCF66E19F3A}"/>
              </a:ext>
            </a:extLst>
          </p:cNvPr>
          <p:cNvPicPr/>
          <p:nvPr/>
        </p:nvPicPr>
        <p:blipFill>
          <a:blip r:embed="rId2"/>
          <a:stretch>
            <a:fillRect/>
          </a:stretch>
        </p:blipFill>
        <p:spPr>
          <a:xfrm>
            <a:off x="876968" y="2507979"/>
            <a:ext cx="2760821" cy="1285875"/>
          </a:xfrm>
          <a:prstGeom prst="rect">
            <a:avLst/>
          </a:prstGeom>
        </p:spPr>
      </p:pic>
      <p:sp>
        <p:nvSpPr>
          <p:cNvPr id="106" name="CustomShape 1"/>
          <p:cNvSpPr/>
          <p:nvPr/>
        </p:nvSpPr>
        <p:spPr>
          <a:xfrm>
            <a:off x="628560" y="471600"/>
            <a:ext cx="7886160" cy="495450"/>
          </a:xfrm>
          <a:prstGeom prst="rect">
            <a:avLst/>
          </a:prstGeom>
          <a:noFill/>
          <a:ln>
            <a:noFill/>
          </a:ln>
        </p:spPr>
        <p:style>
          <a:lnRef idx="0">
            <a:scrgbClr r="0" g="0" b="0"/>
          </a:lnRef>
          <a:fillRef idx="0">
            <a:scrgbClr r="0" g="0" b="0"/>
          </a:fillRef>
          <a:effectRef idx="0">
            <a:scrgbClr r="0" g="0" b="0"/>
          </a:effectRef>
          <a:fontRef idx="minor"/>
        </p:style>
        <p:txBody>
          <a:bodyPr lIns="67500" tIns="33750" rIns="67500" bIns="33750"/>
          <a:lstStyle/>
          <a:p>
            <a:pPr>
              <a:lnSpc>
                <a:spcPct val="100000"/>
              </a:lnSpc>
            </a:pPr>
            <a:r>
              <a:rPr lang="zh-TW" altLang="en-US" sz="3600" spc="-1" dirty="0">
                <a:solidFill>
                  <a:srgbClr val="000000"/>
                </a:solidFill>
                <a:uFill>
                  <a:solidFill>
                    <a:srgbClr val="FFFFFF"/>
                  </a:solidFill>
                </a:uFill>
                <a:latin typeface="Adobe 黑体 Std R" panose="020B0400000000000000" pitchFamily="34" charset="-128"/>
                <a:ea typeface="Adobe 黑体 Std R" panose="020B0400000000000000" pitchFamily="34" charset="-128"/>
              </a:rPr>
              <a:t>準備工作</a:t>
            </a:r>
            <a:endParaRPr lang="en-US" sz="3600" spc="-1" dirty="0">
              <a:solidFill>
                <a:srgbClr val="000000"/>
              </a:solidFill>
              <a:uFill>
                <a:solidFill>
                  <a:srgbClr val="FFFFFF"/>
                </a:solidFill>
              </a:uFill>
              <a:latin typeface="Adobe 黑体 Std R" panose="020B0400000000000000" pitchFamily="34" charset="-128"/>
              <a:ea typeface="Adobe 黑体 Std R" panose="020B0400000000000000" pitchFamily="34" charset="-128"/>
            </a:endParaRPr>
          </a:p>
        </p:txBody>
      </p:sp>
      <p:sp>
        <p:nvSpPr>
          <p:cNvPr id="107" name="CustomShape 2"/>
          <p:cNvSpPr/>
          <p:nvPr/>
        </p:nvSpPr>
        <p:spPr>
          <a:xfrm>
            <a:off x="628560" y="1313990"/>
            <a:ext cx="3909360" cy="495450"/>
          </a:xfrm>
          <a:prstGeom prst="rect">
            <a:avLst/>
          </a:prstGeom>
          <a:noFill/>
          <a:ln>
            <a:noFill/>
          </a:ln>
        </p:spPr>
        <p:style>
          <a:lnRef idx="0">
            <a:scrgbClr r="0" g="0" b="0"/>
          </a:lnRef>
          <a:fillRef idx="0">
            <a:scrgbClr r="0" g="0" b="0"/>
          </a:fillRef>
          <a:effectRef idx="0">
            <a:scrgbClr r="0" g="0" b="0"/>
          </a:effectRef>
          <a:fontRef idx="minor"/>
        </p:style>
        <p:txBody>
          <a:bodyPr lIns="67500" tIns="33750" rIns="67500" bIns="33750"/>
          <a:lstStyle/>
          <a:p>
            <a:pPr algn="just">
              <a:lnSpc>
                <a:spcPct val="100000"/>
              </a:lnSpc>
            </a:pPr>
            <a:r>
              <a:rPr lang="zh-TW" altLang="en-US" sz="1500" spc="-1" dirty="0">
                <a:solidFill>
                  <a:srgbClr val="000000"/>
                </a:solidFill>
                <a:uFill>
                  <a:solidFill>
                    <a:srgbClr val="FFFFFF"/>
                  </a:solidFill>
                </a:uFill>
                <a:latin typeface="Adobe 仿宋 Std R"/>
                <a:ea typeface="Adobe 仿宋 Std R"/>
              </a:rPr>
              <a:t>麵包板，</a:t>
            </a:r>
            <a:r>
              <a:rPr lang="en-US" sz="1500" spc="-1" dirty="0" err="1">
                <a:solidFill>
                  <a:srgbClr val="000000"/>
                </a:solidFill>
                <a:uFill>
                  <a:solidFill>
                    <a:srgbClr val="FFFFFF"/>
                  </a:solidFill>
                </a:uFill>
                <a:latin typeface="Adobe 仿宋 Std R"/>
                <a:ea typeface="Adobe 仿宋 Std R"/>
              </a:rPr>
              <a:t>用途：模擬電路板連接線</a:t>
            </a:r>
            <a:r>
              <a:rPr lang="zh-TW" altLang="en-US" sz="1500" spc="-1" dirty="0">
                <a:solidFill>
                  <a:srgbClr val="000000"/>
                </a:solidFill>
                <a:uFill>
                  <a:solidFill>
                    <a:srgbClr val="FFFFFF"/>
                  </a:solidFill>
                </a:uFill>
                <a:latin typeface="Adobe 仿宋 Std R"/>
                <a:ea typeface="Adobe 仿宋 Std R"/>
              </a:rPr>
              <a:t>，</a:t>
            </a:r>
            <a:endParaRPr lang="en-US" altLang="zh-TW" sz="1500" spc="-1" dirty="0">
              <a:solidFill>
                <a:srgbClr val="000000"/>
              </a:solidFill>
              <a:uFill>
                <a:solidFill>
                  <a:srgbClr val="FFFFFF"/>
                </a:solidFill>
              </a:uFill>
              <a:latin typeface="Adobe 仿宋 Std R"/>
              <a:ea typeface="Adobe 仿宋 Std R"/>
            </a:endParaRPr>
          </a:p>
          <a:p>
            <a:pPr algn="just">
              <a:lnSpc>
                <a:spcPct val="100000"/>
              </a:lnSpc>
            </a:pPr>
            <a:r>
              <a:rPr lang="zh-TW" altLang="en-US" sz="1500" spc="-1" dirty="0">
                <a:solidFill>
                  <a:srgbClr val="000000"/>
                </a:solidFill>
                <a:uFill>
                  <a:solidFill>
                    <a:srgbClr val="FFFFFF"/>
                  </a:solidFill>
                </a:uFill>
                <a:latin typeface="Adobe 仿宋 Std R"/>
                <a:ea typeface="Adobe 仿宋 Std R"/>
              </a:rPr>
              <a:t>又稱：免焊萬用電路板</a:t>
            </a:r>
            <a:endParaRPr lang="en-US" sz="1500" spc="-1" dirty="0">
              <a:solidFill>
                <a:srgbClr val="000000"/>
              </a:solidFill>
              <a:uFill>
                <a:solidFill>
                  <a:srgbClr val="FFFFFF"/>
                </a:solidFill>
              </a:uFill>
              <a:latin typeface="Arial"/>
            </a:endParaRPr>
          </a:p>
        </p:txBody>
      </p:sp>
      <p:sp>
        <p:nvSpPr>
          <p:cNvPr id="5" name="文字方塊 4">
            <a:extLst>
              <a:ext uri="{FF2B5EF4-FFF2-40B4-BE49-F238E27FC236}">
                <a16:creationId xmlns:a16="http://schemas.microsoft.com/office/drawing/2014/main" id="{68DD88AA-7944-4F26-BDB5-10227489A82E}"/>
              </a:ext>
            </a:extLst>
          </p:cNvPr>
          <p:cNvSpPr txBox="1"/>
          <p:nvPr/>
        </p:nvSpPr>
        <p:spPr>
          <a:xfrm>
            <a:off x="1010878" y="2472221"/>
            <a:ext cx="530915" cy="300082"/>
          </a:xfrm>
          <a:prstGeom prst="rect">
            <a:avLst/>
          </a:prstGeom>
          <a:noFill/>
        </p:spPr>
        <p:txBody>
          <a:bodyPr wrap="none" rtlCol="0">
            <a:spAutoFit/>
          </a:bodyPr>
          <a:lstStyle/>
          <a:p>
            <a:r>
              <a:rPr lang="zh-TW" altLang="en-US" sz="1350" dirty="0">
                <a:latin typeface="Adobe 仿宋 Std R" panose="02020400000000000000" pitchFamily="18" charset="-128"/>
                <a:ea typeface="Adobe 仿宋 Std R" panose="02020400000000000000" pitchFamily="18" charset="-128"/>
              </a:rPr>
              <a:t>電源</a:t>
            </a:r>
          </a:p>
        </p:txBody>
      </p:sp>
      <p:cxnSp>
        <p:nvCxnSpPr>
          <p:cNvPr id="7" name="直線單箭頭接點 6">
            <a:extLst>
              <a:ext uri="{FF2B5EF4-FFF2-40B4-BE49-F238E27FC236}">
                <a16:creationId xmlns:a16="http://schemas.microsoft.com/office/drawing/2014/main" id="{53217271-1197-443B-9F93-249C97705123}"/>
              </a:ext>
            </a:extLst>
          </p:cNvPr>
          <p:cNvCxnSpPr/>
          <p:nvPr/>
        </p:nvCxnSpPr>
        <p:spPr>
          <a:xfrm>
            <a:off x="1113308" y="2680320"/>
            <a:ext cx="461865"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線單箭頭接點 10">
            <a:extLst>
              <a:ext uri="{FF2B5EF4-FFF2-40B4-BE49-F238E27FC236}">
                <a16:creationId xmlns:a16="http://schemas.microsoft.com/office/drawing/2014/main" id="{997B0EFF-569E-4AC4-9F49-D5BB18D7F202}"/>
              </a:ext>
            </a:extLst>
          </p:cNvPr>
          <p:cNvCxnSpPr>
            <a:cxnSpLocks/>
          </p:cNvCxnSpPr>
          <p:nvPr/>
        </p:nvCxnSpPr>
        <p:spPr>
          <a:xfrm flipH="1">
            <a:off x="2868601" y="3304938"/>
            <a:ext cx="861011"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文字方塊 11">
            <a:extLst>
              <a:ext uri="{FF2B5EF4-FFF2-40B4-BE49-F238E27FC236}">
                <a16:creationId xmlns:a16="http://schemas.microsoft.com/office/drawing/2014/main" id="{FC4A4955-4201-4FE2-B533-6C6CAC42336C}"/>
              </a:ext>
            </a:extLst>
          </p:cNvPr>
          <p:cNvSpPr txBox="1"/>
          <p:nvPr/>
        </p:nvSpPr>
        <p:spPr>
          <a:xfrm>
            <a:off x="3395415" y="3098626"/>
            <a:ext cx="530915" cy="300082"/>
          </a:xfrm>
          <a:prstGeom prst="rect">
            <a:avLst/>
          </a:prstGeom>
          <a:noFill/>
        </p:spPr>
        <p:txBody>
          <a:bodyPr wrap="none" rtlCol="0">
            <a:spAutoFit/>
          </a:bodyPr>
          <a:lstStyle/>
          <a:p>
            <a:r>
              <a:rPr lang="zh-TW" altLang="en-US" sz="1350" dirty="0">
                <a:latin typeface="Adobe 仿宋 Std R" panose="02020400000000000000" pitchFamily="18" charset="-128"/>
                <a:ea typeface="Adobe 仿宋 Std R" panose="02020400000000000000" pitchFamily="18" charset="-128"/>
              </a:rPr>
              <a:t>電路</a:t>
            </a:r>
          </a:p>
        </p:txBody>
      </p:sp>
      <p:pic>
        <p:nvPicPr>
          <p:cNvPr id="17" name="圖片 16" descr="一張含有 耳機 的圖片&#10;&#10;自動產生的描述">
            <a:extLst>
              <a:ext uri="{FF2B5EF4-FFF2-40B4-BE49-F238E27FC236}">
                <a16:creationId xmlns:a16="http://schemas.microsoft.com/office/drawing/2014/main" id="{8ADF4439-5D41-4502-87F2-80DBDA74421D}"/>
              </a:ext>
            </a:extLst>
          </p:cNvPr>
          <p:cNvPicPr/>
          <p:nvPr/>
        </p:nvPicPr>
        <p:blipFill>
          <a:blip r:embed="rId3"/>
          <a:stretch>
            <a:fillRect/>
          </a:stretch>
        </p:blipFill>
        <p:spPr>
          <a:xfrm>
            <a:off x="1820911" y="3995999"/>
            <a:ext cx="1982153" cy="1617821"/>
          </a:xfrm>
          <a:prstGeom prst="rect">
            <a:avLst/>
          </a:prstGeom>
        </p:spPr>
      </p:pic>
      <p:sp>
        <p:nvSpPr>
          <p:cNvPr id="14" name="文字方塊 13">
            <a:extLst>
              <a:ext uri="{FF2B5EF4-FFF2-40B4-BE49-F238E27FC236}">
                <a16:creationId xmlns:a16="http://schemas.microsoft.com/office/drawing/2014/main" id="{4D335EE2-9B4D-4E01-AB12-318D3C8C411A}"/>
              </a:ext>
            </a:extLst>
          </p:cNvPr>
          <p:cNvSpPr txBox="1"/>
          <p:nvPr/>
        </p:nvSpPr>
        <p:spPr>
          <a:xfrm>
            <a:off x="1721721" y="4876440"/>
            <a:ext cx="530915" cy="300082"/>
          </a:xfrm>
          <a:prstGeom prst="rect">
            <a:avLst/>
          </a:prstGeom>
          <a:noFill/>
        </p:spPr>
        <p:txBody>
          <a:bodyPr wrap="none" rtlCol="0">
            <a:spAutoFit/>
          </a:bodyPr>
          <a:lstStyle/>
          <a:p>
            <a:r>
              <a:rPr lang="zh-TW" altLang="en-US" sz="1350" dirty="0">
                <a:latin typeface="Adobe 仿宋 Std R" panose="02020400000000000000" pitchFamily="18" charset="-128"/>
                <a:ea typeface="Adobe 仿宋 Std R" panose="02020400000000000000" pitchFamily="18" charset="-128"/>
              </a:rPr>
              <a:t>跳線</a:t>
            </a:r>
          </a:p>
        </p:txBody>
      </p:sp>
      <p:pic>
        <p:nvPicPr>
          <p:cNvPr id="20" name="圖片 19" descr="一張含有 傢俱, 桌, 座位, 咖啡桌 的圖片&#10;&#10;自動產生的描述">
            <a:extLst>
              <a:ext uri="{FF2B5EF4-FFF2-40B4-BE49-F238E27FC236}">
                <a16:creationId xmlns:a16="http://schemas.microsoft.com/office/drawing/2014/main" id="{3B130231-D610-4562-888C-C43979601047}"/>
              </a:ext>
            </a:extLst>
          </p:cNvPr>
          <p:cNvPicPr/>
          <p:nvPr/>
        </p:nvPicPr>
        <p:blipFill>
          <a:blip r:embed="rId4"/>
          <a:stretch>
            <a:fillRect/>
          </a:stretch>
        </p:blipFill>
        <p:spPr>
          <a:xfrm>
            <a:off x="5683528" y="4436296"/>
            <a:ext cx="1496378" cy="1157288"/>
          </a:xfrm>
          <a:prstGeom prst="rect">
            <a:avLst/>
          </a:prstGeom>
        </p:spPr>
      </p:pic>
      <p:pic>
        <p:nvPicPr>
          <p:cNvPr id="22" name="圖片 21">
            <a:extLst>
              <a:ext uri="{FF2B5EF4-FFF2-40B4-BE49-F238E27FC236}">
                <a16:creationId xmlns:a16="http://schemas.microsoft.com/office/drawing/2014/main" id="{0F97E641-ED1C-4A29-96A9-3259BDB081B6}"/>
              </a:ext>
            </a:extLst>
          </p:cNvPr>
          <p:cNvPicPr/>
          <p:nvPr/>
        </p:nvPicPr>
        <p:blipFill>
          <a:blip r:embed="rId5"/>
          <a:stretch>
            <a:fillRect/>
          </a:stretch>
        </p:blipFill>
        <p:spPr>
          <a:xfrm rot="5400000">
            <a:off x="4210139" y="3911646"/>
            <a:ext cx="2153603" cy="646271"/>
          </a:xfrm>
          <a:prstGeom prst="rect">
            <a:avLst/>
          </a:prstGeom>
        </p:spPr>
      </p:pic>
      <p:pic>
        <p:nvPicPr>
          <p:cNvPr id="23" name="圖片 22">
            <a:extLst>
              <a:ext uri="{FF2B5EF4-FFF2-40B4-BE49-F238E27FC236}">
                <a16:creationId xmlns:a16="http://schemas.microsoft.com/office/drawing/2014/main" id="{B3B315D2-4F74-4F12-8353-9948AD3073B9}"/>
              </a:ext>
            </a:extLst>
          </p:cNvPr>
          <p:cNvPicPr/>
          <p:nvPr/>
        </p:nvPicPr>
        <p:blipFill>
          <a:blip r:embed="rId6"/>
          <a:stretch>
            <a:fillRect/>
          </a:stretch>
        </p:blipFill>
        <p:spPr>
          <a:xfrm>
            <a:off x="6879103" y="3208650"/>
            <a:ext cx="1510665" cy="1171575"/>
          </a:xfrm>
          <a:prstGeom prst="rect">
            <a:avLst/>
          </a:prstGeom>
        </p:spPr>
      </p:pic>
      <p:pic>
        <p:nvPicPr>
          <p:cNvPr id="24" name="圖片 23" descr="一張含有 文字, 美工圖案 的圖片&#10;&#10;自動產生的描述">
            <a:extLst>
              <a:ext uri="{FF2B5EF4-FFF2-40B4-BE49-F238E27FC236}">
                <a16:creationId xmlns:a16="http://schemas.microsoft.com/office/drawing/2014/main" id="{E8F92BE5-2533-459A-BD1B-BEC8D4466706}"/>
              </a:ext>
            </a:extLst>
          </p:cNvPr>
          <p:cNvPicPr/>
          <p:nvPr/>
        </p:nvPicPr>
        <p:blipFill>
          <a:blip r:embed="rId7"/>
          <a:stretch>
            <a:fillRect/>
          </a:stretch>
        </p:blipFill>
        <p:spPr>
          <a:xfrm>
            <a:off x="7316259" y="4873914"/>
            <a:ext cx="1590994" cy="434038"/>
          </a:xfrm>
          <a:prstGeom prst="rect">
            <a:avLst/>
          </a:prstGeom>
        </p:spPr>
      </p:pic>
      <p:pic>
        <p:nvPicPr>
          <p:cNvPr id="19" name="圖片 18">
            <a:extLst>
              <a:ext uri="{FF2B5EF4-FFF2-40B4-BE49-F238E27FC236}">
                <a16:creationId xmlns:a16="http://schemas.microsoft.com/office/drawing/2014/main" id="{6C221769-82AE-4DCB-B226-B2FCC926D375}"/>
              </a:ext>
            </a:extLst>
          </p:cNvPr>
          <p:cNvPicPr/>
          <p:nvPr/>
        </p:nvPicPr>
        <p:blipFill>
          <a:blip r:embed="rId8"/>
          <a:stretch>
            <a:fillRect/>
          </a:stretch>
        </p:blipFill>
        <p:spPr>
          <a:xfrm>
            <a:off x="7073304" y="1707451"/>
            <a:ext cx="1032034" cy="1407319"/>
          </a:xfrm>
          <a:prstGeom prst="rect">
            <a:avLst/>
          </a:prstGeom>
        </p:spPr>
      </p:pic>
      <p:pic>
        <p:nvPicPr>
          <p:cNvPr id="21" name="圖片 20">
            <a:extLst>
              <a:ext uri="{FF2B5EF4-FFF2-40B4-BE49-F238E27FC236}">
                <a16:creationId xmlns:a16="http://schemas.microsoft.com/office/drawing/2014/main" id="{A334AB92-B8E1-460E-9469-9CEBC3801FED}"/>
              </a:ext>
            </a:extLst>
          </p:cNvPr>
          <p:cNvPicPr/>
          <p:nvPr/>
        </p:nvPicPr>
        <p:blipFill>
          <a:blip r:embed="rId9"/>
          <a:stretch>
            <a:fillRect/>
          </a:stretch>
        </p:blipFill>
        <p:spPr>
          <a:xfrm>
            <a:off x="5054214" y="1840682"/>
            <a:ext cx="1471613" cy="1289209"/>
          </a:xfrm>
          <a:prstGeom prst="rect">
            <a:avLst/>
          </a:prstGeom>
        </p:spPr>
      </p:pic>
      <p:sp>
        <p:nvSpPr>
          <p:cNvPr id="18" name="文字方塊 17">
            <a:extLst>
              <a:ext uri="{FF2B5EF4-FFF2-40B4-BE49-F238E27FC236}">
                <a16:creationId xmlns:a16="http://schemas.microsoft.com/office/drawing/2014/main" id="{C8E6C729-4429-4020-9AEE-0EE2624EFDE8}"/>
              </a:ext>
            </a:extLst>
          </p:cNvPr>
          <p:cNvSpPr txBox="1"/>
          <p:nvPr/>
        </p:nvSpPr>
        <p:spPr>
          <a:xfrm>
            <a:off x="4427975" y="4025326"/>
            <a:ext cx="843501" cy="300082"/>
          </a:xfrm>
          <a:prstGeom prst="rect">
            <a:avLst/>
          </a:prstGeom>
          <a:noFill/>
        </p:spPr>
        <p:txBody>
          <a:bodyPr wrap="none" rtlCol="0">
            <a:spAutoFit/>
          </a:bodyPr>
          <a:lstStyle/>
          <a:p>
            <a:r>
              <a:rPr lang="en-US" altLang="zh-TW" sz="1350" dirty="0">
                <a:latin typeface="Adobe 仿宋 Std R" panose="02020400000000000000" pitchFamily="18" charset="-128"/>
                <a:ea typeface="Adobe 仿宋 Std R" panose="02020400000000000000" pitchFamily="18" charset="-128"/>
              </a:rPr>
              <a:t>LED</a:t>
            </a:r>
            <a:r>
              <a:rPr lang="zh-TW" altLang="en-US" sz="1350" dirty="0">
                <a:latin typeface="Adobe 仿宋 Std R" panose="02020400000000000000" pitchFamily="18" charset="-128"/>
                <a:ea typeface="Adobe 仿宋 Std R" panose="02020400000000000000" pitchFamily="18" charset="-128"/>
              </a:rPr>
              <a:t>燈珠</a:t>
            </a:r>
          </a:p>
        </p:txBody>
      </p:sp>
      <p:sp>
        <p:nvSpPr>
          <p:cNvPr id="26" name="文字方塊 25">
            <a:extLst>
              <a:ext uri="{FF2B5EF4-FFF2-40B4-BE49-F238E27FC236}">
                <a16:creationId xmlns:a16="http://schemas.microsoft.com/office/drawing/2014/main" id="{6E82A3E4-C65D-42EE-889D-5631E363C2D7}"/>
              </a:ext>
            </a:extLst>
          </p:cNvPr>
          <p:cNvSpPr txBox="1"/>
          <p:nvPr/>
        </p:nvSpPr>
        <p:spPr>
          <a:xfrm>
            <a:off x="5070079" y="1701615"/>
            <a:ext cx="1050288" cy="300082"/>
          </a:xfrm>
          <a:prstGeom prst="rect">
            <a:avLst/>
          </a:prstGeom>
          <a:noFill/>
        </p:spPr>
        <p:txBody>
          <a:bodyPr wrap="none" rtlCol="0">
            <a:spAutoFit/>
          </a:bodyPr>
          <a:lstStyle/>
          <a:p>
            <a:r>
              <a:rPr lang="zh-TW" altLang="en-US" sz="1350" dirty="0">
                <a:latin typeface="Adobe 仿宋 Std R" panose="02020400000000000000" pitchFamily="18" charset="-128"/>
                <a:ea typeface="Adobe 仿宋 Std R" panose="02020400000000000000" pitchFamily="18" charset="-128"/>
              </a:rPr>
              <a:t>人體感測器</a:t>
            </a:r>
          </a:p>
        </p:txBody>
      </p:sp>
      <p:sp>
        <p:nvSpPr>
          <p:cNvPr id="27" name="文字方塊 26">
            <a:extLst>
              <a:ext uri="{FF2B5EF4-FFF2-40B4-BE49-F238E27FC236}">
                <a16:creationId xmlns:a16="http://schemas.microsoft.com/office/drawing/2014/main" id="{2DC7D9D6-8557-42BA-B090-F3CEAF87597E}"/>
              </a:ext>
            </a:extLst>
          </p:cNvPr>
          <p:cNvSpPr txBox="1"/>
          <p:nvPr/>
        </p:nvSpPr>
        <p:spPr>
          <a:xfrm>
            <a:off x="6787166" y="1928481"/>
            <a:ext cx="704039" cy="300082"/>
          </a:xfrm>
          <a:prstGeom prst="rect">
            <a:avLst/>
          </a:prstGeom>
          <a:noFill/>
        </p:spPr>
        <p:txBody>
          <a:bodyPr wrap="none" rtlCol="0">
            <a:spAutoFit/>
          </a:bodyPr>
          <a:lstStyle/>
          <a:p>
            <a:r>
              <a:rPr lang="zh-TW" altLang="en-US" sz="1350" dirty="0">
                <a:latin typeface="Adobe 仿宋 Std R" panose="02020400000000000000" pitchFamily="18" charset="-128"/>
                <a:ea typeface="Adobe 仿宋 Std R" panose="02020400000000000000" pitchFamily="18" charset="-128"/>
              </a:rPr>
              <a:t>電位器</a:t>
            </a:r>
          </a:p>
        </p:txBody>
      </p:sp>
      <p:sp>
        <p:nvSpPr>
          <p:cNvPr id="28" name="文字方塊 27">
            <a:extLst>
              <a:ext uri="{FF2B5EF4-FFF2-40B4-BE49-F238E27FC236}">
                <a16:creationId xmlns:a16="http://schemas.microsoft.com/office/drawing/2014/main" id="{48396793-7132-406F-9AF3-1043628C3930}"/>
              </a:ext>
            </a:extLst>
          </p:cNvPr>
          <p:cNvSpPr txBox="1"/>
          <p:nvPr/>
        </p:nvSpPr>
        <p:spPr>
          <a:xfrm>
            <a:off x="5994912" y="4318456"/>
            <a:ext cx="530915" cy="300082"/>
          </a:xfrm>
          <a:prstGeom prst="rect">
            <a:avLst/>
          </a:prstGeom>
          <a:noFill/>
        </p:spPr>
        <p:txBody>
          <a:bodyPr wrap="none" rtlCol="0">
            <a:spAutoFit/>
          </a:bodyPr>
          <a:lstStyle/>
          <a:p>
            <a:r>
              <a:rPr lang="zh-TW" altLang="en-US" sz="1350" dirty="0">
                <a:latin typeface="Adobe 仿宋 Std R" panose="02020400000000000000" pitchFamily="18" charset="-128"/>
                <a:ea typeface="Adobe 仿宋 Std R" panose="02020400000000000000" pitchFamily="18" charset="-128"/>
              </a:rPr>
              <a:t>按鈕</a:t>
            </a:r>
          </a:p>
        </p:txBody>
      </p:sp>
      <p:sp>
        <p:nvSpPr>
          <p:cNvPr id="29" name="文字方塊 28">
            <a:extLst>
              <a:ext uri="{FF2B5EF4-FFF2-40B4-BE49-F238E27FC236}">
                <a16:creationId xmlns:a16="http://schemas.microsoft.com/office/drawing/2014/main" id="{10DABF15-7391-4541-99C8-43386886230E}"/>
              </a:ext>
            </a:extLst>
          </p:cNvPr>
          <p:cNvSpPr txBox="1"/>
          <p:nvPr/>
        </p:nvSpPr>
        <p:spPr>
          <a:xfrm>
            <a:off x="6430424" y="3394543"/>
            <a:ext cx="704039" cy="300082"/>
          </a:xfrm>
          <a:prstGeom prst="rect">
            <a:avLst/>
          </a:prstGeom>
          <a:noFill/>
        </p:spPr>
        <p:txBody>
          <a:bodyPr wrap="none" rtlCol="0">
            <a:spAutoFit/>
          </a:bodyPr>
          <a:lstStyle/>
          <a:p>
            <a:r>
              <a:rPr lang="zh-TW" altLang="en-US" sz="1350" dirty="0">
                <a:latin typeface="Adobe 仿宋 Std R" panose="02020400000000000000" pitchFamily="18" charset="-128"/>
                <a:ea typeface="Adobe 仿宋 Std R" panose="02020400000000000000" pitchFamily="18" charset="-128"/>
              </a:rPr>
              <a:t>蜂鳴器</a:t>
            </a:r>
          </a:p>
        </p:txBody>
      </p:sp>
      <p:sp>
        <p:nvSpPr>
          <p:cNvPr id="30" name="文字方塊 29">
            <a:extLst>
              <a:ext uri="{FF2B5EF4-FFF2-40B4-BE49-F238E27FC236}">
                <a16:creationId xmlns:a16="http://schemas.microsoft.com/office/drawing/2014/main" id="{A3D918F8-C0B1-4EFA-A16D-647E4BDA560C}"/>
              </a:ext>
            </a:extLst>
          </p:cNvPr>
          <p:cNvSpPr txBox="1"/>
          <p:nvPr/>
        </p:nvSpPr>
        <p:spPr>
          <a:xfrm>
            <a:off x="7857892" y="4692394"/>
            <a:ext cx="530915" cy="300082"/>
          </a:xfrm>
          <a:prstGeom prst="rect">
            <a:avLst/>
          </a:prstGeom>
          <a:noFill/>
        </p:spPr>
        <p:txBody>
          <a:bodyPr wrap="none" rtlCol="0">
            <a:spAutoFit/>
          </a:bodyPr>
          <a:lstStyle/>
          <a:p>
            <a:r>
              <a:rPr lang="zh-TW" altLang="en-US" sz="1350" dirty="0">
                <a:latin typeface="Adobe 仿宋 Std R" panose="02020400000000000000" pitchFamily="18" charset="-128"/>
                <a:ea typeface="Adobe 仿宋 Std R" panose="02020400000000000000" pitchFamily="18" charset="-128"/>
              </a:rPr>
              <a:t>電阻</a:t>
            </a:r>
          </a:p>
        </p:txBody>
      </p:sp>
    </p:spTree>
    <p:extLst>
      <p:ext uri="{BB962C8B-B14F-4D97-AF65-F5344CB8AC3E}">
        <p14:creationId xmlns:p14="http://schemas.microsoft.com/office/powerpoint/2010/main" val="369227582"/>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字方塊 3">
            <a:extLst>
              <a:ext uri="{FF2B5EF4-FFF2-40B4-BE49-F238E27FC236}">
                <a16:creationId xmlns:a16="http://schemas.microsoft.com/office/drawing/2014/main" id="{1A0C51CA-73EF-4DD3-84E6-FA1E3C1B7453}"/>
              </a:ext>
            </a:extLst>
          </p:cNvPr>
          <p:cNvSpPr txBox="1"/>
          <p:nvPr/>
        </p:nvSpPr>
        <p:spPr>
          <a:xfrm>
            <a:off x="824564" y="1662001"/>
            <a:ext cx="2414297" cy="415498"/>
          </a:xfrm>
          <a:prstGeom prst="rect">
            <a:avLst/>
          </a:prstGeom>
          <a:noFill/>
        </p:spPr>
        <p:txBody>
          <a:bodyPr wrap="square" rtlCol="0">
            <a:spAutoFit/>
          </a:bodyPr>
          <a:lstStyle/>
          <a:p>
            <a:r>
              <a:rPr lang="zh-TW" altLang="en-US" sz="2100" dirty="0">
                <a:latin typeface="Adobe 黑体 Std R" panose="020B0400000000000000" pitchFamily="34" charset="-128"/>
                <a:ea typeface="Adobe 黑体 Std R" panose="020B0400000000000000" pitchFamily="34" charset="-128"/>
              </a:rPr>
              <a:t>輸入與輸出案例：</a:t>
            </a:r>
          </a:p>
        </p:txBody>
      </p:sp>
      <p:sp>
        <p:nvSpPr>
          <p:cNvPr id="5" name="文字方塊 4">
            <a:extLst>
              <a:ext uri="{FF2B5EF4-FFF2-40B4-BE49-F238E27FC236}">
                <a16:creationId xmlns:a16="http://schemas.microsoft.com/office/drawing/2014/main" id="{40AF923B-82D7-4A7A-8FA7-9047FBE01AA0}"/>
              </a:ext>
            </a:extLst>
          </p:cNvPr>
          <p:cNvSpPr txBox="1"/>
          <p:nvPr/>
        </p:nvSpPr>
        <p:spPr>
          <a:xfrm>
            <a:off x="906328" y="2036828"/>
            <a:ext cx="3281668" cy="923330"/>
          </a:xfrm>
          <a:prstGeom prst="rect">
            <a:avLst/>
          </a:prstGeom>
          <a:noFill/>
        </p:spPr>
        <p:txBody>
          <a:bodyPr wrap="none" rtlCol="0">
            <a:spAutoFit/>
          </a:bodyPr>
          <a:lstStyle/>
          <a:p>
            <a:r>
              <a:rPr lang="zh-TW" altLang="en-US" sz="1350" dirty="0">
                <a:latin typeface="Adobe 仿宋 Std R" panose="02020400000000000000" pitchFamily="18" charset="-128"/>
                <a:ea typeface="Adobe 仿宋 Std R" panose="02020400000000000000" pitchFamily="18" charset="-128"/>
              </a:rPr>
              <a:t>數位輸出 </a:t>
            </a:r>
            <a:r>
              <a:rPr lang="en-US" altLang="zh-TW" sz="1350" dirty="0">
                <a:latin typeface="Adobe 仿宋 Std R" panose="02020400000000000000" pitchFamily="18" charset="-128"/>
                <a:ea typeface="Adobe 仿宋 Std R" panose="02020400000000000000" pitchFamily="18" charset="-128"/>
              </a:rPr>
              <a:t>–</a:t>
            </a:r>
            <a:r>
              <a:rPr lang="zh-TW" altLang="en-US" sz="1350" dirty="0">
                <a:latin typeface="Adobe 仿宋 Std R" panose="02020400000000000000" pitchFamily="18" charset="-128"/>
                <a:ea typeface="Adobe 仿宋 Std R" panose="02020400000000000000" pitchFamily="18" charset="-128"/>
              </a:rPr>
              <a:t>內建</a:t>
            </a:r>
            <a:r>
              <a:rPr lang="en-US" altLang="zh-TW" sz="1350" dirty="0">
                <a:latin typeface="Adobe 仿宋 Std R" panose="02020400000000000000" pitchFamily="18" charset="-128"/>
                <a:ea typeface="Adobe 仿宋 Std R" panose="02020400000000000000" pitchFamily="18" charset="-128"/>
              </a:rPr>
              <a:t>LED</a:t>
            </a:r>
            <a:r>
              <a:rPr lang="zh-TW" altLang="en-US" sz="1350" dirty="0">
                <a:latin typeface="Adobe 仿宋 Std R" panose="02020400000000000000" pitchFamily="18" charset="-128"/>
                <a:ea typeface="Adobe 仿宋 Std R" panose="02020400000000000000" pitchFamily="18" charset="-128"/>
              </a:rPr>
              <a:t>控制、外接</a:t>
            </a:r>
            <a:r>
              <a:rPr lang="en-US" altLang="zh-TW" sz="1350" dirty="0">
                <a:latin typeface="Adobe 仿宋 Std R" panose="02020400000000000000" pitchFamily="18" charset="-128"/>
                <a:ea typeface="Adobe 仿宋 Std R" panose="02020400000000000000" pitchFamily="18" charset="-128"/>
              </a:rPr>
              <a:t>LED</a:t>
            </a:r>
            <a:r>
              <a:rPr lang="zh-TW" altLang="en-US" sz="1350" dirty="0">
                <a:latin typeface="Adobe 仿宋 Std R" panose="02020400000000000000" pitchFamily="18" charset="-128"/>
                <a:ea typeface="Adobe 仿宋 Std R" panose="02020400000000000000" pitchFamily="18" charset="-128"/>
              </a:rPr>
              <a:t>控制</a:t>
            </a:r>
            <a:endParaRPr lang="en-US" altLang="zh-TW" sz="1350" dirty="0">
              <a:latin typeface="Adobe 仿宋 Std R" panose="02020400000000000000" pitchFamily="18" charset="-128"/>
              <a:ea typeface="Adobe 仿宋 Std R" panose="02020400000000000000" pitchFamily="18" charset="-128"/>
            </a:endParaRPr>
          </a:p>
          <a:p>
            <a:r>
              <a:rPr lang="zh-TW" altLang="en-US" sz="1350" dirty="0">
                <a:latin typeface="Adobe 仿宋 Std R" panose="02020400000000000000" pitchFamily="18" charset="-128"/>
                <a:ea typeface="Adobe 仿宋 Std R" panose="02020400000000000000" pitchFamily="18" charset="-128"/>
              </a:rPr>
              <a:t>數位輸入 </a:t>
            </a:r>
            <a:r>
              <a:rPr lang="en-US" altLang="zh-TW" sz="1350" dirty="0">
                <a:latin typeface="Adobe 仿宋 Std R" panose="02020400000000000000" pitchFamily="18" charset="-128"/>
                <a:ea typeface="Adobe 仿宋 Std R" panose="02020400000000000000" pitchFamily="18" charset="-128"/>
              </a:rPr>
              <a:t>–</a:t>
            </a:r>
            <a:r>
              <a:rPr lang="zh-TW" altLang="en-US" sz="1350" dirty="0">
                <a:latin typeface="Adobe 仿宋 Std R" panose="02020400000000000000" pitchFamily="18" charset="-128"/>
                <a:ea typeface="Adobe 仿宋 Std R" panose="02020400000000000000" pitchFamily="18" charset="-128"/>
              </a:rPr>
              <a:t>按鈕控制</a:t>
            </a:r>
            <a:endParaRPr lang="en-US" altLang="zh-TW" sz="1350" dirty="0">
              <a:latin typeface="Adobe 仿宋 Std R" panose="02020400000000000000" pitchFamily="18" charset="-128"/>
              <a:ea typeface="Adobe 仿宋 Std R" panose="02020400000000000000" pitchFamily="18" charset="-128"/>
            </a:endParaRPr>
          </a:p>
          <a:p>
            <a:r>
              <a:rPr lang="zh-TW" altLang="en-US" sz="1350" dirty="0">
                <a:latin typeface="Adobe 仿宋 Std R" panose="02020400000000000000" pitchFamily="18" charset="-128"/>
                <a:ea typeface="Adobe 仿宋 Std R" panose="02020400000000000000" pitchFamily="18" charset="-128"/>
              </a:rPr>
              <a:t>類比輸入 </a:t>
            </a:r>
            <a:r>
              <a:rPr lang="en-US" altLang="zh-TW" sz="1350" dirty="0">
                <a:latin typeface="Adobe 仿宋 Std R" panose="02020400000000000000" pitchFamily="18" charset="-128"/>
                <a:ea typeface="Adobe 仿宋 Std R" panose="02020400000000000000" pitchFamily="18" charset="-128"/>
              </a:rPr>
              <a:t>–</a:t>
            </a:r>
            <a:r>
              <a:rPr lang="zh-TW" altLang="en-US" sz="1350" dirty="0">
                <a:latin typeface="Adobe 仿宋 Std R" panose="02020400000000000000" pitchFamily="18" charset="-128"/>
                <a:ea typeface="Adobe 仿宋 Std R" panose="02020400000000000000" pitchFamily="18" charset="-128"/>
              </a:rPr>
              <a:t>電位器控制</a:t>
            </a:r>
            <a:r>
              <a:rPr lang="en-US" altLang="zh-TW" sz="1350" dirty="0">
                <a:latin typeface="Adobe 仿宋 Std R" panose="02020400000000000000" pitchFamily="18" charset="-128"/>
                <a:ea typeface="Adobe 仿宋 Std R" panose="02020400000000000000" pitchFamily="18" charset="-128"/>
              </a:rPr>
              <a:t>  </a:t>
            </a:r>
          </a:p>
          <a:p>
            <a:r>
              <a:rPr lang="zh-TW" altLang="en-US" sz="1350" dirty="0">
                <a:latin typeface="Adobe 仿宋 Std R" panose="02020400000000000000" pitchFamily="18" charset="-128"/>
                <a:ea typeface="Adobe 仿宋 Std R" panose="02020400000000000000" pitchFamily="18" charset="-128"/>
              </a:rPr>
              <a:t>類比輸出 </a:t>
            </a:r>
            <a:r>
              <a:rPr lang="en-US" altLang="zh-TW" sz="1350" dirty="0">
                <a:latin typeface="Adobe 仿宋 Std R" panose="02020400000000000000" pitchFamily="18" charset="-128"/>
                <a:ea typeface="Adobe 仿宋 Std R" panose="02020400000000000000" pitchFamily="18" charset="-128"/>
              </a:rPr>
              <a:t>–LED</a:t>
            </a:r>
            <a:r>
              <a:rPr lang="zh-TW" altLang="en-US" sz="1350" dirty="0">
                <a:latin typeface="Adobe 仿宋 Std R" panose="02020400000000000000" pitchFamily="18" charset="-128"/>
                <a:ea typeface="Adobe 仿宋 Std R" panose="02020400000000000000" pitchFamily="18" charset="-128"/>
              </a:rPr>
              <a:t>漸亮與漸暗控制</a:t>
            </a:r>
          </a:p>
        </p:txBody>
      </p:sp>
      <p:sp>
        <p:nvSpPr>
          <p:cNvPr id="2" name="文字方塊 1">
            <a:extLst>
              <a:ext uri="{FF2B5EF4-FFF2-40B4-BE49-F238E27FC236}">
                <a16:creationId xmlns:a16="http://schemas.microsoft.com/office/drawing/2014/main" id="{1DF8E514-913F-417D-8770-EFE4ED913412}"/>
              </a:ext>
            </a:extLst>
          </p:cNvPr>
          <p:cNvSpPr txBox="1"/>
          <p:nvPr/>
        </p:nvSpPr>
        <p:spPr>
          <a:xfrm>
            <a:off x="518665" y="1433139"/>
            <a:ext cx="4168449" cy="300082"/>
          </a:xfrm>
          <a:prstGeom prst="rect">
            <a:avLst/>
          </a:prstGeom>
          <a:noFill/>
        </p:spPr>
        <p:txBody>
          <a:bodyPr wrap="none" rtlCol="0">
            <a:spAutoFit/>
          </a:bodyPr>
          <a:lstStyle/>
          <a:p>
            <a:pPr marL="214313" indent="-214313">
              <a:buBlip>
                <a:blip r:embed="rId2"/>
              </a:buBlip>
            </a:pPr>
            <a:r>
              <a:rPr lang="zh-TW" altLang="en-US" sz="1350" dirty="0">
                <a:latin typeface="Adobe 黑体 Std R" panose="020B0400000000000000" pitchFamily="34" charset="-128"/>
                <a:ea typeface="Adobe 黑体 Std R" panose="020B0400000000000000" pitchFamily="34" charset="-128"/>
              </a:rPr>
              <a:t>程式指令的說明請參考 </a:t>
            </a:r>
            <a:r>
              <a:rPr lang="en-US" altLang="zh-TW" sz="1350" dirty="0">
                <a:latin typeface="Adobe 黑体 Std R" panose="020B0400000000000000" pitchFamily="34" charset="-128"/>
                <a:ea typeface="Adobe 黑体 Std R" panose="020B0400000000000000" pitchFamily="34" charset="-128"/>
              </a:rPr>
              <a:t>Pico X2 </a:t>
            </a:r>
            <a:r>
              <a:rPr lang="zh-TW" altLang="en-US" sz="1350" dirty="0">
                <a:latin typeface="Adobe 黑体 Std R" panose="020B0400000000000000" pitchFamily="34" charset="-128"/>
                <a:ea typeface="Adobe 黑体 Std R" panose="020B0400000000000000" pitchFamily="34" charset="-128"/>
              </a:rPr>
              <a:t>程式設計指導手冊</a:t>
            </a:r>
          </a:p>
        </p:txBody>
      </p:sp>
      <p:grpSp>
        <p:nvGrpSpPr>
          <p:cNvPr id="57" name="群組 56">
            <a:extLst>
              <a:ext uri="{FF2B5EF4-FFF2-40B4-BE49-F238E27FC236}">
                <a16:creationId xmlns:a16="http://schemas.microsoft.com/office/drawing/2014/main" id="{A9B59907-8CC7-4024-BAE7-2166F1E270F0}"/>
              </a:ext>
            </a:extLst>
          </p:cNvPr>
          <p:cNvGrpSpPr/>
          <p:nvPr/>
        </p:nvGrpSpPr>
        <p:grpSpPr>
          <a:xfrm>
            <a:off x="6518465" y="1850261"/>
            <a:ext cx="540000" cy="2701159"/>
            <a:chOff x="8720469" y="1629000"/>
            <a:chExt cx="720000" cy="3601545"/>
          </a:xfrm>
        </p:grpSpPr>
        <p:grpSp>
          <p:nvGrpSpPr>
            <p:cNvPr id="43" name="群組 42">
              <a:extLst>
                <a:ext uri="{FF2B5EF4-FFF2-40B4-BE49-F238E27FC236}">
                  <a16:creationId xmlns:a16="http://schemas.microsoft.com/office/drawing/2014/main" id="{9042211E-B38D-4167-A451-E33C2759C816}"/>
                </a:ext>
              </a:extLst>
            </p:cNvPr>
            <p:cNvGrpSpPr/>
            <p:nvPr/>
          </p:nvGrpSpPr>
          <p:grpSpPr>
            <a:xfrm>
              <a:off x="8720469" y="1629000"/>
              <a:ext cx="720000" cy="1800000"/>
              <a:chOff x="8720469" y="1629000"/>
              <a:chExt cx="720000" cy="1800000"/>
            </a:xfrm>
          </p:grpSpPr>
          <p:grpSp>
            <p:nvGrpSpPr>
              <p:cNvPr id="36" name="群組 35">
                <a:extLst>
                  <a:ext uri="{FF2B5EF4-FFF2-40B4-BE49-F238E27FC236}">
                    <a16:creationId xmlns:a16="http://schemas.microsoft.com/office/drawing/2014/main" id="{77466B66-AC45-4556-B4DF-E6965F83D621}"/>
                  </a:ext>
                </a:extLst>
              </p:cNvPr>
              <p:cNvGrpSpPr/>
              <p:nvPr/>
            </p:nvGrpSpPr>
            <p:grpSpPr>
              <a:xfrm>
                <a:off x="8720469" y="1629000"/>
                <a:ext cx="360000" cy="1800000"/>
                <a:chOff x="8720469" y="1629000"/>
                <a:chExt cx="360000" cy="1800000"/>
              </a:xfrm>
            </p:grpSpPr>
            <p:sp>
              <p:nvSpPr>
                <p:cNvPr id="10" name="矩形 9">
                  <a:extLst>
                    <a:ext uri="{FF2B5EF4-FFF2-40B4-BE49-F238E27FC236}">
                      <a16:creationId xmlns:a16="http://schemas.microsoft.com/office/drawing/2014/main" id="{583C5BB4-A32E-402E-9DCD-F90ED55B8012}"/>
                    </a:ext>
                  </a:extLst>
                </p:cNvPr>
                <p:cNvSpPr/>
                <p:nvPr/>
              </p:nvSpPr>
              <p:spPr>
                <a:xfrm>
                  <a:off x="8720469" y="1629000"/>
                  <a:ext cx="360000" cy="360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15" name="矩形 14">
                  <a:extLst>
                    <a:ext uri="{FF2B5EF4-FFF2-40B4-BE49-F238E27FC236}">
                      <a16:creationId xmlns:a16="http://schemas.microsoft.com/office/drawing/2014/main" id="{3E2B1C70-5640-4F7A-A088-3C34FA6F5122}"/>
                    </a:ext>
                  </a:extLst>
                </p:cNvPr>
                <p:cNvSpPr/>
                <p:nvPr/>
              </p:nvSpPr>
              <p:spPr>
                <a:xfrm>
                  <a:off x="8720469" y="1989000"/>
                  <a:ext cx="360000" cy="360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16" name="矩形 15">
                  <a:extLst>
                    <a:ext uri="{FF2B5EF4-FFF2-40B4-BE49-F238E27FC236}">
                      <a16:creationId xmlns:a16="http://schemas.microsoft.com/office/drawing/2014/main" id="{B54C2F95-E993-4461-AFC6-1931A64824D0}"/>
                    </a:ext>
                  </a:extLst>
                </p:cNvPr>
                <p:cNvSpPr/>
                <p:nvPr/>
              </p:nvSpPr>
              <p:spPr>
                <a:xfrm>
                  <a:off x="8720469" y="2349000"/>
                  <a:ext cx="360000" cy="360000"/>
                </a:xfrm>
                <a:prstGeom prst="rect">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dirty="0"/>
                </a:p>
              </p:txBody>
            </p:sp>
            <p:sp>
              <p:nvSpPr>
                <p:cNvPr id="17" name="矩形 16">
                  <a:extLst>
                    <a:ext uri="{FF2B5EF4-FFF2-40B4-BE49-F238E27FC236}">
                      <a16:creationId xmlns:a16="http://schemas.microsoft.com/office/drawing/2014/main" id="{9BCC1961-9A71-4C78-88BD-4E0B60537175}"/>
                    </a:ext>
                  </a:extLst>
                </p:cNvPr>
                <p:cNvSpPr/>
                <p:nvPr/>
              </p:nvSpPr>
              <p:spPr>
                <a:xfrm>
                  <a:off x="8720469" y="2709000"/>
                  <a:ext cx="360000" cy="360000"/>
                </a:xfrm>
                <a:prstGeom prst="rect">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dirty="0"/>
                </a:p>
              </p:txBody>
            </p:sp>
            <p:sp>
              <p:nvSpPr>
                <p:cNvPr id="18" name="矩形 17">
                  <a:extLst>
                    <a:ext uri="{FF2B5EF4-FFF2-40B4-BE49-F238E27FC236}">
                      <a16:creationId xmlns:a16="http://schemas.microsoft.com/office/drawing/2014/main" id="{3BB435B8-6F50-4234-A030-8F1AC8D3B550}"/>
                    </a:ext>
                  </a:extLst>
                </p:cNvPr>
                <p:cNvSpPr/>
                <p:nvPr/>
              </p:nvSpPr>
              <p:spPr>
                <a:xfrm>
                  <a:off x="8720469" y="3069000"/>
                  <a:ext cx="360000" cy="360000"/>
                </a:xfrm>
                <a:prstGeom prst="rect">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grpSp>
          <p:grpSp>
            <p:nvGrpSpPr>
              <p:cNvPr id="37" name="群組 36">
                <a:extLst>
                  <a:ext uri="{FF2B5EF4-FFF2-40B4-BE49-F238E27FC236}">
                    <a16:creationId xmlns:a16="http://schemas.microsoft.com/office/drawing/2014/main" id="{6AF560D5-A303-4DA7-BBD7-AAFEB4A10D89}"/>
                  </a:ext>
                </a:extLst>
              </p:cNvPr>
              <p:cNvGrpSpPr/>
              <p:nvPr/>
            </p:nvGrpSpPr>
            <p:grpSpPr>
              <a:xfrm>
                <a:off x="9080469" y="1629000"/>
                <a:ext cx="360000" cy="1800000"/>
                <a:chOff x="8720469" y="1629000"/>
                <a:chExt cx="360000" cy="1800000"/>
              </a:xfrm>
            </p:grpSpPr>
            <p:sp>
              <p:nvSpPr>
                <p:cNvPr id="38" name="矩形 37">
                  <a:extLst>
                    <a:ext uri="{FF2B5EF4-FFF2-40B4-BE49-F238E27FC236}">
                      <a16:creationId xmlns:a16="http://schemas.microsoft.com/office/drawing/2014/main" id="{D54F47AF-E2C8-4561-A1D4-CDD5E3A7D6D7}"/>
                    </a:ext>
                  </a:extLst>
                </p:cNvPr>
                <p:cNvSpPr/>
                <p:nvPr/>
              </p:nvSpPr>
              <p:spPr>
                <a:xfrm>
                  <a:off x="8720469" y="1629000"/>
                  <a:ext cx="360000" cy="360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39" name="矩形 38">
                  <a:extLst>
                    <a:ext uri="{FF2B5EF4-FFF2-40B4-BE49-F238E27FC236}">
                      <a16:creationId xmlns:a16="http://schemas.microsoft.com/office/drawing/2014/main" id="{17FBD8B7-E4D5-445F-967E-0D58826F1787}"/>
                    </a:ext>
                  </a:extLst>
                </p:cNvPr>
                <p:cNvSpPr/>
                <p:nvPr/>
              </p:nvSpPr>
              <p:spPr>
                <a:xfrm>
                  <a:off x="8720469" y="1989000"/>
                  <a:ext cx="360000" cy="360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40" name="矩形 39">
                  <a:extLst>
                    <a:ext uri="{FF2B5EF4-FFF2-40B4-BE49-F238E27FC236}">
                      <a16:creationId xmlns:a16="http://schemas.microsoft.com/office/drawing/2014/main" id="{270D6D19-9BB0-40D6-B520-0BEBA7927746}"/>
                    </a:ext>
                  </a:extLst>
                </p:cNvPr>
                <p:cNvSpPr/>
                <p:nvPr/>
              </p:nvSpPr>
              <p:spPr>
                <a:xfrm>
                  <a:off x="8720469" y="2349000"/>
                  <a:ext cx="360000" cy="360000"/>
                </a:xfrm>
                <a:prstGeom prst="rect">
                  <a:avLst/>
                </a:prstGeom>
                <a:solidFill>
                  <a:schemeClr val="accent3">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41" name="矩形 40">
                  <a:extLst>
                    <a:ext uri="{FF2B5EF4-FFF2-40B4-BE49-F238E27FC236}">
                      <a16:creationId xmlns:a16="http://schemas.microsoft.com/office/drawing/2014/main" id="{61BD52C2-CD3F-46A9-BAA3-B760FBA67063}"/>
                    </a:ext>
                  </a:extLst>
                </p:cNvPr>
                <p:cNvSpPr/>
                <p:nvPr/>
              </p:nvSpPr>
              <p:spPr>
                <a:xfrm>
                  <a:off x="8720469" y="2709000"/>
                  <a:ext cx="360000" cy="360000"/>
                </a:xfrm>
                <a:prstGeom prst="rect">
                  <a:avLst/>
                </a:prstGeom>
                <a:solidFill>
                  <a:schemeClr val="accent3">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42" name="矩形 41">
                  <a:extLst>
                    <a:ext uri="{FF2B5EF4-FFF2-40B4-BE49-F238E27FC236}">
                      <a16:creationId xmlns:a16="http://schemas.microsoft.com/office/drawing/2014/main" id="{07590344-861E-40A2-94F4-213BA5125A2B}"/>
                    </a:ext>
                  </a:extLst>
                </p:cNvPr>
                <p:cNvSpPr/>
                <p:nvPr/>
              </p:nvSpPr>
              <p:spPr>
                <a:xfrm>
                  <a:off x="8720469" y="3069000"/>
                  <a:ext cx="360000" cy="360000"/>
                </a:xfrm>
                <a:prstGeom prst="rect">
                  <a:avLst/>
                </a:prstGeom>
                <a:solidFill>
                  <a:schemeClr val="accent3">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dirty="0"/>
                </a:p>
              </p:txBody>
            </p:sp>
          </p:grpSp>
        </p:grpSp>
        <p:grpSp>
          <p:nvGrpSpPr>
            <p:cNvPr id="44" name="群組 43">
              <a:extLst>
                <a:ext uri="{FF2B5EF4-FFF2-40B4-BE49-F238E27FC236}">
                  <a16:creationId xmlns:a16="http://schemas.microsoft.com/office/drawing/2014/main" id="{38520153-B272-4DEC-8C62-0A4ECE4316DB}"/>
                </a:ext>
              </a:extLst>
            </p:cNvPr>
            <p:cNvGrpSpPr/>
            <p:nvPr/>
          </p:nvGrpSpPr>
          <p:grpSpPr>
            <a:xfrm>
              <a:off x="8720469" y="3430545"/>
              <a:ext cx="720000" cy="1800000"/>
              <a:chOff x="8720469" y="1629000"/>
              <a:chExt cx="720000" cy="1800000"/>
            </a:xfrm>
          </p:grpSpPr>
          <p:grpSp>
            <p:nvGrpSpPr>
              <p:cNvPr id="45" name="群組 44">
                <a:extLst>
                  <a:ext uri="{FF2B5EF4-FFF2-40B4-BE49-F238E27FC236}">
                    <a16:creationId xmlns:a16="http://schemas.microsoft.com/office/drawing/2014/main" id="{F6624AEB-F7B4-4036-B565-9962BE7FC167}"/>
                  </a:ext>
                </a:extLst>
              </p:cNvPr>
              <p:cNvGrpSpPr/>
              <p:nvPr/>
            </p:nvGrpSpPr>
            <p:grpSpPr>
              <a:xfrm>
                <a:off x="8720469" y="1629000"/>
                <a:ext cx="360000" cy="1800000"/>
                <a:chOff x="8720469" y="1629000"/>
                <a:chExt cx="360000" cy="1800000"/>
              </a:xfrm>
            </p:grpSpPr>
            <p:sp>
              <p:nvSpPr>
                <p:cNvPr id="52" name="矩形 51">
                  <a:extLst>
                    <a:ext uri="{FF2B5EF4-FFF2-40B4-BE49-F238E27FC236}">
                      <a16:creationId xmlns:a16="http://schemas.microsoft.com/office/drawing/2014/main" id="{9A042AA4-C3AC-40FC-B665-3422236D6EB6}"/>
                    </a:ext>
                  </a:extLst>
                </p:cNvPr>
                <p:cNvSpPr/>
                <p:nvPr/>
              </p:nvSpPr>
              <p:spPr>
                <a:xfrm>
                  <a:off x="8720469" y="1629000"/>
                  <a:ext cx="360000" cy="360000"/>
                </a:xfrm>
                <a:prstGeom prst="rect">
                  <a:avLst/>
                </a:prstGeom>
                <a:solidFill>
                  <a:schemeClr val="accent5">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dirty="0"/>
                </a:p>
              </p:txBody>
            </p:sp>
            <p:sp>
              <p:nvSpPr>
                <p:cNvPr id="53" name="矩形 52">
                  <a:extLst>
                    <a:ext uri="{FF2B5EF4-FFF2-40B4-BE49-F238E27FC236}">
                      <a16:creationId xmlns:a16="http://schemas.microsoft.com/office/drawing/2014/main" id="{2BE0EC9F-8A6E-4191-9254-0B3D90D4B921}"/>
                    </a:ext>
                  </a:extLst>
                </p:cNvPr>
                <p:cNvSpPr/>
                <p:nvPr/>
              </p:nvSpPr>
              <p:spPr>
                <a:xfrm>
                  <a:off x="8720469" y="1989000"/>
                  <a:ext cx="360000" cy="360000"/>
                </a:xfrm>
                <a:prstGeom prst="rect">
                  <a:avLst/>
                </a:prstGeom>
                <a:solidFill>
                  <a:schemeClr val="accent5">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54" name="矩形 53">
                  <a:extLst>
                    <a:ext uri="{FF2B5EF4-FFF2-40B4-BE49-F238E27FC236}">
                      <a16:creationId xmlns:a16="http://schemas.microsoft.com/office/drawing/2014/main" id="{25AA63E9-E588-472A-A158-0C3D5DE2C98F}"/>
                    </a:ext>
                  </a:extLst>
                </p:cNvPr>
                <p:cNvSpPr/>
                <p:nvPr/>
              </p:nvSpPr>
              <p:spPr>
                <a:xfrm>
                  <a:off x="8720469" y="2349000"/>
                  <a:ext cx="360000" cy="360000"/>
                </a:xfrm>
                <a:prstGeom prst="rect">
                  <a:avLst/>
                </a:prstGeom>
                <a:solidFill>
                  <a:schemeClr val="accent3">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dirty="0"/>
                </a:p>
              </p:txBody>
            </p:sp>
            <p:sp>
              <p:nvSpPr>
                <p:cNvPr id="55" name="矩形 54">
                  <a:extLst>
                    <a:ext uri="{FF2B5EF4-FFF2-40B4-BE49-F238E27FC236}">
                      <a16:creationId xmlns:a16="http://schemas.microsoft.com/office/drawing/2014/main" id="{9CCDEDFE-F64C-45B0-B4A3-8CBCEC6078FA}"/>
                    </a:ext>
                  </a:extLst>
                </p:cNvPr>
                <p:cNvSpPr/>
                <p:nvPr/>
              </p:nvSpPr>
              <p:spPr>
                <a:xfrm>
                  <a:off x="8720469" y="2709000"/>
                  <a:ext cx="360000" cy="360000"/>
                </a:xfrm>
                <a:prstGeom prst="rect">
                  <a:avLst/>
                </a:prstGeom>
                <a:solidFill>
                  <a:schemeClr val="accent3">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56" name="矩形 55">
                  <a:extLst>
                    <a:ext uri="{FF2B5EF4-FFF2-40B4-BE49-F238E27FC236}">
                      <a16:creationId xmlns:a16="http://schemas.microsoft.com/office/drawing/2014/main" id="{4397BAF1-5AD6-445D-8B73-1B6433BB8A8B}"/>
                    </a:ext>
                  </a:extLst>
                </p:cNvPr>
                <p:cNvSpPr/>
                <p:nvPr/>
              </p:nvSpPr>
              <p:spPr>
                <a:xfrm>
                  <a:off x="8720469" y="3069000"/>
                  <a:ext cx="360000" cy="360000"/>
                </a:xfrm>
                <a:prstGeom prst="rect">
                  <a:avLst/>
                </a:prstGeom>
                <a:solidFill>
                  <a:schemeClr val="accent3">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dirty="0"/>
                </a:p>
              </p:txBody>
            </p:sp>
          </p:grpSp>
          <p:grpSp>
            <p:nvGrpSpPr>
              <p:cNvPr id="46" name="群組 45">
                <a:extLst>
                  <a:ext uri="{FF2B5EF4-FFF2-40B4-BE49-F238E27FC236}">
                    <a16:creationId xmlns:a16="http://schemas.microsoft.com/office/drawing/2014/main" id="{64DA183B-5387-4502-A191-34AAC3914319}"/>
                  </a:ext>
                </a:extLst>
              </p:cNvPr>
              <p:cNvGrpSpPr/>
              <p:nvPr/>
            </p:nvGrpSpPr>
            <p:grpSpPr>
              <a:xfrm>
                <a:off x="9080469" y="1629000"/>
                <a:ext cx="360000" cy="1800000"/>
                <a:chOff x="8720469" y="1629000"/>
                <a:chExt cx="360000" cy="1800000"/>
              </a:xfrm>
            </p:grpSpPr>
            <p:sp>
              <p:nvSpPr>
                <p:cNvPr id="47" name="矩形 46">
                  <a:extLst>
                    <a:ext uri="{FF2B5EF4-FFF2-40B4-BE49-F238E27FC236}">
                      <a16:creationId xmlns:a16="http://schemas.microsoft.com/office/drawing/2014/main" id="{5C8EE6B1-F3C3-42BB-BEC4-9ECDA90056F6}"/>
                    </a:ext>
                  </a:extLst>
                </p:cNvPr>
                <p:cNvSpPr/>
                <p:nvPr/>
              </p:nvSpPr>
              <p:spPr>
                <a:xfrm>
                  <a:off x="8720469" y="1629000"/>
                  <a:ext cx="360000" cy="360000"/>
                </a:xfrm>
                <a:prstGeom prst="rect">
                  <a:avLst/>
                </a:prstGeom>
                <a:solidFill>
                  <a:schemeClr val="accent5">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dirty="0"/>
                </a:p>
              </p:txBody>
            </p:sp>
            <p:sp>
              <p:nvSpPr>
                <p:cNvPr id="48" name="矩形 47">
                  <a:extLst>
                    <a:ext uri="{FF2B5EF4-FFF2-40B4-BE49-F238E27FC236}">
                      <a16:creationId xmlns:a16="http://schemas.microsoft.com/office/drawing/2014/main" id="{FDEEF492-271C-4904-9677-1603C6ADAD39}"/>
                    </a:ext>
                  </a:extLst>
                </p:cNvPr>
                <p:cNvSpPr/>
                <p:nvPr/>
              </p:nvSpPr>
              <p:spPr>
                <a:xfrm>
                  <a:off x="8720469" y="1989000"/>
                  <a:ext cx="360000" cy="360000"/>
                </a:xfrm>
                <a:prstGeom prst="rect">
                  <a:avLst/>
                </a:prstGeom>
                <a:solidFill>
                  <a:schemeClr val="accent5">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49" name="矩形 48">
                  <a:extLst>
                    <a:ext uri="{FF2B5EF4-FFF2-40B4-BE49-F238E27FC236}">
                      <a16:creationId xmlns:a16="http://schemas.microsoft.com/office/drawing/2014/main" id="{710216B3-5780-4CBF-9A2B-1D754129B7FB}"/>
                    </a:ext>
                  </a:extLst>
                </p:cNvPr>
                <p:cNvSpPr/>
                <p:nvPr/>
              </p:nvSpPr>
              <p:spPr>
                <a:xfrm>
                  <a:off x="8720469" y="2349000"/>
                  <a:ext cx="360000" cy="360000"/>
                </a:xfrm>
                <a:prstGeom prst="rect">
                  <a:avLst/>
                </a:prstGeom>
                <a:solidFill>
                  <a:schemeClr val="accent3">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dirty="0"/>
                </a:p>
              </p:txBody>
            </p:sp>
            <p:sp>
              <p:nvSpPr>
                <p:cNvPr id="50" name="矩形 49">
                  <a:extLst>
                    <a:ext uri="{FF2B5EF4-FFF2-40B4-BE49-F238E27FC236}">
                      <a16:creationId xmlns:a16="http://schemas.microsoft.com/office/drawing/2014/main" id="{5621EA0F-DEB7-4F9D-94FB-CA3BE80897C4}"/>
                    </a:ext>
                  </a:extLst>
                </p:cNvPr>
                <p:cNvSpPr/>
                <p:nvPr/>
              </p:nvSpPr>
              <p:spPr>
                <a:xfrm>
                  <a:off x="8720469" y="2709000"/>
                  <a:ext cx="360000" cy="360000"/>
                </a:xfrm>
                <a:prstGeom prst="rect">
                  <a:avLst/>
                </a:prstGeom>
                <a:solidFill>
                  <a:schemeClr val="accent3">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51" name="矩形 50">
                  <a:extLst>
                    <a:ext uri="{FF2B5EF4-FFF2-40B4-BE49-F238E27FC236}">
                      <a16:creationId xmlns:a16="http://schemas.microsoft.com/office/drawing/2014/main" id="{1FB47B9F-B3E5-457E-87DF-65A422CDD1E8}"/>
                    </a:ext>
                  </a:extLst>
                </p:cNvPr>
                <p:cNvSpPr/>
                <p:nvPr/>
              </p:nvSpPr>
              <p:spPr>
                <a:xfrm>
                  <a:off x="8720469" y="3069000"/>
                  <a:ext cx="360000" cy="360000"/>
                </a:xfrm>
                <a:prstGeom prst="rect">
                  <a:avLst/>
                </a:prstGeom>
                <a:solidFill>
                  <a:schemeClr val="accent3">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grpSp>
        </p:grpSp>
      </p:grpSp>
      <p:sp>
        <p:nvSpPr>
          <p:cNvPr id="58" name="文字方塊 57">
            <a:extLst>
              <a:ext uri="{FF2B5EF4-FFF2-40B4-BE49-F238E27FC236}">
                <a16:creationId xmlns:a16="http://schemas.microsoft.com/office/drawing/2014/main" id="{E235D6C5-1A8E-41F1-9BAA-8C438559180F}"/>
              </a:ext>
            </a:extLst>
          </p:cNvPr>
          <p:cNvSpPr txBox="1"/>
          <p:nvPr/>
        </p:nvSpPr>
        <p:spPr>
          <a:xfrm>
            <a:off x="5651305" y="4707548"/>
            <a:ext cx="2484976" cy="415498"/>
          </a:xfrm>
          <a:prstGeom prst="rect">
            <a:avLst/>
          </a:prstGeom>
          <a:noFill/>
        </p:spPr>
        <p:txBody>
          <a:bodyPr wrap="none" rtlCol="0">
            <a:spAutoFit/>
          </a:bodyPr>
          <a:lstStyle/>
          <a:p>
            <a:r>
              <a:rPr lang="en-US" altLang="zh-TW" sz="2100" dirty="0">
                <a:latin typeface="Adobe 黑体 Std R" panose="020B0400000000000000" pitchFamily="34" charset="-128"/>
                <a:ea typeface="Adobe 黑体 Std R" panose="020B0400000000000000" pitchFamily="34" charset="-128"/>
              </a:rPr>
              <a:t>Pico X2 </a:t>
            </a:r>
            <a:r>
              <a:rPr lang="zh-TW" altLang="en-US" sz="2100" dirty="0">
                <a:latin typeface="Adobe 黑体 Std R" panose="020B0400000000000000" pitchFamily="34" charset="-128"/>
                <a:ea typeface="Adobe 黑体 Std R" panose="020B0400000000000000" pitchFamily="34" charset="-128"/>
              </a:rPr>
              <a:t>開放式腳位</a:t>
            </a:r>
          </a:p>
        </p:txBody>
      </p:sp>
      <p:sp>
        <p:nvSpPr>
          <p:cNvPr id="59" name="文字方塊 58">
            <a:extLst>
              <a:ext uri="{FF2B5EF4-FFF2-40B4-BE49-F238E27FC236}">
                <a16:creationId xmlns:a16="http://schemas.microsoft.com/office/drawing/2014/main" id="{BE9B5A69-9AFF-444A-A12A-428E3E7332A2}"/>
              </a:ext>
            </a:extLst>
          </p:cNvPr>
          <p:cNvSpPr txBox="1"/>
          <p:nvPr/>
        </p:nvSpPr>
        <p:spPr>
          <a:xfrm>
            <a:off x="6001281" y="1875138"/>
            <a:ext cx="540533" cy="300082"/>
          </a:xfrm>
          <a:prstGeom prst="rect">
            <a:avLst/>
          </a:prstGeom>
          <a:noFill/>
        </p:spPr>
        <p:txBody>
          <a:bodyPr wrap="none" rtlCol="0">
            <a:spAutoFit/>
          </a:bodyPr>
          <a:lstStyle/>
          <a:p>
            <a:r>
              <a:rPr lang="en-US" altLang="zh-TW" sz="1350" dirty="0"/>
              <a:t>3.3V</a:t>
            </a:r>
            <a:endParaRPr lang="zh-TW" altLang="en-US" sz="1350" dirty="0"/>
          </a:p>
        </p:txBody>
      </p:sp>
      <p:sp>
        <p:nvSpPr>
          <p:cNvPr id="60" name="文字方塊 59">
            <a:extLst>
              <a:ext uri="{FF2B5EF4-FFF2-40B4-BE49-F238E27FC236}">
                <a16:creationId xmlns:a16="http://schemas.microsoft.com/office/drawing/2014/main" id="{970A66A6-ABE7-407E-88F6-73A8F06AF151}"/>
              </a:ext>
            </a:extLst>
          </p:cNvPr>
          <p:cNvSpPr txBox="1"/>
          <p:nvPr/>
        </p:nvSpPr>
        <p:spPr>
          <a:xfrm>
            <a:off x="6001281" y="2120647"/>
            <a:ext cx="540533" cy="300082"/>
          </a:xfrm>
          <a:prstGeom prst="rect">
            <a:avLst/>
          </a:prstGeom>
          <a:noFill/>
        </p:spPr>
        <p:txBody>
          <a:bodyPr wrap="none" rtlCol="0">
            <a:spAutoFit/>
          </a:bodyPr>
          <a:lstStyle/>
          <a:p>
            <a:r>
              <a:rPr lang="en-US" altLang="zh-TW" sz="1350" dirty="0"/>
              <a:t>3.3V</a:t>
            </a:r>
            <a:endParaRPr lang="zh-TW" altLang="en-US" sz="1350" dirty="0"/>
          </a:p>
        </p:txBody>
      </p:sp>
      <p:sp>
        <p:nvSpPr>
          <p:cNvPr id="61" name="文字方塊 60">
            <a:extLst>
              <a:ext uri="{FF2B5EF4-FFF2-40B4-BE49-F238E27FC236}">
                <a16:creationId xmlns:a16="http://schemas.microsoft.com/office/drawing/2014/main" id="{F304B366-D569-4DDD-9AAD-4281969276BD}"/>
              </a:ext>
            </a:extLst>
          </p:cNvPr>
          <p:cNvSpPr txBox="1"/>
          <p:nvPr/>
        </p:nvSpPr>
        <p:spPr>
          <a:xfrm>
            <a:off x="5849316" y="2412256"/>
            <a:ext cx="646331" cy="300082"/>
          </a:xfrm>
          <a:prstGeom prst="rect">
            <a:avLst/>
          </a:prstGeom>
          <a:noFill/>
        </p:spPr>
        <p:txBody>
          <a:bodyPr wrap="none" rtlCol="0">
            <a:spAutoFit/>
          </a:bodyPr>
          <a:lstStyle/>
          <a:p>
            <a:pPr algn="r"/>
            <a:r>
              <a:rPr lang="en-US" altLang="zh-TW" sz="1350" dirty="0"/>
              <a:t>ADC0</a:t>
            </a:r>
            <a:endParaRPr lang="zh-TW" altLang="en-US" sz="1350" dirty="0"/>
          </a:p>
        </p:txBody>
      </p:sp>
      <p:sp>
        <p:nvSpPr>
          <p:cNvPr id="62" name="文字方塊 61">
            <a:extLst>
              <a:ext uri="{FF2B5EF4-FFF2-40B4-BE49-F238E27FC236}">
                <a16:creationId xmlns:a16="http://schemas.microsoft.com/office/drawing/2014/main" id="{810382AD-D600-4858-B5E6-419243B42BD4}"/>
              </a:ext>
            </a:extLst>
          </p:cNvPr>
          <p:cNvSpPr txBox="1"/>
          <p:nvPr/>
        </p:nvSpPr>
        <p:spPr>
          <a:xfrm>
            <a:off x="5849315" y="2657766"/>
            <a:ext cx="646331" cy="300082"/>
          </a:xfrm>
          <a:prstGeom prst="rect">
            <a:avLst/>
          </a:prstGeom>
          <a:noFill/>
        </p:spPr>
        <p:txBody>
          <a:bodyPr wrap="none" rtlCol="0">
            <a:spAutoFit/>
          </a:bodyPr>
          <a:lstStyle/>
          <a:p>
            <a:pPr algn="r"/>
            <a:r>
              <a:rPr lang="en-US" altLang="zh-TW" sz="1350" dirty="0"/>
              <a:t>ADC1</a:t>
            </a:r>
            <a:endParaRPr lang="zh-TW" altLang="en-US" sz="1350" dirty="0"/>
          </a:p>
        </p:txBody>
      </p:sp>
      <p:sp>
        <p:nvSpPr>
          <p:cNvPr id="63" name="文字方塊 62">
            <a:extLst>
              <a:ext uri="{FF2B5EF4-FFF2-40B4-BE49-F238E27FC236}">
                <a16:creationId xmlns:a16="http://schemas.microsoft.com/office/drawing/2014/main" id="{229A60EC-E499-4975-8C23-93C6188A066C}"/>
              </a:ext>
            </a:extLst>
          </p:cNvPr>
          <p:cNvSpPr txBox="1"/>
          <p:nvPr/>
        </p:nvSpPr>
        <p:spPr>
          <a:xfrm>
            <a:off x="5849314" y="2949375"/>
            <a:ext cx="646331" cy="300082"/>
          </a:xfrm>
          <a:prstGeom prst="rect">
            <a:avLst/>
          </a:prstGeom>
          <a:noFill/>
        </p:spPr>
        <p:txBody>
          <a:bodyPr wrap="none" rtlCol="0">
            <a:spAutoFit/>
          </a:bodyPr>
          <a:lstStyle/>
          <a:p>
            <a:pPr algn="r"/>
            <a:r>
              <a:rPr lang="en-US" altLang="zh-TW" sz="1350" dirty="0"/>
              <a:t>ADC2</a:t>
            </a:r>
            <a:endParaRPr lang="zh-TW" altLang="en-US" sz="1350" dirty="0"/>
          </a:p>
        </p:txBody>
      </p:sp>
      <p:sp>
        <p:nvSpPr>
          <p:cNvPr id="64" name="文字方塊 63">
            <a:extLst>
              <a:ext uri="{FF2B5EF4-FFF2-40B4-BE49-F238E27FC236}">
                <a16:creationId xmlns:a16="http://schemas.microsoft.com/office/drawing/2014/main" id="{F59BC742-9018-4B0A-B595-8784926C0544}"/>
              </a:ext>
            </a:extLst>
          </p:cNvPr>
          <p:cNvSpPr txBox="1"/>
          <p:nvPr/>
        </p:nvSpPr>
        <p:spPr>
          <a:xfrm>
            <a:off x="5926257" y="3205699"/>
            <a:ext cx="569388" cy="300082"/>
          </a:xfrm>
          <a:prstGeom prst="rect">
            <a:avLst/>
          </a:prstGeom>
          <a:noFill/>
        </p:spPr>
        <p:txBody>
          <a:bodyPr wrap="none" rtlCol="0">
            <a:spAutoFit/>
          </a:bodyPr>
          <a:lstStyle/>
          <a:p>
            <a:pPr algn="r"/>
            <a:r>
              <a:rPr lang="en-US" altLang="zh-TW" sz="1350" dirty="0"/>
              <a:t>GND</a:t>
            </a:r>
            <a:endParaRPr lang="zh-TW" altLang="en-US" sz="1350" dirty="0"/>
          </a:p>
        </p:txBody>
      </p:sp>
      <p:sp>
        <p:nvSpPr>
          <p:cNvPr id="65" name="文字方塊 64">
            <a:extLst>
              <a:ext uri="{FF2B5EF4-FFF2-40B4-BE49-F238E27FC236}">
                <a16:creationId xmlns:a16="http://schemas.microsoft.com/office/drawing/2014/main" id="{CE161740-E80E-44D5-A90C-24FF2D17BB9F}"/>
              </a:ext>
            </a:extLst>
          </p:cNvPr>
          <p:cNvSpPr txBox="1"/>
          <p:nvPr/>
        </p:nvSpPr>
        <p:spPr>
          <a:xfrm>
            <a:off x="6099383" y="3467920"/>
            <a:ext cx="396262" cy="300082"/>
          </a:xfrm>
          <a:prstGeom prst="rect">
            <a:avLst/>
          </a:prstGeom>
          <a:noFill/>
        </p:spPr>
        <p:txBody>
          <a:bodyPr wrap="none" rtlCol="0">
            <a:spAutoFit/>
          </a:bodyPr>
          <a:lstStyle/>
          <a:p>
            <a:pPr algn="r"/>
            <a:r>
              <a:rPr lang="en-US" altLang="zh-TW" sz="1350" dirty="0"/>
              <a:t>5V</a:t>
            </a:r>
            <a:endParaRPr lang="zh-TW" altLang="en-US" sz="1350" dirty="0"/>
          </a:p>
        </p:txBody>
      </p:sp>
      <p:sp>
        <p:nvSpPr>
          <p:cNvPr id="66" name="文字方塊 65">
            <a:extLst>
              <a:ext uri="{FF2B5EF4-FFF2-40B4-BE49-F238E27FC236}">
                <a16:creationId xmlns:a16="http://schemas.microsoft.com/office/drawing/2014/main" id="{8AE185D1-71C9-4A35-A52B-5D056C5C48AA}"/>
              </a:ext>
            </a:extLst>
          </p:cNvPr>
          <p:cNvSpPr txBox="1"/>
          <p:nvPr/>
        </p:nvSpPr>
        <p:spPr>
          <a:xfrm>
            <a:off x="5964728" y="3752691"/>
            <a:ext cx="569388" cy="300082"/>
          </a:xfrm>
          <a:prstGeom prst="rect">
            <a:avLst/>
          </a:prstGeom>
          <a:noFill/>
        </p:spPr>
        <p:txBody>
          <a:bodyPr wrap="none" rtlCol="0">
            <a:spAutoFit/>
          </a:bodyPr>
          <a:lstStyle/>
          <a:p>
            <a:pPr algn="r"/>
            <a:r>
              <a:rPr lang="en-US" altLang="zh-TW" sz="1350" dirty="0"/>
              <a:t>GND</a:t>
            </a:r>
            <a:endParaRPr lang="zh-TW" altLang="en-US" sz="1350" dirty="0"/>
          </a:p>
        </p:txBody>
      </p:sp>
      <p:sp>
        <p:nvSpPr>
          <p:cNvPr id="67" name="文字方塊 66">
            <a:extLst>
              <a:ext uri="{FF2B5EF4-FFF2-40B4-BE49-F238E27FC236}">
                <a16:creationId xmlns:a16="http://schemas.microsoft.com/office/drawing/2014/main" id="{0BF7EBD0-1A30-4D98-B4F0-F84A34FFCBDC}"/>
              </a:ext>
            </a:extLst>
          </p:cNvPr>
          <p:cNvSpPr txBox="1"/>
          <p:nvPr/>
        </p:nvSpPr>
        <p:spPr>
          <a:xfrm>
            <a:off x="6099383" y="4014911"/>
            <a:ext cx="396262" cy="300082"/>
          </a:xfrm>
          <a:prstGeom prst="rect">
            <a:avLst/>
          </a:prstGeom>
          <a:noFill/>
        </p:spPr>
        <p:txBody>
          <a:bodyPr wrap="none" rtlCol="0">
            <a:spAutoFit/>
          </a:bodyPr>
          <a:lstStyle/>
          <a:p>
            <a:pPr algn="r"/>
            <a:r>
              <a:rPr lang="en-US" altLang="zh-TW" sz="1350" dirty="0"/>
              <a:t>5V</a:t>
            </a:r>
            <a:endParaRPr lang="zh-TW" altLang="en-US" sz="1350" dirty="0"/>
          </a:p>
        </p:txBody>
      </p:sp>
      <p:sp>
        <p:nvSpPr>
          <p:cNvPr id="68" name="文字方塊 67">
            <a:extLst>
              <a:ext uri="{FF2B5EF4-FFF2-40B4-BE49-F238E27FC236}">
                <a16:creationId xmlns:a16="http://schemas.microsoft.com/office/drawing/2014/main" id="{E2ED31A5-78A7-423F-9ADF-108D13447C32}"/>
              </a:ext>
            </a:extLst>
          </p:cNvPr>
          <p:cNvSpPr txBox="1"/>
          <p:nvPr/>
        </p:nvSpPr>
        <p:spPr>
          <a:xfrm>
            <a:off x="6070528" y="4299394"/>
            <a:ext cx="425117" cy="300082"/>
          </a:xfrm>
          <a:prstGeom prst="rect">
            <a:avLst/>
          </a:prstGeom>
          <a:noFill/>
        </p:spPr>
        <p:txBody>
          <a:bodyPr wrap="none" rtlCol="0">
            <a:spAutoFit/>
          </a:bodyPr>
          <a:lstStyle/>
          <a:p>
            <a:pPr algn="r"/>
            <a:r>
              <a:rPr lang="en-US" altLang="zh-TW" sz="1350" dirty="0"/>
              <a:t>CS</a:t>
            </a:r>
            <a:endParaRPr lang="zh-TW" altLang="en-US" sz="1350" dirty="0"/>
          </a:p>
        </p:txBody>
      </p:sp>
      <p:sp>
        <p:nvSpPr>
          <p:cNvPr id="69" name="文字方塊 68">
            <a:extLst>
              <a:ext uri="{FF2B5EF4-FFF2-40B4-BE49-F238E27FC236}">
                <a16:creationId xmlns:a16="http://schemas.microsoft.com/office/drawing/2014/main" id="{32E2047C-96C5-4AF9-ACF7-3DF041243E98}"/>
              </a:ext>
            </a:extLst>
          </p:cNvPr>
          <p:cNvSpPr txBox="1"/>
          <p:nvPr/>
        </p:nvSpPr>
        <p:spPr>
          <a:xfrm>
            <a:off x="7082851" y="2397646"/>
            <a:ext cx="530915" cy="300082"/>
          </a:xfrm>
          <a:prstGeom prst="rect">
            <a:avLst/>
          </a:prstGeom>
          <a:noFill/>
        </p:spPr>
        <p:txBody>
          <a:bodyPr wrap="none" rtlCol="0">
            <a:spAutoFit/>
          </a:bodyPr>
          <a:lstStyle/>
          <a:p>
            <a:r>
              <a:rPr lang="en-US" altLang="zh-TW" sz="1350" dirty="0"/>
              <a:t>GP2</a:t>
            </a:r>
            <a:endParaRPr lang="zh-TW" altLang="en-US" sz="1350" dirty="0"/>
          </a:p>
        </p:txBody>
      </p:sp>
      <p:sp>
        <p:nvSpPr>
          <p:cNvPr id="70" name="文字方塊 69">
            <a:extLst>
              <a:ext uri="{FF2B5EF4-FFF2-40B4-BE49-F238E27FC236}">
                <a16:creationId xmlns:a16="http://schemas.microsoft.com/office/drawing/2014/main" id="{DE057F00-88C3-4D5D-B39D-D31C5A29F06F}"/>
              </a:ext>
            </a:extLst>
          </p:cNvPr>
          <p:cNvSpPr txBox="1"/>
          <p:nvPr/>
        </p:nvSpPr>
        <p:spPr>
          <a:xfrm>
            <a:off x="7082851" y="2135257"/>
            <a:ext cx="569387" cy="300082"/>
          </a:xfrm>
          <a:prstGeom prst="rect">
            <a:avLst/>
          </a:prstGeom>
          <a:noFill/>
        </p:spPr>
        <p:txBody>
          <a:bodyPr wrap="none" rtlCol="0">
            <a:spAutoFit/>
          </a:bodyPr>
          <a:lstStyle/>
          <a:p>
            <a:r>
              <a:rPr lang="en-US" altLang="zh-TW" sz="1350" dirty="0"/>
              <a:t>GND</a:t>
            </a:r>
            <a:endParaRPr lang="zh-TW" altLang="en-US" sz="1350" dirty="0"/>
          </a:p>
        </p:txBody>
      </p:sp>
      <p:sp>
        <p:nvSpPr>
          <p:cNvPr id="71" name="文字方塊 70">
            <a:extLst>
              <a:ext uri="{FF2B5EF4-FFF2-40B4-BE49-F238E27FC236}">
                <a16:creationId xmlns:a16="http://schemas.microsoft.com/office/drawing/2014/main" id="{90FB0E50-7A14-45BF-A3B4-4B8329F9934F}"/>
              </a:ext>
            </a:extLst>
          </p:cNvPr>
          <p:cNvSpPr txBox="1"/>
          <p:nvPr/>
        </p:nvSpPr>
        <p:spPr>
          <a:xfrm>
            <a:off x="7082852" y="1872097"/>
            <a:ext cx="569387" cy="300082"/>
          </a:xfrm>
          <a:prstGeom prst="rect">
            <a:avLst/>
          </a:prstGeom>
          <a:noFill/>
        </p:spPr>
        <p:txBody>
          <a:bodyPr wrap="none" rtlCol="0">
            <a:spAutoFit/>
          </a:bodyPr>
          <a:lstStyle/>
          <a:p>
            <a:r>
              <a:rPr lang="en-US" altLang="zh-TW" sz="1350" dirty="0"/>
              <a:t>GND</a:t>
            </a:r>
            <a:endParaRPr lang="zh-TW" altLang="en-US" sz="1350" dirty="0"/>
          </a:p>
        </p:txBody>
      </p:sp>
      <p:sp>
        <p:nvSpPr>
          <p:cNvPr id="72" name="文字方塊 71">
            <a:extLst>
              <a:ext uri="{FF2B5EF4-FFF2-40B4-BE49-F238E27FC236}">
                <a16:creationId xmlns:a16="http://schemas.microsoft.com/office/drawing/2014/main" id="{736A40B4-3360-4398-8D1D-1BFBD0871612}"/>
              </a:ext>
            </a:extLst>
          </p:cNvPr>
          <p:cNvSpPr txBox="1"/>
          <p:nvPr/>
        </p:nvSpPr>
        <p:spPr>
          <a:xfrm>
            <a:off x="7081285" y="2650009"/>
            <a:ext cx="530915" cy="300082"/>
          </a:xfrm>
          <a:prstGeom prst="rect">
            <a:avLst/>
          </a:prstGeom>
          <a:noFill/>
        </p:spPr>
        <p:txBody>
          <a:bodyPr wrap="none" rtlCol="0">
            <a:spAutoFit/>
          </a:bodyPr>
          <a:lstStyle/>
          <a:p>
            <a:r>
              <a:rPr lang="en-US" altLang="zh-TW" sz="1350" dirty="0"/>
              <a:t>GP3</a:t>
            </a:r>
            <a:endParaRPr lang="zh-TW" altLang="en-US" sz="1350" dirty="0"/>
          </a:p>
        </p:txBody>
      </p:sp>
      <p:sp>
        <p:nvSpPr>
          <p:cNvPr id="73" name="文字方塊 72">
            <a:extLst>
              <a:ext uri="{FF2B5EF4-FFF2-40B4-BE49-F238E27FC236}">
                <a16:creationId xmlns:a16="http://schemas.microsoft.com/office/drawing/2014/main" id="{EA8D53BC-E513-4654-9E1B-0D1D62514233}"/>
              </a:ext>
            </a:extLst>
          </p:cNvPr>
          <p:cNvSpPr txBox="1"/>
          <p:nvPr/>
        </p:nvSpPr>
        <p:spPr>
          <a:xfrm>
            <a:off x="7079718" y="2927920"/>
            <a:ext cx="530915" cy="300082"/>
          </a:xfrm>
          <a:prstGeom prst="rect">
            <a:avLst/>
          </a:prstGeom>
          <a:noFill/>
        </p:spPr>
        <p:txBody>
          <a:bodyPr wrap="none" rtlCol="0">
            <a:spAutoFit/>
          </a:bodyPr>
          <a:lstStyle/>
          <a:p>
            <a:r>
              <a:rPr lang="en-US" altLang="zh-TW" sz="1350" dirty="0"/>
              <a:t>GP4</a:t>
            </a:r>
            <a:endParaRPr lang="zh-TW" altLang="en-US" sz="1350" dirty="0"/>
          </a:p>
        </p:txBody>
      </p:sp>
      <p:sp>
        <p:nvSpPr>
          <p:cNvPr id="74" name="文字方塊 73">
            <a:extLst>
              <a:ext uri="{FF2B5EF4-FFF2-40B4-BE49-F238E27FC236}">
                <a16:creationId xmlns:a16="http://schemas.microsoft.com/office/drawing/2014/main" id="{2EA94416-2968-4E72-99FF-E9EB7AEEE34B}"/>
              </a:ext>
            </a:extLst>
          </p:cNvPr>
          <p:cNvSpPr txBox="1"/>
          <p:nvPr/>
        </p:nvSpPr>
        <p:spPr>
          <a:xfrm>
            <a:off x="7086090" y="3207739"/>
            <a:ext cx="540533" cy="300082"/>
          </a:xfrm>
          <a:prstGeom prst="rect">
            <a:avLst/>
          </a:prstGeom>
          <a:noFill/>
        </p:spPr>
        <p:txBody>
          <a:bodyPr wrap="none" rtlCol="0">
            <a:spAutoFit/>
          </a:bodyPr>
          <a:lstStyle/>
          <a:p>
            <a:r>
              <a:rPr lang="en-US" altLang="zh-TW" sz="1350" dirty="0"/>
              <a:t>SDA</a:t>
            </a:r>
            <a:endParaRPr lang="zh-TW" altLang="en-US" sz="1350" dirty="0"/>
          </a:p>
        </p:txBody>
      </p:sp>
      <p:sp>
        <p:nvSpPr>
          <p:cNvPr id="75" name="文字方塊 74">
            <a:extLst>
              <a:ext uri="{FF2B5EF4-FFF2-40B4-BE49-F238E27FC236}">
                <a16:creationId xmlns:a16="http://schemas.microsoft.com/office/drawing/2014/main" id="{5988EF14-9C53-46AD-A8E8-A7253D8E28EC}"/>
              </a:ext>
            </a:extLst>
          </p:cNvPr>
          <p:cNvSpPr txBox="1"/>
          <p:nvPr/>
        </p:nvSpPr>
        <p:spPr>
          <a:xfrm>
            <a:off x="7090899" y="3487559"/>
            <a:ext cx="521297" cy="300082"/>
          </a:xfrm>
          <a:prstGeom prst="rect">
            <a:avLst/>
          </a:prstGeom>
          <a:noFill/>
        </p:spPr>
        <p:txBody>
          <a:bodyPr wrap="none" rtlCol="0">
            <a:spAutoFit/>
          </a:bodyPr>
          <a:lstStyle/>
          <a:p>
            <a:r>
              <a:rPr lang="en-US" altLang="zh-TW" sz="1350" dirty="0"/>
              <a:t>SCL</a:t>
            </a:r>
            <a:endParaRPr lang="zh-TW" altLang="en-US" sz="1350" dirty="0"/>
          </a:p>
        </p:txBody>
      </p:sp>
      <p:sp>
        <p:nvSpPr>
          <p:cNvPr id="76" name="文字方塊 75">
            <a:extLst>
              <a:ext uri="{FF2B5EF4-FFF2-40B4-BE49-F238E27FC236}">
                <a16:creationId xmlns:a16="http://schemas.microsoft.com/office/drawing/2014/main" id="{6F97036C-968F-4C7A-B962-81BDD22CA508}"/>
              </a:ext>
            </a:extLst>
          </p:cNvPr>
          <p:cNvSpPr txBox="1"/>
          <p:nvPr/>
        </p:nvSpPr>
        <p:spPr>
          <a:xfrm>
            <a:off x="7090900" y="3723403"/>
            <a:ext cx="627095" cy="300082"/>
          </a:xfrm>
          <a:prstGeom prst="rect">
            <a:avLst/>
          </a:prstGeom>
          <a:noFill/>
        </p:spPr>
        <p:txBody>
          <a:bodyPr wrap="none" rtlCol="0">
            <a:spAutoFit/>
          </a:bodyPr>
          <a:lstStyle/>
          <a:p>
            <a:r>
              <a:rPr lang="en-US" altLang="zh-TW" sz="1350" dirty="0"/>
              <a:t>MOSI</a:t>
            </a:r>
            <a:endParaRPr lang="zh-TW" altLang="en-US" sz="1350" dirty="0"/>
          </a:p>
        </p:txBody>
      </p:sp>
      <p:sp>
        <p:nvSpPr>
          <p:cNvPr id="77" name="文字方塊 76">
            <a:extLst>
              <a:ext uri="{FF2B5EF4-FFF2-40B4-BE49-F238E27FC236}">
                <a16:creationId xmlns:a16="http://schemas.microsoft.com/office/drawing/2014/main" id="{B5AD8147-D8DE-42BF-8A2E-41C964D87679}"/>
              </a:ext>
            </a:extLst>
          </p:cNvPr>
          <p:cNvSpPr txBox="1"/>
          <p:nvPr/>
        </p:nvSpPr>
        <p:spPr>
          <a:xfrm>
            <a:off x="7090900" y="4005629"/>
            <a:ext cx="627095" cy="300082"/>
          </a:xfrm>
          <a:prstGeom prst="rect">
            <a:avLst/>
          </a:prstGeom>
          <a:noFill/>
        </p:spPr>
        <p:txBody>
          <a:bodyPr wrap="none" rtlCol="0">
            <a:spAutoFit/>
          </a:bodyPr>
          <a:lstStyle/>
          <a:p>
            <a:r>
              <a:rPr lang="en-US" altLang="zh-TW" sz="1350" dirty="0"/>
              <a:t>MISO</a:t>
            </a:r>
            <a:endParaRPr lang="zh-TW" altLang="en-US" sz="1350" dirty="0"/>
          </a:p>
        </p:txBody>
      </p:sp>
      <p:sp>
        <p:nvSpPr>
          <p:cNvPr id="78" name="文字方塊 77">
            <a:extLst>
              <a:ext uri="{FF2B5EF4-FFF2-40B4-BE49-F238E27FC236}">
                <a16:creationId xmlns:a16="http://schemas.microsoft.com/office/drawing/2014/main" id="{43876ABF-4E6D-4DE2-8424-4DC644BBC152}"/>
              </a:ext>
            </a:extLst>
          </p:cNvPr>
          <p:cNvSpPr txBox="1"/>
          <p:nvPr/>
        </p:nvSpPr>
        <p:spPr>
          <a:xfrm>
            <a:off x="7090899" y="4253435"/>
            <a:ext cx="521297" cy="300082"/>
          </a:xfrm>
          <a:prstGeom prst="rect">
            <a:avLst/>
          </a:prstGeom>
          <a:noFill/>
        </p:spPr>
        <p:txBody>
          <a:bodyPr wrap="none" rtlCol="0">
            <a:spAutoFit/>
          </a:bodyPr>
          <a:lstStyle/>
          <a:p>
            <a:r>
              <a:rPr lang="en-US" altLang="zh-TW" sz="1350" dirty="0"/>
              <a:t>CLK</a:t>
            </a:r>
            <a:endParaRPr lang="zh-TW" altLang="en-US" sz="1350" dirty="0"/>
          </a:p>
        </p:txBody>
      </p:sp>
      <p:sp>
        <p:nvSpPr>
          <p:cNvPr id="79" name="文字方塊 78">
            <a:extLst>
              <a:ext uri="{FF2B5EF4-FFF2-40B4-BE49-F238E27FC236}">
                <a16:creationId xmlns:a16="http://schemas.microsoft.com/office/drawing/2014/main" id="{D25599D2-E4C2-4B7B-A619-48AD99EF9216}"/>
              </a:ext>
            </a:extLst>
          </p:cNvPr>
          <p:cNvSpPr txBox="1"/>
          <p:nvPr/>
        </p:nvSpPr>
        <p:spPr>
          <a:xfrm>
            <a:off x="615089" y="3100155"/>
            <a:ext cx="4120358" cy="923330"/>
          </a:xfrm>
          <a:prstGeom prst="rect">
            <a:avLst/>
          </a:prstGeom>
          <a:noFill/>
        </p:spPr>
        <p:txBody>
          <a:bodyPr wrap="square" rtlCol="0">
            <a:spAutoFit/>
          </a:bodyPr>
          <a:lstStyle/>
          <a:p>
            <a:r>
              <a:rPr lang="zh-TW" altLang="en-US" sz="1350" dirty="0">
                <a:solidFill>
                  <a:schemeClr val="tx1">
                    <a:lumMod val="65000"/>
                    <a:lumOff val="35000"/>
                  </a:schemeClr>
                </a:solidFill>
                <a:latin typeface="Adobe 繁黑體 Std B" panose="020B0700000000000000" pitchFamily="34" charset="-120"/>
                <a:ea typeface="Adobe 繁黑體 Std B" panose="020B0700000000000000" pitchFamily="34" charset="-120"/>
              </a:rPr>
              <a:t>智慧控制的訊號輸入輸出是關鍵，</a:t>
            </a:r>
            <a:endParaRPr lang="en-US" altLang="zh-TW" sz="1350" dirty="0">
              <a:solidFill>
                <a:schemeClr val="tx1">
                  <a:lumMod val="65000"/>
                  <a:lumOff val="35000"/>
                </a:schemeClr>
              </a:solidFill>
              <a:latin typeface="Adobe 繁黑體 Std B" panose="020B0700000000000000" pitchFamily="34" charset="-120"/>
              <a:ea typeface="Adobe 繁黑體 Std B" panose="020B0700000000000000" pitchFamily="34" charset="-120"/>
            </a:endParaRPr>
          </a:p>
          <a:p>
            <a:r>
              <a:rPr lang="zh-TW" altLang="en-US" sz="1350" dirty="0">
                <a:solidFill>
                  <a:schemeClr val="tx1">
                    <a:lumMod val="65000"/>
                    <a:lumOff val="35000"/>
                  </a:schemeClr>
                </a:solidFill>
                <a:latin typeface="Adobe 繁黑體 Std B" panose="020B0700000000000000" pitchFamily="34" charset="-120"/>
                <a:ea typeface="Adobe 繁黑體 Std B" panose="020B0700000000000000" pitchFamily="34" charset="-120"/>
              </a:rPr>
              <a:t>訊號類型可以分為：</a:t>
            </a:r>
            <a:endParaRPr lang="en-US" altLang="zh-TW" sz="1350" dirty="0">
              <a:solidFill>
                <a:schemeClr val="tx1">
                  <a:lumMod val="65000"/>
                  <a:lumOff val="35000"/>
                </a:schemeClr>
              </a:solidFill>
              <a:latin typeface="Adobe 繁黑體 Std B" panose="020B0700000000000000" pitchFamily="34" charset="-120"/>
              <a:ea typeface="Adobe 繁黑體 Std B" panose="020B0700000000000000" pitchFamily="34" charset="-120"/>
            </a:endParaRPr>
          </a:p>
          <a:p>
            <a:pPr marL="214313" indent="-214313">
              <a:buBlip>
                <a:blip r:embed="rId3"/>
              </a:buBlip>
            </a:pPr>
            <a:r>
              <a:rPr lang="zh-TW" altLang="en-US" sz="1350" dirty="0">
                <a:solidFill>
                  <a:schemeClr val="tx1">
                    <a:lumMod val="65000"/>
                    <a:lumOff val="35000"/>
                  </a:schemeClr>
                </a:solidFill>
                <a:latin typeface="Adobe 繁黑體 Std B" panose="020B0700000000000000" pitchFamily="34" charset="-120"/>
                <a:ea typeface="Adobe 繁黑體 Std B" panose="020B0700000000000000" pitchFamily="34" charset="-120"/>
              </a:rPr>
              <a:t>數位輸出、數位輸入</a:t>
            </a:r>
            <a:endParaRPr lang="en-US" altLang="zh-TW" sz="1350" dirty="0">
              <a:solidFill>
                <a:schemeClr val="tx1">
                  <a:lumMod val="65000"/>
                  <a:lumOff val="35000"/>
                </a:schemeClr>
              </a:solidFill>
              <a:latin typeface="Adobe 繁黑體 Std B" panose="020B0700000000000000" pitchFamily="34" charset="-120"/>
              <a:ea typeface="Adobe 繁黑體 Std B" panose="020B0700000000000000" pitchFamily="34" charset="-120"/>
            </a:endParaRPr>
          </a:p>
          <a:p>
            <a:pPr marL="214313" indent="-214313">
              <a:buBlip>
                <a:blip r:embed="rId3"/>
              </a:buBlip>
            </a:pPr>
            <a:r>
              <a:rPr lang="zh-TW" altLang="en-US" sz="1350" dirty="0">
                <a:solidFill>
                  <a:schemeClr val="tx1">
                    <a:lumMod val="65000"/>
                    <a:lumOff val="35000"/>
                  </a:schemeClr>
                </a:solidFill>
                <a:latin typeface="Adobe 繁黑體 Std B" panose="020B0700000000000000" pitchFamily="34" charset="-120"/>
                <a:ea typeface="Adobe 繁黑體 Std B" panose="020B0700000000000000" pitchFamily="34" charset="-120"/>
              </a:rPr>
              <a:t>類比輸入、類比輸出</a:t>
            </a:r>
          </a:p>
        </p:txBody>
      </p:sp>
      <p:sp>
        <p:nvSpPr>
          <p:cNvPr id="81" name="文字方塊 80">
            <a:extLst>
              <a:ext uri="{FF2B5EF4-FFF2-40B4-BE49-F238E27FC236}">
                <a16:creationId xmlns:a16="http://schemas.microsoft.com/office/drawing/2014/main" id="{968E4507-620A-4264-BD23-91AFC2834587}"/>
              </a:ext>
            </a:extLst>
          </p:cNvPr>
          <p:cNvSpPr txBox="1"/>
          <p:nvPr/>
        </p:nvSpPr>
        <p:spPr>
          <a:xfrm>
            <a:off x="4979934" y="2688046"/>
            <a:ext cx="877163" cy="300082"/>
          </a:xfrm>
          <a:prstGeom prst="rect">
            <a:avLst/>
          </a:prstGeom>
          <a:noFill/>
        </p:spPr>
        <p:txBody>
          <a:bodyPr wrap="none" rtlCol="0">
            <a:spAutoFit/>
          </a:bodyPr>
          <a:lstStyle/>
          <a:p>
            <a:r>
              <a:rPr lang="zh-TW" altLang="en-US" sz="1350" dirty="0">
                <a:latin typeface="Adobe 黑体 Std R" panose="020B0400000000000000" pitchFamily="34" charset="-128"/>
                <a:ea typeface="Adobe 黑体 Std R" panose="020B0400000000000000" pitchFamily="34" charset="-128"/>
              </a:rPr>
              <a:t>類比輸入</a:t>
            </a:r>
          </a:p>
        </p:txBody>
      </p:sp>
      <p:sp>
        <p:nvSpPr>
          <p:cNvPr id="82" name="右大括弧 81">
            <a:extLst>
              <a:ext uri="{FF2B5EF4-FFF2-40B4-BE49-F238E27FC236}">
                <a16:creationId xmlns:a16="http://schemas.microsoft.com/office/drawing/2014/main" id="{D8993129-C40F-46C7-B270-B72FBFF5EA06}"/>
              </a:ext>
            </a:extLst>
          </p:cNvPr>
          <p:cNvSpPr/>
          <p:nvPr/>
        </p:nvSpPr>
        <p:spPr>
          <a:xfrm>
            <a:off x="7580457" y="2501641"/>
            <a:ext cx="167624" cy="579079"/>
          </a:xfrm>
          <a:prstGeom prst="rightBrace">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sz="1350" dirty="0"/>
          </a:p>
        </p:txBody>
      </p:sp>
      <p:sp>
        <p:nvSpPr>
          <p:cNvPr id="83" name="左大括弧 82">
            <a:extLst>
              <a:ext uri="{FF2B5EF4-FFF2-40B4-BE49-F238E27FC236}">
                <a16:creationId xmlns:a16="http://schemas.microsoft.com/office/drawing/2014/main" id="{0E0727A0-92FE-4C6D-A07E-FA73B05FEF1E}"/>
              </a:ext>
            </a:extLst>
          </p:cNvPr>
          <p:cNvSpPr/>
          <p:nvPr/>
        </p:nvSpPr>
        <p:spPr>
          <a:xfrm>
            <a:off x="5770767" y="2521180"/>
            <a:ext cx="123148" cy="579079"/>
          </a:xfrm>
          <a:prstGeom prst="leftBrace">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sz="1350"/>
          </a:p>
        </p:txBody>
      </p:sp>
      <p:sp>
        <p:nvSpPr>
          <p:cNvPr id="84" name="文字方塊 83">
            <a:extLst>
              <a:ext uri="{FF2B5EF4-FFF2-40B4-BE49-F238E27FC236}">
                <a16:creationId xmlns:a16="http://schemas.microsoft.com/office/drawing/2014/main" id="{2822B5F3-8FEF-4A80-A2B0-4E4289BDEC10}"/>
              </a:ext>
            </a:extLst>
          </p:cNvPr>
          <p:cNvSpPr txBox="1"/>
          <p:nvPr/>
        </p:nvSpPr>
        <p:spPr>
          <a:xfrm>
            <a:off x="7748081" y="2568345"/>
            <a:ext cx="1223412" cy="507831"/>
          </a:xfrm>
          <a:prstGeom prst="rect">
            <a:avLst/>
          </a:prstGeom>
          <a:noFill/>
        </p:spPr>
        <p:txBody>
          <a:bodyPr wrap="none" rtlCol="0">
            <a:spAutoFit/>
          </a:bodyPr>
          <a:lstStyle/>
          <a:p>
            <a:r>
              <a:rPr lang="zh-TW" altLang="en-US" sz="1350" dirty="0">
                <a:latin typeface="Adobe 黑体 Std R" panose="020B0400000000000000" pitchFamily="34" charset="-128"/>
                <a:ea typeface="Adobe 黑体 Std R" panose="020B0400000000000000" pitchFamily="34" charset="-128"/>
              </a:rPr>
              <a:t>數位輸入</a:t>
            </a:r>
            <a:endParaRPr lang="en-US" altLang="zh-TW" sz="1350" dirty="0">
              <a:latin typeface="Adobe 黑体 Std R" panose="020B0400000000000000" pitchFamily="34" charset="-128"/>
              <a:ea typeface="Adobe 黑体 Std R" panose="020B0400000000000000" pitchFamily="34" charset="-128"/>
            </a:endParaRPr>
          </a:p>
          <a:p>
            <a:r>
              <a:rPr lang="zh-TW" altLang="en-US" sz="1350" dirty="0">
                <a:latin typeface="Adobe 黑体 Std R" panose="020B0400000000000000" pitchFamily="34" charset="-128"/>
                <a:ea typeface="Adobe 黑体 Std R" panose="020B0400000000000000" pitchFamily="34" charset="-128"/>
              </a:rPr>
              <a:t>模擬類比輸出</a:t>
            </a:r>
          </a:p>
        </p:txBody>
      </p:sp>
      <p:sp>
        <p:nvSpPr>
          <p:cNvPr id="85" name="右大括弧 84">
            <a:extLst>
              <a:ext uri="{FF2B5EF4-FFF2-40B4-BE49-F238E27FC236}">
                <a16:creationId xmlns:a16="http://schemas.microsoft.com/office/drawing/2014/main" id="{C96BB808-1F35-4BB3-B55A-E0ADEB51023F}"/>
              </a:ext>
            </a:extLst>
          </p:cNvPr>
          <p:cNvSpPr/>
          <p:nvPr/>
        </p:nvSpPr>
        <p:spPr>
          <a:xfrm>
            <a:off x="7664269" y="3336419"/>
            <a:ext cx="167624" cy="276999"/>
          </a:xfrm>
          <a:prstGeom prst="rightBrace">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sz="1350"/>
          </a:p>
        </p:txBody>
      </p:sp>
      <p:sp>
        <p:nvSpPr>
          <p:cNvPr id="86" name="文字方塊 85">
            <a:extLst>
              <a:ext uri="{FF2B5EF4-FFF2-40B4-BE49-F238E27FC236}">
                <a16:creationId xmlns:a16="http://schemas.microsoft.com/office/drawing/2014/main" id="{7476F3D6-FBD5-44B2-9363-D63983D4DE7B}"/>
              </a:ext>
            </a:extLst>
          </p:cNvPr>
          <p:cNvSpPr txBox="1"/>
          <p:nvPr/>
        </p:nvSpPr>
        <p:spPr>
          <a:xfrm>
            <a:off x="7831892" y="3336419"/>
            <a:ext cx="453970" cy="300082"/>
          </a:xfrm>
          <a:prstGeom prst="rect">
            <a:avLst/>
          </a:prstGeom>
          <a:noFill/>
        </p:spPr>
        <p:txBody>
          <a:bodyPr wrap="none" rtlCol="0">
            <a:spAutoFit/>
          </a:bodyPr>
          <a:lstStyle/>
          <a:p>
            <a:r>
              <a:rPr lang="en-US" altLang="zh-TW" sz="1350" dirty="0"/>
              <a:t>I2C</a:t>
            </a:r>
            <a:endParaRPr lang="zh-TW" altLang="en-US" sz="1350" dirty="0"/>
          </a:p>
        </p:txBody>
      </p:sp>
      <p:sp>
        <p:nvSpPr>
          <p:cNvPr id="87" name="右大括弧 86">
            <a:extLst>
              <a:ext uri="{FF2B5EF4-FFF2-40B4-BE49-F238E27FC236}">
                <a16:creationId xmlns:a16="http://schemas.microsoft.com/office/drawing/2014/main" id="{292DC748-0E15-48FA-8080-D6E51F42D8DB}"/>
              </a:ext>
            </a:extLst>
          </p:cNvPr>
          <p:cNvSpPr/>
          <p:nvPr/>
        </p:nvSpPr>
        <p:spPr>
          <a:xfrm>
            <a:off x="7671828" y="3861902"/>
            <a:ext cx="167624" cy="563420"/>
          </a:xfrm>
          <a:prstGeom prst="rightBrace">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sz="1350"/>
          </a:p>
        </p:txBody>
      </p:sp>
      <p:sp>
        <p:nvSpPr>
          <p:cNvPr id="88" name="文字方塊 87">
            <a:extLst>
              <a:ext uri="{FF2B5EF4-FFF2-40B4-BE49-F238E27FC236}">
                <a16:creationId xmlns:a16="http://schemas.microsoft.com/office/drawing/2014/main" id="{F0F6A078-5ED7-40EA-85E9-51DD6BEF4A74}"/>
              </a:ext>
            </a:extLst>
          </p:cNvPr>
          <p:cNvSpPr txBox="1"/>
          <p:nvPr/>
        </p:nvSpPr>
        <p:spPr>
          <a:xfrm>
            <a:off x="7867768" y="3974800"/>
            <a:ext cx="463588" cy="300082"/>
          </a:xfrm>
          <a:prstGeom prst="rect">
            <a:avLst/>
          </a:prstGeom>
          <a:noFill/>
        </p:spPr>
        <p:txBody>
          <a:bodyPr wrap="none" rtlCol="0">
            <a:spAutoFit/>
          </a:bodyPr>
          <a:lstStyle/>
          <a:p>
            <a:r>
              <a:rPr lang="en-US" altLang="zh-TW" sz="1350" dirty="0"/>
              <a:t>SPI</a:t>
            </a:r>
            <a:endParaRPr lang="zh-TW" altLang="en-US" sz="1350" dirty="0"/>
          </a:p>
        </p:txBody>
      </p:sp>
      <p:sp>
        <p:nvSpPr>
          <p:cNvPr id="80" name="CustomShape 1">
            <a:extLst>
              <a:ext uri="{FF2B5EF4-FFF2-40B4-BE49-F238E27FC236}">
                <a16:creationId xmlns:a16="http://schemas.microsoft.com/office/drawing/2014/main" id="{0F7A0DAC-3912-4D14-ABFF-243E90A42536}"/>
              </a:ext>
            </a:extLst>
          </p:cNvPr>
          <p:cNvSpPr/>
          <p:nvPr/>
        </p:nvSpPr>
        <p:spPr>
          <a:xfrm>
            <a:off x="542835" y="471600"/>
            <a:ext cx="7886160" cy="495450"/>
          </a:xfrm>
          <a:prstGeom prst="rect">
            <a:avLst/>
          </a:prstGeom>
          <a:noFill/>
          <a:ln>
            <a:noFill/>
          </a:ln>
        </p:spPr>
        <p:style>
          <a:lnRef idx="0">
            <a:scrgbClr r="0" g="0" b="0"/>
          </a:lnRef>
          <a:fillRef idx="0">
            <a:scrgbClr r="0" g="0" b="0"/>
          </a:fillRef>
          <a:effectRef idx="0">
            <a:scrgbClr r="0" g="0" b="0"/>
          </a:effectRef>
          <a:fontRef idx="minor"/>
        </p:style>
        <p:txBody>
          <a:bodyPr lIns="67500" tIns="33750" rIns="67500" bIns="33750"/>
          <a:lstStyle/>
          <a:p>
            <a:pPr>
              <a:lnSpc>
                <a:spcPct val="100000"/>
              </a:lnSpc>
            </a:pPr>
            <a:r>
              <a:rPr lang="zh-TW" altLang="en-US" sz="3600" spc="-1" dirty="0">
                <a:solidFill>
                  <a:srgbClr val="000000"/>
                </a:solidFill>
                <a:uFill>
                  <a:solidFill>
                    <a:srgbClr val="FFFFFF"/>
                  </a:solidFill>
                </a:uFill>
                <a:latin typeface="Adobe 黑体 Std R" panose="020B0400000000000000" pitchFamily="34" charset="-128"/>
                <a:ea typeface="Adobe 黑体 Std R" panose="020B0400000000000000" pitchFamily="34" charset="-128"/>
              </a:rPr>
              <a:t>輸入與輸出基本概念</a:t>
            </a:r>
            <a:endParaRPr lang="en-US" sz="3600" spc="-1" dirty="0">
              <a:solidFill>
                <a:srgbClr val="000000"/>
              </a:solidFill>
              <a:uFill>
                <a:solidFill>
                  <a:srgbClr val="FFFFFF"/>
                </a:solidFill>
              </a:uFill>
              <a:latin typeface="Adobe 黑体 Std R" panose="020B0400000000000000" pitchFamily="34" charset="-128"/>
              <a:ea typeface="Adobe 黑体 Std R" panose="020B0400000000000000" pitchFamily="34" charset="-128"/>
            </a:endParaRPr>
          </a:p>
        </p:txBody>
      </p:sp>
      <p:sp>
        <p:nvSpPr>
          <p:cNvPr id="3" name="文字方塊 2">
            <a:extLst>
              <a:ext uri="{FF2B5EF4-FFF2-40B4-BE49-F238E27FC236}">
                <a16:creationId xmlns:a16="http://schemas.microsoft.com/office/drawing/2014/main" id="{AD075EC4-B017-4BA5-B397-BA5327DF2F85}"/>
              </a:ext>
            </a:extLst>
          </p:cNvPr>
          <p:cNvSpPr txBox="1"/>
          <p:nvPr/>
        </p:nvSpPr>
        <p:spPr>
          <a:xfrm>
            <a:off x="3945731" y="3712927"/>
            <a:ext cx="1804405" cy="715581"/>
          </a:xfrm>
          <a:prstGeom prst="rect">
            <a:avLst/>
          </a:prstGeom>
          <a:noFill/>
        </p:spPr>
        <p:txBody>
          <a:bodyPr wrap="none" rtlCol="0">
            <a:spAutoFit/>
          </a:bodyPr>
          <a:lstStyle/>
          <a:p>
            <a:r>
              <a:rPr lang="en-US" altLang="zh-TW" sz="1350" dirty="0">
                <a:latin typeface="Adobe 仿宋 Std R" panose="02020400000000000000" pitchFamily="18" charset="-128"/>
                <a:ea typeface="Adobe 仿宋 Std R" panose="02020400000000000000" pitchFamily="18" charset="-128"/>
              </a:rPr>
              <a:t>Pico </a:t>
            </a:r>
            <a:r>
              <a:rPr lang="zh-TW" altLang="en-US" sz="1350" dirty="0">
                <a:latin typeface="Adobe 仿宋 Std R" panose="02020400000000000000" pitchFamily="18" charset="-128"/>
                <a:ea typeface="Adobe 仿宋 Std R" panose="02020400000000000000" pitchFamily="18" charset="-128"/>
              </a:rPr>
              <a:t>板內鍵腳位：</a:t>
            </a:r>
            <a:endParaRPr lang="en-US" altLang="zh-TW" sz="1350" dirty="0">
              <a:latin typeface="Adobe 仿宋 Std R" panose="02020400000000000000" pitchFamily="18" charset="-128"/>
              <a:ea typeface="Adobe 仿宋 Std R" panose="02020400000000000000" pitchFamily="18" charset="-128"/>
            </a:endParaRPr>
          </a:p>
          <a:p>
            <a:pPr marL="214313" indent="-214313">
              <a:buBlip>
                <a:blip r:embed="rId4"/>
              </a:buBlip>
            </a:pPr>
            <a:r>
              <a:rPr lang="en-US" altLang="zh-TW" sz="1350" dirty="0">
                <a:latin typeface="Adobe 仿宋 Std R" panose="02020400000000000000" pitchFamily="18" charset="-128"/>
                <a:ea typeface="Adobe 仿宋 Std R" panose="02020400000000000000" pitchFamily="18" charset="-128"/>
              </a:rPr>
              <a:t>GPIO25: </a:t>
            </a:r>
            <a:r>
              <a:rPr lang="zh-TW" altLang="en-US" sz="1350" dirty="0">
                <a:latin typeface="Adobe 仿宋 Std R" panose="02020400000000000000" pitchFamily="18" charset="-128"/>
                <a:ea typeface="Adobe 仿宋 Std R" panose="02020400000000000000" pitchFamily="18" charset="-128"/>
              </a:rPr>
              <a:t>內建</a:t>
            </a:r>
            <a:r>
              <a:rPr lang="en-US" altLang="zh-TW" sz="1350" dirty="0">
                <a:latin typeface="Adobe 仿宋 Std R" panose="02020400000000000000" pitchFamily="18" charset="-128"/>
                <a:ea typeface="Adobe 仿宋 Std R" panose="02020400000000000000" pitchFamily="18" charset="-128"/>
              </a:rPr>
              <a:t>LED</a:t>
            </a:r>
          </a:p>
          <a:p>
            <a:pPr marL="214313" indent="-214313">
              <a:buBlip>
                <a:blip r:embed="rId4"/>
              </a:buBlip>
            </a:pPr>
            <a:r>
              <a:rPr lang="en-US" altLang="zh-TW" sz="1350" dirty="0">
                <a:latin typeface="Adobe 仿宋 Std R" panose="02020400000000000000" pitchFamily="18" charset="-128"/>
                <a:ea typeface="Adobe 仿宋 Std R" panose="02020400000000000000" pitchFamily="18" charset="-128"/>
              </a:rPr>
              <a:t>GPIO29: </a:t>
            </a:r>
            <a:r>
              <a:rPr lang="zh-TW" altLang="en-US" sz="1350" dirty="0">
                <a:latin typeface="Adobe 仿宋 Std R" panose="02020400000000000000" pitchFamily="18" charset="-128"/>
                <a:ea typeface="Adobe 仿宋 Std R" panose="02020400000000000000" pitchFamily="18" charset="-128"/>
              </a:rPr>
              <a:t>偵測電源</a:t>
            </a:r>
          </a:p>
        </p:txBody>
      </p:sp>
    </p:spTree>
    <p:extLst>
      <p:ext uri="{BB962C8B-B14F-4D97-AF65-F5344CB8AC3E}">
        <p14:creationId xmlns:p14="http://schemas.microsoft.com/office/powerpoint/2010/main" val="1780883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CustomShape 1">
            <a:extLst>
              <a:ext uri="{FF2B5EF4-FFF2-40B4-BE49-F238E27FC236}">
                <a16:creationId xmlns:a16="http://schemas.microsoft.com/office/drawing/2014/main" id="{0F7A0DAC-3912-4D14-ABFF-243E90A42536}"/>
              </a:ext>
            </a:extLst>
          </p:cNvPr>
          <p:cNvSpPr/>
          <p:nvPr/>
        </p:nvSpPr>
        <p:spPr>
          <a:xfrm>
            <a:off x="542835" y="471600"/>
            <a:ext cx="7886160" cy="495450"/>
          </a:xfrm>
          <a:prstGeom prst="rect">
            <a:avLst/>
          </a:prstGeom>
          <a:noFill/>
          <a:ln>
            <a:noFill/>
          </a:ln>
        </p:spPr>
        <p:style>
          <a:lnRef idx="0">
            <a:scrgbClr r="0" g="0" b="0"/>
          </a:lnRef>
          <a:fillRef idx="0">
            <a:scrgbClr r="0" g="0" b="0"/>
          </a:fillRef>
          <a:effectRef idx="0">
            <a:scrgbClr r="0" g="0" b="0"/>
          </a:effectRef>
          <a:fontRef idx="minor"/>
        </p:style>
        <p:txBody>
          <a:bodyPr lIns="67500" tIns="33750" rIns="67500" bIns="33750"/>
          <a:lstStyle/>
          <a:p>
            <a:pPr>
              <a:lnSpc>
                <a:spcPct val="100000"/>
              </a:lnSpc>
            </a:pPr>
            <a:r>
              <a:rPr lang="zh-TW" altLang="en-US" sz="3600" spc="-1" dirty="0">
                <a:solidFill>
                  <a:srgbClr val="000000"/>
                </a:solidFill>
                <a:uFill>
                  <a:solidFill>
                    <a:srgbClr val="FFFFFF"/>
                  </a:solidFill>
                </a:uFill>
                <a:latin typeface="Adobe 黑体 Std R" panose="020B0400000000000000" pitchFamily="34" charset="-128"/>
                <a:ea typeface="Adobe 黑体 Std R" panose="020B0400000000000000" pitchFamily="34" charset="-128"/>
              </a:rPr>
              <a:t>輸入與輸出基本練習</a:t>
            </a:r>
            <a:endParaRPr lang="en-US" sz="3600" spc="-1" dirty="0">
              <a:solidFill>
                <a:srgbClr val="000000"/>
              </a:solidFill>
              <a:uFill>
                <a:solidFill>
                  <a:srgbClr val="FFFFFF"/>
                </a:solidFill>
              </a:uFill>
              <a:latin typeface="Adobe 黑体 Std R" panose="020B0400000000000000" pitchFamily="34" charset="-128"/>
              <a:ea typeface="Adobe 黑体 Std R" panose="020B0400000000000000" pitchFamily="34" charset="-128"/>
            </a:endParaRPr>
          </a:p>
        </p:txBody>
      </p:sp>
      <p:sp>
        <p:nvSpPr>
          <p:cNvPr id="6" name="矩形: 圓角 5">
            <a:extLst>
              <a:ext uri="{FF2B5EF4-FFF2-40B4-BE49-F238E27FC236}">
                <a16:creationId xmlns:a16="http://schemas.microsoft.com/office/drawing/2014/main" id="{1D5E640F-DBF1-494C-B3DE-45F6B412842E}"/>
              </a:ext>
            </a:extLst>
          </p:cNvPr>
          <p:cNvSpPr/>
          <p:nvPr/>
        </p:nvSpPr>
        <p:spPr>
          <a:xfrm>
            <a:off x="3968886" y="2790622"/>
            <a:ext cx="990430" cy="638378"/>
          </a:xfrm>
          <a:prstGeom prst="roundRect">
            <a:avLst/>
          </a:prstGeom>
          <a:solidFill>
            <a:schemeClr val="accent3">
              <a:lumMod val="60000"/>
              <a:lumOff val="40000"/>
            </a:schemeClr>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350" dirty="0">
                <a:solidFill>
                  <a:schemeClr val="tx1"/>
                </a:solidFill>
                <a:latin typeface="Adobe 繁黑體 Std B" panose="020B0700000000000000" pitchFamily="34" charset="-120"/>
                <a:ea typeface="Adobe 繁黑體 Std B" panose="020B0700000000000000" pitchFamily="34" charset="-120"/>
              </a:rPr>
              <a:t>微處理器</a:t>
            </a:r>
          </a:p>
        </p:txBody>
      </p:sp>
      <p:sp>
        <p:nvSpPr>
          <p:cNvPr id="9" name="箭號: 向右 8">
            <a:extLst>
              <a:ext uri="{FF2B5EF4-FFF2-40B4-BE49-F238E27FC236}">
                <a16:creationId xmlns:a16="http://schemas.microsoft.com/office/drawing/2014/main" id="{790C4EA5-19AE-4BD2-8FA2-29FFE092DEA5}"/>
              </a:ext>
            </a:extLst>
          </p:cNvPr>
          <p:cNvSpPr/>
          <p:nvPr/>
        </p:nvSpPr>
        <p:spPr>
          <a:xfrm>
            <a:off x="5063362" y="2850814"/>
            <a:ext cx="233464" cy="49246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89" name="箭號: 向右 88">
            <a:extLst>
              <a:ext uri="{FF2B5EF4-FFF2-40B4-BE49-F238E27FC236}">
                <a16:creationId xmlns:a16="http://schemas.microsoft.com/office/drawing/2014/main" id="{BA1EB870-5099-487F-AF1B-026D22B8500B}"/>
              </a:ext>
            </a:extLst>
          </p:cNvPr>
          <p:cNvSpPr/>
          <p:nvPr/>
        </p:nvSpPr>
        <p:spPr>
          <a:xfrm>
            <a:off x="3640577" y="2863580"/>
            <a:ext cx="233464" cy="49246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11" name="文字方塊 10">
            <a:extLst>
              <a:ext uri="{FF2B5EF4-FFF2-40B4-BE49-F238E27FC236}">
                <a16:creationId xmlns:a16="http://schemas.microsoft.com/office/drawing/2014/main" id="{EB3963A5-846D-4F54-B775-389890769D70}"/>
              </a:ext>
            </a:extLst>
          </p:cNvPr>
          <p:cNvSpPr txBox="1"/>
          <p:nvPr/>
        </p:nvSpPr>
        <p:spPr>
          <a:xfrm>
            <a:off x="4863491" y="2513623"/>
            <a:ext cx="530915" cy="300082"/>
          </a:xfrm>
          <a:prstGeom prst="rect">
            <a:avLst/>
          </a:prstGeom>
          <a:noFill/>
        </p:spPr>
        <p:txBody>
          <a:bodyPr wrap="none" rtlCol="0">
            <a:spAutoFit/>
          </a:bodyPr>
          <a:lstStyle/>
          <a:p>
            <a:r>
              <a:rPr lang="zh-TW" altLang="en-US" sz="1350" dirty="0">
                <a:latin typeface="Adobe 仿宋 Std R" panose="02020400000000000000" pitchFamily="18" charset="-128"/>
                <a:ea typeface="Adobe 仿宋 Std R" panose="02020400000000000000" pitchFamily="18" charset="-128"/>
              </a:rPr>
              <a:t>輸出</a:t>
            </a:r>
          </a:p>
        </p:txBody>
      </p:sp>
      <p:sp>
        <p:nvSpPr>
          <p:cNvPr id="90" name="文字方塊 89">
            <a:extLst>
              <a:ext uri="{FF2B5EF4-FFF2-40B4-BE49-F238E27FC236}">
                <a16:creationId xmlns:a16="http://schemas.microsoft.com/office/drawing/2014/main" id="{B547A47A-1FF5-4B7F-9814-839DAC7C7CEE}"/>
              </a:ext>
            </a:extLst>
          </p:cNvPr>
          <p:cNvSpPr txBox="1"/>
          <p:nvPr/>
        </p:nvSpPr>
        <p:spPr>
          <a:xfrm>
            <a:off x="3484138" y="2513623"/>
            <a:ext cx="530915" cy="300082"/>
          </a:xfrm>
          <a:prstGeom prst="rect">
            <a:avLst/>
          </a:prstGeom>
          <a:noFill/>
        </p:spPr>
        <p:txBody>
          <a:bodyPr wrap="none" rtlCol="0">
            <a:spAutoFit/>
          </a:bodyPr>
          <a:lstStyle/>
          <a:p>
            <a:r>
              <a:rPr lang="zh-TW" altLang="en-US" sz="1350" dirty="0">
                <a:latin typeface="Adobe 仿宋 Std R" panose="02020400000000000000" pitchFamily="18" charset="-128"/>
                <a:ea typeface="Adobe 仿宋 Std R" panose="02020400000000000000" pitchFamily="18" charset="-128"/>
              </a:rPr>
              <a:t>輸入</a:t>
            </a:r>
          </a:p>
        </p:txBody>
      </p:sp>
      <p:pic>
        <p:nvPicPr>
          <p:cNvPr id="91" name="圖片 90">
            <a:extLst>
              <a:ext uri="{FF2B5EF4-FFF2-40B4-BE49-F238E27FC236}">
                <a16:creationId xmlns:a16="http://schemas.microsoft.com/office/drawing/2014/main" id="{D0B926E9-1892-4B40-B530-B0876AECF0EB}"/>
              </a:ext>
            </a:extLst>
          </p:cNvPr>
          <p:cNvPicPr/>
          <p:nvPr/>
        </p:nvPicPr>
        <p:blipFill>
          <a:blip r:embed="rId3"/>
          <a:stretch>
            <a:fillRect/>
          </a:stretch>
        </p:blipFill>
        <p:spPr>
          <a:xfrm rot="5400000">
            <a:off x="5781832" y="2232455"/>
            <a:ext cx="1383224" cy="345958"/>
          </a:xfrm>
          <a:prstGeom prst="rect">
            <a:avLst/>
          </a:prstGeom>
        </p:spPr>
      </p:pic>
      <p:pic>
        <p:nvPicPr>
          <p:cNvPr id="92" name="圖片 91">
            <a:extLst>
              <a:ext uri="{FF2B5EF4-FFF2-40B4-BE49-F238E27FC236}">
                <a16:creationId xmlns:a16="http://schemas.microsoft.com/office/drawing/2014/main" id="{1A318C1E-F522-4A5D-8CE2-95E2A24D99C7}"/>
              </a:ext>
            </a:extLst>
          </p:cNvPr>
          <p:cNvPicPr/>
          <p:nvPr/>
        </p:nvPicPr>
        <p:blipFill>
          <a:blip r:embed="rId4"/>
          <a:stretch>
            <a:fillRect/>
          </a:stretch>
        </p:blipFill>
        <p:spPr>
          <a:xfrm>
            <a:off x="6811501" y="2190781"/>
            <a:ext cx="1013775" cy="753053"/>
          </a:xfrm>
          <a:prstGeom prst="rect">
            <a:avLst/>
          </a:prstGeom>
        </p:spPr>
      </p:pic>
      <p:pic>
        <p:nvPicPr>
          <p:cNvPr id="1026" name="Picture 2" descr="MG995 High Torque Metal Gear Servo Motor">
            <a:extLst>
              <a:ext uri="{FF2B5EF4-FFF2-40B4-BE49-F238E27FC236}">
                <a16:creationId xmlns:a16="http://schemas.microsoft.com/office/drawing/2014/main" id="{A21F4388-E226-4D66-B858-840FC41103E4}"/>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932173" y="3109810"/>
            <a:ext cx="1933373" cy="1933373"/>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2" name="物件 11">
            <a:extLst>
              <a:ext uri="{FF2B5EF4-FFF2-40B4-BE49-F238E27FC236}">
                <a16:creationId xmlns:a16="http://schemas.microsoft.com/office/drawing/2014/main" id="{AFB3E326-94C6-4371-9640-ACF4FD98C5D4}"/>
              </a:ext>
            </a:extLst>
          </p:cNvPr>
          <p:cNvGraphicFramePr>
            <a:graphicFrameLocks noChangeAspect="1"/>
          </p:cNvGraphicFramePr>
          <p:nvPr/>
        </p:nvGraphicFramePr>
        <p:xfrm>
          <a:off x="5518589" y="3184387"/>
          <a:ext cx="1413584" cy="1560821"/>
        </p:xfrm>
        <a:graphic>
          <a:graphicData uri="http://schemas.openxmlformats.org/presentationml/2006/ole">
            <mc:AlternateContent xmlns:mc="http://schemas.openxmlformats.org/markup-compatibility/2006">
              <mc:Choice xmlns:v="urn:schemas-microsoft-com:vml" Requires="v">
                <p:oleObj spid="_x0000_s1046" name="Image" r:id="rId6" imgW="4390200" imgH="4847400" progId="Photoshop.Image.13">
                  <p:embed/>
                </p:oleObj>
              </mc:Choice>
              <mc:Fallback>
                <p:oleObj name="Image" r:id="rId6" imgW="4390200" imgH="4847400" progId="Photoshop.Image.13">
                  <p:embed/>
                  <p:pic>
                    <p:nvPicPr>
                      <p:cNvPr id="12" name="物件 11">
                        <a:extLst>
                          <a:ext uri="{FF2B5EF4-FFF2-40B4-BE49-F238E27FC236}">
                            <a16:creationId xmlns:a16="http://schemas.microsoft.com/office/drawing/2014/main" id="{AFB3E326-94C6-4371-9640-ACF4FD98C5D4}"/>
                          </a:ext>
                        </a:extLst>
                      </p:cNvPr>
                      <p:cNvPicPr/>
                      <p:nvPr/>
                    </p:nvPicPr>
                    <p:blipFill>
                      <a:blip r:embed="rId7"/>
                      <a:stretch>
                        <a:fillRect/>
                      </a:stretch>
                    </p:blipFill>
                    <p:spPr>
                      <a:xfrm>
                        <a:off x="5518589" y="3184387"/>
                        <a:ext cx="1413584" cy="1560821"/>
                      </a:xfrm>
                      <a:prstGeom prst="rect">
                        <a:avLst/>
                      </a:prstGeom>
                    </p:spPr>
                  </p:pic>
                </p:oleObj>
              </mc:Fallback>
            </mc:AlternateContent>
          </a:graphicData>
        </a:graphic>
      </p:graphicFrame>
      <p:pic>
        <p:nvPicPr>
          <p:cNvPr id="93" name="圖片 92" descr="一張含有 傢俱, 桌, 座位, 咖啡桌 的圖片&#10;&#10;自動產生的描述">
            <a:extLst>
              <a:ext uri="{FF2B5EF4-FFF2-40B4-BE49-F238E27FC236}">
                <a16:creationId xmlns:a16="http://schemas.microsoft.com/office/drawing/2014/main" id="{363099F8-0F7A-4DAE-A075-4565BEADA28E}"/>
              </a:ext>
            </a:extLst>
          </p:cNvPr>
          <p:cNvPicPr/>
          <p:nvPr/>
        </p:nvPicPr>
        <p:blipFill>
          <a:blip r:embed="rId8"/>
          <a:stretch>
            <a:fillRect/>
          </a:stretch>
        </p:blipFill>
        <p:spPr>
          <a:xfrm>
            <a:off x="1132763" y="2131863"/>
            <a:ext cx="581738" cy="607690"/>
          </a:xfrm>
          <a:prstGeom prst="rect">
            <a:avLst/>
          </a:prstGeom>
        </p:spPr>
      </p:pic>
      <p:pic>
        <p:nvPicPr>
          <p:cNvPr id="94" name="圖片 93">
            <a:extLst>
              <a:ext uri="{FF2B5EF4-FFF2-40B4-BE49-F238E27FC236}">
                <a16:creationId xmlns:a16="http://schemas.microsoft.com/office/drawing/2014/main" id="{363F35EC-7FE9-4984-A839-6A5AC7C0EF7B}"/>
              </a:ext>
            </a:extLst>
          </p:cNvPr>
          <p:cNvPicPr/>
          <p:nvPr/>
        </p:nvPicPr>
        <p:blipFill>
          <a:blip r:embed="rId9"/>
          <a:stretch>
            <a:fillRect/>
          </a:stretch>
        </p:blipFill>
        <p:spPr>
          <a:xfrm>
            <a:off x="1879578" y="2059225"/>
            <a:ext cx="824419" cy="1050586"/>
          </a:xfrm>
          <a:prstGeom prst="rect">
            <a:avLst/>
          </a:prstGeom>
        </p:spPr>
      </p:pic>
      <p:pic>
        <p:nvPicPr>
          <p:cNvPr id="95" name="圖片 94">
            <a:extLst>
              <a:ext uri="{FF2B5EF4-FFF2-40B4-BE49-F238E27FC236}">
                <a16:creationId xmlns:a16="http://schemas.microsoft.com/office/drawing/2014/main" id="{5ADA8192-61C7-428D-9B3C-50B371AF8E54}"/>
              </a:ext>
            </a:extLst>
          </p:cNvPr>
          <p:cNvPicPr/>
          <p:nvPr/>
        </p:nvPicPr>
        <p:blipFill>
          <a:blip r:embed="rId10"/>
          <a:stretch>
            <a:fillRect/>
          </a:stretch>
        </p:blipFill>
        <p:spPr>
          <a:xfrm>
            <a:off x="665434" y="4184347"/>
            <a:ext cx="1049067" cy="955505"/>
          </a:xfrm>
          <a:prstGeom prst="rect">
            <a:avLst/>
          </a:prstGeom>
        </p:spPr>
      </p:pic>
      <p:pic>
        <p:nvPicPr>
          <p:cNvPr id="14" name="圖片 13">
            <a:extLst>
              <a:ext uri="{FF2B5EF4-FFF2-40B4-BE49-F238E27FC236}">
                <a16:creationId xmlns:a16="http://schemas.microsoft.com/office/drawing/2014/main" id="{A83D575A-CE5D-4111-A456-13F7E94DCED6}"/>
              </a:ext>
            </a:extLst>
          </p:cNvPr>
          <p:cNvPicPr>
            <a:picLocks noChangeAspect="1"/>
          </p:cNvPicPr>
          <p:nvPr/>
        </p:nvPicPr>
        <p:blipFill>
          <a:blip r:embed="rId11"/>
          <a:stretch>
            <a:fillRect/>
          </a:stretch>
        </p:blipFill>
        <p:spPr>
          <a:xfrm>
            <a:off x="737746" y="2850943"/>
            <a:ext cx="1137605" cy="1383225"/>
          </a:xfrm>
          <a:prstGeom prst="rect">
            <a:avLst/>
          </a:prstGeom>
        </p:spPr>
      </p:pic>
      <p:pic>
        <p:nvPicPr>
          <p:cNvPr id="1040" name="Picture 16" descr="HC-SR04超音波感測器超音波模組超聲波模組3.3-5V Arduino避障測距| Yahoo奇摩拍賣">
            <a:extLst>
              <a:ext uri="{FF2B5EF4-FFF2-40B4-BE49-F238E27FC236}">
                <a16:creationId xmlns:a16="http://schemas.microsoft.com/office/drawing/2014/main" id="{C3A8C15D-8DE9-4C39-95A5-520FFCB394F5}"/>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730423" y="4213827"/>
            <a:ext cx="1768002" cy="1768002"/>
          </a:xfrm>
          <a:prstGeom prst="rect">
            <a:avLst/>
          </a:prstGeom>
          <a:noFill/>
          <a:extLst>
            <a:ext uri="{909E8E84-426E-40DD-AFC4-6F175D3DCCD1}">
              <a14:hiddenFill xmlns:a14="http://schemas.microsoft.com/office/drawing/2010/main">
                <a:solidFill>
                  <a:srgbClr val="FFFFFF"/>
                </a:solidFill>
              </a14:hiddenFill>
            </a:ext>
          </a:extLst>
        </p:spPr>
      </p:pic>
      <p:pic>
        <p:nvPicPr>
          <p:cNvPr id="13" name="圖片 12">
            <a:extLst>
              <a:ext uri="{FF2B5EF4-FFF2-40B4-BE49-F238E27FC236}">
                <a16:creationId xmlns:a16="http://schemas.microsoft.com/office/drawing/2014/main" id="{B12EC135-C2D0-416E-A971-C2A682FE1E8A}"/>
              </a:ext>
            </a:extLst>
          </p:cNvPr>
          <p:cNvPicPr>
            <a:picLocks noChangeAspect="1"/>
          </p:cNvPicPr>
          <p:nvPr/>
        </p:nvPicPr>
        <p:blipFill>
          <a:blip r:embed="rId13"/>
          <a:stretch>
            <a:fillRect/>
          </a:stretch>
        </p:blipFill>
        <p:spPr>
          <a:xfrm>
            <a:off x="2359589" y="3235103"/>
            <a:ext cx="1186143" cy="1319073"/>
          </a:xfrm>
          <a:prstGeom prst="rect">
            <a:avLst/>
          </a:prstGeom>
        </p:spPr>
      </p:pic>
    </p:spTree>
    <p:extLst>
      <p:ext uri="{BB962C8B-B14F-4D97-AF65-F5344CB8AC3E}">
        <p14:creationId xmlns:p14="http://schemas.microsoft.com/office/powerpoint/2010/main" val="5158263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字方塊 3">
            <a:extLst>
              <a:ext uri="{FF2B5EF4-FFF2-40B4-BE49-F238E27FC236}">
                <a16:creationId xmlns:a16="http://schemas.microsoft.com/office/drawing/2014/main" id="{99DCEEDE-63FC-492E-B77C-676E80F36358}"/>
              </a:ext>
            </a:extLst>
          </p:cNvPr>
          <p:cNvSpPr txBox="1"/>
          <p:nvPr/>
        </p:nvSpPr>
        <p:spPr>
          <a:xfrm>
            <a:off x="592477" y="471340"/>
            <a:ext cx="3416320" cy="646331"/>
          </a:xfrm>
          <a:prstGeom prst="rect">
            <a:avLst/>
          </a:prstGeom>
          <a:noFill/>
        </p:spPr>
        <p:txBody>
          <a:bodyPr wrap="none" rtlCol="0">
            <a:spAutoFit/>
          </a:bodyPr>
          <a:lstStyle/>
          <a:p>
            <a:r>
              <a:rPr lang="zh-TW" altLang="en-US" sz="3600" dirty="0">
                <a:latin typeface="Adobe 繁黑體 Std B" panose="020B0700000000000000" pitchFamily="34" charset="-120"/>
                <a:ea typeface="Adobe 繁黑體 Std B" panose="020B0700000000000000" pitchFamily="34" charset="-120"/>
              </a:rPr>
              <a:t>積木程式編輯器</a:t>
            </a:r>
          </a:p>
        </p:txBody>
      </p:sp>
      <p:sp>
        <p:nvSpPr>
          <p:cNvPr id="2" name="文字方塊 1">
            <a:extLst>
              <a:ext uri="{FF2B5EF4-FFF2-40B4-BE49-F238E27FC236}">
                <a16:creationId xmlns:a16="http://schemas.microsoft.com/office/drawing/2014/main" id="{E68B135D-28D3-4980-A9FF-B7651F00B5FC}"/>
              </a:ext>
            </a:extLst>
          </p:cNvPr>
          <p:cNvSpPr txBox="1"/>
          <p:nvPr/>
        </p:nvSpPr>
        <p:spPr>
          <a:xfrm>
            <a:off x="523875" y="5848350"/>
            <a:ext cx="7566495" cy="307777"/>
          </a:xfrm>
          <a:prstGeom prst="rect">
            <a:avLst/>
          </a:prstGeom>
          <a:noFill/>
        </p:spPr>
        <p:txBody>
          <a:bodyPr wrap="none" rtlCol="0">
            <a:spAutoFit/>
          </a:bodyPr>
          <a:lstStyle/>
          <a:p>
            <a:r>
              <a:rPr lang="en-US" altLang="zh-TW" sz="1400" dirty="0"/>
              <a:t>https://github.com/cmlo/mangoblock-desktop/releases/download/v1.2/MangoBlock.1.2.19.msi</a:t>
            </a:r>
            <a:endParaRPr lang="zh-TW" altLang="en-US" sz="1400" dirty="0"/>
          </a:p>
        </p:txBody>
      </p:sp>
      <p:pic>
        <p:nvPicPr>
          <p:cNvPr id="5" name="圖片 4">
            <a:extLst>
              <a:ext uri="{FF2B5EF4-FFF2-40B4-BE49-F238E27FC236}">
                <a16:creationId xmlns:a16="http://schemas.microsoft.com/office/drawing/2014/main" id="{19A7B210-E923-43A7-AC48-0A6A97F11420}"/>
              </a:ext>
            </a:extLst>
          </p:cNvPr>
          <p:cNvPicPr>
            <a:picLocks noChangeAspect="1"/>
          </p:cNvPicPr>
          <p:nvPr/>
        </p:nvPicPr>
        <p:blipFill>
          <a:blip r:embed="rId2"/>
          <a:stretch>
            <a:fillRect/>
          </a:stretch>
        </p:blipFill>
        <p:spPr>
          <a:xfrm>
            <a:off x="592477" y="1117672"/>
            <a:ext cx="6837023" cy="4596642"/>
          </a:xfrm>
          <a:prstGeom prst="rect">
            <a:avLst/>
          </a:prstGeom>
        </p:spPr>
      </p:pic>
    </p:spTree>
    <p:extLst>
      <p:ext uri="{BB962C8B-B14F-4D97-AF65-F5344CB8AC3E}">
        <p14:creationId xmlns:p14="http://schemas.microsoft.com/office/powerpoint/2010/main" val="35489874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 name="CustomShape 1"/>
          <p:cNvSpPr/>
          <p:nvPr/>
        </p:nvSpPr>
        <p:spPr>
          <a:xfrm>
            <a:off x="561885" y="471600"/>
            <a:ext cx="7886160" cy="495450"/>
          </a:xfrm>
          <a:prstGeom prst="rect">
            <a:avLst/>
          </a:prstGeom>
          <a:noFill/>
          <a:ln>
            <a:noFill/>
          </a:ln>
        </p:spPr>
        <p:style>
          <a:lnRef idx="0">
            <a:scrgbClr r="0" g="0" b="0"/>
          </a:lnRef>
          <a:fillRef idx="0">
            <a:scrgbClr r="0" g="0" b="0"/>
          </a:fillRef>
          <a:effectRef idx="0">
            <a:scrgbClr r="0" g="0" b="0"/>
          </a:effectRef>
          <a:fontRef idx="minor"/>
        </p:style>
        <p:txBody>
          <a:bodyPr lIns="67500" tIns="33750" rIns="67500" bIns="33750"/>
          <a:lstStyle/>
          <a:p>
            <a:pPr>
              <a:lnSpc>
                <a:spcPct val="100000"/>
              </a:lnSpc>
            </a:pPr>
            <a:r>
              <a:rPr lang="zh-TW" altLang="en-US" sz="3600" spc="-1" dirty="0">
                <a:solidFill>
                  <a:srgbClr val="000000"/>
                </a:solidFill>
                <a:uFill>
                  <a:solidFill>
                    <a:srgbClr val="FFFFFF"/>
                  </a:solidFill>
                </a:uFill>
                <a:latin typeface="Adobe 黑体 Std R" panose="020B0400000000000000" pitchFamily="34" charset="-128"/>
                <a:ea typeface="Adobe 黑体 Std R" panose="020B0400000000000000" pitchFamily="34" charset="-128"/>
              </a:rPr>
              <a:t>數位輸出 </a:t>
            </a:r>
            <a:r>
              <a:rPr lang="en-US" altLang="zh-TW" sz="3600" spc="-1" dirty="0">
                <a:solidFill>
                  <a:srgbClr val="000000"/>
                </a:solidFill>
                <a:uFill>
                  <a:solidFill>
                    <a:srgbClr val="FFFFFF"/>
                  </a:solidFill>
                </a:uFill>
                <a:latin typeface="Adobe 黑体 Std R" panose="020B0400000000000000" pitchFamily="34" charset="-128"/>
                <a:ea typeface="Adobe 黑体 Std R" panose="020B0400000000000000" pitchFamily="34" charset="-128"/>
              </a:rPr>
              <a:t>: </a:t>
            </a:r>
            <a:r>
              <a:rPr lang="zh-TW" altLang="en-US" sz="3600" spc="-1" dirty="0">
                <a:solidFill>
                  <a:srgbClr val="000000"/>
                </a:solidFill>
                <a:uFill>
                  <a:solidFill>
                    <a:srgbClr val="FFFFFF"/>
                  </a:solidFill>
                </a:uFill>
                <a:latin typeface="Adobe 黑体 Std R" panose="020B0400000000000000" pitchFamily="34" charset="-128"/>
                <a:ea typeface="Adobe 黑体 Std R" panose="020B0400000000000000" pitchFamily="34" charset="-128"/>
              </a:rPr>
              <a:t>內建</a:t>
            </a:r>
            <a:r>
              <a:rPr lang="en-US" altLang="zh-TW" sz="3600" spc="-1" dirty="0">
                <a:solidFill>
                  <a:srgbClr val="000000"/>
                </a:solidFill>
                <a:uFill>
                  <a:solidFill>
                    <a:srgbClr val="FFFFFF"/>
                  </a:solidFill>
                </a:uFill>
                <a:latin typeface="Adobe 黑体 Std R" panose="020B0400000000000000" pitchFamily="34" charset="-128"/>
                <a:ea typeface="Adobe 黑体 Std R" panose="020B0400000000000000" pitchFamily="34" charset="-128"/>
              </a:rPr>
              <a:t>LED</a:t>
            </a:r>
            <a:r>
              <a:rPr lang="zh-TW" altLang="en-US" sz="3600" spc="-1" dirty="0">
                <a:solidFill>
                  <a:srgbClr val="000000"/>
                </a:solidFill>
                <a:uFill>
                  <a:solidFill>
                    <a:srgbClr val="FFFFFF"/>
                  </a:solidFill>
                </a:uFill>
                <a:latin typeface="Adobe 黑体 Std R" panose="020B0400000000000000" pitchFamily="34" charset="-128"/>
                <a:ea typeface="Adobe 黑体 Std R" panose="020B0400000000000000" pitchFamily="34" charset="-128"/>
              </a:rPr>
              <a:t>控制</a:t>
            </a:r>
            <a:endParaRPr lang="en-US" sz="3600" spc="-1" dirty="0">
              <a:solidFill>
                <a:srgbClr val="000000"/>
              </a:solidFill>
              <a:uFill>
                <a:solidFill>
                  <a:srgbClr val="FFFFFF"/>
                </a:solidFill>
              </a:uFill>
              <a:latin typeface="Adobe 黑体 Std R" panose="020B0400000000000000" pitchFamily="34" charset="-128"/>
              <a:ea typeface="Adobe 黑体 Std R" panose="020B0400000000000000" pitchFamily="34" charset="-128"/>
            </a:endParaRPr>
          </a:p>
        </p:txBody>
      </p:sp>
      <p:sp>
        <p:nvSpPr>
          <p:cNvPr id="10" name="文字方塊 9">
            <a:extLst>
              <a:ext uri="{FF2B5EF4-FFF2-40B4-BE49-F238E27FC236}">
                <a16:creationId xmlns:a16="http://schemas.microsoft.com/office/drawing/2014/main" id="{F2EA5FB4-64BD-436F-933F-E7395FA0FD12}"/>
              </a:ext>
            </a:extLst>
          </p:cNvPr>
          <p:cNvSpPr txBox="1"/>
          <p:nvPr/>
        </p:nvSpPr>
        <p:spPr>
          <a:xfrm>
            <a:off x="7287291" y="1764641"/>
            <a:ext cx="1345306" cy="1131079"/>
          </a:xfrm>
          <a:prstGeom prst="rect">
            <a:avLst/>
          </a:prstGeom>
          <a:noFill/>
          <a:ln>
            <a:solidFill>
              <a:srgbClr val="00B0F0"/>
            </a:solidFill>
          </a:ln>
        </p:spPr>
        <p:txBody>
          <a:bodyPr wrap="square" rtlCol="0">
            <a:spAutoFit/>
          </a:bodyPr>
          <a:lstStyle/>
          <a:p>
            <a:pPr algn="just"/>
            <a:r>
              <a:rPr lang="zh-TW" altLang="en-US" sz="1350" dirty="0">
                <a:latin typeface="Adobe 仿宋 Std R" panose="02020400000000000000" pitchFamily="18" charset="-128"/>
                <a:ea typeface="Adobe 仿宋 Std R" panose="02020400000000000000" pitchFamily="18" charset="-128"/>
              </a:rPr>
              <a:t>板載</a:t>
            </a:r>
            <a:r>
              <a:rPr lang="en-US" altLang="zh-TW" sz="1350" dirty="0">
                <a:latin typeface="Adobe 仿宋 Std R" panose="02020400000000000000" pitchFamily="18" charset="-128"/>
                <a:ea typeface="Adobe 仿宋 Std R" panose="02020400000000000000" pitchFamily="18" charset="-128"/>
              </a:rPr>
              <a:t>LED</a:t>
            </a:r>
            <a:r>
              <a:rPr lang="zh-TW" altLang="en-US" sz="1350" dirty="0">
                <a:latin typeface="Adobe 仿宋 Std R" panose="02020400000000000000" pitchFamily="18" charset="-128"/>
                <a:ea typeface="Adobe 仿宋 Std R" panose="02020400000000000000" pitchFamily="18" charset="-128"/>
              </a:rPr>
              <a:t>亮</a:t>
            </a:r>
            <a:r>
              <a:rPr lang="en-US" altLang="zh-TW" sz="1350" dirty="0">
                <a:latin typeface="Adobe 仿宋 Std R" panose="02020400000000000000" pitchFamily="18" charset="-128"/>
                <a:ea typeface="Adobe 仿宋 Std R" panose="02020400000000000000" pitchFamily="18" charset="-128"/>
              </a:rPr>
              <a:t>1</a:t>
            </a:r>
            <a:r>
              <a:rPr lang="zh-TW" altLang="en-US" sz="1350" dirty="0">
                <a:latin typeface="Adobe 仿宋 Std R" panose="02020400000000000000" pitchFamily="18" charset="-128"/>
                <a:ea typeface="Adobe 仿宋 Std R" panose="02020400000000000000" pitchFamily="18" charset="-128"/>
              </a:rPr>
              <a:t>秒鐘後關閉，再等</a:t>
            </a:r>
            <a:r>
              <a:rPr lang="en-US" altLang="zh-TW" sz="1350" dirty="0">
                <a:latin typeface="Adobe 仿宋 Std R" panose="02020400000000000000" pitchFamily="18" charset="-128"/>
                <a:ea typeface="Adobe 仿宋 Std R" panose="02020400000000000000" pitchFamily="18" charset="-128"/>
              </a:rPr>
              <a:t>1</a:t>
            </a:r>
            <a:r>
              <a:rPr lang="zh-TW" altLang="en-US" sz="1350" dirty="0">
                <a:latin typeface="Adobe 仿宋 Std R" panose="02020400000000000000" pitchFamily="18" charset="-128"/>
                <a:ea typeface="Adobe 仿宋 Std R" panose="02020400000000000000" pitchFamily="18" charset="-128"/>
              </a:rPr>
              <a:t>秒鐘再亮，這程序重複執行</a:t>
            </a:r>
            <a:r>
              <a:rPr lang="en-US" altLang="zh-TW" sz="1350" dirty="0">
                <a:latin typeface="Adobe 仿宋 Std R" panose="02020400000000000000" pitchFamily="18" charset="-128"/>
                <a:ea typeface="Adobe 仿宋 Std R" panose="02020400000000000000" pitchFamily="18" charset="-128"/>
              </a:rPr>
              <a:t>10</a:t>
            </a:r>
            <a:r>
              <a:rPr lang="zh-TW" altLang="en-US" sz="1350" dirty="0">
                <a:latin typeface="Adobe 仿宋 Std R" panose="02020400000000000000" pitchFamily="18" charset="-128"/>
                <a:ea typeface="Adobe 仿宋 Std R" panose="02020400000000000000" pitchFamily="18" charset="-128"/>
              </a:rPr>
              <a:t>次。</a:t>
            </a:r>
          </a:p>
        </p:txBody>
      </p:sp>
      <p:sp>
        <p:nvSpPr>
          <p:cNvPr id="3" name="文字方塊 2">
            <a:extLst>
              <a:ext uri="{FF2B5EF4-FFF2-40B4-BE49-F238E27FC236}">
                <a16:creationId xmlns:a16="http://schemas.microsoft.com/office/drawing/2014/main" id="{0ECA1FB1-19DC-4A94-9022-8153043C692C}"/>
              </a:ext>
            </a:extLst>
          </p:cNvPr>
          <p:cNvSpPr txBox="1"/>
          <p:nvPr/>
        </p:nvSpPr>
        <p:spPr>
          <a:xfrm>
            <a:off x="628561" y="4741909"/>
            <a:ext cx="2200571" cy="300082"/>
          </a:xfrm>
          <a:prstGeom prst="rect">
            <a:avLst/>
          </a:prstGeom>
          <a:noFill/>
          <a:ln>
            <a:solidFill>
              <a:schemeClr val="accent2">
                <a:lumMod val="75000"/>
              </a:schemeClr>
            </a:solidFill>
          </a:ln>
        </p:spPr>
        <p:txBody>
          <a:bodyPr wrap="square" rtlCol="0">
            <a:spAutoFit/>
          </a:bodyPr>
          <a:lstStyle/>
          <a:p>
            <a:r>
              <a:rPr lang="zh-TW" altLang="en-US" sz="1350" dirty="0">
                <a:latin typeface="Adobe 仿宋 Std R" panose="02020400000000000000" pitchFamily="18" charset="-128"/>
                <a:ea typeface="Adobe 仿宋 Std R" panose="02020400000000000000" pitchFamily="18" charset="-128"/>
              </a:rPr>
              <a:t>板載</a:t>
            </a:r>
            <a:r>
              <a:rPr lang="en-US" altLang="zh-TW" sz="1350" dirty="0">
                <a:latin typeface="Adobe 仿宋 Std R" panose="02020400000000000000" pitchFamily="18" charset="-128"/>
                <a:ea typeface="Adobe 仿宋 Std R" panose="02020400000000000000" pitchFamily="18" charset="-128"/>
              </a:rPr>
              <a:t>LED</a:t>
            </a:r>
            <a:r>
              <a:rPr lang="zh-TW" altLang="en-US" sz="1350" dirty="0">
                <a:latin typeface="Adobe 仿宋 Std R" panose="02020400000000000000" pitchFamily="18" charset="-128"/>
                <a:ea typeface="Adobe 仿宋 Std R" panose="02020400000000000000" pitchFamily="18" charset="-128"/>
              </a:rPr>
              <a:t>燈亮</a:t>
            </a:r>
            <a:r>
              <a:rPr lang="en-US" altLang="zh-TW" sz="1350" dirty="0">
                <a:latin typeface="Adobe 仿宋 Std R" panose="02020400000000000000" pitchFamily="18" charset="-128"/>
                <a:ea typeface="Adobe 仿宋 Std R" panose="02020400000000000000" pitchFamily="18" charset="-128"/>
              </a:rPr>
              <a:t>5</a:t>
            </a:r>
            <a:r>
              <a:rPr lang="zh-TW" altLang="en-US" sz="1350" dirty="0">
                <a:latin typeface="Adobe 仿宋 Std R" panose="02020400000000000000" pitchFamily="18" charset="-128"/>
                <a:ea typeface="Adobe 仿宋 Std R" panose="02020400000000000000" pitchFamily="18" charset="-128"/>
              </a:rPr>
              <a:t>秒鐘後關閉</a:t>
            </a:r>
          </a:p>
        </p:txBody>
      </p:sp>
      <p:sp>
        <p:nvSpPr>
          <p:cNvPr id="5" name="文字方塊 4">
            <a:extLst>
              <a:ext uri="{FF2B5EF4-FFF2-40B4-BE49-F238E27FC236}">
                <a16:creationId xmlns:a16="http://schemas.microsoft.com/office/drawing/2014/main" id="{A37C6495-A8D3-47F0-8530-29A86233EA12}"/>
              </a:ext>
            </a:extLst>
          </p:cNvPr>
          <p:cNvSpPr txBox="1"/>
          <p:nvPr/>
        </p:nvSpPr>
        <p:spPr>
          <a:xfrm>
            <a:off x="6196830" y="3751347"/>
            <a:ext cx="1050288" cy="300082"/>
          </a:xfrm>
          <a:prstGeom prst="rect">
            <a:avLst/>
          </a:prstGeom>
          <a:noFill/>
        </p:spPr>
        <p:txBody>
          <a:bodyPr wrap="none" rtlCol="0">
            <a:spAutoFit/>
          </a:bodyPr>
          <a:lstStyle/>
          <a:p>
            <a:r>
              <a:rPr lang="zh-TW" altLang="en-US" sz="1350" dirty="0"/>
              <a:t>一般寫法：</a:t>
            </a:r>
          </a:p>
        </p:txBody>
      </p:sp>
      <p:pic>
        <p:nvPicPr>
          <p:cNvPr id="2" name="圖片 1">
            <a:extLst>
              <a:ext uri="{FF2B5EF4-FFF2-40B4-BE49-F238E27FC236}">
                <a16:creationId xmlns:a16="http://schemas.microsoft.com/office/drawing/2014/main" id="{51987743-5366-4215-A360-C9B903DB87BE}"/>
              </a:ext>
            </a:extLst>
          </p:cNvPr>
          <p:cNvPicPr>
            <a:picLocks noChangeAspect="1"/>
          </p:cNvPicPr>
          <p:nvPr/>
        </p:nvPicPr>
        <p:blipFill>
          <a:blip r:embed="rId2"/>
          <a:stretch>
            <a:fillRect/>
          </a:stretch>
        </p:blipFill>
        <p:spPr>
          <a:xfrm>
            <a:off x="628560" y="1764641"/>
            <a:ext cx="3027280" cy="2894699"/>
          </a:xfrm>
          <a:prstGeom prst="rect">
            <a:avLst/>
          </a:prstGeom>
        </p:spPr>
      </p:pic>
      <p:pic>
        <p:nvPicPr>
          <p:cNvPr id="6" name="圖片 5">
            <a:extLst>
              <a:ext uri="{FF2B5EF4-FFF2-40B4-BE49-F238E27FC236}">
                <a16:creationId xmlns:a16="http://schemas.microsoft.com/office/drawing/2014/main" id="{2120C343-DC8B-4EAA-A681-E4C29199EE15}"/>
              </a:ext>
            </a:extLst>
          </p:cNvPr>
          <p:cNvPicPr>
            <a:picLocks noChangeAspect="1"/>
          </p:cNvPicPr>
          <p:nvPr/>
        </p:nvPicPr>
        <p:blipFill>
          <a:blip r:embed="rId3"/>
          <a:stretch>
            <a:fillRect/>
          </a:stretch>
        </p:blipFill>
        <p:spPr>
          <a:xfrm>
            <a:off x="3742179" y="1764642"/>
            <a:ext cx="3458773" cy="3739015"/>
          </a:xfrm>
          <a:prstGeom prst="rect">
            <a:avLst/>
          </a:prstGeom>
        </p:spPr>
      </p:pic>
    </p:spTree>
    <p:extLst>
      <p:ext uri="{BB962C8B-B14F-4D97-AF65-F5344CB8AC3E}">
        <p14:creationId xmlns:p14="http://schemas.microsoft.com/office/powerpoint/2010/main" val="3163451834"/>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 name="CustomShape 1"/>
          <p:cNvSpPr/>
          <p:nvPr/>
        </p:nvSpPr>
        <p:spPr>
          <a:xfrm>
            <a:off x="628560" y="471600"/>
            <a:ext cx="7886160" cy="495450"/>
          </a:xfrm>
          <a:prstGeom prst="rect">
            <a:avLst/>
          </a:prstGeom>
          <a:noFill/>
          <a:ln>
            <a:noFill/>
          </a:ln>
        </p:spPr>
        <p:style>
          <a:lnRef idx="0">
            <a:scrgbClr r="0" g="0" b="0"/>
          </a:lnRef>
          <a:fillRef idx="0">
            <a:scrgbClr r="0" g="0" b="0"/>
          </a:fillRef>
          <a:effectRef idx="0">
            <a:scrgbClr r="0" g="0" b="0"/>
          </a:effectRef>
          <a:fontRef idx="minor"/>
        </p:style>
        <p:txBody>
          <a:bodyPr lIns="67500" tIns="33750" rIns="67500" bIns="33750"/>
          <a:lstStyle/>
          <a:p>
            <a:pPr>
              <a:lnSpc>
                <a:spcPct val="100000"/>
              </a:lnSpc>
            </a:pPr>
            <a:r>
              <a:rPr lang="zh-TW" altLang="en-US" sz="3600" spc="-1" dirty="0">
                <a:solidFill>
                  <a:srgbClr val="000000"/>
                </a:solidFill>
                <a:uFill>
                  <a:solidFill>
                    <a:srgbClr val="FFFFFF"/>
                  </a:solidFill>
                </a:uFill>
                <a:latin typeface="Adobe 黑体 Std R" panose="020B0400000000000000" pitchFamily="34" charset="-128"/>
                <a:ea typeface="Adobe 黑体 Std R" panose="020B0400000000000000" pitchFamily="34" charset="-128"/>
              </a:rPr>
              <a:t>數位輸出 </a:t>
            </a:r>
            <a:r>
              <a:rPr lang="en-US" altLang="zh-TW" sz="3600" spc="-1" dirty="0">
                <a:solidFill>
                  <a:srgbClr val="000000"/>
                </a:solidFill>
                <a:uFill>
                  <a:solidFill>
                    <a:srgbClr val="FFFFFF"/>
                  </a:solidFill>
                </a:uFill>
                <a:latin typeface="Adobe 黑体 Std R" panose="020B0400000000000000" pitchFamily="34" charset="-128"/>
                <a:ea typeface="Adobe 黑体 Std R" panose="020B0400000000000000" pitchFamily="34" charset="-128"/>
              </a:rPr>
              <a:t>: </a:t>
            </a:r>
            <a:r>
              <a:rPr lang="zh-TW" altLang="en-US" sz="3600" spc="-1" dirty="0">
                <a:solidFill>
                  <a:srgbClr val="000000"/>
                </a:solidFill>
                <a:uFill>
                  <a:solidFill>
                    <a:srgbClr val="FFFFFF"/>
                  </a:solidFill>
                </a:uFill>
                <a:latin typeface="Adobe 黑体 Std R" panose="020B0400000000000000" pitchFamily="34" charset="-128"/>
                <a:ea typeface="Adobe 黑体 Std R" panose="020B0400000000000000" pitchFamily="34" charset="-128"/>
              </a:rPr>
              <a:t>外接</a:t>
            </a:r>
            <a:r>
              <a:rPr lang="en-US" altLang="zh-TW" sz="3600" spc="-1" dirty="0">
                <a:solidFill>
                  <a:srgbClr val="000000"/>
                </a:solidFill>
                <a:uFill>
                  <a:solidFill>
                    <a:srgbClr val="FFFFFF"/>
                  </a:solidFill>
                </a:uFill>
                <a:latin typeface="Adobe 黑体 Std R" panose="020B0400000000000000" pitchFamily="34" charset="-128"/>
                <a:ea typeface="Adobe 黑体 Std R" panose="020B0400000000000000" pitchFamily="34" charset="-128"/>
              </a:rPr>
              <a:t>LED</a:t>
            </a:r>
            <a:r>
              <a:rPr lang="zh-TW" altLang="en-US" sz="3600" spc="-1" dirty="0">
                <a:solidFill>
                  <a:srgbClr val="000000"/>
                </a:solidFill>
                <a:uFill>
                  <a:solidFill>
                    <a:srgbClr val="FFFFFF"/>
                  </a:solidFill>
                </a:uFill>
                <a:latin typeface="Adobe 黑体 Std R" panose="020B0400000000000000" pitchFamily="34" charset="-128"/>
                <a:ea typeface="Adobe 黑体 Std R" panose="020B0400000000000000" pitchFamily="34" charset="-128"/>
              </a:rPr>
              <a:t>控制</a:t>
            </a:r>
            <a:endParaRPr lang="en-US" sz="3600" spc="-1" dirty="0">
              <a:solidFill>
                <a:srgbClr val="000000"/>
              </a:solidFill>
              <a:uFill>
                <a:solidFill>
                  <a:srgbClr val="FFFFFF"/>
                </a:solidFill>
              </a:uFill>
              <a:latin typeface="Adobe 黑体 Std R" panose="020B0400000000000000" pitchFamily="34" charset="-128"/>
              <a:ea typeface="Adobe 黑体 Std R" panose="020B0400000000000000" pitchFamily="34" charset="-128"/>
            </a:endParaRPr>
          </a:p>
        </p:txBody>
      </p:sp>
      <p:sp>
        <p:nvSpPr>
          <p:cNvPr id="7" name="橢圓 6">
            <a:extLst>
              <a:ext uri="{FF2B5EF4-FFF2-40B4-BE49-F238E27FC236}">
                <a16:creationId xmlns:a16="http://schemas.microsoft.com/office/drawing/2014/main" id="{BFBF4CA3-36A4-4AB6-9667-D3C90D146442}"/>
              </a:ext>
            </a:extLst>
          </p:cNvPr>
          <p:cNvSpPr/>
          <p:nvPr/>
        </p:nvSpPr>
        <p:spPr>
          <a:xfrm>
            <a:off x="5013141" y="3096237"/>
            <a:ext cx="244928" cy="237931"/>
          </a:xfrm>
          <a:prstGeom prst="ellipse">
            <a:avLst/>
          </a:prstGeom>
          <a:solidFill>
            <a:srgbClr val="FF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cxnSp>
        <p:nvCxnSpPr>
          <p:cNvPr id="9" name="直線單箭頭接點 8">
            <a:extLst>
              <a:ext uri="{FF2B5EF4-FFF2-40B4-BE49-F238E27FC236}">
                <a16:creationId xmlns:a16="http://schemas.microsoft.com/office/drawing/2014/main" id="{65BFCB3F-8FF8-4307-BC92-EC102D3F8CB4}"/>
              </a:ext>
            </a:extLst>
          </p:cNvPr>
          <p:cNvCxnSpPr>
            <a:cxnSpLocks/>
          </p:cNvCxnSpPr>
          <p:nvPr/>
        </p:nvCxnSpPr>
        <p:spPr>
          <a:xfrm flipV="1">
            <a:off x="5135604" y="2802322"/>
            <a:ext cx="0" cy="293915"/>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12" name="文字方塊 11">
            <a:extLst>
              <a:ext uri="{FF2B5EF4-FFF2-40B4-BE49-F238E27FC236}">
                <a16:creationId xmlns:a16="http://schemas.microsoft.com/office/drawing/2014/main" id="{2987CD63-271E-488F-9F9B-B398DBC7A9F5}"/>
              </a:ext>
            </a:extLst>
          </p:cNvPr>
          <p:cNvSpPr txBox="1"/>
          <p:nvPr/>
        </p:nvSpPr>
        <p:spPr>
          <a:xfrm>
            <a:off x="4857313" y="2497489"/>
            <a:ext cx="569387" cy="300082"/>
          </a:xfrm>
          <a:prstGeom prst="rect">
            <a:avLst/>
          </a:prstGeom>
          <a:noFill/>
        </p:spPr>
        <p:txBody>
          <a:bodyPr wrap="none" rtlCol="0">
            <a:spAutoFit/>
          </a:bodyPr>
          <a:lstStyle/>
          <a:p>
            <a:r>
              <a:rPr lang="en-US" altLang="zh-TW" sz="1350" dirty="0"/>
              <a:t>GND</a:t>
            </a:r>
            <a:endParaRPr lang="zh-TW" altLang="en-US" sz="1350" dirty="0"/>
          </a:p>
        </p:txBody>
      </p:sp>
      <p:sp>
        <p:nvSpPr>
          <p:cNvPr id="13" name="文字方塊 12">
            <a:extLst>
              <a:ext uri="{FF2B5EF4-FFF2-40B4-BE49-F238E27FC236}">
                <a16:creationId xmlns:a16="http://schemas.microsoft.com/office/drawing/2014/main" id="{A17F17D3-F5B6-4DA3-AAA8-4CBE6890ECD5}"/>
              </a:ext>
            </a:extLst>
          </p:cNvPr>
          <p:cNvSpPr txBox="1"/>
          <p:nvPr/>
        </p:nvSpPr>
        <p:spPr>
          <a:xfrm>
            <a:off x="5140180" y="2856549"/>
            <a:ext cx="242374" cy="300082"/>
          </a:xfrm>
          <a:prstGeom prst="rect">
            <a:avLst/>
          </a:prstGeom>
          <a:noFill/>
        </p:spPr>
        <p:txBody>
          <a:bodyPr wrap="none" rtlCol="0">
            <a:spAutoFit/>
          </a:bodyPr>
          <a:lstStyle/>
          <a:p>
            <a:r>
              <a:rPr lang="en-US" altLang="zh-TW" sz="1350" dirty="0"/>
              <a:t>-</a:t>
            </a:r>
            <a:endParaRPr lang="zh-TW" altLang="en-US" sz="1350" dirty="0"/>
          </a:p>
        </p:txBody>
      </p:sp>
      <p:cxnSp>
        <p:nvCxnSpPr>
          <p:cNvPr id="15" name="直線單箭頭接點 14">
            <a:extLst>
              <a:ext uri="{FF2B5EF4-FFF2-40B4-BE49-F238E27FC236}">
                <a16:creationId xmlns:a16="http://schemas.microsoft.com/office/drawing/2014/main" id="{00E100CA-0289-44AA-A677-F58D5A01A641}"/>
              </a:ext>
            </a:extLst>
          </p:cNvPr>
          <p:cNvCxnSpPr>
            <a:stCxn id="7" idx="4"/>
          </p:cNvCxnSpPr>
          <p:nvPr/>
        </p:nvCxnSpPr>
        <p:spPr>
          <a:xfrm flipH="1">
            <a:off x="5135604" y="3334167"/>
            <a:ext cx="1" cy="433874"/>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6" name="矩形 15">
            <a:extLst>
              <a:ext uri="{FF2B5EF4-FFF2-40B4-BE49-F238E27FC236}">
                <a16:creationId xmlns:a16="http://schemas.microsoft.com/office/drawing/2014/main" id="{7B2BB933-B26B-4029-976D-EE3B56557739}"/>
              </a:ext>
            </a:extLst>
          </p:cNvPr>
          <p:cNvSpPr/>
          <p:nvPr/>
        </p:nvSpPr>
        <p:spPr>
          <a:xfrm>
            <a:off x="5066523" y="3768041"/>
            <a:ext cx="139958" cy="31140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17" name="文字方塊 16">
            <a:extLst>
              <a:ext uri="{FF2B5EF4-FFF2-40B4-BE49-F238E27FC236}">
                <a16:creationId xmlns:a16="http://schemas.microsoft.com/office/drawing/2014/main" id="{08D1AB2F-EB4D-4272-8BA8-8AFF4BBEFE83}"/>
              </a:ext>
            </a:extLst>
          </p:cNvPr>
          <p:cNvSpPr txBox="1"/>
          <p:nvPr/>
        </p:nvSpPr>
        <p:spPr>
          <a:xfrm>
            <a:off x="5275563" y="3785245"/>
            <a:ext cx="530915" cy="300082"/>
          </a:xfrm>
          <a:prstGeom prst="rect">
            <a:avLst/>
          </a:prstGeom>
          <a:noFill/>
        </p:spPr>
        <p:txBody>
          <a:bodyPr wrap="none" rtlCol="0">
            <a:spAutoFit/>
          </a:bodyPr>
          <a:lstStyle/>
          <a:p>
            <a:r>
              <a:rPr lang="zh-TW" altLang="en-US" sz="1350" dirty="0"/>
              <a:t>電阻</a:t>
            </a:r>
          </a:p>
        </p:txBody>
      </p:sp>
      <p:cxnSp>
        <p:nvCxnSpPr>
          <p:cNvPr id="19" name="直線單箭頭接點 18">
            <a:extLst>
              <a:ext uri="{FF2B5EF4-FFF2-40B4-BE49-F238E27FC236}">
                <a16:creationId xmlns:a16="http://schemas.microsoft.com/office/drawing/2014/main" id="{E1E81251-5C6C-42A8-94D8-54A1449BB096}"/>
              </a:ext>
            </a:extLst>
          </p:cNvPr>
          <p:cNvCxnSpPr>
            <a:stCxn id="16" idx="2"/>
          </p:cNvCxnSpPr>
          <p:nvPr/>
        </p:nvCxnSpPr>
        <p:spPr>
          <a:xfrm flipH="1">
            <a:off x="5135604" y="4079450"/>
            <a:ext cx="898" cy="409381"/>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0" name="文字方塊 19">
            <a:extLst>
              <a:ext uri="{FF2B5EF4-FFF2-40B4-BE49-F238E27FC236}">
                <a16:creationId xmlns:a16="http://schemas.microsoft.com/office/drawing/2014/main" id="{276DF1BD-8952-4273-85A0-26AF0B79934E}"/>
              </a:ext>
            </a:extLst>
          </p:cNvPr>
          <p:cNvSpPr txBox="1"/>
          <p:nvPr/>
        </p:nvSpPr>
        <p:spPr>
          <a:xfrm>
            <a:off x="4893230" y="4503364"/>
            <a:ext cx="530915" cy="300082"/>
          </a:xfrm>
          <a:prstGeom prst="rect">
            <a:avLst/>
          </a:prstGeom>
          <a:noFill/>
        </p:spPr>
        <p:txBody>
          <a:bodyPr wrap="none" rtlCol="0">
            <a:spAutoFit/>
          </a:bodyPr>
          <a:lstStyle/>
          <a:p>
            <a:r>
              <a:rPr lang="en-US" altLang="zh-TW" sz="1350" dirty="0"/>
              <a:t>GP2</a:t>
            </a:r>
            <a:endParaRPr lang="zh-TW" altLang="en-US" sz="1350" dirty="0"/>
          </a:p>
        </p:txBody>
      </p:sp>
      <p:pic>
        <p:nvPicPr>
          <p:cNvPr id="2" name="圖片 1">
            <a:extLst>
              <a:ext uri="{FF2B5EF4-FFF2-40B4-BE49-F238E27FC236}">
                <a16:creationId xmlns:a16="http://schemas.microsoft.com/office/drawing/2014/main" id="{ACF00BC7-662B-46AD-B3BB-6BD8D2932FF6}"/>
              </a:ext>
            </a:extLst>
          </p:cNvPr>
          <p:cNvPicPr>
            <a:picLocks noChangeAspect="1"/>
          </p:cNvPicPr>
          <p:nvPr/>
        </p:nvPicPr>
        <p:blipFill>
          <a:blip r:embed="rId2"/>
          <a:stretch>
            <a:fillRect/>
          </a:stretch>
        </p:blipFill>
        <p:spPr>
          <a:xfrm>
            <a:off x="628560" y="1780794"/>
            <a:ext cx="3646665" cy="3544762"/>
          </a:xfrm>
          <a:prstGeom prst="rect">
            <a:avLst/>
          </a:prstGeom>
        </p:spPr>
      </p:pic>
      <p:sp>
        <p:nvSpPr>
          <p:cNvPr id="3" name="矩形 2">
            <a:extLst>
              <a:ext uri="{FF2B5EF4-FFF2-40B4-BE49-F238E27FC236}">
                <a16:creationId xmlns:a16="http://schemas.microsoft.com/office/drawing/2014/main" id="{2A28AAC2-BA3D-4E1C-AB86-55E23D828C1E}"/>
              </a:ext>
            </a:extLst>
          </p:cNvPr>
          <p:cNvSpPr/>
          <p:nvPr/>
        </p:nvSpPr>
        <p:spPr>
          <a:xfrm>
            <a:off x="4411745" y="1780794"/>
            <a:ext cx="1487191" cy="354476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4" name="文字方塊 3">
            <a:extLst>
              <a:ext uri="{FF2B5EF4-FFF2-40B4-BE49-F238E27FC236}">
                <a16:creationId xmlns:a16="http://schemas.microsoft.com/office/drawing/2014/main" id="{6AA27E86-ECAF-4AFD-94AC-F245B12C62AD}"/>
              </a:ext>
            </a:extLst>
          </p:cNvPr>
          <p:cNvSpPr txBox="1"/>
          <p:nvPr/>
        </p:nvSpPr>
        <p:spPr>
          <a:xfrm>
            <a:off x="4407288" y="1808884"/>
            <a:ext cx="877163" cy="300082"/>
          </a:xfrm>
          <a:prstGeom prst="rect">
            <a:avLst/>
          </a:prstGeom>
          <a:noFill/>
        </p:spPr>
        <p:txBody>
          <a:bodyPr wrap="none" rtlCol="0">
            <a:spAutoFit/>
          </a:bodyPr>
          <a:lstStyle/>
          <a:p>
            <a:r>
              <a:rPr lang="zh-TW" altLang="en-US" sz="1350" dirty="0">
                <a:latin typeface="Adobe 仿宋 Std R" panose="02020400000000000000" pitchFamily="18" charset="-128"/>
                <a:ea typeface="Adobe 仿宋 Std R" panose="02020400000000000000" pitchFamily="18" charset="-128"/>
              </a:rPr>
              <a:t>電路接法</a:t>
            </a:r>
          </a:p>
        </p:txBody>
      </p:sp>
      <p:sp>
        <p:nvSpPr>
          <p:cNvPr id="5" name="文字方塊 4">
            <a:extLst>
              <a:ext uri="{FF2B5EF4-FFF2-40B4-BE49-F238E27FC236}">
                <a16:creationId xmlns:a16="http://schemas.microsoft.com/office/drawing/2014/main" id="{C2F13E77-9595-433E-8154-1366351933C4}"/>
              </a:ext>
            </a:extLst>
          </p:cNvPr>
          <p:cNvSpPr txBox="1"/>
          <p:nvPr/>
        </p:nvSpPr>
        <p:spPr>
          <a:xfrm>
            <a:off x="5238285" y="3078357"/>
            <a:ext cx="521297" cy="300082"/>
          </a:xfrm>
          <a:prstGeom prst="rect">
            <a:avLst/>
          </a:prstGeom>
          <a:noFill/>
        </p:spPr>
        <p:txBody>
          <a:bodyPr wrap="none" rtlCol="0">
            <a:spAutoFit/>
          </a:bodyPr>
          <a:lstStyle/>
          <a:p>
            <a:r>
              <a:rPr lang="en-US" altLang="zh-TW" sz="1350" dirty="0"/>
              <a:t>LED</a:t>
            </a:r>
            <a:endParaRPr lang="zh-TW" altLang="en-US" sz="1350" dirty="0"/>
          </a:p>
        </p:txBody>
      </p:sp>
      <p:sp>
        <p:nvSpPr>
          <p:cNvPr id="8" name="文字方塊 7">
            <a:extLst>
              <a:ext uri="{FF2B5EF4-FFF2-40B4-BE49-F238E27FC236}">
                <a16:creationId xmlns:a16="http://schemas.microsoft.com/office/drawing/2014/main" id="{1A9C6741-66FC-40E6-963F-7914595C5317}"/>
              </a:ext>
            </a:extLst>
          </p:cNvPr>
          <p:cNvSpPr txBox="1"/>
          <p:nvPr/>
        </p:nvSpPr>
        <p:spPr>
          <a:xfrm>
            <a:off x="5150196" y="3293302"/>
            <a:ext cx="160507" cy="300082"/>
          </a:xfrm>
          <a:prstGeom prst="rect">
            <a:avLst/>
          </a:prstGeom>
          <a:noFill/>
        </p:spPr>
        <p:txBody>
          <a:bodyPr wrap="square" rtlCol="0">
            <a:spAutoFit/>
          </a:bodyPr>
          <a:lstStyle/>
          <a:p>
            <a:pPr algn="ctr"/>
            <a:r>
              <a:rPr lang="en-US" altLang="zh-TW" sz="1350" dirty="0"/>
              <a:t>+</a:t>
            </a:r>
            <a:endParaRPr lang="zh-TW" altLang="en-US" sz="1350" dirty="0"/>
          </a:p>
        </p:txBody>
      </p:sp>
      <p:sp>
        <p:nvSpPr>
          <p:cNvPr id="18" name="文字方塊 17">
            <a:extLst>
              <a:ext uri="{FF2B5EF4-FFF2-40B4-BE49-F238E27FC236}">
                <a16:creationId xmlns:a16="http://schemas.microsoft.com/office/drawing/2014/main" id="{C638CE03-E3EA-4EBF-A9B4-B9FDF56BD016}"/>
              </a:ext>
            </a:extLst>
          </p:cNvPr>
          <p:cNvSpPr txBox="1"/>
          <p:nvPr/>
        </p:nvSpPr>
        <p:spPr>
          <a:xfrm>
            <a:off x="6185632" y="1780794"/>
            <a:ext cx="2329088" cy="715581"/>
          </a:xfrm>
          <a:prstGeom prst="rect">
            <a:avLst/>
          </a:prstGeom>
          <a:noFill/>
          <a:ln>
            <a:noFill/>
          </a:ln>
        </p:spPr>
        <p:txBody>
          <a:bodyPr wrap="square" rtlCol="0">
            <a:spAutoFit/>
          </a:bodyPr>
          <a:lstStyle/>
          <a:p>
            <a:pPr algn="just"/>
            <a:r>
              <a:rPr lang="zh-TW" altLang="en-US" sz="1350" dirty="0">
                <a:latin typeface="Adobe 仿宋 Std R" panose="02020400000000000000" pitchFamily="18" charset="-128"/>
                <a:ea typeface="Adobe 仿宋 Std R" panose="02020400000000000000" pitchFamily="18" charset="-128"/>
              </a:rPr>
              <a:t>板載</a:t>
            </a:r>
            <a:r>
              <a:rPr lang="en-US" altLang="zh-TW" sz="1350" dirty="0">
                <a:latin typeface="Adobe 仿宋 Std R" panose="02020400000000000000" pitchFamily="18" charset="-128"/>
                <a:ea typeface="Adobe 仿宋 Std R" panose="02020400000000000000" pitchFamily="18" charset="-128"/>
              </a:rPr>
              <a:t>LED</a:t>
            </a:r>
            <a:r>
              <a:rPr lang="zh-TW" altLang="en-US" sz="1350" dirty="0">
                <a:latin typeface="Adobe 仿宋 Std R" panose="02020400000000000000" pitchFamily="18" charset="-128"/>
                <a:ea typeface="Adobe 仿宋 Std R" panose="02020400000000000000" pitchFamily="18" charset="-128"/>
              </a:rPr>
              <a:t>亮</a:t>
            </a:r>
            <a:r>
              <a:rPr lang="en-US" altLang="zh-TW" sz="1350" dirty="0">
                <a:latin typeface="Adobe 仿宋 Std R" panose="02020400000000000000" pitchFamily="18" charset="-128"/>
                <a:ea typeface="Adobe 仿宋 Std R" panose="02020400000000000000" pitchFamily="18" charset="-128"/>
              </a:rPr>
              <a:t>1</a:t>
            </a:r>
            <a:r>
              <a:rPr lang="zh-TW" altLang="en-US" sz="1350" dirty="0">
                <a:latin typeface="Adobe 仿宋 Std R" panose="02020400000000000000" pitchFamily="18" charset="-128"/>
                <a:ea typeface="Adobe 仿宋 Std R" panose="02020400000000000000" pitchFamily="18" charset="-128"/>
              </a:rPr>
              <a:t>秒鐘後關閉，再等</a:t>
            </a:r>
            <a:r>
              <a:rPr lang="en-US" altLang="zh-TW" sz="1350" dirty="0">
                <a:latin typeface="Adobe 仿宋 Std R" panose="02020400000000000000" pitchFamily="18" charset="-128"/>
                <a:ea typeface="Adobe 仿宋 Std R" panose="02020400000000000000" pitchFamily="18" charset="-128"/>
              </a:rPr>
              <a:t>1</a:t>
            </a:r>
            <a:r>
              <a:rPr lang="zh-TW" altLang="en-US" sz="1350" dirty="0">
                <a:latin typeface="Adobe 仿宋 Std R" panose="02020400000000000000" pitchFamily="18" charset="-128"/>
                <a:ea typeface="Adobe 仿宋 Std R" panose="02020400000000000000" pitchFamily="18" charset="-128"/>
              </a:rPr>
              <a:t>秒鐘再亮，這程序重複執行</a:t>
            </a:r>
            <a:r>
              <a:rPr lang="en-US" altLang="zh-TW" sz="1350" dirty="0">
                <a:latin typeface="Adobe 仿宋 Std R" panose="02020400000000000000" pitchFamily="18" charset="-128"/>
                <a:ea typeface="Adobe 仿宋 Std R" panose="02020400000000000000" pitchFamily="18" charset="-128"/>
              </a:rPr>
              <a:t>10</a:t>
            </a:r>
            <a:r>
              <a:rPr lang="zh-TW" altLang="en-US" sz="1350" dirty="0">
                <a:latin typeface="Adobe 仿宋 Std R" panose="02020400000000000000" pitchFamily="18" charset="-128"/>
                <a:ea typeface="Adobe 仿宋 Std R" panose="02020400000000000000" pitchFamily="18" charset="-128"/>
              </a:rPr>
              <a:t>次。</a:t>
            </a:r>
          </a:p>
        </p:txBody>
      </p:sp>
    </p:spTree>
    <p:extLst>
      <p:ext uri="{BB962C8B-B14F-4D97-AF65-F5344CB8AC3E}">
        <p14:creationId xmlns:p14="http://schemas.microsoft.com/office/powerpoint/2010/main" val="1358722220"/>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 name="CustomShape 1"/>
          <p:cNvSpPr/>
          <p:nvPr/>
        </p:nvSpPr>
        <p:spPr>
          <a:xfrm>
            <a:off x="628560" y="471600"/>
            <a:ext cx="7886160" cy="495450"/>
          </a:xfrm>
          <a:prstGeom prst="rect">
            <a:avLst/>
          </a:prstGeom>
          <a:noFill/>
          <a:ln>
            <a:noFill/>
          </a:ln>
        </p:spPr>
        <p:style>
          <a:lnRef idx="0">
            <a:scrgbClr r="0" g="0" b="0"/>
          </a:lnRef>
          <a:fillRef idx="0">
            <a:scrgbClr r="0" g="0" b="0"/>
          </a:fillRef>
          <a:effectRef idx="0">
            <a:scrgbClr r="0" g="0" b="0"/>
          </a:effectRef>
          <a:fontRef idx="minor"/>
        </p:style>
        <p:txBody>
          <a:bodyPr lIns="67500" tIns="33750" rIns="67500" bIns="33750"/>
          <a:lstStyle/>
          <a:p>
            <a:pPr>
              <a:lnSpc>
                <a:spcPct val="100000"/>
              </a:lnSpc>
            </a:pPr>
            <a:r>
              <a:rPr lang="zh-TW" altLang="en-US" sz="3600" spc="-1" dirty="0">
                <a:solidFill>
                  <a:srgbClr val="000000"/>
                </a:solidFill>
                <a:uFill>
                  <a:solidFill>
                    <a:srgbClr val="FFFFFF"/>
                  </a:solidFill>
                </a:uFill>
                <a:latin typeface="Adobe 黑体 Std R" panose="020B0400000000000000" pitchFamily="34" charset="-128"/>
                <a:ea typeface="Adobe 黑体 Std R" panose="020B0400000000000000" pitchFamily="34" charset="-128"/>
              </a:rPr>
              <a:t>數位輸入與輸出 </a:t>
            </a:r>
            <a:r>
              <a:rPr lang="en-US" altLang="zh-TW" sz="3600" spc="-1" dirty="0">
                <a:solidFill>
                  <a:srgbClr val="000000"/>
                </a:solidFill>
                <a:uFill>
                  <a:solidFill>
                    <a:srgbClr val="FFFFFF"/>
                  </a:solidFill>
                </a:uFill>
                <a:latin typeface="Adobe 黑体 Std R" panose="020B0400000000000000" pitchFamily="34" charset="-128"/>
                <a:ea typeface="Adobe 黑体 Std R" panose="020B0400000000000000" pitchFamily="34" charset="-128"/>
              </a:rPr>
              <a:t>: </a:t>
            </a:r>
            <a:r>
              <a:rPr lang="zh-TW" altLang="en-US" sz="3600" spc="-1" dirty="0">
                <a:solidFill>
                  <a:srgbClr val="000000"/>
                </a:solidFill>
                <a:uFill>
                  <a:solidFill>
                    <a:srgbClr val="FFFFFF"/>
                  </a:solidFill>
                </a:uFill>
                <a:latin typeface="Adobe 黑体 Std R" panose="020B0400000000000000" pitchFamily="34" charset="-128"/>
                <a:ea typeface="Adobe 黑体 Std R" panose="020B0400000000000000" pitchFamily="34" charset="-128"/>
              </a:rPr>
              <a:t>按鈕控制</a:t>
            </a:r>
            <a:r>
              <a:rPr lang="en-US" altLang="zh-TW" sz="3600" spc="-1" dirty="0">
                <a:solidFill>
                  <a:srgbClr val="000000"/>
                </a:solidFill>
                <a:uFill>
                  <a:solidFill>
                    <a:srgbClr val="FFFFFF"/>
                  </a:solidFill>
                </a:uFill>
                <a:latin typeface="Adobe 黑体 Std R" panose="020B0400000000000000" pitchFamily="34" charset="-128"/>
                <a:ea typeface="Adobe 黑体 Std R" panose="020B0400000000000000" pitchFamily="34" charset="-128"/>
              </a:rPr>
              <a:t>LED</a:t>
            </a:r>
            <a:endParaRPr lang="en-US" sz="3600" spc="-1" dirty="0">
              <a:solidFill>
                <a:srgbClr val="000000"/>
              </a:solidFill>
              <a:uFill>
                <a:solidFill>
                  <a:srgbClr val="FFFFFF"/>
                </a:solidFill>
              </a:uFill>
              <a:latin typeface="Adobe 黑体 Std R" panose="020B0400000000000000" pitchFamily="34" charset="-128"/>
              <a:ea typeface="Adobe 黑体 Std R" panose="020B0400000000000000" pitchFamily="34" charset="-128"/>
            </a:endParaRPr>
          </a:p>
        </p:txBody>
      </p:sp>
      <p:sp>
        <p:nvSpPr>
          <p:cNvPr id="7" name="橢圓 6">
            <a:extLst>
              <a:ext uri="{FF2B5EF4-FFF2-40B4-BE49-F238E27FC236}">
                <a16:creationId xmlns:a16="http://schemas.microsoft.com/office/drawing/2014/main" id="{9CE92F73-C714-4B6A-8DE5-9A79C19886A5}"/>
              </a:ext>
            </a:extLst>
          </p:cNvPr>
          <p:cNvSpPr/>
          <p:nvPr/>
        </p:nvSpPr>
        <p:spPr>
          <a:xfrm>
            <a:off x="6428987" y="2158721"/>
            <a:ext cx="419877" cy="412880"/>
          </a:xfrm>
          <a:prstGeom prst="ellipse">
            <a:avLst/>
          </a:prstGeom>
          <a:solidFill>
            <a:srgbClr val="FF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9" name="矩形 8">
            <a:extLst>
              <a:ext uri="{FF2B5EF4-FFF2-40B4-BE49-F238E27FC236}">
                <a16:creationId xmlns:a16="http://schemas.microsoft.com/office/drawing/2014/main" id="{674BF108-C134-429C-BC88-3D6393EB7651}"/>
              </a:ext>
            </a:extLst>
          </p:cNvPr>
          <p:cNvSpPr/>
          <p:nvPr/>
        </p:nvSpPr>
        <p:spPr>
          <a:xfrm>
            <a:off x="6359008" y="2095739"/>
            <a:ext cx="566834" cy="54584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11" name="矩形 10">
            <a:extLst>
              <a:ext uri="{FF2B5EF4-FFF2-40B4-BE49-F238E27FC236}">
                <a16:creationId xmlns:a16="http://schemas.microsoft.com/office/drawing/2014/main" id="{1CDFFF22-7B8B-4CD8-89E8-FDF20A5C2060}"/>
              </a:ext>
            </a:extLst>
          </p:cNvPr>
          <p:cNvSpPr/>
          <p:nvPr/>
        </p:nvSpPr>
        <p:spPr>
          <a:xfrm>
            <a:off x="6428987" y="1948782"/>
            <a:ext cx="118965" cy="1399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13" name="矩形 12">
            <a:extLst>
              <a:ext uri="{FF2B5EF4-FFF2-40B4-BE49-F238E27FC236}">
                <a16:creationId xmlns:a16="http://schemas.microsoft.com/office/drawing/2014/main" id="{F5887EFC-E867-4999-AED2-7EB43063E2FA}"/>
              </a:ext>
            </a:extLst>
          </p:cNvPr>
          <p:cNvSpPr/>
          <p:nvPr/>
        </p:nvSpPr>
        <p:spPr>
          <a:xfrm>
            <a:off x="6748559" y="1955781"/>
            <a:ext cx="118965" cy="1399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14" name="矩形 13">
            <a:extLst>
              <a:ext uri="{FF2B5EF4-FFF2-40B4-BE49-F238E27FC236}">
                <a16:creationId xmlns:a16="http://schemas.microsoft.com/office/drawing/2014/main" id="{569644F8-3607-4A58-8294-C9163DC99A4D}"/>
              </a:ext>
            </a:extLst>
          </p:cNvPr>
          <p:cNvSpPr/>
          <p:nvPr/>
        </p:nvSpPr>
        <p:spPr>
          <a:xfrm>
            <a:off x="6428987" y="2648578"/>
            <a:ext cx="118965" cy="1399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15" name="矩形 14">
            <a:extLst>
              <a:ext uri="{FF2B5EF4-FFF2-40B4-BE49-F238E27FC236}">
                <a16:creationId xmlns:a16="http://schemas.microsoft.com/office/drawing/2014/main" id="{9E2D9070-F5A3-4754-AAC4-5B67EDCB0E16}"/>
              </a:ext>
            </a:extLst>
          </p:cNvPr>
          <p:cNvSpPr/>
          <p:nvPr/>
        </p:nvSpPr>
        <p:spPr>
          <a:xfrm>
            <a:off x="6748559" y="2648578"/>
            <a:ext cx="118965" cy="1399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cxnSp>
        <p:nvCxnSpPr>
          <p:cNvPr id="16" name="直線單箭頭接點 15">
            <a:extLst>
              <a:ext uri="{FF2B5EF4-FFF2-40B4-BE49-F238E27FC236}">
                <a16:creationId xmlns:a16="http://schemas.microsoft.com/office/drawing/2014/main" id="{FBD553B7-A681-4421-9D00-C0E0E4699AE4}"/>
              </a:ext>
            </a:extLst>
          </p:cNvPr>
          <p:cNvCxnSpPr>
            <a:cxnSpLocks/>
            <a:stCxn id="14" idx="2"/>
          </p:cNvCxnSpPr>
          <p:nvPr/>
        </p:nvCxnSpPr>
        <p:spPr>
          <a:xfrm flipH="1">
            <a:off x="6488469" y="2788538"/>
            <a:ext cx="1" cy="31490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文字方塊 16">
            <a:extLst>
              <a:ext uri="{FF2B5EF4-FFF2-40B4-BE49-F238E27FC236}">
                <a16:creationId xmlns:a16="http://schemas.microsoft.com/office/drawing/2014/main" id="{C254BA42-1C42-49AA-B661-D45A1EBAEB95}"/>
              </a:ext>
            </a:extLst>
          </p:cNvPr>
          <p:cNvSpPr txBox="1"/>
          <p:nvPr/>
        </p:nvSpPr>
        <p:spPr>
          <a:xfrm>
            <a:off x="6246094" y="3099367"/>
            <a:ext cx="530915" cy="300082"/>
          </a:xfrm>
          <a:prstGeom prst="rect">
            <a:avLst/>
          </a:prstGeom>
          <a:noFill/>
        </p:spPr>
        <p:txBody>
          <a:bodyPr wrap="none" rtlCol="0">
            <a:spAutoFit/>
          </a:bodyPr>
          <a:lstStyle/>
          <a:p>
            <a:r>
              <a:rPr lang="en-US" altLang="zh-TW" sz="1350" dirty="0"/>
              <a:t>GP3</a:t>
            </a:r>
            <a:endParaRPr lang="zh-TW" altLang="en-US" sz="1350" dirty="0"/>
          </a:p>
        </p:txBody>
      </p:sp>
      <p:cxnSp>
        <p:nvCxnSpPr>
          <p:cNvPr id="19" name="直線單箭頭接點 18">
            <a:extLst>
              <a:ext uri="{FF2B5EF4-FFF2-40B4-BE49-F238E27FC236}">
                <a16:creationId xmlns:a16="http://schemas.microsoft.com/office/drawing/2014/main" id="{BA7DDD1F-6550-43BE-B9AA-F25265A4F787}"/>
              </a:ext>
            </a:extLst>
          </p:cNvPr>
          <p:cNvCxnSpPr>
            <a:stCxn id="13" idx="0"/>
          </p:cNvCxnSpPr>
          <p:nvPr/>
        </p:nvCxnSpPr>
        <p:spPr>
          <a:xfrm flipV="1">
            <a:off x="6808042" y="1563895"/>
            <a:ext cx="0" cy="39188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0" name="文字方塊 19">
            <a:extLst>
              <a:ext uri="{FF2B5EF4-FFF2-40B4-BE49-F238E27FC236}">
                <a16:creationId xmlns:a16="http://schemas.microsoft.com/office/drawing/2014/main" id="{22CAB331-34A7-4DC9-8A01-7D785A3E286E}"/>
              </a:ext>
            </a:extLst>
          </p:cNvPr>
          <p:cNvSpPr txBox="1"/>
          <p:nvPr/>
        </p:nvSpPr>
        <p:spPr>
          <a:xfrm>
            <a:off x="6560859" y="1337068"/>
            <a:ext cx="540533" cy="300082"/>
          </a:xfrm>
          <a:prstGeom prst="rect">
            <a:avLst/>
          </a:prstGeom>
          <a:noFill/>
        </p:spPr>
        <p:txBody>
          <a:bodyPr wrap="none" rtlCol="0">
            <a:spAutoFit/>
          </a:bodyPr>
          <a:lstStyle/>
          <a:p>
            <a:r>
              <a:rPr lang="en-US" altLang="zh-TW" sz="1350" dirty="0"/>
              <a:t>3.3V</a:t>
            </a:r>
            <a:endParaRPr lang="zh-TW" altLang="en-US" sz="1350" dirty="0"/>
          </a:p>
        </p:txBody>
      </p:sp>
      <p:sp>
        <p:nvSpPr>
          <p:cNvPr id="21" name="文字方塊 20">
            <a:extLst>
              <a:ext uri="{FF2B5EF4-FFF2-40B4-BE49-F238E27FC236}">
                <a16:creationId xmlns:a16="http://schemas.microsoft.com/office/drawing/2014/main" id="{A06B32D1-73FF-4D1A-927F-1FA4061F0BAE}"/>
              </a:ext>
            </a:extLst>
          </p:cNvPr>
          <p:cNvSpPr txBox="1"/>
          <p:nvPr/>
        </p:nvSpPr>
        <p:spPr>
          <a:xfrm>
            <a:off x="6053235" y="3414275"/>
            <a:ext cx="2842661" cy="1061829"/>
          </a:xfrm>
          <a:prstGeom prst="rect">
            <a:avLst/>
          </a:prstGeom>
          <a:noFill/>
        </p:spPr>
        <p:txBody>
          <a:bodyPr wrap="square" rtlCol="0">
            <a:spAutoFit/>
          </a:bodyPr>
          <a:lstStyle/>
          <a:p>
            <a:pPr algn="just"/>
            <a:r>
              <a:rPr lang="zh-TW" altLang="zh-TW" sz="1050" dirty="0">
                <a:latin typeface="Adobe 仿宋 Std R" panose="02020400000000000000" pitchFamily="18" charset="-128"/>
                <a:ea typeface="Adobe 仿宋 Std R" panose="02020400000000000000" pitchFamily="18" charset="-128"/>
              </a:rPr>
              <a:t>與</a:t>
            </a:r>
            <a:r>
              <a:rPr lang="en-US" altLang="zh-TW" sz="1050" dirty="0">
                <a:latin typeface="Adobe 仿宋 Std R" panose="02020400000000000000" pitchFamily="18" charset="-128"/>
                <a:ea typeface="Adobe 仿宋 Std R" panose="02020400000000000000" pitchFamily="18" charset="-128"/>
              </a:rPr>
              <a:t>LED</a:t>
            </a:r>
            <a:r>
              <a:rPr lang="zh-TW" altLang="zh-TW" sz="1050" dirty="0">
                <a:latin typeface="Adobe 仿宋 Std R" panose="02020400000000000000" pitchFamily="18" charset="-128"/>
                <a:ea typeface="Adobe 仿宋 Std R" panose="02020400000000000000" pitchFamily="18" charset="-128"/>
              </a:rPr>
              <a:t>不同的是，按鈕開關不需要限流電阻。不過，它仍然需要一個電阻器：它需要上拉或下拉電阻器，取決於電路如何工作。</a:t>
            </a:r>
            <a:endParaRPr lang="en-US" altLang="zh-TW" sz="1050" dirty="0">
              <a:latin typeface="Adobe 仿宋 Std R" panose="02020400000000000000" pitchFamily="18" charset="-128"/>
              <a:ea typeface="Adobe 仿宋 Std R" panose="02020400000000000000" pitchFamily="18" charset="-128"/>
            </a:endParaRPr>
          </a:p>
          <a:p>
            <a:pPr algn="just"/>
            <a:r>
              <a:rPr lang="zh-TW" altLang="zh-TW" sz="1050" dirty="0">
                <a:latin typeface="Adobe 仿宋 Std R" panose="02020400000000000000" pitchFamily="18" charset="-128"/>
                <a:ea typeface="Adobe 仿宋 Std R" panose="02020400000000000000" pitchFamily="18" charset="-128"/>
              </a:rPr>
              <a:t>沒有上拉或下拉電阻，輸入被稱為浮動輸入</a:t>
            </a:r>
            <a:r>
              <a:rPr lang="zh-TW" altLang="en-US" sz="1050" dirty="0">
                <a:latin typeface="Adobe 仿宋 Std R" panose="02020400000000000000" pitchFamily="18" charset="-128"/>
                <a:ea typeface="Adobe 仿宋 Std R" panose="02020400000000000000" pitchFamily="18" charset="-128"/>
              </a:rPr>
              <a:t>，</a:t>
            </a:r>
            <a:r>
              <a:rPr lang="zh-TW" altLang="zh-TW" sz="1050" dirty="0">
                <a:latin typeface="Adobe 仿宋 Std R" panose="02020400000000000000" pitchFamily="18" charset="-128"/>
                <a:ea typeface="Adobe 仿宋 Std R" panose="02020400000000000000" pitchFamily="18" charset="-128"/>
              </a:rPr>
              <a:t> </a:t>
            </a:r>
            <a:r>
              <a:rPr lang="en-US" altLang="zh-TW" sz="1050" dirty="0">
                <a:latin typeface="Adobe 仿宋 Std R" panose="02020400000000000000" pitchFamily="18" charset="-128"/>
                <a:ea typeface="Adobe 仿宋 Std R" panose="02020400000000000000" pitchFamily="18" charset="-128"/>
              </a:rPr>
              <a:t> </a:t>
            </a:r>
            <a:r>
              <a:rPr lang="zh-TW" altLang="zh-TW" sz="1050" dirty="0">
                <a:latin typeface="Adobe 仿宋 Std R" panose="02020400000000000000" pitchFamily="18" charset="-128"/>
                <a:ea typeface="Adobe 仿宋 Std R" panose="02020400000000000000" pitchFamily="18" charset="-128"/>
              </a:rPr>
              <a:t>這意味著它有一個“嘈雜”的</a:t>
            </a:r>
            <a:r>
              <a:rPr lang="zh-TW" altLang="en-US" sz="1050" dirty="0">
                <a:latin typeface="Adobe 仿宋 Std R" panose="02020400000000000000" pitchFamily="18" charset="-128"/>
                <a:ea typeface="Adobe 仿宋 Std R" panose="02020400000000000000" pitchFamily="18" charset="-128"/>
              </a:rPr>
              <a:t>訊</a:t>
            </a:r>
            <a:r>
              <a:rPr lang="zh-TW" altLang="zh-TW" sz="1050" dirty="0">
                <a:latin typeface="Adobe 仿宋 Std R" panose="02020400000000000000" pitchFamily="18" charset="-128"/>
                <a:ea typeface="Adobe 仿宋 Std R" panose="02020400000000000000" pitchFamily="18" charset="-128"/>
              </a:rPr>
              <a:t>號，即使沒有按下按鈕也</a:t>
            </a:r>
            <a:r>
              <a:rPr lang="zh-TW" altLang="en-US" sz="1050" dirty="0">
                <a:latin typeface="Adobe 仿宋 Std R" panose="02020400000000000000" pitchFamily="18" charset="-128"/>
                <a:ea typeface="Adobe 仿宋 Std R" panose="02020400000000000000" pitchFamily="18" charset="-128"/>
              </a:rPr>
              <a:t>可</a:t>
            </a:r>
            <a:r>
              <a:rPr lang="zh-TW" altLang="zh-TW" sz="1050" dirty="0">
                <a:latin typeface="Adobe 仿宋 Std R" panose="02020400000000000000" pitchFamily="18" charset="-128"/>
                <a:ea typeface="Adobe 仿宋 Std R" panose="02020400000000000000" pitchFamily="18" charset="-128"/>
              </a:rPr>
              <a:t>能觸發。</a:t>
            </a:r>
            <a:endParaRPr lang="zh-TW" altLang="en-US" sz="1050" dirty="0">
              <a:latin typeface="Adobe 仿宋 Std R" panose="02020400000000000000" pitchFamily="18" charset="-128"/>
              <a:ea typeface="Adobe 仿宋 Std R" panose="02020400000000000000" pitchFamily="18" charset="-128"/>
            </a:endParaRPr>
          </a:p>
        </p:txBody>
      </p:sp>
      <p:sp>
        <p:nvSpPr>
          <p:cNvPr id="23" name="文字方塊 22">
            <a:extLst>
              <a:ext uri="{FF2B5EF4-FFF2-40B4-BE49-F238E27FC236}">
                <a16:creationId xmlns:a16="http://schemas.microsoft.com/office/drawing/2014/main" id="{3FA1CD9C-FE58-4379-8A55-6F422FA7616B}"/>
              </a:ext>
            </a:extLst>
          </p:cNvPr>
          <p:cNvSpPr txBox="1"/>
          <p:nvPr/>
        </p:nvSpPr>
        <p:spPr>
          <a:xfrm>
            <a:off x="6053235" y="4535967"/>
            <a:ext cx="2818169" cy="738664"/>
          </a:xfrm>
          <a:prstGeom prst="rect">
            <a:avLst/>
          </a:prstGeom>
          <a:noFill/>
        </p:spPr>
        <p:txBody>
          <a:bodyPr wrap="square" rtlCol="0">
            <a:spAutoFit/>
          </a:bodyPr>
          <a:lstStyle/>
          <a:p>
            <a:r>
              <a:rPr lang="zh-TW" altLang="zh-TW" sz="1050" dirty="0">
                <a:latin typeface="Adobe 仿宋 Std R" panose="02020400000000000000" pitchFamily="18" charset="-128"/>
                <a:ea typeface="Adobe 仿宋 Std R" panose="02020400000000000000" pitchFamily="18" charset="-128"/>
              </a:rPr>
              <a:t>下拉電阻將針腳連接到地，這意味著當沒有按下按鈕時，輸入將為</a:t>
            </a:r>
            <a:r>
              <a:rPr lang="en-US" altLang="zh-TW" sz="1050" dirty="0">
                <a:latin typeface="Adobe 仿宋 Std R" panose="02020400000000000000" pitchFamily="18" charset="-128"/>
                <a:ea typeface="Adobe 仿宋 Std R" panose="02020400000000000000" pitchFamily="18" charset="-128"/>
              </a:rPr>
              <a:t>0</a:t>
            </a:r>
            <a:r>
              <a:rPr lang="zh-TW" altLang="zh-TW" sz="1050" dirty="0">
                <a:latin typeface="Adobe 仿宋 Std R" panose="02020400000000000000" pitchFamily="18" charset="-128"/>
                <a:ea typeface="Adobe 仿宋 Std R" panose="02020400000000000000" pitchFamily="18" charset="-128"/>
              </a:rPr>
              <a:t>。一個上拉電阻將針腳連接到</a:t>
            </a:r>
            <a:r>
              <a:rPr lang="en-US" altLang="zh-TW" sz="1050" dirty="0">
                <a:latin typeface="Adobe 仿宋 Std R" panose="02020400000000000000" pitchFamily="18" charset="-128"/>
                <a:ea typeface="Adobe 仿宋 Std R" panose="02020400000000000000" pitchFamily="18" charset="-128"/>
              </a:rPr>
              <a:t>3V3</a:t>
            </a:r>
            <a:r>
              <a:rPr lang="zh-TW" altLang="zh-TW" sz="1050" dirty="0">
                <a:latin typeface="Adobe 仿宋 Std R" panose="02020400000000000000" pitchFamily="18" charset="-128"/>
                <a:ea typeface="Adobe 仿宋 Std R" panose="02020400000000000000" pitchFamily="18" charset="-128"/>
              </a:rPr>
              <a:t>，這意味著當沒有按下按鈕時，輸入將為</a:t>
            </a:r>
            <a:r>
              <a:rPr lang="en-US" altLang="zh-TW" sz="1050" dirty="0">
                <a:latin typeface="Adobe 仿宋 Std R" panose="02020400000000000000" pitchFamily="18" charset="-128"/>
                <a:ea typeface="Adobe 仿宋 Std R" panose="02020400000000000000" pitchFamily="18" charset="-128"/>
              </a:rPr>
              <a:t>1</a:t>
            </a:r>
            <a:r>
              <a:rPr lang="zh-TW" altLang="zh-TW" sz="1050" dirty="0">
                <a:latin typeface="Adobe 仿宋 Std R" panose="02020400000000000000" pitchFamily="18" charset="-128"/>
                <a:ea typeface="Adobe 仿宋 Std R" panose="02020400000000000000" pitchFamily="18" charset="-128"/>
              </a:rPr>
              <a:t>。</a:t>
            </a:r>
            <a:endParaRPr lang="zh-TW" altLang="en-US" sz="1050" dirty="0">
              <a:latin typeface="Adobe 仿宋 Std R" panose="02020400000000000000" pitchFamily="18" charset="-128"/>
              <a:ea typeface="Adobe 仿宋 Std R" panose="02020400000000000000" pitchFamily="18" charset="-128"/>
            </a:endParaRPr>
          </a:p>
        </p:txBody>
      </p:sp>
      <p:pic>
        <p:nvPicPr>
          <p:cNvPr id="2" name="圖片 1">
            <a:extLst>
              <a:ext uri="{FF2B5EF4-FFF2-40B4-BE49-F238E27FC236}">
                <a16:creationId xmlns:a16="http://schemas.microsoft.com/office/drawing/2014/main" id="{DAFE3AE2-45F2-4F5E-AA19-A5D207B1A716}"/>
              </a:ext>
            </a:extLst>
          </p:cNvPr>
          <p:cNvPicPr>
            <a:picLocks noChangeAspect="1"/>
          </p:cNvPicPr>
          <p:nvPr/>
        </p:nvPicPr>
        <p:blipFill>
          <a:blip r:embed="rId2"/>
          <a:stretch>
            <a:fillRect/>
          </a:stretch>
        </p:blipFill>
        <p:spPr>
          <a:xfrm>
            <a:off x="628560" y="1296443"/>
            <a:ext cx="4944507" cy="4139152"/>
          </a:xfrm>
          <a:prstGeom prst="rect">
            <a:avLst/>
          </a:prstGeom>
        </p:spPr>
      </p:pic>
      <p:pic>
        <p:nvPicPr>
          <p:cNvPr id="18" name="圖片 17">
            <a:extLst>
              <a:ext uri="{FF2B5EF4-FFF2-40B4-BE49-F238E27FC236}">
                <a16:creationId xmlns:a16="http://schemas.microsoft.com/office/drawing/2014/main" id="{557F3552-88BF-4549-B5D3-19BF84A6124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823154" y="3626766"/>
            <a:ext cx="2693501" cy="3810000"/>
          </a:xfrm>
          <a:prstGeom prst="rect">
            <a:avLst/>
          </a:prstGeom>
        </p:spPr>
      </p:pic>
    </p:spTree>
    <p:extLst>
      <p:ext uri="{BB962C8B-B14F-4D97-AF65-F5344CB8AC3E}">
        <p14:creationId xmlns:p14="http://schemas.microsoft.com/office/powerpoint/2010/main" val="1500250979"/>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 name="CustomShape 1"/>
          <p:cNvSpPr/>
          <p:nvPr/>
        </p:nvSpPr>
        <p:spPr>
          <a:xfrm>
            <a:off x="628560" y="471600"/>
            <a:ext cx="7886160" cy="495450"/>
          </a:xfrm>
          <a:prstGeom prst="rect">
            <a:avLst/>
          </a:prstGeom>
          <a:noFill/>
          <a:ln>
            <a:noFill/>
          </a:ln>
        </p:spPr>
        <p:style>
          <a:lnRef idx="0">
            <a:scrgbClr r="0" g="0" b="0"/>
          </a:lnRef>
          <a:fillRef idx="0">
            <a:scrgbClr r="0" g="0" b="0"/>
          </a:fillRef>
          <a:effectRef idx="0">
            <a:scrgbClr r="0" g="0" b="0"/>
          </a:effectRef>
          <a:fontRef idx="minor"/>
        </p:style>
        <p:txBody>
          <a:bodyPr lIns="67500" tIns="33750" rIns="67500" bIns="33750"/>
          <a:lstStyle/>
          <a:p>
            <a:pPr>
              <a:lnSpc>
                <a:spcPct val="100000"/>
              </a:lnSpc>
            </a:pPr>
            <a:r>
              <a:rPr lang="zh-TW" altLang="en-US" sz="3600" spc="-1" dirty="0">
                <a:solidFill>
                  <a:srgbClr val="000000"/>
                </a:solidFill>
                <a:uFill>
                  <a:solidFill>
                    <a:srgbClr val="FFFFFF"/>
                  </a:solidFill>
                </a:uFill>
                <a:latin typeface="Adobe 黑体 Std R" panose="020B0400000000000000" pitchFamily="34" charset="-128"/>
                <a:ea typeface="Adobe 黑体 Std R" panose="020B0400000000000000" pitchFamily="34" charset="-128"/>
              </a:rPr>
              <a:t>模擬類比</a:t>
            </a:r>
            <a:r>
              <a:rPr lang="en-US" altLang="zh-TW" sz="3600" spc="-1" dirty="0">
                <a:solidFill>
                  <a:srgbClr val="000000"/>
                </a:solidFill>
                <a:uFill>
                  <a:solidFill>
                    <a:srgbClr val="FFFFFF"/>
                  </a:solidFill>
                </a:uFill>
                <a:latin typeface="Adobe 黑体 Std R" panose="020B0400000000000000" pitchFamily="34" charset="-128"/>
                <a:ea typeface="Adobe 黑体 Std R" panose="020B0400000000000000" pitchFamily="34" charset="-128"/>
              </a:rPr>
              <a:t>(PWM)</a:t>
            </a:r>
            <a:r>
              <a:rPr lang="zh-TW" altLang="en-US" sz="3600" spc="-1" dirty="0">
                <a:solidFill>
                  <a:srgbClr val="000000"/>
                </a:solidFill>
                <a:uFill>
                  <a:solidFill>
                    <a:srgbClr val="FFFFFF"/>
                  </a:solidFill>
                </a:uFill>
                <a:latin typeface="Adobe 黑体 Std R" panose="020B0400000000000000" pitchFamily="34" charset="-128"/>
                <a:ea typeface="Adobe 黑体 Std R" panose="020B0400000000000000" pitchFamily="34" charset="-128"/>
              </a:rPr>
              <a:t>輸出</a:t>
            </a:r>
            <a:endParaRPr lang="en-US" sz="3600" spc="-1" dirty="0">
              <a:solidFill>
                <a:srgbClr val="000000"/>
              </a:solidFill>
              <a:uFill>
                <a:solidFill>
                  <a:srgbClr val="FFFFFF"/>
                </a:solidFill>
              </a:uFill>
              <a:latin typeface="Adobe 黑体 Std R" panose="020B0400000000000000" pitchFamily="34" charset="-128"/>
              <a:ea typeface="Adobe 黑体 Std R" panose="020B0400000000000000" pitchFamily="34" charset="-128"/>
            </a:endParaRPr>
          </a:p>
        </p:txBody>
      </p:sp>
      <p:pic>
        <p:nvPicPr>
          <p:cNvPr id="3" name="圖片 2">
            <a:extLst>
              <a:ext uri="{FF2B5EF4-FFF2-40B4-BE49-F238E27FC236}">
                <a16:creationId xmlns:a16="http://schemas.microsoft.com/office/drawing/2014/main" id="{9C00E003-0CB6-4C93-B9C2-38358F705506}"/>
              </a:ext>
            </a:extLst>
          </p:cNvPr>
          <p:cNvPicPr>
            <a:picLocks noChangeAspect="1"/>
          </p:cNvPicPr>
          <p:nvPr/>
        </p:nvPicPr>
        <p:blipFill>
          <a:blip r:embed="rId2"/>
          <a:stretch>
            <a:fillRect/>
          </a:stretch>
        </p:blipFill>
        <p:spPr>
          <a:xfrm>
            <a:off x="628560" y="1373353"/>
            <a:ext cx="4651085" cy="4111293"/>
          </a:xfrm>
          <a:prstGeom prst="rect">
            <a:avLst/>
          </a:prstGeom>
        </p:spPr>
      </p:pic>
      <p:sp>
        <p:nvSpPr>
          <p:cNvPr id="4" name="文字方塊 3">
            <a:extLst>
              <a:ext uri="{FF2B5EF4-FFF2-40B4-BE49-F238E27FC236}">
                <a16:creationId xmlns:a16="http://schemas.microsoft.com/office/drawing/2014/main" id="{C0C8E799-E8D4-4BC2-9936-3DC62707E839}"/>
              </a:ext>
            </a:extLst>
          </p:cNvPr>
          <p:cNvSpPr txBox="1"/>
          <p:nvPr/>
        </p:nvSpPr>
        <p:spPr>
          <a:xfrm>
            <a:off x="5493136" y="1314562"/>
            <a:ext cx="2809448" cy="2169825"/>
          </a:xfrm>
          <a:prstGeom prst="rect">
            <a:avLst/>
          </a:prstGeom>
          <a:noFill/>
        </p:spPr>
        <p:txBody>
          <a:bodyPr wrap="square" rtlCol="0">
            <a:spAutoFit/>
          </a:bodyPr>
          <a:lstStyle/>
          <a:p>
            <a:pPr algn="just"/>
            <a:r>
              <a:rPr lang="zh-TW" altLang="en-US" sz="1350" dirty="0">
                <a:latin typeface="Adobe 仿宋 Std R" panose="02020400000000000000" pitchFamily="18" charset="-128"/>
                <a:ea typeface="Adobe 仿宋 Std R" panose="02020400000000000000" pitchFamily="18" charset="-128"/>
              </a:rPr>
              <a:t>微處理器的類比輸出是應用模擬方式，使用脈衝寬度調變器</a:t>
            </a:r>
            <a:r>
              <a:rPr lang="en-US" altLang="zh-TW" sz="1350" dirty="0">
                <a:latin typeface="Adobe 仿宋 Std R" panose="02020400000000000000" pitchFamily="18" charset="-128"/>
                <a:ea typeface="Adobe 仿宋 Std R" panose="02020400000000000000" pitchFamily="18" charset="-128"/>
              </a:rPr>
              <a:t>(PWM)</a:t>
            </a:r>
            <a:r>
              <a:rPr lang="zh-TW" altLang="en-US" sz="1350" dirty="0">
                <a:latin typeface="Adobe 仿宋 Std R" panose="02020400000000000000" pitchFamily="18" charset="-128"/>
                <a:ea typeface="Adobe 仿宋 Std R" panose="02020400000000000000" pitchFamily="18" charset="-128"/>
              </a:rPr>
              <a:t>來實現類比訊號的輪出。</a:t>
            </a:r>
            <a:endParaRPr lang="en-US" altLang="zh-TW" sz="1350" dirty="0">
              <a:latin typeface="Adobe 仿宋 Std R" panose="02020400000000000000" pitchFamily="18" charset="-128"/>
              <a:ea typeface="Adobe 仿宋 Std R" panose="02020400000000000000" pitchFamily="18" charset="-128"/>
            </a:endParaRPr>
          </a:p>
          <a:p>
            <a:pPr algn="just"/>
            <a:r>
              <a:rPr lang="en-US" altLang="zh-TW" sz="1350" dirty="0">
                <a:latin typeface="Adobe 仿宋 Std R" panose="02020400000000000000" pitchFamily="18" charset="-128"/>
                <a:ea typeface="Adobe 仿宋 Std R" panose="02020400000000000000" pitchFamily="18" charset="-128"/>
              </a:rPr>
              <a:t>PWM, Pulse Width Modulation</a:t>
            </a:r>
            <a:r>
              <a:rPr lang="zh-TW" altLang="en-US" sz="1350" dirty="0">
                <a:latin typeface="Adobe 仿宋 Std R" panose="02020400000000000000" pitchFamily="18" charset="-128"/>
                <a:ea typeface="Adobe 仿宋 Std R" panose="02020400000000000000" pitchFamily="18" charset="-128"/>
              </a:rPr>
              <a:t>是一種應用數位模擬類比訊號的技術。 數位控制用於產生方波，即在開和關之間切換訊號。 這種開關模式可以透過改變訊號開啟時間與訊號關閉時間的比例來模擬全開（</a:t>
            </a:r>
            <a:r>
              <a:rPr lang="en-US" altLang="zh-TW" sz="1350" dirty="0">
                <a:latin typeface="Adobe 仿宋 Std R" panose="02020400000000000000" pitchFamily="18" charset="-128"/>
                <a:ea typeface="Adobe 仿宋 Std R" panose="02020400000000000000" pitchFamily="18" charset="-128"/>
              </a:rPr>
              <a:t>5 </a:t>
            </a:r>
            <a:r>
              <a:rPr lang="zh-TW" altLang="en-US" sz="1350" dirty="0">
                <a:latin typeface="Adobe 仿宋 Std R" panose="02020400000000000000" pitchFamily="18" charset="-128"/>
                <a:ea typeface="Adobe 仿宋 Std R" panose="02020400000000000000" pitchFamily="18" charset="-128"/>
              </a:rPr>
              <a:t>伏）和關閉（</a:t>
            </a:r>
            <a:r>
              <a:rPr lang="en-US" altLang="zh-TW" sz="1350" dirty="0">
                <a:latin typeface="Adobe 仿宋 Std R" panose="02020400000000000000" pitchFamily="18" charset="-128"/>
                <a:ea typeface="Adobe 仿宋 Std R" panose="02020400000000000000" pitchFamily="18" charset="-128"/>
              </a:rPr>
              <a:t>0 </a:t>
            </a:r>
            <a:r>
              <a:rPr lang="zh-TW" altLang="en-US" sz="1350" dirty="0">
                <a:latin typeface="Adobe 仿宋 Std R" panose="02020400000000000000" pitchFamily="18" charset="-128"/>
                <a:ea typeface="Adobe 仿宋 Std R" panose="02020400000000000000" pitchFamily="18" charset="-128"/>
              </a:rPr>
              <a:t>伏）之間的電壓。</a:t>
            </a:r>
          </a:p>
        </p:txBody>
      </p:sp>
      <p:pic>
        <p:nvPicPr>
          <p:cNvPr id="3074" name="Picture 2" descr="https://how2electronics.com/wp-content/uploads/2022/09/pwm-574x360.jpg">
            <a:extLst>
              <a:ext uri="{FF2B5EF4-FFF2-40B4-BE49-F238E27FC236}">
                <a16:creationId xmlns:a16="http://schemas.microsoft.com/office/drawing/2014/main" id="{A1D017B7-8718-4946-8DFB-03C22EB0A3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93136" y="3831900"/>
            <a:ext cx="3021584" cy="18950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954311"/>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 name="CustomShape 1"/>
          <p:cNvSpPr/>
          <p:nvPr/>
        </p:nvSpPr>
        <p:spPr>
          <a:xfrm>
            <a:off x="628560" y="471600"/>
            <a:ext cx="7886160" cy="495450"/>
          </a:xfrm>
          <a:prstGeom prst="rect">
            <a:avLst/>
          </a:prstGeom>
          <a:noFill/>
          <a:ln>
            <a:noFill/>
          </a:ln>
        </p:spPr>
        <p:style>
          <a:lnRef idx="0">
            <a:scrgbClr r="0" g="0" b="0"/>
          </a:lnRef>
          <a:fillRef idx="0">
            <a:scrgbClr r="0" g="0" b="0"/>
          </a:fillRef>
          <a:effectRef idx="0">
            <a:scrgbClr r="0" g="0" b="0"/>
          </a:effectRef>
          <a:fontRef idx="minor"/>
        </p:style>
        <p:txBody>
          <a:bodyPr lIns="67500" tIns="33750" rIns="67500" bIns="33750"/>
          <a:lstStyle/>
          <a:p>
            <a:pPr>
              <a:lnSpc>
                <a:spcPct val="100000"/>
              </a:lnSpc>
            </a:pPr>
            <a:r>
              <a:rPr lang="zh-TW" altLang="en-US" sz="3600" spc="-1" dirty="0">
                <a:solidFill>
                  <a:srgbClr val="000000"/>
                </a:solidFill>
                <a:uFill>
                  <a:solidFill>
                    <a:srgbClr val="FFFFFF"/>
                  </a:solidFill>
                </a:uFill>
                <a:latin typeface="Adobe 黑体 Std R" panose="020B0400000000000000" pitchFamily="34" charset="-128"/>
                <a:ea typeface="Adobe 黑体 Std R" panose="020B0400000000000000" pitchFamily="34" charset="-128"/>
              </a:rPr>
              <a:t>類比輸入</a:t>
            </a:r>
            <a:endParaRPr lang="en-US" sz="3600" spc="-1" dirty="0">
              <a:solidFill>
                <a:srgbClr val="000000"/>
              </a:solidFill>
              <a:uFill>
                <a:solidFill>
                  <a:srgbClr val="FFFFFF"/>
                </a:solidFill>
              </a:uFill>
              <a:latin typeface="Adobe 黑体 Std R" panose="020B0400000000000000" pitchFamily="34" charset="-128"/>
              <a:ea typeface="Adobe 黑体 Std R" panose="020B0400000000000000" pitchFamily="34" charset="-128"/>
            </a:endParaRPr>
          </a:p>
        </p:txBody>
      </p:sp>
      <p:pic>
        <p:nvPicPr>
          <p:cNvPr id="5" name="圖片 4">
            <a:extLst>
              <a:ext uri="{FF2B5EF4-FFF2-40B4-BE49-F238E27FC236}">
                <a16:creationId xmlns:a16="http://schemas.microsoft.com/office/drawing/2014/main" id="{C2AE895A-78AE-4AAF-B26D-274E7784A671}"/>
              </a:ext>
            </a:extLst>
          </p:cNvPr>
          <p:cNvPicPr>
            <a:picLocks noChangeAspect="1"/>
          </p:cNvPicPr>
          <p:nvPr/>
        </p:nvPicPr>
        <p:blipFill>
          <a:blip r:embed="rId2"/>
          <a:stretch>
            <a:fillRect/>
          </a:stretch>
        </p:blipFill>
        <p:spPr>
          <a:xfrm>
            <a:off x="6337985" y="869952"/>
            <a:ext cx="1851242" cy="1711323"/>
          </a:xfrm>
          <a:prstGeom prst="rect">
            <a:avLst/>
          </a:prstGeom>
        </p:spPr>
      </p:pic>
      <p:pic>
        <p:nvPicPr>
          <p:cNvPr id="6" name="圖片 5">
            <a:extLst>
              <a:ext uri="{FF2B5EF4-FFF2-40B4-BE49-F238E27FC236}">
                <a16:creationId xmlns:a16="http://schemas.microsoft.com/office/drawing/2014/main" id="{62131EDA-3038-4115-AB29-4BEED65A0BBB}"/>
              </a:ext>
            </a:extLst>
          </p:cNvPr>
          <p:cNvPicPr>
            <a:picLocks noChangeAspect="1"/>
          </p:cNvPicPr>
          <p:nvPr/>
        </p:nvPicPr>
        <p:blipFill>
          <a:blip r:embed="rId3"/>
          <a:stretch>
            <a:fillRect/>
          </a:stretch>
        </p:blipFill>
        <p:spPr>
          <a:xfrm>
            <a:off x="521812" y="1273959"/>
            <a:ext cx="4947378" cy="3956467"/>
          </a:xfrm>
          <a:prstGeom prst="rect">
            <a:avLst/>
          </a:prstGeom>
        </p:spPr>
      </p:pic>
      <p:cxnSp>
        <p:nvCxnSpPr>
          <p:cNvPr id="8" name="直線單箭頭接點 7">
            <a:extLst>
              <a:ext uri="{FF2B5EF4-FFF2-40B4-BE49-F238E27FC236}">
                <a16:creationId xmlns:a16="http://schemas.microsoft.com/office/drawing/2014/main" id="{F27D2517-B49D-4B3E-91D5-AF2901B7F5D5}"/>
              </a:ext>
            </a:extLst>
          </p:cNvPr>
          <p:cNvCxnSpPr/>
          <p:nvPr/>
        </p:nvCxnSpPr>
        <p:spPr>
          <a:xfrm>
            <a:off x="6410505" y="2581275"/>
            <a:ext cx="0" cy="580012"/>
          </a:xfrm>
          <a:prstGeom prst="straightConnector1">
            <a:avLst/>
          </a:prstGeom>
          <a:ln w="28575">
            <a:solidFill>
              <a:srgbClr val="FF0000"/>
            </a:solidFill>
            <a:tailEnd type="arrow" w="lg" len="lg"/>
          </a:ln>
        </p:spPr>
        <p:style>
          <a:lnRef idx="1">
            <a:schemeClr val="accent1"/>
          </a:lnRef>
          <a:fillRef idx="0">
            <a:schemeClr val="accent1"/>
          </a:fillRef>
          <a:effectRef idx="0">
            <a:schemeClr val="accent1"/>
          </a:effectRef>
          <a:fontRef idx="minor">
            <a:schemeClr val="tx1"/>
          </a:fontRef>
        </p:style>
      </p:cxnSp>
      <p:sp>
        <p:nvSpPr>
          <p:cNvPr id="9" name="文字方塊 8">
            <a:extLst>
              <a:ext uri="{FF2B5EF4-FFF2-40B4-BE49-F238E27FC236}">
                <a16:creationId xmlns:a16="http://schemas.microsoft.com/office/drawing/2014/main" id="{D3F6E53C-E268-4A4E-95E1-17B3100CE007}"/>
              </a:ext>
            </a:extLst>
          </p:cNvPr>
          <p:cNvSpPr txBox="1"/>
          <p:nvPr/>
        </p:nvSpPr>
        <p:spPr>
          <a:xfrm>
            <a:off x="6110423" y="3161287"/>
            <a:ext cx="646331" cy="300082"/>
          </a:xfrm>
          <a:prstGeom prst="rect">
            <a:avLst/>
          </a:prstGeom>
          <a:noFill/>
        </p:spPr>
        <p:txBody>
          <a:bodyPr wrap="none" rtlCol="0">
            <a:spAutoFit/>
          </a:bodyPr>
          <a:lstStyle/>
          <a:p>
            <a:r>
              <a:rPr lang="en-US" altLang="zh-TW" sz="1350" dirty="0"/>
              <a:t>ADC0</a:t>
            </a:r>
            <a:endParaRPr lang="zh-TW" altLang="en-US" sz="1350" dirty="0"/>
          </a:p>
        </p:txBody>
      </p:sp>
      <p:pic>
        <p:nvPicPr>
          <p:cNvPr id="12" name="圖片 11">
            <a:extLst>
              <a:ext uri="{FF2B5EF4-FFF2-40B4-BE49-F238E27FC236}">
                <a16:creationId xmlns:a16="http://schemas.microsoft.com/office/drawing/2014/main" id="{82C87ECB-64FE-4A4B-9A93-6A37A0E195B5}"/>
              </a:ext>
            </a:extLst>
          </p:cNvPr>
          <p:cNvPicPr/>
          <p:nvPr/>
        </p:nvPicPr>
        <p:blipFill>
          <a:blip r:embed="rId4"/>
          <a:stretch>
            <a:fillRect/>
          </a:stretch>
        </p:blipFill>
        <p:spPr>
          <a:xfrm rot="5400000">
            <a:off x="7107203" y="3191106"/>
            <a:ext cx="1383224" cy="345958"/>
          </a:xfrm>
          <a:prstGeom prst="rect">
            <a:avLst/>
          </a:prstGeom>
        </p:spPr>
      </p:pic>
      <p:cxnSp>
        <p:nvCxnSpPr>
          <p:cNvPr id="11" name="直線單箭頭接點 10">
            <a:extLst>
              <a:ext uri="{FF2B5EF4-FFF2-40B4-BE49-F238E27FC236}">
                <a16:creationId xmlns:a16="http://schemas.microsoft.com/office/drawing/2014/main" id="{4C65CAD5-678D-45F3-A83C-6893AAF59338}"/>
              </a:ext>
            </a:extLst>
          </p:cNvPr>
          <p:cNvCxnSpPr/>
          <p:nvPr/>
        </p:nvCxnSpPr>
        <p:spPr>
          <a:xfrm>
            <a:off x="6959804" y="3898157"/>
            <a:ext cx="890081" cy="0"/>
          </a:xfrm>
          <a:prstGeom prst="straightConnector1">
            <a:avLst/>
          </a:prstGeom>
          <a:ln w="28575">
            <a:solidFill>
              <a:srgbClr val="FF0000"/>
            </a:solidFill>
            <a:tailEnd type="arrow" w="lg" len="lg"/>
          </a:ln>
        </p:spPr>
        <p:style>
          <a:lnRef idx="1">
            <a:schemeClr val="accent1"/>
          </a:lnRef>
          <a:fillRef idx="0">
            <a:schemeClr val="accent1"/>
          </a:fillRef>
          <a:effectRef idx="0">
            <a:schemeClr val="accent1"/>
          </a:effectRef>
          <a:fontRef idx="minor">
            <a:schemeClr val="tx1"/>
          </a:fontRef>
        </p:style>
      </p:cxnSp>
      <p:sp>
        <p:nvSpPr>
          <p:cNvPr id="13" name="文字方塊 12">
            <a:extLst>
              <a:ext uri="{FF2B5EF4-FFF2-40B4-BE49-F238E27FC236}">
                <a16:creationId xmlns:a16="http://schemas.microsoft.com/office/drawing/2014/main" id="{44E8A9D6-09A9-47AE-98B0-2FF92F42A478}"/>
              </a:ext>
            </a:extLst>
          </p:cNvPr>
          <p:cNvSpPr txBox="1"/>
          <p:nvPr/>
        </p:nvSpPr>
        <p:spPr>
          <a:xfrm>
            <a:off x="6475057" y="3778697"/>
            <a:ext cx="530915" cy="300082"/>
          </a:xfrm>
          <a:prstGeom prst="rect">
            <a:avLst/>
          </a:prstGeom>
          <a:noFill/>
        </p:spPr>
        <p:txBody>
          <a:bodyPr wrap="none" rtlCol="0">
            <a:spAutoFit/>
          </a:bodyPr>
          <a:lstStyle/>
          <a:p>
            <a:r>
              <a:rPr lang="en-US" altLang="zh-TW" sz="1350" dirty="0"/>
              <a:t>GP3</a:t>
            </a:r>
            <a:endParaRPr lang="zh-TW" altLang="en-US" sz="1350" dirty="0"/>
          </a:p>
        </p:txBody>
      </p:sp>
      <p:sp>
        <p:nvSpPr>
          <p:cNvPr id="14" name="文字方塊 13">
            <a:extLst>
              <a:ext uri="{FF2B5EF4-FFF2-40B4-BE49-F238E27FC236}">
                <a16:creationId xmlns:a16="http://schemas.microsoft.com/office/drawing/2014/main" id="{FBA7EFFC-EB41-4B07-B75A-0083AB3AC79D}"/>
              </a:ext>
            </a:extLst>
          </p:cNvPr>
          <p:cNvSpPr txBox="1"/>
          <p:nvPr/>
        </p:nvSpPr>
        <p:spPr>
          <a:xfrm>
            <a:off x="6475056" y="2481577"/>
            <a:ext cx="396262" cy="300082"/>
          </a:xfrm>
          <a:prstGeom prst="rect">
            <a:avLst/>
          </a:prstGeom>
          <a:noFill/>
        </p:spPr>
        <p:txBody>
          <a:bodyPr wrap="none" rtlCol="0">
            <a:spAutoFit/>
          </a:bodyPr>
          <a:lstStyle/>
          <a:p>
            <a:r>
              <a:rPr lang="en-US" altLang="zh-TW" sz="1350" dirty="0"/>
              <a:t>5V</a:t>
            </a:r>
            <a:endParaRPr lang="zh-TW" altLang="en-US" sz="1350" dirty="0"/>
          </a:p>
        </p:txBody>
      </p:sp>
      <p:sp>
        <p:nvSpPr>
          <p:cNvPr id="15" name="文字方塊 14">
            <a:extLst>
              <a:ext uri="{FF2B5EF4-FFF2-40B4-BE49-F238E27FC236}">
                <a16:creationId xmlns:a16="http://schemas.microsoft.com/office/drawing/2014/main" id="{0365B344-5DD0-41AB-BB57-CE9F1D158D54}"/>
              </a:ext>
            </a:extLst>
          </p:cNvPr>
          <p:cNvSpPr txBox="1"/>
          <p:nvPr/>
        </p:nvSpPr>
        <p:spPr>
          <a:xfrm>
            <a:off x="5855738" y="2254427"/>
            <a:ext cx="569387" cy="300082"/>
          </a:xfrm>
          <a:prstGeom prst="rect">
            <a:avLst/>
          </a:prstGeom>
          <a:noFill/>
        </p:spPr>
        <p:txBody>
          <a:bodyPr wrap="none" rtlCol="0">
            <a:spAutoFit/>
          </a:bodyPr>
          <a:lstStyle/>
          <a:p>
            <a:r>
              <a:rPr lang="en-US" altLang="zh-TW" sz="1350" dirty="0"/>
              <a:t>GND</a:t>
            </a:r>
            <a:endParaRPr lang="zh-TW" altLang="en-US" sz="1350" dirty="0"/>
          </a:p>
        </p:txBody>
      </p:sp>
      <p:pic>
        <p:nvPicPr>
          <p:cNvPr id="3" name="圖片 2">
            <a:extLst>
              <a:ext uri="{FF2B5EF4-FFF2-40B4-BE49-F238E27FC236}">
                <a16:creationId xmlns:a16="http://schemas.microsoft.com/office/drawing/2014/main" id="{3C8A1ED6-DC4F-433C-8A33-A1431C00CD2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659221" y="3671381"/>
            <a:ext cx="2693501" cy="3810000"/>
          </a:xfrm>
          <a:prstGeom prst="rect">
            <a:avLst/>
          </a:prstGeom>
        </p:spPr>
      </p:pic>
      <p:cxnSp>
        <p:nvCxnSpPr>
          <p:cNvPr id="17" name="直線單箭頭接點 16">
            <a:extLst>
              <a:ext uri="{FF2B5EF4-FFF2-40B4-BE49-F238E27FC236}">
                <a16:creationId xmlns:a16="http://schemas.microsoft.com/office/drawing/2014/main" id="{952E663E-66AA-4F32-A127-C1D1F528D38C}"/>
              </a:ext>
            </a:extLst>
          </p:cNvPr>
          <p:cNvCxnSpPr/>
          <p:nvPr/>
        </p:nvCxnSpPr>
        <p:spPr>
          <a:xfrm>
            <a:off x="4419600" y="4733925"/>
            <a:ext cx="1918385" cy="842456"/>
          </a:xfrm>
          <a:prstGeom prst="straightConnector1">
            <a:avLst/>
          </a:prstGeom>
          <a:ln w="19050">
            <a:solidFill>
              <a:srgbClr val="FF0000"/>
            </a:solidFill>
            <a:tailEnd type="arrow" w="lg" len="lg"/>
          </a:ln>
        </p:spPr>
        <p:style>
          <a:lnRef idx="1">
            <a:schemeClr val="accent1"/>
          </a:lnRef>
          <a:fillRef idx="0">
            <a:schemeClr val="accent1"/>
          </a:fillRef>
          <a:effectRef idx="0">
            <a:schemeClr val="accent1"/>
          </a:effectRef>
          <a:fontRef idx="minor">
            <a:schemeClr val="tx1"/>
          </a:fontRef>
        </p:style>
      </p:cxnSp>
      <p:sp>
        <p:nvSpPr>
          <p:cNvPr id="18" name="文字方塊 17">
            <a:extLst>
              <a:ext uri="{FF2B5EF4-FFF2-40B4-BE49-F238E27FC236}">
                <a16:creationId xmlns:a16="http://schemas.microsoft.com/office/drawing/2014/main" id="{5E3F046E-A07E-451B-9426-AF06EB6B62C4}"/>
              </a:ext>
            </a:extLst>
          </p:cNvPr>
          <p:cNvSpPr txBox="1"/>
          <p:nvPr/>
        </p:nvSpPr>
        <p:spPr>
          <a:xfrm>
            <a:off x="4786777" y="4785821"/>
            <a:ext cx="505267" cy="369332"/>
          </a:xfrm>
          <a:prstGeom prst="rect">
            <a:avLst/>
          </a:prstGeom>
          <a:noFill/>
        </p:spPr>
        <p:txBody>
          <a:bodyPr wrap="none" rtlCol="0">
            <a:spAutoFit/>
          </a:bodyPr>
          <a:lstStyle/>
          <a:p>
            <a:r>
              <a:rPr lang="en-US" altLang="zh-TW" dirty="0"/>
              <a:t>M1</a:t>
            </a:r>
            <a:endParaRPr lang="zh-TW" altLang="en-US" dirty="0"/>
          </a:p>
        </p:txBody>
      </p:sp>
    </p:spTree>
    <p:extLst>
      <p:ext uri="{BB962C8B-B14F-4D97-AF65-F5344CB8AC3E}">
        <p14:creationId xmlns:p14="http://schemas.microsoft.com/office/powerpoint/2010/main" val="3797595647"/>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 name="CustomShape 1"/>
          <p:cNvSpPr/>
          <p:nvPr/>
        </p:nvSpPr>
        <p:spPr>
          <a:xfrm>
            <a:off x="628560" y="471600"/>
            <a:ext cx="7886160" cy="495450"/>
          </a:xfrm>
          <a:prstGeom prst="rect">
            <a:avLst/>
          </a:prstGeom>
          <a:noFill/>
          <a:ln>
            <a:noFill/>
          </a:ln>
        </p:spPr>
        <p:style>
          <a:lnRef idx="0">
            <a:scrgbClr r="0" g="0" b="0"/>
          </a:lnRef>
          <a:fillRef idx="0">
            <a:scrgbClr r="0" g="0" b="0"/>
          </a:fillRef>
          <a:effectRef idx="0">
            <a:scrgbClr r="0" g="0" b="0"/>
          </a:effectRef>
          <a:fontRef idx="minor"/>
        </p:style>
        <p:txBody>
          <a:bodyPr lIns="67500" tIns="33750" rIns="67500" bIns="33750"/>
          <a:lstStyle/>
          <a:p>
            <a:pPr>
              <a:lnSpc>
                <a:spcPct val="100000"/>
              </a:lnSpc>
            </a:pPr>
            <a:r>
              <a:rPr lang="en-US" altLang="zh-TW" sz="3300" spc="-1" dirty="0">
                <a:solidFill>
                  <a:srgbClr val="000000"/>
                </a:solidFill>
                <a:uFill>
                  <a:solidFill>
                    <a:srgbClr val="FFFFFF"/>
                  </a:solidFill>
                </a:uFill>
                <a:latin typeface="Adobe 黑体 Std R" panose="020B0400000000000000" pitchFamily="34" charset="-128"/>
                <a:ea typeface="Adobe 黑体 Std R" panose="020B0400000000000000" pitchFamily="34" charset="-128"/>
              </a:rPr>
              <a:t>WS2812B LED</a:t>
            </a:r>
            <a:endParaRPr lang="en-US" sz="3300" spc="-1" dirty="0">
              <a:solidFill>
                <a:srgbClr val="000000"/>
              </a:solidFill>
              <a:uFill>
                <a:solidFill>
                  <a:srgbClr val="FFFFFF"/>
                </a:solidFill>
              </a:uFill>
              <a:latin typeface="Adobe 黑体 Std R" panose="020B0400000000000000" pitchFamily="34" charset="-128"/>
              <a:ea typeface="Adobe 黑体 Std R" panose="020B0400000000000000" pitchFamily="34" charset="-128"/>
            </a:endParaRPr>
          </a:p>
        </p:txBody>
      </p:sp>
      <p:pic>
        <p:nvPicPr>
          <p:cNvPr id="2" name="圖片 1">
            <a:extLst>
              <a:ext uri="{FF2B5EF4-FFF2-40B4-BE49-F238E27FC236}">
                <a16:creationId xmlns:a16="http://schemas.microsoft.com/office/drawing/2014/main" id="{4DC2ED78-B546-4267-B5CE-A3F1EAD8B054}"/>
              </a:ext>
            </a:extLst>
          </p:cNvPr>
          <p:cNvPicPr>
            <a:picLocks noChangeAspect="1"/>
          </p:cNvPicPr>
          <p:nvPr/>
        </p:nvPicPr>
        <p:blipFill>
          <a:blip r:embed="rId3"/>
          <a:stretch>
            <a:fillRect/>
          </a:stretch>
        </p:blipFill>
        <p:spPr>
          <a:xfrm>
            <a:off x="3751597" y="1238183"/>
            <a:ext cx="4032963" cy="4381634"/>
          </a:xfrm>
          <a:prstGeom prst="rect">
            <a:avLst/>
          </a:prstGeom>
        </p:spPr>
      </p:pic>
      <p:graphicFrame>
        <p:nvGraphicFramePr>
          <p:cNvPr id="3" name="物件 2">
            <a:extLst>
              <a:ext uri="{FF2B5EF4-FFF2-40B4-BE49-F238E27FC236}">
                <a16:creationId xmlns:a16="http://schemas.microsoft.com/office/drawing/2014/main" id="{A721F398-99C8-41D9-AF72-8487E6024F85}"/>
              </a:ext>
            </a:extLst>
          </p:cNvPr>
          <p:cNvGraphicFramePr>
            <a:graphicFrameLocks noChangeAspect="1"/>
          </p:cNvGraphicFramePr>
          <p:nvPr>
            <p:extLst>
              <p:ext uri="{D42A27DB-BD31-4B8C-83A1-F6EECF244321}">
                <p14:modId xmlns:p14="http://schemas.microsoft.com/office/powerpoint/2010/main" val="2758113471"/>
              </p:ext>
            </p:extLst>
          </p:nvPr>
        </p:nvGraphicFramePr>
        <p:xfrm>
          <a:off x="695235" y="1238183"/>
          <a:ext cx="1474669" cy="1565596"/>
        </p:xfrm>
        <a:graphic>
          <a:graphicData uri="http://schemas.openxmlformats.org/presentationml/2006/ole">
            <mc:AlternateContent xmlns:mc="http://schemas.openxmlformats.org/markup-compatibility/2006">
              <mc:Choice xmlns:v="urn:schemas-microsoft-com:vml" Requires="v">
                <p:oleObj spid="_x0000_s2069" name="Image" r:id="rId4" imgW="11263320" imgH="11987280" progId="Photoshop.Image.13">
                  <p:embed/>
                </p:oleObj>
              </mc:Choice>
              <mc:Fallback>
                <p:oleObj name="Image" r:id="rId4" imgW="11263320" imgH="11987280" progId="Photoshop.Image.13">
                  <p:embed/>
                  <p:pic>
                    <p:nvPicPr>
                      <p:cNvPr id="3" name="物件 2">
                        <a:extLst>
                          <a:ext uri="{FF2B5EF4-FFF2-40B4-BE49-F238E27FC236}">
                            <a16:creationId xmlns:a16="http://schemas.microsoft.com/office/drawing/2014/main" id="{A721F398-99C8-41D9-AF72-8487E6024F85}"/>
                          </a:ext>
                        </a:extLst>
                      </p:cNvPr>
                      <p:cNvPicPr/>
                      <p:nvPr/>
                    </p:nvPicPr>
                    <p:blipFill>
                      <a:blip r:embed="rId5"/>
                      <a:stretch>
                        <a:fillRect/>
                      </a:stretch>
                    </p:blipFill>
                    <p:spPr>
                      <a:xfrm>
                        <a:off x="695235" y="1238183"/>
                        <a:ext cx="1474669" cy="1565596"/>
                      </a:xfrm>
                      <a:prstGeom prst="rect">
                        <a:avLst/>
                      </a:prstGeom>
                    </p:spPr>
                  </p:pic>
                </p:oleObj>
              </mc:Fallback>
            </mc:AlternateContent>
          </a:graphicData>
        </a:graphic>
      </p:graphicFrame>
      <p:sp>
        <p:nvSpPr>
          <p:cNvPr id="4" name="文字方塊 3">
            <a:extLst>
              <a:ext uri="{FF2B5EF4-FFF2-40B4-BE49-F238E27FC236}">
                <a16:creationId xmlns:a16="http://schemas.microsoft.com/office/drawing/2014/main" id="{549A9D7B-30FF-4C51-8F1C-133D32C9206F}"/>
              </a:ext>
            </a:extLst>
          </p:cNvPr>
          <p:cNvSpPr txBox="1"/>
          <p:nvPr/>
        </p:nvSpPr>
        <p:spPr>
          <a:xfrm>
            <a:off x="628560" y="2921169"/>
            <a:ext cx="2763961" cy="507831"/>
          </a:xfrm>
          <a:prstGeom prst="rect">
            <a:avLst/>
          </a:prstGeom>
          <a:noFill/>
        </p:spPr>
        <p:txBody>
          <a:bodyPr wrap="square" rtlCol="0">
            <a:spAutoFit/>
          </a:bodyPr>
          <a:lstStyle/>
          <a:p>
            <a:r>
              <a:rPr lang="zh-TW" altLang="en-US" sz="1350" dirty="0">
                <a:latin typeface="Adobe 仿宋 Std R" panose="02020400000000000000" pitchFamily="18" charset="-128"/>
                <a:ea typeface="Adobe 仿宋 Std R" panose="02020400000000000000" pitchFamily="18" charset="-128"/>
              </a:rPr>
              <a:t>應用</a:t>
            </a:r>
            <a:r>
              <a:rPr lang="en-US" altLang="zh-TW" sz="1350" dirty="0">
                <a:latin typeface="Adobe 仿宋 Std R" panose="02020400000000000000" pitchFamily="18" charset="-128"/>
                <a:ea typeface="Adobe 仿宋 Std R" panose="02020400000000000000" pitchFamily="18" charset="-128"/>
              </a:rPr>
              <a:t>PIO</a:t>
            </a:r>
            <a:r>
              <a:rPr lang="zh-TW" altLang="en-US" sz="1350" dirty="0">
                <a:latin typeface="Adobe 仿宋 Std R" panose="02020400000000000000" pitchFamily="18" charset="-128"/>
                <a:ea typeface="Adobe 仿宋 Std R" panose="02020400000000000000" pitchFamily="18" charset="-128"/>
              </a:rPr>
              <a:t>的狀態機控制</a:t>
            </a:r>
            <a:r>
              <a:rPr lang="en-US" altLang="zh-TW" sz="1350" dirty="0">
                <a:latin typeface="Adobe 仿宋 Std R" panose="02020400000000000000" pitchFamily="18" charset="-128"/>
                <a:ea typeface="Adobe 仿宋 Std R" panose="02020400000000000000" pitchFamily="18" charset="-128"/>
              </a:rPr>
              <a:t>WS2812B RGB LED</a:t>
            </a:r>
            <a:r>
              <a:rPr lang="zh-TW" altLang="en-US" sz="1350" dirty="0">
                <a:latin typeface="Adobe 仿宋 Std R" panose="02020400000000000000" pitchFamily="18" charset="-128"/>
                <a:ea typeface="Adobe 仿宋 Std R" panose="02020400000000000000" pitchFamily="18" charset="-128"/>
              </a:rPr>
              <a:t>燈串的光源</a:t>
            </a:r>
          </a:p>
        </p:txBody>
      </p:sp>
    </p:spTree>
    <p:extLst>
      <p:ext uri="{BB962C8B-B14F-4D97-AF65-F5344CB8AC3E}">
        <p14:creationId xmlns:p14="http://schemas.microsoft.com/office/powerpoint/2010/main" val="3191747105"/>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 name="CustomShape 1"/>
          <p:cNvSpPr/>
          <p:nvPr/>
        </p:nvSpPr>
        <p:spPr>
          <a:xfrm>
            <a:off x="628920" y="1586024"/>
            <a:ext cx="7886160" cy="2319225"/>
          </a:xfrm>
          <a:prstGeom prst="rect">
            <a:avLst/>
          </a:prstGeom>
          <a:noFill/>
          <a:ln>
            <a:noFill/>
          </a:ln>
        </p:spPr>
        <p:style>
          <a:lnRef idx="0">
            <a:scrgbClr r="0" g="0" b="0"/>
          </a:lnRef>
          <a:fillRef idx="0">
            <a:scrgbClr r="0" g="0" b="0"/>
          </a:fillRef>
          <a:effectRef idx="0">
            <a:scrgbClr r="0" g="0" b="0"/>
          </a:effectRef>
          <a:fontRef idx="minor"/>
        </p:style>
        <p:txBody>
          <a:bodyPr lIns="67500" tIns="33750" rIns="67500" bIns="33750"/>
          <a:lstStyle/>
          <a:p>
            <a:pPr>
              <a:lnSpc>
                <a:spcPct val="100000"/>
              </a:lnSpc>
            </a:pPr>
            <a:r>
              <a:rPr lang="en-US" altLang="zh-TW" sz="3300" spc="-1" dirty="0">
                <a:solidFill>
                  <a:srgbClr val="000000"/>
                </a:solidFill>
                <a:uFill>
                  <a:solidFill>
                    <a:srgbClr val="FFFFFF"/>
                  </a:solidFill>
                </a:uFill>
                <a:latin typeface="Adobe 黑体 Std R" panose="020B0400000000000000" pitchFamily="34" charset="-128"/>
                <a:ea typeface="Adobe 黑体 Std R" panose="020B0400000000000000" pitchFamily="34" charset="-128"/>
              </a:rPr>
              <a:t>https://github.com/cmlo/mangoblock-desktop/releases/download/v1.2/MangoBlock.1.2.19.msi</a:t>
            </a:r>
            <a:endParaRPr lang="en-US" sz="3300" spc="-1" dirty="0">
              <a:solidFill>
                <a:srgbClr val="000000"/>
              </a:solidFill>
              <a:uFill>
                <a:solidFill>
                  <a:srgbClr val="FFFFFF"/>
                </a:solidFill>
              </a:uFill>
              <a:latin typeface="Adobe 黑体 Std R" panose="020B0400000000000000" pitchFamily="34" charset="-128"/>
              <a:ea typeface="Adobe 黑体 Std R" panose="020B0400000000000000" pitchFamily="34" charset="-128"/>
            </a:endParaRPr>
          </a:p>
        </p:txBody>
      </p:sp>
    </p:spTree>
    <p:extLst>
      <p:ext uri="{BB962C8B-B14F-4D97-AF65-F5344CB8AC3E}">
        <p14:creationId xmlns:p14="http://schemas.microsoft.com/office/powerpoint/2010/main" val="2673339379"/>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362</TotalTime>
  <Words>1787</Words>
  <Application>Microsoft Office PowerPoint</Application>
  <PresentationFormat>如螢幕大小 (4:3)</PresentationFormat>
  <Paragraphs>233</Paragraphs>
  <Slides>25</Slides>
  <Notes>2</Notes>
  <HiddenSlides>0</HiddenSlides>
  <MMClips>0</MMClips>
  <ScaleCrop>false</ScaleCrop>
  <HeadingPairs>
    <vt:vector size="8" baseType="variant">
      <vt:variant>
        <vt:lpstr>使用字型</vt:lpstr>
      </vt:variant>
      <vt:variant>
        <vt:i4>7</vt:i4>
      </vt:variant>
      <vt:variant>
        <vt:lpstr>佈景主題</vt:lpstr>
      </vt:variant>
      <vt:variant>
        <vt:i4>1</vt:i4>
      </vt:variant>
      <vt:variant>
        <vt:lpstr>內嵌 OLE 伺服程式</vt:lpstr>
      </vt:variant>
      <vt:variant>
        <vt:i4>1</vt:i4>
      </vt:variant>
      <vt:variant>
        <vt:lpstr>投影片標題</vt:lpstr>
      </vt:variant>
      <vt:variant>
        <vt:i4>25</vt:i4>
      </vt:variant>
    </vt:vector>
  </HeadingPairs>
  <TitlesOfParts>
    <vt:vector size="34" baseType="lpstr">
      <vt:lpstr>Adobe 仿宋 Std R</vt:lpstr>
      <vt:lpstr>Adobe 黑体 Std R</vt:lpstr>
      <vt:lpstr>Adobe 繁黑體 Std B</vt:lpstr>
      <vt:lpstr>Arial</vt:lpstr>
      <vt:lpstr>Calibri</vt:lpstr>
      <vt:lpstr>Symbol</vt:lpstr>
      <vt:lpstr>Wingdings</vt:lpstr>
      <vt:lpstr>Office Theme</vt:lpstr>
      <vt:lpstr>Image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悠美客微型創意工具機</dc:title>
  <dc:subject/>
  <dc:creator>羅治民</dc:creator>
  <dc:description/>
  <cp:lastModifiedBy>治民 羅</cp:lastModifiedBy>
  <cp:revision>1162</cp:revision>
  <dcterms:created xsi:type="dcterms:W3CDTF">2017-05-07T10:18:10Z</dcterms:created>
  <dcterms:modified xsi:type="dcterms:W3CDTF">2024-06-12T07:33:19Z</dcterms:modified>
  <dc:language>zh-TW</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15.0000</vt:lpwstr>
  </property>
  <property fmtid="{D5CDD505-2E9C-101B-9397-08002B2CF9AE}" pid="3" name="HiddenSlides">
    <vt:i4>0</vt:i4>
  </property>
  <property fmtid="{D5CDD505-2E9C-101B-9397-08002B2CF9AE}" pid="4" name="HyperlinksChanged">
    <vt:bool>false</vt:bool>
  </property>
  <property fmtid="{D5CDD505-2E9C-101B-9397-08002B2CF9AE}" pid="5" name="LinksUpToDate">
    <vt:bool>false</vt:bool>
  </property>
  <property fmtid="{D5CDD505-2E9C-101B-9397-08002B2CF9AE}" pid="6" name="MMClips">
    <vt:i4>0</vt:i4>
  </property>
  <property fmtid="{D5CDD505-2E9C-101B-9397-08002B2CF9AE}" pid="7" name="Notes">
    <vt:i4>0</vt:i4>
  </property>
  <property fmtid="{D5CDD505-2E9C-101B-9397-08002B2CF9AE}" pid="8" name="PresentationFormat">
    <vt:lpwstr>寬螢幕</vt:lpwstr>
  </property>
  <property fmtid="{D5CDD505-2E9C-101B-9397-08002B2CF9AE}" pid="9" name="ScaleCrop">
    <vt:bool>false</vt:bool>
  </property>
  <property fmtid="{D5CDD505-2E9C-101B-9397-08002B2CF9AE}" pid="10" name="ShareDoc">
    <vt:bool>false</vt:bool>
  </property>
  <property fmtid="{D5CDD505-2E9C-101B-9397-08002B2CF9AE}" pid="11" name="Slides">
    <vt:i4>4</vt:i4>
  </property>
</Properties>
</file>