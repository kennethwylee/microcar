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7"/>
  </p:notesMasterIdLst>
  <p:sldIdLst>
    <p:sldId id="338" r:id="rId2"/>
    <p:sldId id="334" r:id="rId3"/>
    <p:sldId id="335" r:id="rId4"/>
    <p:sldId id="336" r:id="rId5"/>
    <p:sldId id="340" r:id="rId6"/>
    <p:sldId id="337" r:id="rId7"/>
    <p:sldId id="341" r:id="rId8"/>
    <p:sldId id="339" r:id="rId9"/>
    <p:sldId id="342" r:id="rId10"/>
    <p:sldId id="343" r:id="rId11"/>
    <p:sldId id="344" r:id="rId12"/>
    <p:sldId id="279" r:id="rId13"/>
    <p:sldId id="261" r:id="rId14"/>
    <p:sldId id="277" r:id="rId15"/>
    <p:sldId id="276" r:id="rId16"/>
    <p:sldId id="291" r:id="rId17"/>
    <p:sldId id="386" r:id="rId18"/>
    <p:sldId id="345" r:id="rId19"/>
    <p:sldId id="287" r:id="rId20"/>
    <p:sldId id="289" r:id="rId21"/>
    <p:sldId id="288" r:id="rId22"/>
    <p:sldId id="392" r:id="rId23"/>
    <p:sldId id="393" r:id="rId24"/>
    <p:sldId id="391" r:id="rId25"/>
    <p:sldId id="394" r:id="rId26"/>
  </p:sldIdLst>
  <p:sldSz cx="9144000" cy="6858000" type="screen4x3"/>
  <p:notesSz cx="7559675" cy="10691813"/>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0" d="100"/>
          <a:sy n="80" d="100"/>
        </p:scale>
        <p:origin x="802" y="48"/>
      </p:cViewPr>
      <p:guideLst/>
    </p:cSldViewPr>
  </p:slideViewPr>
  <p:notesTextViewPr>
    <p:cViewPr>
      <p:scale>
        <a:sx n="1" d="1"/>
        <a:sy n="1" d="1"/>
      </p:scale>
      <p:origin x="0" y="0"/>
    </p:cViewPr>
  </p:notesTextViewPr>
  <p:notesViewPr>
    <p:cSldViewPr snapToGrid="0">
      <p:cViewPr varScale="1">
        <p:scale>
          <a:sx n="56" d="100"/>
          <a:sy n="56" d="100"/>
        </p:scale>
        <p:origin x="3230" y="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羅治民" userId="6942df94-263f-4db0-b02f-9042cca1213d" providerId="ADAL" clId="{AF710552-7DCD-4EFF-A080-7DBCD7E93B03}"/>
    <pc:docChg chg="custSel addSld delSld modSld">
      <pc:chgData name="羅治民" userId="6942df94-263f-4db0-b02f-9042cca1213d" providerId="ADAL" clId="{AF710552-7DCD-4EFF-A080-7DBCD7E93B03}" dt="2024-05-10T15:58:56.261" v="269" actId="20577"/>
      <pc:docMkLst>
        <pc:docMk/>
      </pc:docMkLst>
      <pc:sldChg chg="modSp mod">
        <pc:chgData name="羅治民" userId="6942df94-263f-4db0-b02f-9042cca1213d" providerId="ADAL" clId="{AF710552-7DCD-4EFF-A080-7DBCD7E93B03}" dt="2024-05-10T15:54:37.871" v="132" actId="20577"/>
        <pc:sldMkLst>
          <pc:docMk/>
          <pc:sldMk cId="3964213713" sldId="334"/>
        </pc:sldMkLst>
        <pc:spChg chg="mod">
          <ac:chgData name="羅治民" userId="6942df94-263f-4db0-b02f-9042cca1213d" providerId="ADAL" clId="{AF710552-7DCD-4EFF-A080-7DBCD7E93B03}" dt="2024-05-10T15:51:37.613" v="36" actId="6549"/>
          <ac:spMkLst>
            <pc:docMk/>
            <pc:sldMk cId="3964213713" sldId="334"/>
            <ac:spMk id="7" creationId="{CD294E92-FD35-4C73-9127-9F5C9CE094C4}"/>
          </ac:spMkLst>
        </pc:spChg>
        <pc:spChg chg="mod">
          <ac:chgData name="羅治民" userId="6942df94-263f-4db0-b02f-9042cca1213d" providerId="ADAL" clId="{AF710552-7DCD-4EFF-A080-7DBCD7E93B03}" dt="2024-05-10T15:53:39.244" v="74" actId="6549"/>
          <ac:spMkLst>
            <pc:docMk/>
            <pc:sldMk cId="3964213713" sldId="334"/>
            <ac:spMk id="8" creationId="{A182CD5C-CC77-420C-91CB-63E8C77B1A92}"/>
          </ac:spMkLst>
        </pc:spChg>
        <pc:spChg chg="mod">
          <ac:chgData name="羅治民" userId="6942df94-263f-4db0-b02f-9042cca1213d" providerId="ADAL" clId="{AF710552-7DCD-4EFF-A080-7DBCD7E93B03}" dt="2024-05-10T15:54:37.871" v="132" actId="20577"/>
          <ac:spMkLst>
            <pc:docMk/>
            <pc:sldMk cId="3964213713" sldId="334"/>
            <ac:spMk id="9" creationId="{691C6EAF-A356-4FDD-B6F2-4774B6197F0A}"/>
          </ac:spMkLst>
        </pc:spChg>
      </pc:sldChg>
      <pc:sldChg chg="delSp modSp mod">
        <pc:chgData name="羅治民" userId="6942df94-263f-4db0-b02f-9042cca1213d" providerId="ADAL" clId="{AF710552-7DCD-4EFF-A080-7DBCD7E93B03}" dt="2024-05-10T15:55:45.799" v="160" actId="6549"/>
        <pc:sldMkLst>
          <pc:docMk/>
          <pc:sldMk cId="1725501435" sldId="335"/>
        </pc:sldMkLst>
        <pc:spChg chg="mod">
          <ac:chgData name="羅治民" userId="6942df94-263f-4db0-b02f-9042cca1213d" providerId="ADAL" clId="{AF710552-7DCD-4EFF-A080-7DBCD7E93B03}" dt="2024-05-10T15:55:45.799" v="160" actId="6549"/>
          <ac:spMkLst>
            <pc:docMk/>
            <pc:sldMk cId="1725501435" sldId="335"/>
            <ac:spMk id="4" creationId="{99DCEEDE-63FC-492E-B77C-676E80F36358}"/>
          </ac:spMkLst>
        </pc:spChg>
        <pc:picChg chg="del">
          <ac:chgData name="羅治民" userId="6942df94-263f-4db0-b02f-9042cca1213d" providerId="ADAL" clId="{AF710552-7DCD-4EFF-A080-7DBCD7E93B03}" dt="2024-05-10T15:49:52.603" v="0" actId="478"/>
          <ac:picMkLst>
            <pc:docMk/>
            <pc:sldMk cId="1725501435" sldId="335"/>
            <ac:picMk id="15" creationId="{AF94A5FA-F78A-46F0-A626-55348447DC9D}"/>
          </ac:picMkLst>
        </pc:picChg>
      </pc:sldChg>
      <pc:sldChg chg="addSp modSp add mod">
        <pc:chgData name="羅治民" userId="6942df94-263f-4db0-b02f-9042cca1213d" providerId="ADAL" clId="{AF710552-7DCD-4EFF-A080-7DBCD7E93B03}" dt="2024-05-10T15:58:56.261" v="269" actId="20577"/>
        <pc:sldMkLst>
          <pc:docMk/>
          <pc:sldMk cId="435873220" sldId="336"/>
        </pc:sldMkLst>
        <pc:spChg chg="add mod">
          <ac:chgData name="羅治民" userId="6942df94-263f-4db0-b02f-9042cca1213d" providerId="ADAL" clId="{AF710552-7DCD-4EFF-A080-7DBCD7E93B03}" dt="2024-05-10T15:57:52.147" v="266" actId="6549"/>
          <ac:spMkLst>
            <pc:docMk/>
            <pc:sldMk cId="435873220" sldId="336"/>
            <ac:spMk id="3" creationId="{ECC5B087-CA12-493A-A085-E30C7619184B}"/>
          </ac:spMkLst>
        </pc:spChg>
        <pc:spChg chg="mod">
          <ac:chgData name="羅治民" userId="6942df94-263f-4db0-b02f-9042cca1213d" providerId="ADAL" clId="{AF710552-7DCD-4EFF-A080-7DBCD7E93B03}" dt="2024-05-10T15:58:56.261" v="269" actId="20577"/>
          <ac:spMkLst>
            <pc:docMk/>
            <pc:sldMk cId="435873220" sldId="336"/>
            <ac:spMk id="4" creationId="{99DCEEDE-63FC-492E-B77C-676E80F36358}"/>
          </ac:spMkLst>
        </pc:spChg>
      </pc:sldChg>
      <pc:sldChg chg="del">
        <pc:chgData name="羅治民" userId="6942df94-263f-4db0-b02f-9042cca1213d" providerId="ADAL" clId="{AF710552-7DCD-4EFF-A080-7DBCD7E93B03}" dt="2024-05-10T15:49:53.725" v="1" actId="47"/>
        <pc:sldMkLst>
          <pc:docMk/>
          <pc:sldMk cId="3147891606" sldId="336"/>
        </pc:sldMkLst>
      </pc:sldChg>
      <pc:sldChg chg="add">
        <pc:chgData name="羅治民" userId="6942df94-263f-4db0-b02f-9042cca1213d" providerId="ADAL" clId="{AF710552-7DCD-4EFF-A080-7DBCD7E93B03}" dt="2024-05-10T15:58:49.253" v="267" actId="2890"/>
        <pc:sldMkLst>
          <pc:docMk/>
          <pc:sldMk cId="906059758" sldId="337"/>
        </pc:sldMkLst>
      </pc:sldChg>
    </pc:docChg>
  </pc:docChgLst>
  <pc:docChgLst>
    <pc:chgData name="羅治民" userId="6942df94-263f-4db0-b02f-9042cca1213d" providerId="ADAL" clId="{2727A790-0D3B-484C-A802-B4DFD9B74CFE}"/>
    <pc:docChg chg="custSel addSld modSld">
      <pc:chgData name="羅治民" userId="6942df94-263f-4db0-b02f-9042cca1213d" providerId="ADAL" clId="{2727A790-0D3B-484C-A802-B4DFD9B74CFE}" dt="2024-04-12T08:24:34.533" v="28" actId="1076"/>
      <pc:docMkLst>
        <pc:docMk/>
      </pc:docMkLst>
      <pc:sldChg chg="addSp delSp modSp add mod">
        <pc:chgData name="羅治民" userId="6942df94-263f-4db0-b02f-9042cca1213d" providerId="ADAL" clId="{2727A790-0D3B-484C-A802-B4DFD9B74CFE}" dt="2024-04-12T08:19:17.223" v="18" actId="1076"/>
        <pc:sldMkLst>
          <pc:docMk/>
          <pc:sldMk cId="1725501435" sldId="335"/>
        </pc:sldMkLst>
        <pc:spChg chg="del">
          <ac:chgData name="羅治民" userId="6942df94-263f-4db0-b02f-9042cca1213d" providerId="ADAL" clId="{2727A790-0D3B-484C-A802-B4DFD9B74CFE}" dt="2024-04-12T04:00:11.297" v="1" actId="478"/>
          <ac:spMkLst>
            <pc:docMk/>
            <pc:sldMk cId="1725501435" sldId="335"/>
            <ac:spMk id="7" creationId="{CD294E92-FD35-4C73-9127-9F5C9CE094C4}"/>
          </ac:spMkLst>
        </pc:spChg>
        <pc:spChg chg="del">
          <ac:chgData name="羅治民" userId="6942df94-263f-4db0-b02f-9042cca1213d" providerId="ADAL" clId="{2727A790-0D3B-484C-A802-B4DFD9B74CFE}" dt="2024-04-12T04:00:12.946" v="2" actId="478"/>
          <ac:spMkLst>
            <pc:docMk/>
            <pc:sldMk cId="1725501435" sldId="335"/>
            <ac:spMk id="8" creationId="{A182CD5C-CC77-420C-91CB-63E8C77B1A92}"/>
          </ac:spMkLst>
        </pc:spChg>
        <pc:spChg chg="del">
          <ac:chgData name="羅治民" userId="6942df94-263f-4db0-b02f-9042cca1213d" providerId="ADAL" clId="{2727A790-0D3B-484C-A802-B4DFD9B74CFE}" dt="2024-04-12T04:00:14.532" v="3" actId="478"/>
          <ac:spMkLst>
            <pc:docMk/>
            <pc:sldMk cId="1725501435" sldId="335"/>
            <ac:spMk id="9" creationId="{691C6EAF-A356-4FDD-B6F2-4774B6197F0A}"/>
          </ac:spMkLst>
        </pc:spChg>
        <pc:picChg chg="add del mod">
          <ac:chgData name="羅治民" userId="6942df94-263f-4db0-b02f-9042cca1213d" providerId="ADAL" clId="{2727A790-0D3B-484C-A802-B4DFD9B74CFE}" dt="2024-04-12T05:44:13.373" v="6" actId="478"/>
          <ac:picMkLst>
            <pc:docMk/>
            <pc:sldMk cId="1725501435" sldId="335"/>
            <ac:picMk id="3" creationId="{B1B3D491-998A-45B3-812C-49834C131E1C}"/>
          </ac:picMkLst>
        </pc:picChg>
        <pc:picChg chg="add del mod">
          <ac:chgData name="羅治民" userId="6942df94-263f-4db0-b02f-9042cca1213d" providerId="ADAL" clId="{2727A790-0D3B-484C-A802-B4DFD9B74CFE}" dt="2024-04-12T05:44:35.343" v="9" actId="478"/>
          <ac:picMkLst>
            <pc:docMk/>
            <pc:sldMk cId="1725501435" sldId="335"/>
            <ac:picMk id="6" creationId="{A931244C-3C5C-45A8-966F-2C55559B91F6}"/>
          </ac:picMkLst>
        </pc:picChg>
        <pc:picChg chg="add del mod">
          <ac:chgData name="羅治民" userId="6942df94-263f-4db0-b02f-9042cca1213d" providerId="ADAL" clId="{2727A790-0D3B-484C-A802-B4DFD9B74CFE}" dt="2024-04-12T05:48:42.527" v="12" actId="478"/>
          <ac:picMkLst>
            <pc:docMk/>
            <pc:sldMk cId="1725501435" sldId="335"/>
            <ac:picMk id="11" creationId="{1E0DEB6E-BA3F-4EE9-A9FD-2B7C570A0BB1}"/>
          </ac:picMkLst>
        </pc:picChg>
        <pc:picChg chg="add del mod">
          <ac:chgData name="羅治民" userId="6942df94-263f-4db0-b02f-9042cca1213d" providerId="ADAL" clId="{2727A790-0D3B-484C-A802-B4DFD9B74CFE}" dt="2024-04-12T08:19:08.870" v="15" actId="478"/>
          <ac:picMkLst>
            <pc:docMk/>
            <pc:sldMk cId="1725501435" sldId="335"/>
            <ac:picMk id="13" creationId="{34D2B053-A12C-4C27-8A8A-154624973969}"/>
          </ac:picMkLst>
        </pc:picChg>
        <pc:picChg chg="add mod">
          <ac:chgData name="羅治民" userId="6942df94-263f-4db0-b02f-9042cca1213d" providerId="ADAL" clId="{2727A790-0D3B-484C-A802-B4DFD9B74CFE}" dt="2024-04-12T08:19:17.223" v="18" actId="1076"/>
          <ac:picMkLst>
            <pc:docMk/>
            <pc:sldMk cId="1725501435" sldId="335"/>
            <ac:picMk id="15" creationId="{AF94A5FA-F78A-46F0-A626-55348447DC9D}"/>
          </ac:picMkLst>
        </pc:picChg>
      </pc:sldChg>
      <pc:sldChg chg="addSp delSp modSp add mod">
        <pc:chgData name="羅治民" userId="6942df94-263f-4db0-b02f-9042cca1213d" providerId="ADAL" clId="{2727A790-0D3B-484C-A802-B4DFD9B74CFE}" dt="2024-04-12T08:24:34.533" v="28" actId="1076"/>
        <pc:sldMkLst>
          <pc:docMk/>
          <pc:sldMk cId="3147891606" sldId="336"/>
        </pc:sldMkLst>
        <pc:picChg chg="add mod">
          <ac:chgData name="羅治民" userId="6942df94-263f-4db0-b02f-9042cca1213d" providerId="ADAL" clId="{2727A790-0D3B-484C-A802-B4DFD9B74CFE}" dt="2024-04-12T08:24:34.533" v="28" actId="1076"/>
          <ac:picMkLst>
            <pc:docMk/>
            <pc:sldMk cId="3147891606" sldId="336"/>
            <ac:picMk id="3" creationId="{CD6105DD-8B75-4BC3-B7F9-249ACFFB1B59}"/>
          </ac:picMkLst>
        </pc:picChg>
        <pc:picChg chg="del">
          <ac:chgData name="羅治民" userId="6942df94-263f-4db0-b02f-9042cca1213d" providerId="ADAL" clId="{2727A790-0D3B-484C-A802-B4DFD9B74CFE}" dt="2024-04-12T08:23:36.439" v="20" actId="478"/>
          <ac:picMkLst>
            <pc:docMk/>
            <pc:sldMk cId="3147891606" sldId="336"/>
            <ac:picMk id="15" creationId="{AF94A5FA-F78A-46F0-A626-55348447DC9D}"/>
          </ac:picMkLst>
        </pc:picChg>
      </pc:sldChg>
    </pc:docChg>
  </pc:docChgLst>
</pc:chgInfo>
</file>

<file path=ppt/drawings/_rels/vmlDrawing1.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5A96D536-2DF4-4E41-903B-6CF628FC159D}" type="datetimeFigureOut">
              <a:rPr lang="zh-TW" altLang="en-US" smtClean="0"/>
              <a:t>2024/6/12</a:t>
            </a:fld>
            <a:endParaRPr lang="zh-TW" altLang="en-US"/>
          </a:p>
        </p:txBody>
      </p:sp>
      <p:sp>
        <p:nvSpPr>
          <p:cNvPr id="4" name="投影片影像版面配置區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D2DD1B12-5F0E-45C7-A1A4-3FFB4DA7D951}" type="slidenum">
              <a:rPr lang="zh-TW" altLang="en-US" smtClean="0"/>
              <a:t>‹#›</a:t>
            </a:fld>
            <a:endParaRPr lang="zh-TW" altLang="en-US"/>
          </a:p>
        </p:txBody>
      </p:sp>
    </p:spTree>
    <p:extLst>
      <p:ext uri="{BB962C8B-B14F-4D97-AF65-F5344CB8AC3E}">
        <p14:creationId xmlns:p14="http://schemas.microsoft.com/office/powerpoint/2010/main" val="1081860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2DD1B12-5F0E-45C7-A1A4-3FFB4DA7D951}" type="slidenum">
              <a:rPr lang="zh-TW" altLang="en-US" smtClean="0"/>
              <a:t>4</a:t>
            </a:fld>
            <a:endParaRPr lang="zh-TW" altLang="en-US"/>
          </a:p>
        </p:txBody>
      </p:sp>
    </p:spTree>
    <p:extLst>
      <p:ext uri="{BB962C8B-B14F-4D97-AF65-F5344CB8AC3E}">
        <p14:creationId xmlns:p14="http://schemas.microsoft.com/office/powerpoint/2010/main" val="37038262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D2DD1B12-5F0E-45C7-A1A4-3FFB4DA7D951}" type="slidenum">
              <a:rPr lang="zh-TW" altLang="en-US" smtClean="0"/>
              <a:t>7</a:t>
            </a:fld>
            <a:endParaRPr lang="zh-TW" altLang="en-US"/>
          </a:p>
        </p:txBody>
      </p:sp>
    </p:spTree>
    <p:extLst>
      <p:ext uri="{BB962C8B-B14F-4D97-AF65-F5344CB8AC3E}">
        <p14:creationId xmlns:p14="http://schemas.microsoft.com/office/powerpoint/2010/main" val="3227395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5" name="PlaceHolder 2"/>
          <p:cNvSpPr>
            <a:spLocks noGrp="1"/>
          </p:cNvSpPr>
          <p:nvPr>
            <p:ph type="subTitle"/>
          </p:nvPr>
        </p:nvSpPr>
        <p:spPr>
          <a:xfrm>
            <a:off x="457110" y="1604520"/>
            <a:ext cx="8229330" cy="397728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7" name="PlaceHolder 2"/>
          <p:cNvSpPr>
            <a:spLocks noGrp="1"/>
          </p:cNvSpPr>
          <p:nvPr>
            <p:ph type="body"/>
          </p:nvPr>
        </p:nvSpPr>
        <p:spPr>
          <a:xfrm>
            <a:off x="457110" y="1604520"/>
            <a:ext cx="822933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9" name="PlaceHolder 2"/>
          <p:cNvSpPr>
            <a:spLocks noGrp="1"/>
          </p:cNvSpPr>
          <p:nvPr>
            <p:ph type="body"/>
          </p:nvPr>
        </p:nvSpPr>
        <p:spPr>
          <a:xfrm>
            <a:off x="45711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0" name="PlaceHolder 3"/>
          <p:cNvSpPr>
            <a:spLocks noGrp="1"/>
          </p:cNvSpPr>
          <p:nvPr>
            <p:ph type="body"/>
          </p:nvPr>
        </p:nvSpPr>
        <p:spPr>
          <a:xfrm>
            <a:off x="467397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1"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2" name="PlaceHolder 1"/>
          <p:cNvSpPr>
            <a:spLocks noGrp="1"/>
          </p:cNvSpPr>
          <p:nvPr>
            <p:ph type="subTitle"/>
          </p:nvPr>
        </p:nvSpPr>
        <p:spPr>
          <a:xfrm>
            <a:off x="457110" y="273600"/>
            <a:ext cx="8229330" cy="530784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3"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4"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5" name="PlaceHolder 3"/>
          <p:cNvSpPr>
            <a:spLocks noGrp="1"/>
          </p:cNvSpPr>
          <p:nvPr>
            <p:ph type="body"/>
          </p:nvPr>
        </p:nvSpPr>
        <p:spPr>
          <a:xfrm>
            <a:off x="45711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6" name="PlaceHolder 4"/>
          <p:cNvSpPr>
            <a:spLocks noGrp="1"/>
          </p:cNvSpPr>
          <p:nvPr>
            <p:ph type="body"/>
          </p:nvPr>
        </p:nvSpPr>
        <p:spPr>
          <a:xfrm>
            <a:off x="467397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18" name="PlaceHolder 2"/>
          <p:cNvSpPr>
            <a:spLocks noGrp="1"/>
          </p:cNvSpPr>
          <p:nvPr>
            <p:ph type="body"/>
          </p:nvPr>
        </p:nvSpPr>
        <p:spPr>
          <a:xfrm>
            <a:off x="457110" y="1604520"/>
            <a:ext cx="4015710" cy="397728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19"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0" name="PlaceHolder 4"/>
          <p:cNvSpPr>
            <a:spLocks noGrp="1"/>
          </p:cNvSpPr>
          <p:nvPr>
            <p:ph type="body"/>
          </p:nvPr>
        </p:nvSpPr>
        <p:spPr>
          <a:xfrm>
            <a:off x="467397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2"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3"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4" name="PlaceHolder 4"/>
          <p:cNvSpPr>
            <a:spLocks noGrp="1"/>
          </p:cNvSpPr>
          <p:nvPr>
            <p:ph type="body"/>
          </p:nvPr>
        </p:nvSpPr>
        <p:spPr>
          <a:xfrm>
            <a:off x="457110" y="368208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6" name="PlaceHolder 2"/>
          <p:cNvSpPr>
            <a:spLocks noGrp="1"/>
          </p:cNvSpPr>
          <p:nvPr>
            <p:ph type="body"/>
          </p:nvPr>
        </p:nvSpPr>
        <p:spPr>
          <a:xfrm>
            <a:off x="457110" y="160452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27" name="PlaceHolder 3"/>
          <p:cNvSpPr>
            <a:spLocks noGrp="1"/>
          </p:cNvSpPr>
          <p:nvPr>
            <p:ph type="body"/>
          </p:nvPr>
        </p:nvSpPr>
        <p:spPr>
          <a:xfrm>
            <a:off x="457110" y="3682080"/>
            <a:ext cx="822933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8"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29" name="PlaceHolder 2"/>
          <p:cNvSpPr>
            <a:spLocks noGrp="1"/>
          </p:cNvSpPr>
          <p:nvPr>
            <p:ph type="body"/>
          </p:nvPr>
        </p:nvSpPr>
        <p:spPr>
          <a:xfrm>
            <a:off x="45711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0" name="PlaceHolder 3"/>
          <p:cNvSpPr>
            <a:spLocks noGrp="1"/>
          </p:cNvSpPr>
          <p:nvPr>
            <p:ph type="body"/>
          </p:nvPr>
        </p:nvSpPr>
        <p:spPr>
          <a:xfrm>
            <a:off x="4673970" y="160452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1" name="PlaceHolder 4"/>
          <p:cNvSpPr>
            <a:spLocks noGrp="1"/>
          </p:cNvSpPr>
          <p:nvPr>
            <p:ph type="body"/>
          </p:nvPr>
        </p:nvSpPr>
        <p:spPr>
          <a:xfrm>
            <a:off x="467397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2" name="PlaceHolder 5"/>
          <p:cNvSpPr>
            <a:spLocks noGrp="1"/>
          </p:cNvSpPr>
          <p:nvPr>
            <p:ph type="body"/>
          </p:nvPr>
        </p:nvSpPr>
        <p:spPr>
          <a:xfrm>
            <a:off x="457110" y="3682080"/>
            <a:ext cx="401571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457110" y="273600"/>
            <a:ext cx="8229330" cy="1144800"/>
          </a:xfrm>
          <a:prstGeom prst="rect">
            <a:avLst/>
          </a:prstGeom>
        </p:spPr>
        <p:txBody>
          <a:bodyPr lIns="0" tIns="0" rIns="0" bIns="0" anchor="ctr"/>
          <a:lstStyle/>
          <a:p>
            <a:pPr algn="ctr"/>
            <a:endParaRPr lang="en-US" sz="4400" b="0" strike="noStrike" spc="-1">
              <a:solidFill>
                <a:srgbClr val="000000"/>
              </a:solidFill>
              <a:uFill>
                <a:solidFill>
                  <a:srgbClr val="FFFFFF"/>
                </a:solidFill>
              </a:uFill>
              <a:latin typeface="Arial"/>
            </a:endParaRPr>
          </a:p>
        </p:txBody>
      </p:sp>
      <p:sp>
        <p:nvSpPr>
          <p:cNvPr id="34" name="PlaceHolder 2"/>
          <p:cNvSpPr>
            <a:spLocks noGrp="1"/>
          </p:cNvSpPr>
          <p:nvPr>
            <p:ph type="body"/>
          </p:nvPr>
        </p:nvSpPr>
        <p:spPr>
          <a:xfrm>
            <a:off x="45711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5" name="PlaceHolder 3"/>
          <p:cNvSpPr>
            <a:spLocks noGrp="1"/>
          </p:cNvSpPr>
          <p:nvPr>
            <p:ph type="body"/>
          </p:nvPr>
        </p:nvSpPr>
        <p:spPr>
          <a:xfrm>
            <a:off x="323973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6" name="PlaceHolder 4"/>
          <p:cNvSpPr>
            <a:spLocks noGrp="1"/>
          </p:cNvSpPr>
          <p:nvPr>
            <p:ph type="body"/>
          </p:nvPr>
        </p:nvSpPr>
        <p:spPr>
          <a:xfrm>
            <a:off x="6022350" y="160452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7" name="PlaceHolder 5"/>
          <p:cNvSpPr>
            <a:spLocks noGrp="1"/>
          </p:cNvSpPr>
          <p:nvPr>
            <p:ph type="body"/>
          </p:nvPr>
        </p:nvSpPr>
        <p:spPr>
          <a:xfrm>
            <a:off x="602235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8" name="PlaceHolder 6"/>
          <p:cNvSpPr>
            <a:spLocks noGrp="1"/>
          </p:cNvSpPr>
          <p:nvPr>
            <p:ph type="body"/>
          </p:nvPr>
        </p:nvSpPr>
        <p:spPr>
          <a:xfrm>
            <a:off x="323973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
        <p:nvSpPr>
          <p:cNvPr id="39" name="PlaceHolder 7"/>
          <p:cNvSpPr>
            <a:spLocks noGrp="1"/>
          </p:cNvSpPr>
          <p:nvPr>
            <p:ph type="body"/>
          </p:nvPr>
        </p:nvSpPr>
        <p:spPr>
          <a:xfrm>
            <a:off x="457110" y="3682080"/>
            <a:ext cx="2649780" cy="1896840"/>
          </a:xfrm>
          <a:prstGeom prst="rect">
            <a:avLst/>
          </a:prstGeom>
        </p:spPr>
        <p:txBody>
          <a:bodyPr lIns="0" tIns="0" rIns="0" bIns="0">
            <a:normAutofit/>
          </a:bodyPr>
          <a:lstStyle/>
          <a:p>
            <a:endParaRPr lang="en-US" sz="3200" b="0" strike="noStrike" spc="-1">
              <a:solidFill>
                <a:srgbClr val="000000"/>
              </a:solidFill>
              <a:uFill>
                <a:solidFill>
                  <a:srgbClr val="FFFFFF"/>
                </a:solidFill>
              </a:uFill>
              <a:latin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2"/>
          <p:cNvSpPr>
            <a:spLocks noGrp="1"/>
          </p:cNvSpPr>
          <p:nvPr>
            <p:ph type="title"/>
          </p:nvPr>
        </p:nvSpPr>
        <p:spPr>
          <a:xfrm>
            <a:off x="628560" y="365040"/>
            <a:ext cx="7886160" cy="660600"/>
          </a:xfrm>
          <a:prstGeom prst="rect">
            <a:avLst/>
          </a:prstGeom>
        </p:spPr>
        <p:txBody>
          <a:bodyPr lIns="0" tIns="0" rIns="0" bIns="0" anchor="ctr"/>
          <a:lstStyle/>
          <a:p>
            <a:r>
              <a:rPr lang="en-US" sz="1800" b="0" strike="noStrike" spc="-1">
                <a:solidFill>
                  <a:srgbClr val="000000"/>
                </a:solidFill>
                <a:uFill>
                  <a:solidFill>
                    <a:srgbClr val="FFFFFF"/>
                  </a:solidFill>
                </a:uFill>
                <a:latin typeface="Arial"/>
              </a:rPr>
              <a:t>請按這裡編輯題名文字格式</a:t>
            </a:r>
          </a:p>
        </p:txBody>
      </p:sp>
      <p:sp>
        <p:nvSpPr>
          <p:cNvPr id="3" name="PlaceHolder 3"/>
          <p:cNvSpPr>
            <a:spLocks noGrp="1"/>
          </p:cNvSpPr>
          <p:nvPr>
            <p:ph type="body"/>
          </p:nvPr>
        </p:nvSpPr>
        <p:spPr>
          <a:xfrm>
            <a:off x="457110" y="1604520"/>
            <a:ext cx="8229330" cy="3977280"/>
          </a:xfrm>
          <a:prstGeom prst="rect">
            <a:avLst/>
          </a:prstGeom>
        </p:spPr>
        <p:txBody>
          <a:bodyPr lIns="0" tIns="0" rIns="0" bIns="0">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uFill>
                  <a:solidFill>
                    <a:srgbClr val="FFFFFF"/>
                  </a:solidFill>
                </a:uFill>
                <a:latin typeface="Arial"/>
              </a:rPr>
              <a:t>請按這裡編輯大綱文字格式。</a:t>
            </a:r>
          </a:p>
          <a:p>
            <a:pPr marL="864000" lvl="1" indent="-324000">
              <a:spcBef>
                <a:spcPts val="1134"/>
              </a:spcBef>
              <a:buClr>
                <a:srgbClr val="000000"/>
              </a:buClr>
              <a:buSzPct val="75000"/>
              <a:buFont typeface="Symbol" charset="2"/>
              <a:buChar char=""/>
            </a:pPr>
            <a:r>
              <a:rPr lang="en-US" sz="2800" b="0" strike="noStrike" spc="-1">
                <a:solidFill>
                  <a:srgbClr val="000000"/>
                </a:solidFill>
                <a:uFill>
                  <a:solidFill>
                    <a:srgbClr val="FFFFFF"/>
                  </a:solidFill>
                </a:uFill>
                <a:latin typeface="Arial"/>
              </a:rPr>
              <a:t>第二個大綱層次</a:t>
            </a:r>
          </a:p>
          <a:p>
            <a:pPr marL="1296000" lvl="2" indent="-288000">
              <a:spcBef>
                <a:spcPts val="850"/>
              </a:spcBef>
              <a:buClr>
                <a:srgbClr val="000000"/>
              </a:buClr>
              <a:buSzPct val="45000"/>
              <a:buFont typeface="Wingdings" charset="2"/>
              <a:buChar char=""/>
            </a:pPr>
            <a:r>
              <a:rPr lang="en-US" sz="2400" b="0" strike="noStrike" spc="-1">
                <a:solidFill>
                  <a:srgbClr val="000000"/>
                </a:solidFill>
                <a:uFill>
                  <a:solidFill>
                    <a:srgbClr val="FFFFFF"/>
                  </a:solidFill>
                </a:uFill>
                <a:latin typeface="Arial"/>
              </a:rPr>
              <a:t>第三個大綱層次</a:t>
            </a:r>
          </a:p>
          <a:p>
            <a:pPr marL="1728000" lvl="3" indent="-216000">
              <a:spcBef>
                <a:spcPts val="567"/>
              </a:spcBef>
              <a:buClr>
                <a:srgbClr val="000000"/>
              </a:buClr>
              <a:buSzPct val="75000"/>
              <a:buFont typeface="Symbol" charset="2"/>
              <a:buChar char=""/>
            </a:pPr>
            <a:r>
              <a:rPr lang="en-US" sz="2000" b="0" strike="noStrike" spc="-1">
                <a:solidFill>
                  <a:srgbClr val="000000"/>
                </a:solidFill>
                <a:uFill>
                  <a:solidFill>
                    <a:srgbClr val="FFFFFF"/>
                  </a:solidFill>
                </a:uFill>
                <a:latin typeface="Arial"/>
              </a:rPr>
              <a:t>第四個大綱層次</a:t>
            </a:r>
          </a:p>
          <a:p>
            <a:pPr marL="2160000" lvl="4"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第五個大綱層次</a:t>
            </a:r>
          </a:p>
          <a:p>
            <a:pPr marL="2592000" lvl="5"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第六個大綱層次</a:t>
            </a:r>
          </a:p>
          <a:p>
            <a:pPr marL="3024000" lvl="6" indent="-216000">
              <a:spcBef>
                <a:spcPts val="283"/>
              </a:spcBef>
              <a:buClr>
                <a:srgbClr val="000000"/>
              </a:buClr>
              <a:buSzPct val="45000"/>
              <a:buFont typeface="Wingdings" charset="2"/>
              <a:buChar char=""/>
            </a:pPr>
            <a:r>
              <a:rPr lang="en-US" sz="2000" b="0" strike="noStrike" spc="-1">
                <a:solidFill>
                  <a:srgbClr val="000000"/>
                </a:solidFill>
                <a:uFill>
                  <a:solidFill>
                    <a:srgbClr val="FFFFFF"/>
                  </a:solidFill>
                </a:uFill>
                <a:latin typeface="Arial"/>
              </a:rPr>
              <a:t>第七個大綱層次</a:t>
            </a:r>
          </a:p>
        </p:txBody>
      </p:sp>
      <p:pic>
        <p:nvPicPr>
          <p:cNvPr id="4" name="Picture 2">
            <a:extLst>
              <a:ext uri="{FF2B5EF4-FFF2-40B4-BE49-F238E27FC236}">
                <a16:creationId xmlns:a16="http://schemas.microsoft.com/office/drawing/2014/main" id="{E21C918F-C4B5-4C23-8CC2-BA750E41DC7E}"/>
              </a:ext>
            </a:extLst>
          </p:cNvPr>
          <p:cNvPicPr/>
          <p:nvPr userDrawn="1"/>
        </p:nvPicPr>
        <p:blipFill>
          <a:blip r:embed="rId14"/>
          <a:stretch/>
        </p:blipFill>
        <p:spPr>
          <a:xfrm>
            <a:off x="7847280" y="0"/>
            <a:ext cx="1296720" cy="1296720"/>
          </a:xfrm>
          <a:prstGeom prst="rect">
            <a:avLst/>
          </a:prstGeom>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432000" indent="-324000" algn="l" defTabSz="914400" rtl="0" eaLnBrk="1" latinLnBrk="0" hangingPunct="1">
        <a:lnSpc>
          <a:spcPct val="90000"/>
        </a:lnSpc>
        <a:spcBef>
          <a:spcPts val="1417"/>
        </a:spcBef>
        <a:buClr>
          <a:srgbClr val="000000"/>
        </a:buClr>
        <a:buSzPct val="45000"/>
        <a:buFont typeface="Wingdings" charset="2"/>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Layout" Target="../slideLayouts/slideLayout3.xml"/><Relationship Id="rId5" Type="http://schemas.openxmlformats.org/officeDocument/2006/relationships/image" Target="../media/image15.jpeg"/><Relationship Id="rId4" Type="http://schemas.openxmlformats.org/officeDocument/2006/relationships/image" Target="../media/image14.jpe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3.xml"/><Relationship Id="rId6" Type="http://schemas.openxmlformats.org/officeDocument/2006/relationships/image" Target="../media/image20.pn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9.png"/><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28.png"/><Relationship Id="rId5" Type="http://schemas.openxmlformats.org/officeDocument/2006/relationships/image" Target="../media/image3.png"/><Relationship Id="rId4" Type="http://schemas.openxmlformats.org/officeDocument/2006/relationships/image" Target="../media/image27.png"/></Relationships>
</file>

<file path=ppt/slides/_rels/slide1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 Id="rId9" Type="http://schemas.openxmlformats.org/officeDocument/2006/relationships/image" Target="../media/image38.png"/></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8" Type="http://schemas.openxmlformats.org/officeDocument/2006/relationships/image" Target="../media/image33.png"/><Relationship Id="rId13" Type="http://schemas.openxmlformats.org/officeDocument/2006/relationships/image" Target="../media/image45.png"/><Relationship Id="rId3" Type="http://schemas.openxmlformats.org/officeDocument/2006/relationships/image" Target="../media/image34.png"/><Relationship Id="rId7" Type="http://schemas.openxmlformats.org/officeDocument/2006/relationships/image" Target="../media/image41.wmf"/><Relationship Id="rId12" Type="http://schemas.openxmlformats.org/officeDocument/2006/relationships/image" Target="../media/image44.jpeg"/><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43.png"/><Relationship Id="rId5" Type="http://schemas.openxmlformats.org/officeDocument/2006/relationships/image" Target="../media/image42.jpeg"/><Relationship Id="rId10" Type="http://schemas.openxmlformats.org/officeDocument/2006/relationships/image" Target="../media/image38.png"/><Relationship Id="rId4" Type="http://schemas.openxmlformats.org/officeDocument/2006/relationships/image" Target="../media/image35.png"/><Relationship Id="rId9" Type="http://schemas.openxmlformats.org/officeDocument/2006/relationships/image" Target="../media/image37.png"/></Relationships>
</file>

<file path=ppt/slides/_rels/slide1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29.png"/><Relationship Id="rId1" Type="http://schemas.openxmlformats.org/officeDocument/2006/relationships/slideLayout" Target="../slideLayouts/slideLayout1.xml"/><Relationship Id="rId5" Type="http://schemas.openxmlformats.org/officeDocument/2006/relationships/image" Target="../media/image51.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55.wmf"/><Relationship Id="rId4" Type="http://schemas.openxmlformats.org/officeDocument/2006/relationships/oleObject" Target="../embeddings/oleObject2.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a:extLst>
              <a:ext uri="{FF2B5EF4-FFF2-40B4-BE49-F238E27FC236}">
                <a16:creationId xmlns:a16="http://schemas.microsoft.com/office/drawing/2014/main" id="{1A94D0AD-8C14-42FE-86A9-371E2825AF09}"/>
              </a:ext>
            </a:extLst>
          </p:cNvPr>
          <p:cNvSpPr txBox="1">
            <a:spLocks/>
          </p:cNvSpPr>
          <p:nvPr/>
        </p:nvSpPr>
        <p:spPr>
          <a:xfrm>
            <a:off x="799069" y="1121240"/>
            <a:ext cx="7297711" cy="742950"/>
          </a:xfrm>
          <a:prstGeom prst="rect">
            <a:avLst/>
          </a:prstGeom>
        </p:spPr>
        <p:txBody>
          <a:bodyPr lIns="0" tIns="0" rIns="0" bIns="0" anchor="ct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TW" altLang="en-US" sz="3600" dirty="0">
                <a:latin typeface="Adobe 繁黑體 Std B" panose="020B0700000000000000" pitchFamily="34" charset="-120"/>
                <a:ea typeface="Adobe 繁黑體 Std B" panose="020B0700000000000000" pitchFamily="34" charset="-120"/>
              </a:rPr>
              <a:t>智慧型可擺動電風扇製作與控制</a:t>
            </a:r>
          </a:p>
        </p:txBody>
      </p:sp>
      <p:sp>
        <p:nvSpPr>
          <p:cNvPr id="6" name="文字方塊 5">
            <a:extLst>
              <a:ext uri="{FF2B5EF4-FFF2-40B4-BE49-F238E27FC236}">
                <a16:creationId xmlns:a16="http://schemas.microsoft.com/office/drawing/2014/main" id="{2B461306-2B74-411E-8B0E-851929D20CAB}"/>
              </a:ext>
            </a:extLst>
          </p:cNvPr>
          <p:cNvSpPr txBox="1"/>
          <p:nvPr/>
        </p:nvSpPr>
        <p:spPr>
          <a:xfrm>
            <a:off x="799070" y="601012"/>
            <a:ext cx="3252814" cy="300082"/>
          </a:xfrm>
          <a:prstGeom prst="rect">
            <a:avLst/>
          </a:prstGeom>
          <a:noFill/>
        </p:spPr>
        <p:txBody>
          <a:bodyPr wrap="none" rtlCol="0">
            <a:spAutoFit/>
          </a:bodyPr>
          <a:lstStyle/>
          <a:p>
            <a:r>
              <a:rPr lang="en-US" altLang="zh-TW" sz="1350" dirty="0">
                <a:ea typeface="Adobe 仿宋 Std R" panose="02020400000000000000" pitchFamily="18" charset="-128"/>
              </a:rPr>
              <a:t>2024.6.12 </a:t>
            </a:r>
            <a:r>
              <a:rPr lang="zh-TW" altLang="en-US" sz="1350" dirty="0">
                <a:ea typeface="Adobe 仿宋 Std R" panose="02020400000000000000" pitchFamily="18" charset="-128"/>
              </a:rPr>
              <a:t>高雄市中正科技中心教師研習</a:t>
            </a:r>
          </a:p>
        </p:txBody>
      </p:sp>
      <p:sp>
        <p:nvSpPr>
          <p:cNvPr id="7" name="文字方塊 20">
            <a:extLst>
              <a:ext uri="{FF2B5EF4-FFF2-40B4-BE49-F238E27FC236}">
                <a16:creationId xmlns:a16="http://schemas.microsoft.com/office/drawing/2014/main" id="{CE8E7A8F-6295-4107-9420-CE5FE1BD3AD2}"/>
              </a:ext>
            </a:extLst>
          </p:cNvPr>
          <p:cNvSpPr txBox="1">
            <a:spLocks noChangeArrowheads="1"/>
          </p:cNvSpPr>
          <p:nvPr/>
        </p:nvSpPr>
        <p:spPr bwMode="auto">
          <a:xfrm>
            <a:off x="6316147" y="5724651"/>
            <a:ext cx="2646878"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a:solidFill>
                  <a:schemeClr val="tx1"/>
                </a:solidFill>
                <a:latin typeface="Arial" pitchFamily="34" charset="0"/>
                <a:ea typeface="新細明體" pitchFamily="18" charset="-120"/>
              </a:defRPr>
            </a:lvl1pPr>
            <a:lvl2pPr marL="742950" indent="-285750" eaLnBrk="0" hangingPunct="0">
              <a:defRPr kumimoji="1">
                <a:solidFill>
                  <a:schemeClr val="tx1"/>
                </a:solidFill>
                <a:latin typeface="Arial" pitchFamily="34" charset="0"/>
                <a:ea typeface="新細明體" pitchFamily="18" charset="-120"/>
              </a:defRPr>
            </a:lvl2pPr>
            <a:lvl3pPr marL="1143000" indent="-228600" eaLnBrk="0" hangingPunct="0">
              <a:defRPr kumimoji="1">
                <a:solidFill>
                  <a:schemeClr val="tx1"/>
                </a:solidFill>
                <a:latin typeface="Arial" pitchFamily="34" charset="0"/>
                <a:ea typeface="新細明體" pitchFamily="18" charset="-120"/>
              </a:defRPr>
            </a:lvl3pPr>
            <a:lvl4pPr marL="1600200" indent="-228600" eaLnBrk="0" hangingPunct="0">
              <a:defRPr kumimoji="1">
                <a:solidFill>
                  <a:schemeClr val="tx1"/>
                </a:solidFill>
                <a:latin typeface="Arial" pitchFamily="34" charset="0"/>
                <a:ea typeface="新細明體" pitchFamily="18" charset="-120"/>
              </a:defRPr>
            </a:lvl4pPr>
            <a:lvl5pPr marL="2057400" indent="-228600" eaLnBrk="0" hangingPunct="0">
              <a:defRPr kumimoji="1">
                <a:solidFill>
                  <a:schemeClr val="tx1"/>
                </a:solidFill>
                <a:latin typeface="Arial" pitchFamily="34" charset="0"/>
                <a:ea typeface="新細明體" pitchFamily="18" charset="-120"/>
              </a:defRPr>
            </a:lvl5pPr>
            <a:lvl6pPr marL="2514600" indent="-228600" eaLnBrk="0" fontAlgn="base" hangingPunct="0">
              <a:spcBef>
                <a:spcPct val="0"/>
              </a:spcBef>
              <a:spcAft>
                <a:spcPct val="0"/>
              </a:spcAft>
              <a:defRPr kumimoji="1">
                <a:solidFill>
                  <a:schemeClr val="tx1"/>
                </a:solidFill>
                <a:latin typeface="Arial" pitchFamily="34" charset="0"/>
                <a:ea typeface="新細明體" pitchFamily="18" charset="-120"/>
              </a:defRPr>
            </a:lvl6pPr>
            <a:lvl7pPr marL="2971800" indent="-228600" eaLnBrk="0" fontAlgn="base" hangingPunct="0">
              <a:spcBef>
                <a:spcPct val="0"/>
              </a:spcBef>
              <a:spcAft>
                <a:spcPct val="0"/>
              </a:spcAft>
              <a:defRPr kumimoji="1">
                <a:solidFill>
                  <a:schemeClr val="tx1"/>
                </a:solidFill>
                <a:latin typeface="Arial" pitchFamily="34" charset="0"/>
                <a:ea typeface="新細明體" pitchFamily="18" charset="-120"/>
              </a:defRPr>
            </a:lvl7pPr>
            <a:lvl8pPr marL="3429000" indent="-228600" eaLnBrk="0" fontAlgn="base" hangingPunct="0">
              <a:spcBef>
                <a:spcPct val="0"/>
              </a:spcBef>
              <a:spcAft>
                <a:spcPct val="0"/>
              </a:spcAft>
              <a:defRPr kumimoji="1">
                <a:solidFill>
                  <a:schemeClr val="tx1"/>
                </a:solidFill>
                <a:latin typeface="Arial" pitchFamily="34" charset="0"/>
                <a:ea typeface="新細明體" pitchFamily="18" charset="-120"/>
              </a:defRPr>
            </a:lvl8pPr>
            <a:lvl9pPr marL="3886200" indent="-228600" eaLnBrk="0" fontAlgn="base" hangingPunct="0">
              <a:spcBef>
                <a:spcPct val="0"/>
              </a:spcBef>
              <a:spcAft>
                <a:spcPct val="0"/>
              </a:spcAft>
              <a:defRPr kumimoji="1">
                <a:solidFill>
                  <a:schemeClr val="tx1"/>
                </a:solidFill>
                <a:latin typeface="Arial" pitchFamily="34" charset="0"/>
                <a:ea typeface="新細明體" pitchFamily="18" charset="-120"/>
              </a:defRPr>
            </a:lvl9pPr>
          </a:lstStyle>
          <a:p>
            <a:pPr eaLnBrk="1" hangingPunct="1"/>
            <a:r>
              <a:rPr lang="zh-TW" altLang="en-US" sz="1200" dirty="0">
                <a:latin typeface="Adobe 仿宋 Std R" panose="02020400000000000000" pitchFamily="18" charset="-128"/>
                <a:ea typeface="Adobe 仿宋 Std R" panose="02020400000000000000" pitchFamily="18" charset="-128"/>
              </a:rPr>
              <a:t>講師：</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羅治民 博士</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國立台北商業大學數位多媒體設計系</a:t>
            </a:r>
            <a:endParaRPr lang="en-US" altLang="zh-TW" sz="1200" dirty="0">
              <a:latin typeface="Adobe 仿宋 Std R" panose="02020400000000000000" pitchFamily="18" charset="-128"/>
              <a:ea typeface="Adobe 仿宋 Std R" panose="02020400000000000000" pitchFamily="18" charset="-128"/>
            </a:endParaRPr>
          </a:p>
          <a:p>
            <a:pPr eaLnBrk="1" hangingPunct="1"/>
            <a:r>
              <a:rPr lang="zh-TW" altLang="en-US" sz="1200" dirty="0">
                <a:latin typeface="Adobe 仿宋 Std R" panose="02020400000000000000" pitchFamily="18" charset="-128"/>
                <a:ea typeface="Adobe 仿宋 Std R" panose="02020400000000000000" pitchFamily="18" charset="-128"/>
              </a:rPr>
              <a:t>電子郵件：</a:t>
            </a:r>
            <a:r>
              <a:rPr lang="en-US" altLang="zh-TW" sz="1200" dirty="0">
                <a:latin typeface="Adobe 仿宋 Std R" panose="02020400000000000000" pitchFamily="18" charset="-128"/>
                <a:ea typeface="Adobe 仿宋 Std R" panose="02020400000000000000" pitchFamily="18" charset="-128"/>
              </a:rPr>
              <a:t>聯絡方式未公開</a:t>
            </a:r>
          </a:p>
        </p:txBody>
      </p:sp>
      <p:sp>
        <p:nvSpPr>
          <p:cNvPr id="8" name="文字方塊 7">
            <a:extLst>
              <a:ext uri="{FF2B5EF4-FFF2-40B4-BE49-F238E27FC236}">
                <a16:creationId xmlns:a16="http://schemas.microsoft.com/office/drawing/2014/main" id="{8A683A86-484F-4C79-B79E-32EDD4D2BB1C}"/>
              </a:ext>
            </a:extLst>
          </p:cNvPr>
          <p:cNvSpPr txBox="1"/>
          <p:nvPr/>
        </p:nvSpPr>
        <p:spPr>
          <a:xfrm>
            <a:off x="799069" y="1960854"/>
            <a:ext cx="5089855" cy="1477328"/>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教具製作學習主題：</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能源與動力、結構與傳動機構。</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齒輪傳動機構，包括動力方向及速率的改變。</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連桿傳動機構，運動型態的改變。</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基本電路的通路與斷路。</a:t>
            </a:r>
          </a:p>
        </p:txBody>
      </p:sp>
      <p:sp>
        <p:nvSpPr>
          <p:cNvPr id="9" name="文字方塊 8">
            <a:extLst>
              <a:ext uri="{FF2B5EF4-FFF2-40B4-BE49-F238E27FC236}">
                <a16:creationId xmlns:a16="http://schemas.microsoft.com/office/drawing/2014/main" id="{81C82015-BF3C-4A50-B12E-34118500AD0A}"/>
              </a:ext>
            </a:extLst>
          </p:cNvPr>
          <p:cNvSpPr txBox="1"/>
          <p:nvPr/>
        </p:nvSpPr>
        <p:spPr>
          <a:xfrm>
            <a:off x="799069" y="3471541"/>
            <a:ext cx="4394152" cy="2031325"/>
          </a:xfrm>
          <a:prstGeom prst="rect">
            <a:avLst/>
          </a:prstGeom>
          <a:noFill/>
        </p:spPr>
        <p:txBody>
          <a:bodyPr wrap="none" rtlCol="0">
            <a:spAutoFit/>
          </a:bodyPr>
          <a:lstStyle/>
          <a:p>
            <a:r>
              <a:rPr lang="zh-TW" altLang="en-US" dirty="0">
                <a:latin typeface="Adobe 仿宋 Std R" panose="02020400000000000000" pitchFamily="18" charset="-128"/>
                <a:ea typeface="Adobe 仿宋 Std R" panose="02020400000000000000" pitchFamily="18" charset="-128"/>
              </a:rPr>
              <a:t>程式設計學習主題：</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程式語言，認識 </a:t>
            </a:r>
            <a:r>
              <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rPr>
              <a:t>Python </a:t>
            </a: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與 積木程式。</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認識微控制器與智慧型裝置的控制。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認識電子基本訊號與程式控制。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認識數位開關與數位模擬類比的應用。</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認識電機轉動方向與速度控制。</a:t>
            </a:r>
            <a:endParaRPr lang="en-US" altLang="zh-TW" dirty="0">
              <a:solidFill>
                <a:schemeClr val="tx1">
                  <a:lumMod val="65000"/>
                  <a:lumOff val="35000"/>
                </a:schemeClr>
              </a:solidFill>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solidFill>
                  <a:schemeClr val="tx1">
                    <a:lumMod val="65000"/>
                    <a:lumOff val="35000"/>
                  </a:schemeClr>
                </a:solidFill>
                <a:latin typeface="Adobe 仿宋 Std R" panose="02020400000000000000" pitchFamily="18" charset="-128"/>
                <a:ea typeface="Adobe 仿宋 Std R" panose="02020400000000000000" pitchFamily="18" charset="-128"/>
              </a:rPr>
              <a:t>認識傳感器的整合應用與智慧控制。</a:t>
            </a:r>
          </a:p>
        </p:txBody>
      </p:sp>
      <p:pic>
        <p:nvPicPr>
          <p:cNvPr id="11" name="圖片 10">
            <a:extLst>
              <a:ext uri="{FF2B5EF4-FFF2-40B4-BE49-F238E27FC236}">
                <a16:creationId xmlns:a16="http://schemas.microsoft.com/office/drawing/2014/main" id="{33A905B2-88E8-44D2-A9CE-4EEEB2F56A0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624475" y="1633288"/>
            <a:ext cx="3186150" cy="4506861"/>
          </a:xfrm>
          <a:prstGeom prst="rect">
            <a:avLst/>
          </a:prstGeom>
        </p:spPr>
      </p:pic>
    </p:spTree>
    <p:extLst>
      <p:ext uri="{BB962C8B-B14F-4D97-AF65-F5344CB8AC3E}">
        <p14:creationId xmlns:p14="http://schemas.microsoft.com/office/powerpoint/2010/main" val="3368973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5262979"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智慧型可擺動調速電風扇</a:t>
            </a:r>
          </a:p>
        </p:txBody>
      </p:sp>
      <p:sp>
        <p:nvSpPr>
          <p:cNvPr id="7" name="文字方塊 6">
            <a:extLst>
              <a:ext uri="{FF2B5EF4-FFF2-40B4-BE49-F238E27FC236}">
                <a16:creationId xmlns:a16="http://schemas.microsoft.com/office/drawing/2014/main" id="{CD294E92-FD35-4C73-9127-9F5C9CE094C4}"/>
              </a:ext>
            </a:extLst>
          </p:cNvPr>
          <p:cNvSpPr txBox="1"/>
          <p:nvPr/>
        </p:nvSpPr>
        <p:spPr>
          <a:xfrm>
            <a:off x="592477" y="1117671"/>
            <a:ext cx="6753883" cy="1200329"/>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課程目標：</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學習基礎電子電路及簡單調速控制 </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Python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程式。</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認識結構與接合固件的應用。</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認識齒輪傳動機構及連桿傳動機構設計。</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p:txBody>
      </p:sp>
      <p:sp>
        <p:nvSpPr>
          <p:cNvPr id="8" name="文字方塊 7">
            <a:extLst>
              <a:ext uri="{FF2B5EF4-FFF2-40B4-BE49-F238E27FC236}">
                <a16:creationId xmlns:a16="http://schemas.microsoft.com/office/drawing/2014/main" id="{A182CD5C-CC77-420C-91CB-63E8C77B1A92}"/>
              </a:ext>
            </a:extLst>
          </p:cNvPr>
          <p:cNvSpPr txBox="1"/>
          <p:nvPr/>
        </p:nvSpPr>
        <p:spPr>
          <a:xfrm>
            <a:off x="592472" y="2462508"/>
            <a:ext cx="6753883" cy="1754326"/>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課程材料：</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樹莓派 </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Pico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電路板、麵包板、跳線、鋰電池</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雙出軸直流電機。</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風扇葉槳、蝸桿齒輪、減速塑膠齒輪。</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小鐵軸、小軸承、螺絲及螺母。</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底座與支架結構，使用雷射切割壓克力板</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或膠合板</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a:t>
            </a:r>
          </a:p>
        </p:txBody>
      </p:sp>
      <p:sp>
        <p:nvSpPr>
          <p:cNvPr id="9" name="文字方塊 8">
            <a:extLst>
              <a:ext uri="{FF2B5EF4-FFF2-40B4-BE49-F238E27FC236}">
                <a16:creationId xmlns:a16="http://schemas.microsoft.com/office/drawing/2014/main" id="{691C6EAF-A356-4FDD-B6F2-4774B6197F0A}"/>
              </a:ext>
            </a:extLst>
          </p:cNvPr>
          <p:cNvSpPr txBox="1"/>
          <p:nvPr/>
        </p:nvSpPr>
        <p:spPr>
          <a:xfrm>
            <a:off x="592471" y="4361342"/>
            <a:ext cx="7932404" cy="1477328"/>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課程工具：</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筆記型電腦或桌上型電腦。</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軟體：</a:t>
            </a:r>
            <a:r>
              <a:rPr lang="en-US" altLang="zh-TW" dirty="0" err="1">
                <a:solidFill>
                  <a:schemeClr val="bg1">
                    <a:lumMod val="50000"/>
                  </a:schemeClr>
                </a:solidFill>
                <a:latin typeface="Adobe 繁黑體 Std B" panose="020B0700000000000000" pitchFamily="34" charset="-120"/>
                <a:ea typeface="Adobe 繁黑體 Std B" panose="020B0700000000000000" pitchFamily="34" charset="-120"/>
              </a:rPr>
              <a:t>Thonny</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 IDE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或 </a:t>
            </a:r>
            <a:r>
              <a:rPr lang="en-US" altLang="zh-TW" dirty="0" err="1">
                <a:solidFill>
                  <a:schemeClr val="bg1">
                    <a:lumMod val="50000"/>
                  </a:schemeClr>
                </a:solidFill>
                <a:latin typeface="Adobe 繁黑體 Std B" panose="020B0700000000000000" pitchFamily="34" charset="-120"/>
                <a:ea typeface="Adobe 繁黑體 Std B" panose="020B0700000000000000" pitchFamily="34" charset="-120"/>
              </a:rPr>
              <a:t>mangoblock</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 </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積木程式編輯器。。</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螺絲起子、小手鉗。</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4"/>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雷射切割機及</a:t>
            </a:r>
            <a:r>
              <a:rPr lang="en-US" altLang="zh-TW" dirty="0">
                <a:solidFill>
                  <a:schemeClr val="bg1">
                    <a:lumMod val="50000"/>
                  </a:schemeClr>
                </a:solidFill>
                <a:latin typeface="Adobe 繁黑體 Std B" panose="020B0700000000000000" pitchFamily="34" charset="-120"/>
                <a:ea typeface="Adobe 繁黑體 Std B" panose="020B0700000000000000" pitchFamily="34" charset="-120"/>
              </a:rPr>
              <a:t>3D</a:t>
            </a: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列印機。</a:t>
            </a:r>
          </a:p>
        </p:txBody>
      </p:sp>
    </p:spTree>
    <p:extLst>
      <p:ext uri="{BB962C8B-B14F-4D97-AF65-F5344CB8AC3E}">
        <p14:creationId xmlns:p14="http://schemas.microsoft.com/office/powerpoint/2010/main" val="3964213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1354477" y="1538140"/>
            <a:ext cx="2646878" cy="830997"/>
          </a:xfrm>
          <a:prstGeom prst="rect">
            <a:avLst/>
          </a:prstGeom>
          <a:noFill/>
        </p:spPr>
        <p:txBody>
          <a:bodyPr wrap="none" rtlCol="0">
            <a:spAutoFit/>
          </a:bodyPr>
          <a:lstStyle/>
          <a:p>
            <a:r>
              <a:rPr lang="zh-TW" altLang="en-US" sz="4800" dirty="0">
                <a:latin typeface="Adobe 繁黑體 Std B" panose="020B0700000000000000" pitchFamily="34" charset="-120"/>
                <a:ea typeface="Adobe 繁黑體 Std B" panose="020B0700000000000000" pitchFamily="34" charset="-120"/>
              </a:rPr>
              <a:t>教具製作</a:t>
            </a:r>
          </a:p>
        </p:txBody>
      </p:sp>
      <p:sp>
        <p:nvSpPr>
          <p:cNvPr id="2" name="文字方塊 1">
            <a:extLst>
              <a:ext uri="{FF2B5EF4-FFF2-40B4-BE49-F238E27FC236}">
                <a16:creationId xmlns:a16="http://schemas.microsoft.com/office/drawing/2014/main" id="{4A2B2D06-0F4A-4FBD-B589-25E6E633A95A}"/>
              </a:ext>
            </a:extLst>
          </p:cNvPr>
          <p:cNvSpPr txBox="1"/>
          <p:nvPr/>
        </p:nvSpPr>
        <p:spPr>
          <a:xfrm>
            <a:off x="1354477" y="2505670"/>
            <a:ext cx="3704860" cy="1200329"/>
          </a:xfrm>
          <a:prstGeom prst="rect">
            <a:avLst/>
          </a:prstGeom>
          <a:noFill/>
        </p:spPr>
        <p:txBody>
          <a:bodyPr wrap="none" rtlCol="0">
            <a:spAutoFit/>
          </a:bodyPr>
          <a:lstStyle/>
          <a:p>
            <a:pPr marL="285750" indent="-285750">
              <a:buBlip>
                <a:blip r:embed="rId2"/>
              </a:buBlip>
            </a:pPr>
            <a:r>
              <a:rPr lang="zh-TW" altLang="en-US" dirty="0">
                <a:latin typeface="Adobe 仿宋 Std R" panose="02020400000000000000" pitchFamily="18" charset="-128"/>
                <a:ea typeface="Adobe 仿宋 Std R" panose="02020400000000000000" pitchFamily="18" charset="-128"/>
              </a:rPr>
              <a:t>認識風扇的擺頭運動原理</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latin typeface="Adobe 仿宋 Std R" panose="02020400000000000000" pitchFamily="18" charset="-128"/>
                <a:ea typeface="Adobe 仿宋 Std R" panose="02020400000000000000" pitchFamily="18" charset="-128"/>
              </a:rPr>
              <a:t>認識組裝程序與設計思考</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latin typeface="Adobe 仿宋 Std R" panose="02020400000000000000" pitchFamily="18" charset="-128"/>
                <a:ea typeface="Adobe 仿宋 Std R" panose="02020400000000000000" pitchFamily="18" charset="-128"/>
              </a:rPr>
              <a:t>認識結構設計及扣件應用</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2"/>
              </a:buBlip>
            </a:pPr>
            <a:r>
              <a:rPr lang="zh-TW" altLang="en-US" dirty="0">
                <a:latin typeface="Adobe 仿宋 Std R" panose="02020400000000000000" pitchFamily="18" charset="-128"/>
                <a:ea typeface="Adobe 仿宋 Std R" panose="02020400000000000000" pitchFamily="18" charset="-128"/>
              </a:rPr>
              <a:t>認識基本電路的斷路與通路設計</a:t>
            </a:r>
          </a:p>
        </p:txBody>
      </p:sp>
      <p:pic>
        <p:nvPicPr>
          <p:cNvPr id="5" name="圖片 4">
            <a:extLst>
              <a:ext uri="{FF2B5EF4-FFF2-40B4-BE49-F238E27FC236}">
                <a16:creationId xmlns:a16="http://schemas.microsoft.com/office/drawing/2014/main" id="{982AD964-D564-42FB-BC1D-76960BF9D1B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09495" y="1181100"/>
            <a:ext cx="4029984" cy="5372100"/>
          </a:xfrm>
          <a:prstGeom prst="rect">
            <a:avLst/>
          </a:prstGeom>
        </p:spPr>
      </p:pic>
    </p:spTree>
    <p:extLst>
      <p:ext uri="{BB962C8B-B14F-4D97-AF65-F5344CB8AC3E}">
        <p14:creationId xmlns:p14="http://schemas.microsoft.com/office/powerpoint/2010/main" val="17255014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4801314"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認識風扇擺頭運動機構</a:t>
            </a:r>
          </a:p>
        </p:txBody>
      </p:sp>
      <p:sp>
        <p:nvSpPr>
          <p:cNvPr id="3" name="文字方塊 2">
            <a:extLst>
              <a:ext uri="{FF2B5EF4-FFF2-40B4-BE49-F238E27FC236}">
                <a16:creationId xmlns:a16="http://schemas.microsoft.com/office/drawing/2014/main" id="{ECC5B087-CA12-493A-A085-E30C7619184B}"/>
              </a:ext>
            </a:extLst>
          </p:cNvPr>
          <p:cNvSpPr txBox="1"/>
          <p:nvPr/>
        </p:nvSpPr>
        <p:spPr>
          <a:xfrm>
            <a:off x="592477" y="1117671"/>
            <a:ext cx="7656173" cy="1477328"/>
          </a:xfrm>
          <a:prstGeom prst="rect">
            <a:avLst/>
          </a:prstGeom>
          <a:noFill/>
        </p:spPr>
        <p:txBody>
          <a:bodyPr wrap="square" rtlCol="0">
            <a:spAutoFit/>
          </a:bodyPr>
          <a:lstStyle/>
          <a:p>
            <a:pPr algn="just"/>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機構</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en-US" altLang="zh-TW" dirty="0">
                <a:solidFill>
                  <a:schemeClr val="tx1">
                    <a:lumMod val="50000"/>
                    <a:lumOff val="50000"/>
                  </a:schemeClr>
                </a:solidFill>
              </a:rPr>
              <a:t>mechanisms</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由兩個以上的機件</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(machine parts)</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組成。</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機構的運動有特定的路徑，並會產生特定的動作。</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當其中一個機件運動時，其他的機件也會跟著運動而達到所預期的功能。</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常見的機構有：連桿機構、齒輪機構、凸輪機構。</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
        <p:nvSpPr>
          <p:cNvPr id="5" name="文字方塊 4">
            <a:extLst>
              <a:ext uri="{FF2B5EF4-FFF2-40B4-BE49-F238E27FC236}">
                <a16:creationId xmlns:a16="http://schemas.microsoft.com/office/drawing/2014/main" id="{A42305FD-F8DC-463A-9C17-A314C840A8EA}"/>
              </a:ext>
            </a:extLst>
          </p:cNvPr>
          <p:cNvSpPr txBox="1"/>
          <p:nvPr/>
        </p:nvSpPr>
        <p:spPr>
          <a:xfrm>
            <a:off x="592477" y="2788920"/>
            <a:ext cx="7656173" cy="923330"/>
          </a:xfrm>
          <a:prstGeom prst="rect">
            <a:avLst/>
          </a:prstGeom>
          <a:noFill/>
        </p:spPr>
        <p:txBody>
          <a:bodyPr wrap="square" rtlCol="0">
            <a:spAutoFit/>
          </a:bodyPr>
          <a:lstStyle/>
          <a:p>
            <a:pPr algn="just"/>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風扇擺頭運動應用的機構：</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齒輪機構，目的在將電機的轉動方向改變，並將轉速減慢，帶動連桿。</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連桿機構，用以將族轉運動改變成為搖擺運動。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pic>
        <p:nvPicPr>
          <p:cNvPr id="12" name="圖片 11">
            <a:extLst>
              <a:ext uri="{FF2B5EF4-FFF2-40B4-BE49-F238E27FC236}">
                <a16:creationId xmlns:a16="http://schemas.microsoft.com/office/drawing/2014/main" id="{8A3148C5-4E31-450C-A978-A06BFB4977C5}"/>
              </a:ext>
            </a:extLst>
          </p:cNvPr>
          <p:cNvPicPr>
            <a:picLocks noChangeAspect="1"/>
          </p:cNvPicPr>
          <p:nvPr/>
        </p:nvPicPr>
        <p:blipFill>
          <a:blip r:embed="rId4"/>
          <a:stretch>
            <a:fillRect/>
          </a:stretch>
        </p:blipFill>
        <p:spPr>
          <a:xfrm>
            <a:off x="455847" y="3712250"/>
            <a:ext cx="3964716" cy="2993041"/>
          </a:xfrm>
          <a:prstGeom prst="rect">
            <a:avLst/>
          </a:prstGeom>
        </p:spPr>
      </p:pic>
      <p:pic>
        <p:nvPicPr>
          <p:cNvPr id="14" name="圖片 13">
            <a:extLst>
              <a:ext uri="{FF2B5EF4-FFF2-40B4-BE49-F238E27FC236}">
                <a16:creationId xmlns:a16="http://schemas.microsoft.com/office/drawing/2014/main" id="{617CB3B5-F1E7-4C8F-B2B2-843B8D844DD1}"/>
              </a:ext>
            </a:extLst>
          </p:cNvPr>
          <p:cNvPicPr>
            <a:picLocks noChangeAspect="1"/>
          </p:cNvPicPr>
          <p:nvPr/>
        </p:nvPicPr>
        <p:blipFill>
          <a:blip r:embed="rId5"/>
          <a:stretch>
            <a:fillRect/>
          </a:stretch>
        </p:blipFill>
        <p:spPr>
          <a:xfrm>
            <a:off x="4723439" y="4200433"/>
            <a:ext cx="3735368" cy="2016673"/>
          </a:xfrm>
          <a:prstGeom prst="rect">
            <a:avLst/>
          </a:prstGeom>
        </p:spPr>
      </p:pic>
    </p:spTree>
    <p:extLst>
      <p:ext uri="{BB962C8B-B14F-4D97-AF65-F5344CB8AC3E}">
        <p14:creationId xmlns:p14="http://schemas.microsoft.com/office/powerpoint/2010/main" val="4358732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295465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認識連桿機構</a:t>
            </a:r>
          </a:p>
        </p:txBody>
      </p:sp>
      <p:sp>
        <p:nvSpPr>
          <p:cNvPr id="3" name="文字方塊 2">
            <a:extLst>
              <a:ext uri="{FF2B5EF4-FFF2-40B4-BE49-F238E27FC236}">
                <a16:creationId xmlns:a16="http://schemas.microsoft.com/office/drawing/2014/main" id="{ECC5B087-CA12-493A-A085-E30C7619184B}"/>
              </a:ext>
            </a:extLst>
          </p:cNvPr>
          <p:cNvSpPr txBox="1"/>
          <p:nvPr/>
        </p:nvSpPr>
        <p:spPr>
          <a:xfrm>
            <a:off x="592477" y="1117671"/>
            <a:ext cx="7656173" cy="3416320"/>
          </a:xfrm>
          <a:prstGeom prst="rect">
            <a:avLst/>
          </a:prstGeom>
          <a:noFill/>
        </p:spPr>
        <p:txBody>
          <a:bodyPr wrap="square" rtlCol="0">
            <a:spAutoFit/>
          </a:bodyPr>
          <a:lstStyle/>
          <a:p>
            <a:pPr marL="285750" indent="-285750" algn="just">
              <a:buBlip>
                <a:blip r:embed="rId2"/>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連桿機構，是傳動機構中的一種以連桿為動力傳送的運動機構，目的在約束機械的運動範圍，產生特定的運動模式。</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四連桿機構是應用相當廣泛的連桿機構，電風扇的擺頭運動就是應用四連桿機構，將旋轉型動力轉換為搖擺型的運動。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四連桿機構，是由四個連桿所組成的運動機構，其組件如下：</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742950" lvl="1"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曲柄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(crank)</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，是動力輸入的連桿，在機構中是主動桿，其運動方式以遶著固定軸進行</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360</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度的旋轉運動，圖中的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AB</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桿。</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742950" lvl="1"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搖桿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(rocker)</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，在機構中僅能以固定軸為中心進行搖擺運動，動力來自於主動桿，是一種從動桿，圖中的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桿。</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742950" lvl="1"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浮桿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(floating link)</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，連接主動桿與從動桿，以傳送動力的連接桿，又稱為連接桿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(connecting)</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，圖中的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桿。</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742950" lvl="1"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固定桿，又稱為聯中線</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(line of center)</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，圖中的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桿。</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pic>
        <p:nvPicPr>
          <p:cNvPr id="6" name="圖片 5">
            <a:extLst>
              <a:ext uri="{FF2B5EF4-FFF2-40B4-BE49-F238E27FC236}">
                <a16:creationId xmlns:a16="http://schemas.microsoft.com/office/drawing/2014/main" id="{45BF1C9C-F684-42E2-9389-E1537E529788}"/>
              </a:ext>
            </a:extLst>
          </p:cNvPr>
          <p:cNvPicPr>
            <a:picLocks noChangeAspect="1"/>
          </p:cNvPicPr>
          <p:nvPr/>
        </p:nvPicPr>
        <p:blipFill>
          <a:blip r:embed="rId4"/>
          <a:stretch>
            <a:fillRect/>
          </a:stretch>
        </p:blipFill>
        <p:spPr>
          <a:xfrm>
            <a:off x="3965729" y="4771383"/>
            <a:ext cx="3589446" cy="1937892"/>
          </a:xfrm>
          <a:prstGeom prst="rect">
            <a:avLst/>
          </a:prstGeom>
        </p:spPr>
      </p:pic>
      <p:sp>
        <p:nvSpPr>
          <p:cNvPr id="2" name="文字方塊 1">
            <a:extLst>
              <a:ext uri="{FF2B5EF4-FFF2-40B4-BE49-F238E27FC236}">
                <a16:creationId xmlns:a16="http://schemas.microsoft.com/office/drawing/2014/main" id="{93D94935-FC3C-4561-923E-4C4612CA79A3}"/>
              </a:ext>
            </a:extLst>
          </p:cNvPr>
          <p:cNvSpPr txBox="1"/>
          <p:nvPr/>
        </p:nvSpPr>
        <p:spPr>
          <a:xfrm>
            <a:off x="6819900" y="6196160"/>
            <a:ext cx="338554" cy="369332"/>
          </a:xfrm>
          <a:prstGeom prst="rect">
            <a:avLst/>
          </a:prstGeom>
          <a:noFill/>
        </p:spPr>
        <p:txBody>
          <a:bodyPr wrap="none" rtlCol="0">
            <a:spAutoFit/>
          </a:bodyPr>
          <a:lstStyle/>
          <a:p>
            <a:r>
              <a:rPr lang="en-US" altLang="zh-TW" dirty="0"/>
              <a:t>A</a:t>
            </a:r>
            <a:endParaRPr lang="zh-TW" altLang="en-US" dirty="0"/>
          </a:p>
        </p:txBody>
      </p:sp>
      <p:sp>
        <p:nvSpPr>
          <p:cNvPr id="7" name="文字方塊 6">
            <a:extLst>
              <a:ext uri="{FF2B5EF4-FFF2-40B4-BE49-F238E27FC236}">
                <a16:creationId xmlns:a16="http://schemas.microsoft.com/office/drawing/2014/main" id="{AC45CDC9-57CD-4A65-966E-1A40AE3BF06E}"/>
              </a:ext>
            </a:extLst>
          </p:cNvPr>
          <p:cNvSpPr txBox="1"/>
          <p:nvPr/>
        </p:nvSpPr>
        <p:spPr>
          <a:xfrm>
            <a:off x="6552260" y="5180322"/>
            <a:ext cx="338554" cy="369332"/>
          </a:xfrm>
          <a:prstGeom prst="rect">
            <a:avLst/>
          </a:prstGeom>
          <a:noFill/>
        </p:spPr>
        <p:txBody>
          <a:bodyPr wrap="none" rtlCol="0">
            <a:spAutoFit/>
          </a:bodyPr>
          <a:lstStyle/>
          <a:p>
            <a:r>
              <a:rPr lang="en-US" altLang="zh-TW" dirty="0"/>
              <a:t>B</a:t>
            </a:r>
            <a:endParaRPr lang="zh-TW" altLang="en-US" dirty="0"/>
          </a:p>
        </p:txBody>
      </p:sp>
      <p:sp>
        <p:nvSpPr>
          <p:cNvPr id="9" name="文字方塊 8">
            <a:extLst>
              <a:ext uri="{FF2B5EF4-FFF2-40B4-BE49-F238E27FC236}">
                <a16:creationId xmlns:a16="http://schemas.microsoft.com/office/drawing/2014/main" id="{CE49E862-67F1-4C09-92A7-7C69A60D9D0B}"/>
              </a:ext>
            </a:extLst>
          </p:cNvPr>
          <p:cNvSpPr txBox="1"/>
          <p:nvPr/>
        </p:nvSpPr>
        <p:spPr>
          <a:xfrm>
            <a:off x="4715922" y="4468021"/>
            <a:ext cx="351378" cy="369332"/>
          </a:xfrm>
          <a:prstGeom prst="rect">
            <a:avLst/>
          </a:prstGeom>
          <a:noFill/>
        </p:spPr>
        <p:txBody>
          <a:bodyPr wrap="none" rtlCol="0">
            <a:spAutoFit/>
          </a:bodyPr>
          <a:lstStyle/>
          <a:p>
            <a:r>
              <a:rPr lang="en-US" altLang="zh-TW" dirty="0"/>
              <a:t>C</a:t>
            </a:r>
            <a:endParaRPr lang="zh-TW" altLang="en-US" dirty="0"/>
          </a:p>
        </p:txBody>
      </p:sp>
      <p:sp>
        <p:nvSpPr>
          <p:cNvPr id="11" name="文字方塊 10">
            <a:extLst>
              <a:ext uri="{FF2B5EF4-FFF2-40B4-BE49-F238E27FC236}">
                <a16:creationId xmlns:a16="http://schemas.microsoft.com/office/drawing/2014/main" id="{5DC18C1D-B3C8-455A-B861-691B4D2E2D90}"/>
              </a:ext>
            </a:extLst>
          </p:cNvPr>
          <p:cNvSpPr txBox="1"/>
          <p:nvPr/>
        </p:nvSpPr>
        <p:spPr>
          <a:xfrm>
            <a:off x="4276832" y="6252386"/>
            <a:ext cx="351378" cy="369332"/>
          </a:xfrm>
          <a:prstGeom prst="rect">
            <a:avLst/>
          </a:prstGeom>
          <a:noFill/>
        </p:spPr>
        <p:txBody>
          <a:bodyPr wrap="none" rtlCol="0">
            <a:spAutoFit/>
          </a:bodyPr>
          <a:lstStyle/>
          <a:p>
            <a:r>
              <a:rPr lang="en-US" altLang="zh-TW" dirty="0"/>
              <a:t>D</a:t>
            </a:r>
            <a:endParaRPr lang="zh-TW" altLang="en-US" dirty="0"/>
          </a:p>
        </p:txBody>
      </p:sp>
    </p:spTree>
    <p:extLst>
      <p:ext uri="{BB962C8B-B14F-4D97-AF65-F5344CB8AC3E}">
        <p14:creationId xmlns:p14="http://schemas.microsoft.com/office/powerpoint/2010/main" val="1535270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87798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認識齒輪傳動機構</a:t>
            </a:r>
          </a:p>
        </p:txBody>
      </p:sp>
      <p:sp>
        <p:nvSpPr>
          <p:cNvPr id="3" name="文字方塊 2">
            <a:extLst>
              <a:ext uri="{FF2B5EF4-FFF2-40B4-BE49-F238E27FC236}">
                <a16:creationId xmlns:a16="http://schemas.microsoft.com/office/drawing/2014/main" id="{ECC5B087-CA12-493A-A085-E30C7619184B}"/>
              </a:ext>
            </a:extLst>
          </p:cNvPr>
          <p:cNvSpPr txBox="1"/>
          <p:nvPr/>
        </p:nvSpPr>
        <p:spPr>
          <a:xfrm>
            <a:off x="592477" y="1117671"/>
            <a:ext cx="6753883" cy="923330"/>
          </a:xfrm>
          <a:prstGeom prst="rect">
            <a:avLst/>
          </a:prstGeom>
          <a:noFill/>
        </p:spPr>
        <p:txBody>
          <a:bodyPr wrap="square" rtlCol="0">
            <a:spAutoFit/>
          </a:bodyPr>
          <a:lstStyle/>
          <a:p>
            <a:pPr algn="just"/>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蝸桿齒輪：</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轉向傳動。</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2"/>
              </a:buBlip>
            </a:pPr>
            <a:r>
              <a:rPr lang="zh-TW" altLang="en-US" dirty="0">
                <a:solidFill>
                  <a:schemeClr val="bg1">
                    <a:lumMod val="50000"/>
                  </a:schemeClr>
                </a:solidFill>
                <a:latin typeface="Adobe 繁黑體 Std B" panose="020B0700000000000000" pitchFamily="34" charset="-120"/>
                <a:ea typeface="Adobe 繁黑體 Std B" panose="020B0700000000000000" pitchFamily="34" charset="-120"/>
              </a:rPr>
              <a:t>減速傳動。</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p:txBody>
      </p:sp>
      <p:pic>
        <p:nvPicPr>
          <p:cNvPr id="7" name="圖片 6">
            <a:extLst>
              <a:ext uri="{FF2B5EF4-FFF2-40B4-BE49-F238E27FC236}">
                <a16:creationId xmlns:a16="http://schemas.microsoft.com/office/drawing/2014/main" id="{1BD0E455-984A-40B1-B630-7EC94A05D073}"/>
              </a:ext>
            </a:extLst>
          </p:cNvPr>
          <p:cNvPicPr>
            <a:picLocks noChangeAspect="1"/>
          </p:cNvPicPr>
          <p:nvPr/>
        </p:nvPicPr>
        <p:blipFill>
          <a:blip r:embed="rId3"/>
          <a:stretch>
            <a:fillRect/>
          </a:stretch>
        </p:blipFill>
        <p:spPr>
          <a:xfrm>
            <a:off x="455847" y="3712250"/>
            <a:ext cx="3964716" cy="2993041"/>
          </a:xfrm>
          <a:prstGeom prst="rect">
            <a:avLst/>
          </a:prstGeom>
        </p:spPr>
      </p:pic>
    </p:spTree>
    <p:extLst>
      <p:ext uri="{BB962C8B-B14F-4D97-AF65-F5344CB8AC3E}">
        <p14:creationId xmlns:p14="http://schemas.microsoft.com/office/powerpoint/2010/main" val="9060597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87798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風扇擺頭運動原理</a:t>
            </a:r>
          </a:p>
        </p:txBody>
      </p:sp>
      <p:sp>
        <p:nvSpPr>
          <p:cNvPr id="3" name="文字方塊 2">
            <a:extLst>
              <a:ext uri="{FF2B5EF4-FFF2-40B4-BE49-F238E27FC236}">
                <a16:creationId xmlns:a16="http://schemas.microsoft.com/office/drawing/2014/main" id="{ECC5B087-CA12-493A-A085-E30C7619184B}"/>
              </a:ext>
            </a:extLst>
          </p:cNvPr>
          <p:cNvSpPr txBox="1"/>
          <p:nvPr/>
        </p:nvSpPr>
        <p:spPr>
          <a:xfrm>
            <a:off x="592477" y="1117671"/>
            <a:ext cx="7656173" cy="2031325"/>
          </a:xfrm>
          <a:prstGeom prst="rect">
            <a:avLst/>
          </a:prstGeom>
          <a:noFill/>
        </p:spPr>
        <p:txBody>
          <a:bodyPr wrap="square" rtlCol="0">
            <a:spAutoFit/>
          </a:bodyPr>
          <a:lstStyle/>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由電機帶動蝸桿，再由蝸桿驅動蝸輪齒輪，並由大小齒輪的嚙合傳動，達到運動方向的改變及減速。</a:t>
            </a:r>
            <a:endParaRPr lang="en-US" altLang="zh-TW" dirty="0">
              <a:solidFill>
                <a:schemeClr val="bg1">
                  <a:lumMod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再由最後一個齒輪遶</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軸轉動來驅動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軸點的旋轉運動。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接著由</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軸點和</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軸點連接的</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連桿，推動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點的搖桿擺動。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本機構的設計為</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點遶著</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點進行擺動運動，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點與風扇機體形成</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CD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的搖桿連桿，因此</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B</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點的推力將造成風扇機體以</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點為中心軸進行擺動運動。</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pPr marL="285750" indent="-285750" algn="just">
              <a:buBlip>
                <a:blip r:embed="rId3"/>
              </a:buBlip>
            </a:pP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本機構的連桿功能如下：</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pic>
        <p:nvPicPr>
          <p:cNvPr id="11" name="圖片 10">
            <a:extLst>
              <a:ext uri="{FF2B5EF4-FFF2-40B4-BE49-F238E27FC236}">
                <a16:creationId xmlns:a16="http://schemas.microsoft.com/office/drawing/2014/main" id="{9CA859F8-018B-45FE-8A75-92E481EF26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11180" y="2899886"/>
            <a:ext cx="2938517" cy="3548539"/>
          </a:xfrm>
          <a:prstGeom prst="rect">
            <a:avLst/>
          </a:prstGeom>
        </p:spPr>
      </p:pic>
      <p:sp>
        <p:nvSpPr>
          <p:cNvPr id="13" name="文字方塊 12">
            <a:extLst>
              <a:ext uri="{FF2B5EF4-FFF2-40B4-BE49-F238E27FC236}">
                <a16:creationId xmlns:a16="http://schemas.microsoft.com/office/drawing/2014/main" id="{B29CB49E-D5A4-438B-B06E-7BEB5D5883B5}"/>
              </a:ext>
            </a:extLst>
          </p:cNvPr>
          <p:cNvSpPr txBox="1"/>
          <p:nvPr/>
        </p:nvSpPr>
        <p:spPr>
          <a:xfrm>
            <a:off x="5419725" y="5467350"/>
            <a:ext cx="338554" cy="369332"/>
          </a:xfrm>
          <a:prstGeom prst="rect">
            <a:avLst/>
          </a:prstGeom>
          <a:noFill/>
        </p:spPr>
        <p:txBody>
          <a:bodyPr wrap="none" rtlCol="0">
            <a:spAutoFit/>
          </a:bodyPr>
          <a:lstStyle/>
          <a:p>
            <a:r>
              <a:rPr lang="en-US" altLang="zh-TW" dirty="0"/>
              <a:t>A</a:t>
            </a:r>
            <a:endParaRPr lang="zh-TW" altLang="en-US" dirty="0"/>
          </a:p>
        </p:txBody>
      </p:sp>
      <p:sp>
        <p:nvSpPr>
          <p:cNvPr id="15" name="文字方塊 14">
            <a:extLst>
              <a:ext uri="{FF2B5EF4-FFF2-40B4-BE49-F238E27FC236}">
                <a16:creationId xmlns:a16="http://schemas.microsoft.com/office/drawing/2014/main" id="{AF199493-4240-45F2-80A1-ECB09A2C52A9}"/>
              </a:ext>
            </a:extLst>
          </p:cNvPr>
          <p:cNvSpPr txBox="1"/>
          <p:nvPr/>
        </p:nvSpPr>
        <p:spPr>
          <a:xfrm>
            <a:off x="5589002" y="5957887"/>
            <a:ext cx="338554" cy="369332"/>
          </a:xfrm>
          <a:prstGeom prst="rect">
            <a:avLst/>
          </a:prstGeom>
          <a:noFill/>
        </p:spPr>
        <p:txBody>
          <a:bodyPr wrap="none" rtlCol="0">
            <a:spAutoFit/>
          </a:bodyPr>
          <a:lstStyle/>
          <a:p>
            <a:r>
              <a:rPr lang="en-US" altLang="zh-TW" dirty="0"/>
              <a:t>B</a:t>
            </a:r>
            <a:endParaRPr lang="zh-TW" altLang="en-US" dirty="0"/>
          </a:p>
        </p:txBody>
      </p:sp>
      <p:sp>
        <p:nvSpPr>
          <p:cNvPr id="17" name="文字方塊 16">
            <a:extLst>
              <a:ext uri="{FF2B5EF4-FFF2-40B4-BE49-F238E27FC236}">
                <a16:creationId xmlns:a16="http://schemas.microsoft.com/office/drawing/2014/main" id="{08DB841A-6C50-4ACE-B5DF-DD94E717DC96}"/>
              </a:ext>
            </a:extLst>
          </p:cNvPr>
          <p:cNvSpPr txBox="1"/>
          <p:nvPr/>
        </p:nvSpPr>
        <p:spPr>
          <a:xfrm>
            <a:off x="8006864" y="5098018"/>
            <a:ext cx="351378" cy="369332"/>
          </a:xfrm>
          <a:prstGeom prst="rect">
            <a:avLst/>
          </a:prstGeom>
          <a:noFill/>
        </p:spPr>
        <p:txBody>
          <a:bodyPr wrap="none" rtlCol="0">
            <a:spAutoFit/>
          </a:bodyPr>
          <a:lstStyle/>
          <a:p>
            <a:r>
              <a:rPr lang="en-US" altLang="zh-TW" dirty="0"/>
              <a:t>C</a:t>
            </a:r>
            <a:endParaRPr lang="zh-TW" altLang="en-US" dirty="0"/>
          </a:p>
        </p:txBody>
      </p:sp>
      <p:sp>
        <p:nvSpPr>
          <p:cNvPr id="18" name="文字方塊 17">
            <a:extLst>
              <a:ext uri="{FF2B5EF4-FFF2-40B4-BE49-F238E27FC236}">
                <a16:creationId xmlns:a16="http://schemas.microsoft.com/office/drawing/2014/main" id="{0BAB49A9-C026-4104-BA67-432E498AF02D}"/>
              </a:ext>
            </a:extLst>
          </p:cNvPr>
          <p:cNvSpPr txBox="1"/>
          <p:nvPr/>
        </p:nvSpPr>
        <p:spPr>
          <a:xfrm>
            <a:off x="6076950" y="4000500"/>
            <a:ext cx="351378" cy="369332"/>
          </a:xfrm>
          <a:prstGeom prst="rect">
            <a:avLst/>
          </a:prstGeom>
          <a:noFill/>
        </p:spPr>
        <p:txBody>
          <a:bodyPr wrap="none" rtlCol="0">
            <a:spAutoFit/>
          </a:bodyPr>
          <a:lstStyle/>
          <a:p>
            <a:r>
              <a:rPr lang="en-US" altLang="zh-TW" dirty="0"/>
              <a:t>D</a:t>
            </a:r>
            <a:endParaRPr lang="zh-TW" altLang="en-US" dirty="0"/>
          </a:p>
        </p:txBody>
      </p:sp>
      <p:sp>
        <p:nvSpPr>
          <p:cNvPr id="19" name="弧形 18">
            <a:extLst>
              <a:ext uri="{FF2B5EF4-FFF2-40B4-BE49-F238E27FC236}">
                <a16:creationId xmlns:a16="http://schemas.microsoft.com/office/drawing/2014/main" id="{6A863C45-8492-4DD8-8739-2E973D8D7096}"/>
              </a:ext>
            </a:extLst>
          </p:cNvPr>
          <p:cNvSpPr/>
          <p:nvPr/>
        </p:nvSpPr>
        <p:spPr>
          <a:xfrm rot="10240234">
            <a:off x="5457131" y="2375577"/>
            <a:ext cx="2880000" cy="2880000"/>
          </a:xfrm>
          <a:prstGeom prst="arc">
            <a:avLst>
              <a:gd name="adj1" fmla="val 16200000"/>
              <a:gd name="adj2" fmla="val 21599642"/>
            </a:avLst>
          </a:prstGeom>
          <a:ln w="19050">
            <a:solidFill>
              <a:srgbClr val="FF0000"/>
            </a:solidFill>
            <a:headEnd type="triangle" w="lg" len="lg"/>
            <a:tailEnd type="triangl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ln w="19050">
                <a:solidFill>
                  <a:schemeClr val="tx1"/>
                </a:solidFill>
              </a:ln>
            </a:endParaRPr>
          </a:p>
        </p:txBody>
      </p:sp>
      <p:sp>
        <p:nvSpPr>
          <p:cNvPr id="20" name="文字方塊 19">
            <a:extLst>
              <a:ext uri="{FF2B5EF4-FFF2-40B4-BE49-F238E27FC236}">
                <a16:creationId xmlns:a16="http://schemas.microsoft.com/office/drawing/2014/main" id="{C455EF70-F958-4BF2-8723-FF6A4A7E3C84}"/>
              </a:ext>
            </a:extLst>
          </p:cNvPr>
          <p:cNvSpPr txBox="1"/>
          <p:nvPr/>
        </p:nvSpPr>
        <p:spPr>
          <a:xfrm>
            <a:off x="938158" y="3148996"/>
            <a:ext cx="3864477" cy="1477328"/>
          </a:xfrm>
          <a:prstGeom prst="rect">
            <a:avLst/>
          </a:prstGeom>
          <a:noFill/>
        </p:spPr>
        <p:txBody>
          <a:bodyPr wrap="square" rtlCol="0">
            <a:spAutoFit/>
          </a:bodyPr>
          <a:lstStyle/>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A</a:t>
            </a:r>
            <a:r>
              <a:rPr lang="zh-TW" altLang="en-US" dirty="0">
                <a:latin typeface="Adobe 仿宋 Std R" panose="02020400000000000000" pitchFamily="18" charset="-128"/>
                <a:ea typeface="Adobe 仿宋 Std R" panose="02020400000000000000" pitchFamily="18" charset="-128"/>
              </a:rPr>
              <a:t>點為動力來源的旋轉軸</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AB</a:t>
            </a:r>
            <a:r>
              <a:rPr lang="zh-TW" altLang="en-US" dirty="0">
                <a:latin typeface="Adobe 仿宋 Std R" panose="02020400000000000000" pitchFamily="18" charset="-128"/>
                <a:ea typeface="Adobe 仿宋 Std R" panose="02020400000000000000" pitchFamily="18" charset="-128"/>
              </a:rPr>
              <a:t>點為曲柄連桿</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BC</a:t>
            </a:r>
            <a:r>
              <a:rPr lang="zh-TW" altLang="en-US" dirty="0">
                <a:latin typeface="Adobe 仿宋 Std R" panose="02020400000000000000" pitchFamily="18" charset="-128"/>
                <a:ea typeface="Adobe 仿宋 Std R" panose="02020400000000000000" pitchFamily="18" charset="-128"/>
              </a:rPr>
              <a:t>點為連接桿</a:t>
            </a:r>
            <a:r>
              <a:rPr lang="en-US" altLang="zh-TW" dirty="0">
                <a:latin typeface="Adobe 仿宋 Std R" panose="02020400000000000000" pitchFamily="18" charset="-128"/>
                <a:ea typeface="Adobe 仿宋 Std R" panose="02020400000000000000" pitchFamily="18" charset="-128"/>
              </a:rPr>
              <a:t>(</a:t>
            </a:r>
            <a:r>
              <a:rPr lang="zh-TW" altLang="en-US" dirty="0">
                <a:latin typeface="Adobe 仿宋 Std R" panose="02020400000000000000" pitchFamily="18" charset="-128"/>
                <a:ea typeface="Adobe 仿宋 Std R" panose="02020400000000000000" pitchFamily="18" charset="-128"/>
              </a:rPr>
              <a:t>浮桿</a:t>
            </a:r>
            <a:r>
              <a:rPr lang="en-US" altLang="zh-TW" dirty="0">
                <a:latin typeface="Adobe 仿宋 Std R" panose="02020400000000000000" pitchFamily="18" charset="-128"/>
                <a:ea typeface="Adobe 仿宋 Std R" panose="02020400000000000000" pitchFamily="18" charset="-128"/>
              </a:rPr>
              <a:t>)</a:t>
            </a:r>
          </a:p>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CD</a:t>
            </a:r>
            <a:r>
              <a:rPr lang="zh-TW" altLang="en-US" dirty="0">
                <a:latin typeface="Adobe 仿宋 Std R" panose="02020400000000000000" pitchFamily="18" charset="-128"/>
                <a:ea typeface="Adobe 仿宋 Std R" panose="02020400000000000000" pitchFamily="18" charset="-128"/>
              </a:rPr>
              <a:t>點構成搖桿</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en-US" altLang="zh-TW" dirty="0">
                <a:latin typeface="Adobe 仿宋 Std R" panose="02020400000000000000" pitchFamily="18" charset="-128"/>
                <a:ea typeface="Adobe 仿宋 Std R" panose="02020400000000000000" pitchFamily="18" charset="-128"/>
              </a:rPr>
              <a:t>AD</a:t>
            </a:r>
            <a:r>
              <a:rPr lang="zh-TW" altLang="en-US" dirty="0">
                <a:latin typeface="Adobe 仿宋 Std R" panose="02020400000000000000" pitchFamily="18" charset="-128"/>
                <a:ea typeface="Adobe 仿宋 Std R" panose="02020400000000000000" pitchFamily="18" charset="-128"/>
              </a:rPr>
              <a:t>點為聯心線</a:t>
            </a:r>
          </a:p>
        </p:txBody>
      </p:sp>
    </p:spTree>
    <p:extLst>
      <p:ext uri="{BB962C8B-B14F-4D97-AF65-F5344CB8AC3E}">
        <p14:creationId xmlns:p14="http://schemas.microsoft.com/office/powerpoint/2010/main" val="27307250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1107996"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材料</a:t>
            </a:r>
          </a:p>
        </p:txBody>
      </p:sp>
      <p:pic>
        <p:nvPicPr>
          <p:cNvPr id="3" name="圖片 2">
            <a:extLst>
              <a:ext uri="{FF2B5EF4-FFF2-40B4-BE49-F238E27FC236}">
                <a16:creationId xmlns:a16="http://schemas.microsoft.com/office/drawing/2014/main" id="{6453DC44-F901-46FF-940A-755CB211CDE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92477" y="1143000"/>
            <a:ext cx="2369399" cy="2286000"/>
          </a:xfrm>
          <a:prstGeom prst="rect">
            <a:avLst/>
          </a:prstGeom>
        </p:spPr>
        <p:style>
          <a:lnRef idx="2">
            <a:schemeClr val="accent3">
              <a:shade val="50000"/>
            </a:schemeClr>
          </a:lnRef>
          <a:fillRef idx="1">
            <a:schemeClr val="accent3"/>
          </a:fillRef>
          <a:effectRef idx="0">
            <a:schemeClr val="accent3"/>
          </a:effectRef>
          <a:fontRef idx="minor">
            <a:schemeClr val="lt1"/>
          </a:fontRef>
        </p:style>
      </p:pic>
      <p:pic>
        <p:nvPicPr>
          <p:cNvPr id="6" name="圖片 5">
            <a:extLst>
              <a:ext uri="{FF2B5EF4-FFF2-40B4-BE49-F238E27FC236}">
                <a16:creationId xmlns:a16="http://schemas.microsoft.com/office/drawing/2014/main" id="{674AF45E-A51A-450A-894A-D9C44CFE5E1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6096" y="1143000"/>
            <a:ext cx="2901361" cy="2286000"/>
          </a:xfrm>
          <a:prstGeom prst="rect">
            <a:avLst/>
          </a:prstGeom>
        </p:spPr>
        <p:style>
          <a:lnRef idx="2">
            <a:schemeClr val="accent4">
              <a:shade val="50000"/>
            </a:schemeClr>
          </a:lnRef>
          <a:fillRef idx="1">
            <a:schemeClr val="accent4"/>
          </a:fillRef>
          <a:effectRef idx="0">
            <a:schemeClr val="accent4"/>
          </a:effectRef>
          <a:fontRef idx="minor">
            <a:schemeClr val="lt1"/>
          </a:fontRef>
        </p:style>
      </p:pic>
      <p:pic>
        <p:nvPicPr>
          <p:cNvPr id="8" name="圖片 7">
            <a:extLst>
              <a:ext uri="{FF2B5EF4-FFF2-40B4-BE49-F238E27FC236}">
                <a16:creationId xmlns:a16="http://schemas.microsoft.com/office/drawing/2014/main" id="{0F39BFA2-0A4F-4BBF-8322-75EF181AFEC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063327" y="3514725"/>
            <a:ext cx="3149329" cy="2914650"/>
          </a:xfrm>
          <a:prstGeom prst="rect">
            <a:avLst/>
          </a:prstGeom>
        </p:spPr>
        <p:style>
          <a:lnRef idx="2">
            <a:schemeClr val="accent6">
              <a:shade val="50000"/>
            </a:schemeClr>
          </a:lnRef>
          <a:fillRef idx="1">
            <a:schemeClr val="accent6"/>
          </a:fillRef>
          <a:effectRef idx="0">
            <a:schemeClr val="accent6"/>
          </a:effectRef>
          <a:fontRef idx="minor">
            <a:schemeClr val="lt1"/>
          </a:fontRef>
        </p:style>
      </p:pic>
      <p:pic>
        <p:nvPicPr>
          <p:cNvPr id="10" name="圖片 9">
            <a:extLst>
              <a:ext uri="{FF2B5EF4-FFF2-40B4-BE49-F238E27FC236}">
                <a16:creationId xmlns:a16="http://schemas.microsoft.com/office/drawing/2014/main" id="{E0332C39-6C0E-474A-B998-078A764B23B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92477" y="3514725"/>
            <a:ext cx="4261772" cy="2619375"/>
          </a:xfrm>
          <a:prstGeom prst="rect">
            <a:avLst/>
          </a:prstGeom>
        </p:spPr>
        <p:style>
          <a:lnRef idx="2">
            <a:schemeClr val="accent5">
              <a:shade val="50000"/>
            </a:schemeClr>
          </a:lnRef>
          <a:fillRef idx="1">
            <a:schemeClr val="accent5"/>
          </a:fillRef>
          <a:effectRef idx="0">
            <a:schemeClr val="accent5"/>
          </a:effectRef>
          <a:fontRef idx="minor">
            <a:schemeClr val="lt1"/>
          </a:fontRef>
        </p:style>
      </p:pic>
    </p:spTree>
    <p:extLst>
      <p:ext uri="{BB962C8B-B14F-4D97-AF65-F5344CB8AC3E}">
        <p14:creationId xmlns:p14="http://schemas.microsoft.com/office/powerpoint/2010/main" val="29836134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203132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組裝程序</a:t>
            </a:r>
          </a:p>
        </p:txBody>
      </p:sp>
      <p:pic>
        <p:nvPicPr>
          <p:cNvPr id="3" name="圖片 2">
            <a:extLst>
              <a:ext uri="{FF2B5EF4-FFF2-40B4-BE49-F238E27FC236}">
                <a16:creationId xmlns:a16="http://schemas.microsoft.com/office/drawing/2014/main" id="{F5F48D4A-5A3C-4759-A818-85D6808AB4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05129" y="1285875"/>
            <a:ext cx="1484597" cy="1381125"/>
          </a:xfrm>
          <a:prstGeom prst="rect">
            <a:avLst/>
          </a:prstGeom>
        </p:spPr>
      </p:pic>
      <p:pic>
        <p:nvPicPr>
          <p:cNvPr id="6" name="圖片 5">
            <a:extLst>
              <a:ext uri="{FF2B5EF4-FFF2-40B4-BE49-F238E27FC236}">
                <a16:creationId xmlns:a16="http://schemas.microsoft.com/office/drawing/2014/main" id="{264552F8-87B6-4387-B3E5-839E12FBBA5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938127" y="1285875"/>
            <a:ext cx="1484597" cy="1422962"/>
          </a:xfrm>
          <a:prstGeom prst="rect">
            <a:avLst/>
          </a:prstGeom>
        </p:spPr>
      </p:pic>
      <p:sp>
        <p:nvSpPr>
          <p:cNvPr id="7" name="箭號: 向右 6">
            <a:extLst>
              <a:ext uri="{FF2B5EF4-FFF2-40B4-BE49-F238E27FC236}">
                <a16:creationId xmlns:a16="http://schemas.microsoft.com/office/drawing/2014/main" id="{D6CB93A8-DCC0-41D8-929F-D9237D746D99}"/>
              </a:ext>
            </a:extLst>
          </p:cNvPr>
          <p:cNvSpPr/>
          <p:nvPr/>
        </p:nvSpPr>
        <p:spPr>
          <a:xfrm>
            <a:off x="2438400" y="180975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9" name="圖片 8">
            <a:extLst>
              <a:ext uri="{FF2B5EF4-FFF2-40B4-BE49-F238E27FC236}">
                <a16:creationId xmlns:a16="http://schemas.microsoft.com/office/drawing/2014/main" id="{D6DAD00D-2431-4DE0-B73D-32EEF43431AE}"/>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171125" y="1352550"/>
            <a:ext cx="1228768" cy="914400"/>
          </a:xfrm>
          <a:prstGeom prst="rect">
            <a:avLst/>
          </a:prstGeom>
        </p:spPr>
      </p:pic>
      <p:sp>
        <p:nvSpPr>
          <p:cNvPr id="10" name="箭號: 向右 9">
            <a:extLst>
              <a:ext uri="{FF2B5EF4-FFF2-40B4-BE49-F238E27FC236}">
                <a16:creationId xmlns:a16="http://schemas.microsoft.com/office/drawing/2014/main" id="{5BF8D0B2-1065-457D-A312-BAB974256DFC}"/>
              </a:ext>
            </a:extLst>
          </p:cNvPr>
          <p:cNvSpPr/>
          <p:nvPr/>
        </p:nvSpPr>
        <p:spPr>
          <a:xfrm>
            <a:off x="4612888" y="180975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2" name="圖片 11">
            <a:extLst>
              <a:ext uri="{FF2B5EF4-FFF2-40B4-BE49-F238E27FC236}">
                <a16:creationId xmlns:a16="http://schemas.microsoft.com/office/drawing/2014/main" id="{BF1BC173-EFBE-43E6-AFA5-07BE62B5A6A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6876470" y="885825"/>
            <a:ext cx="1907812" cy="2543175"/>
          </a:xfrm>
          <a:prstGeom prst="rect">
            <a:avLst/>
          </a:prstGeom>
        </p:spPr>
      </p:pic>
      <p:sp>
        <p:nvSpPr>
          <p:cNvPr id="13" name="箭號: 向右 12">
            <a:extLst>
              <a:ext uri="{FF2B5EF4-FFF2-40B4-BE49-F238E27FC236}">
                <a16:creationId xmlns:a16="http://schemas.microsoft.com/office/drawing/2014/main" id="{B2F8AF75-4E49-406B-B419-42729D4E2D18}"/>
              </a:ext>
            </a:extLst>
          </p:cNvPr>
          <p:cNvSpPr/>
          <p:nvPr/>
        </p:nvSpPr>
        <p:spPr>
          <a:xfrm>
            <a:off x="6562145" y="180975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5" name="圖片 14">
            <a:extLst>
              <a:ext uri="{FF2B5EF4-FFF2-40B4-BE49-F238E27FC236}">
                <a16:creationId xmlns:a16="http://schemas.microsoft.com/office/drawing/2014/main" id="{9815F33B-7BA0-4B22-B37B-532FD6F51FB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608139" y="2708837"/>
            <a:ext cx="1410591" cy="1873883"/>
          </a:xfrm>
          <a:prstGeom prst="rect">
            <a:avLst/>
          </a:prstGeom>
        </p:spPr>
      </p:pic>
      <p:sp>
        <p:nvSpPr>
          <p:cNvPr id="16" name="箭號: 向右 15">
            <a:extLst>
              <a:ext uri="{FF2B5EF4-FFF2-40B4-BE49-F238E27FC236}">
                <a16:creationId xmlns:a16="http://schemas.microsoft.com/office/drawing/2014/main" id="{9D6753F7-3958-410F-9079-CB14DFCEB79F}"/>
              </a:ext>
            </a:extLst>
          </p:cNvPr>
          <p:cNvSpPr/>
          <p:nvPr/>
        </p:nvSpPr>
        <p:spPr>
          <a:xfrm>
            <a:off x="1290264" y="342900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8" name="圖片 17">
            <a:extLst>
              <a:ext uri="{FF2B5EF4-FFF2-40B4-BE49-F238E27FC236}">
                <a16:creationId xmlns:a16="http://schemas.microsoft.com/office/drawing/2014/main" id="{6E92714F-6092-4182-8CF9-216361D2115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553846" y="2469442"/>
            <a:ext cx="1780154" cy="2083509"/>
          </a:xfrm>
          <a:prstGeom prst="rect">
            <a:avLst/>
          </a:prstGeom>
        </p:spPr>
      </p:pic>
      <p:sp>
        <p:nvSpPr>
          <p:cNvPr id="19" name="箭號: 向右 18">
            <a:extLst>
              <a:ext uri="{FF2B5EF4-FFF2-40B4-BE49-F238E27FC236}">
                <a16:creationId xmlns:a16="http://schemas.microsoft.com/office/drawing/2014/main" id="{2BB9CC7A-5EEE-4B37-A3BE-E636E1A9DA70}"/>
              </a:ext>
            </a:extLst>
          </p:cNvPr>
          <p:cNvSpPr/>
          <p:nvPr/>
        </p:nvSpPr>
        <p:spPr>
          <a:xfrm>
            <a:off x="3088824" y="3429000"/>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4" name="箭號: 向右 13">
            <a:extLst>
              <a:ext uri="{FF2B5EF4-FFF2-40B4-BE49-F238E27FC236}">
                <a16:creationId xmlns:a16="http://schemas.microsoft.com/office/drawing/2014/main" id="{487A37A8-3DA7-4B00-94CE-CE07E1A0C88C}"/>
              </a:ext>
            </a:extLst>
          </p:cNvPr>
          <p:cNvSpPr/>
          <p:nvPr/>
        </p:nvSpPr>
        <p:spPr>
          <a:xfrm>
            <a:off x="5236281" y="3398128"/>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5" name="圖片 4">
            <a:extLst>
              <a:ext uri="{FF2B5EF4-FFF2-40B4-BE49-F238E27FC236}">
                <a16:creationId xmlns:a16="http://schemas.microsoft.com/office/drawing/2014/main" id="{CDB01B72-01CD-49F8-948F-D5BD810EDF9F}"/>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5729908" y="2324102"/>
            <a:ext cx="1900533" cy="2266950"/>
          </a:xfrm>
          <a:prstGeom prst="rect">
            <a:avLst/>
          </a:prstGeom>
        </p:spPr>
      </p:pic>
      <p:sp>
        <p:nvSpPr>
          <p:cNvPr id="17" name="箭號: 向右 16">
            <a:extLst>
              <a:ext uri="{FF2B5EF4-FFF2-40B4-BE49-F238E27FC236}">
                <a16:creationId xmlns:a16="http://schemas.microsoft.com/office/drawing/2014/main" id="{F06BCDE9-E04B-426E-BBFA-32987181F650}"/>
              </a:ext>
            </a:extLst>
          </p:cNvPr>
          <p:cNvSpPr/>
          <p:nvPr/>
        </p:nvSpPr>
        <p:spPr>
          <a:xfrm>
            <a:off x="1226385" y="5198353"/>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1" name="圖片 10">
            <a:extLst>
              <a:ext uri="{FF2B5EF4-FFF2-40B4-BE49-F238E27FC236}">
                <a16:creationId xmlns:a16="http://schemas.microsoft.com/office/drawing/2014/main" id="{94950AC8-AECB-4389-BB1D-AFC891B9F2F1}"/>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1708307" y="4594788"/>
            <a:ext cx="2324917" cy="1873883"/>
          </a:xfrm>
          <a:prstGeom prst="rect">
            <a:avLst/>
          </a:prstGeom>
        </p:spPr>
      </p:pic>
      <p:pic>
        <p:nvPicPr>
          <p:cNvPr id="21" name="圖片 20">
            <a:extLst>
              <a:ext uri="{FF2B5EF4-FFF2-40B4-BE49-F238E27FC236}">
                <a16:creationId xmlns:a16="http://schemas.microsoft.com/office/drawing/2014/main" id="{9042F1FE-071D-4900-92E0-EB96AC80D3C0}"/>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4046583" y="4338162"/>
            <a:ext cx="2156515" cy="2467925"/>
          </a:xfrm>
          <a:prstGeom prst="rect">
            <a:avLst/>
          </a:prstGeom>
        </p:spPr>
      </p:pic>
      <p:sp>
        <p:nvSpPr>
          <p:cNvPr id="22" name="箭號: 向右 21">
            <a:extLst>
              <a:ext uri="{FF2B5EF4-FFF2-40B4-BE49-F238E27FC236}">
                <a16:creationId xmlns:a16="http://schemas.microsoft.com/office/drawing/2014/main" id="{1430B32E-F999-49C1-A93C-E64CACF39CDD}"/>
              </a:ext>
            </a:extLst>
          </p:cNvPr>
          <p:cNvSpPr/>
          <p:nvPr/>
        </p:nvSpPr>
        <p:spPr>
          <a:xfrm>
            <a:off x="3736647" y="5198353"/>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箭號: 向右 22">
            <a:extLst>
              <a:ext uri="{FF2B5EF4-FFF2-40B4-BE49-F238E27FC236}">
                <a16:creationId xmlns:a16="http://schemas.microsoft.com/office/drawing/2014/main" id="{47836530-8607-4888-906E-6BC84C820B6D}"/>
              </a:ext>
            </a:extLst>
          </p:cNvPr>
          <p:cNvSpPr/>
          <p:nvPr/>
        </p:nvSpPr>
        <p:spPr>
          <a:xfrm>
            <a:off x="6027853" y="5198353"/>
            <a:ext cx="314325" cy="495300"/>
          </a:xfrm>
          <a:prstGeom prst="right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24" name="圖片 23">
            <a:extLst>
              <a:ext uri="{FF2B5EF4-FFF2-40B4-BE49-F238E27FC236}">
                <a16:creationId xmlns:a16="http://schemas.microsoft.com/office/drawing/2014/main" id="{4FBD745D-DC8E-46E1-A8BE-9B542AE8A58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6875985" y="4312527"/>
            <a:ext cx="2105988" cy="2374023"/>
          </a:xfrm>
          <a:prstGeom prst="rect">
            <a:avLst/>
          </a:prstGeom>
        </p:spPr>
      </p:pic>
    </p:spTree>
    <p:extLst>
      <p:ext uri="{BB962C8B-B14F-4D97-AF65-F5344CB8AC3E}">
        <p14:creationId xmlns:p14="http://schemas.microsoft.com/office/powerpoint/2010/main" val="10038234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圖片 10">
            <a:extLst>
              <a:ext uri="{FF2B5EF4-FFF2-40B4-BE49-F238E27FC236}">
                <a16:creationId xmlns:a16="http://schemas.microsoft.com/office/drawing/2014/main" id="{3036F1EB-512E-4CF2-965E-B56E66AF149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75095" y="3314700"/>
            <a:ext cx="4498300" cy="3374486"/>
          </a:xfrm>
          <a:prstGeom prst="rect">
            <a:avLst/>
          </a:prstGeom>
        </p:spPr>
      </p:pic>
      <p:sp>
        <p:nvSpPr>
          <p:cNvPr id="4" name="文字方塊 3">
            <a:extLst>
              <a:ext uri="{FF2B5EF4-FFF2-40B4-BE49-F238E27FC236}">
                <a16:creationId xmlns:a16="http://schemas.microsoft.com/office/drawing/2014/main" id="{99DCEEDE-63FC-492E-B77C-676E80F36358}"/>
              </a:ext>
            </a:extLst>
          </p:cNvPr>
          <p:cNvSpPr txBox="1"/>
          <p:nvPr/>
        </p:nvSpPr>
        <p:spPr>
          <a:xfrm>
            <a:off x="695176" y="821664"/>
            <a:ext cx="2646878" cy="830997"/>
          </a:xfrm>
          <a:prstGeom prst="rect">
            <a:avLst/>
          </a:prstGeom>
          <a:noFill/>
        </p:spPr>
        <p:txBody>
          <a:bodyPr wrap="none" rtlCol="0">
            <a:spAutoFit/>
          </a:bodyPr>
          <a:lstStyle/>
          <a:p>
            <a:r>
              <a:rPr lang="zh-TW" altLang="en-US" sz="4800" dirty="0">
                <a:latin typeface="Adobe 繁黑體 Std B" panose="020B0700000000000000" pitchFamily="34" charset="-120"/>
                <a:ea typeface="Adobe 繁黑體 Std B" panose="020B0700000000000000" pitchFamily="34" charset="-120"/>
              </a:rPr>
              <a:t>智慧控制</a:t>
            </a:r>
          </a:p>
        </p:txBody>
      </p:sp>
      <p:sp>
        <p:nvSpPr>
          <p:cNvPr id="2" name="文字方塊 1">
            <a:extLst>
              <a:ext uri="{FF2B5EF4-FFF2-40B4-BE49-F238E27FC236}">
                <a16:creationId xmlns:a16="http://schemas.microsoft.com/office/drawing/2014/main" id="{4A2B2D06-0F4A-4FBD-B589-25E6E633A95A}"/>
              </a:ext>
            </a:extLst>
          </p:cNvPr>
          <p:cNvSpPr txBox="1"/>
          <p:nvPr/>
        </p:nvSpPr>
        <p:spPr>
          <a:xfrm>
            <a:off x="695176" y="1605631"/>
            <a:ext cx="3013967" cy="923330"/>
          </a:xfrm>
          <a:prstGeom prst="rect">
            <a:avLst/>
          </a:prstGeom>
          <a:noFill/>
        </p:spPr>
        <p:txBody>
          <a:bodyPr wrap="none" rtlCol="0">
            <a:spAutoFit/>
          </a:bodyPr>
          <a:lstStyle/>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認識積木程式</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了解控制程式編寫邏輯</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3"/>
              </a:buBlip>
            </a:pPr>
            <a:r>
              <a:rPr lang="zh-TW" altLang="en-US" dirty="0">
                <a:latin typeface="Adobe 仿宋 Std R" panose="02020400000000000000" pitchFamily="18" charset="-128"/>
                <a:ea typeface="Adobe 仿宋 Std R" panose="02020400000000000000" pitchFamily="18" charset="-128"/>
              </a:rPr>
              <a:t>了解感測器與 </a:t>
            </a:r>
            <a:r>
              <a:rPr lang="en-US" altLang="zh-TW" dirty="0">
                <a:latin typeface="Adobe 仿宋 Std R" panose="02020400000000000000" pitchFamily="18" charset="-128"/>
                <a:ea typeface="Adobe 仿宋 Std R" panose="02020400000000000000" pitchFamily="18" charset="-128"/>
              </a:rPr>
              <a:t>IoT </a:t>
            </a:r>
            <a:r>
              <a:rPr lang="zh-TW" altLang="en-US" dirty="0">
                <a:latin typeface="Adobe 仿宋 Std R" panose="02020400000000000000" pitchFamily="18" charset="-128"/>
                <a:ea typeface="Adobe 仿宋 Std R" panose="02020400000000000000" pitchFamily="18" charset="-128"/>
              </a:rPr>
              <a:t>的應用</a:t>
            </a:r>
          </a:p>
        </p:txBody>
      </p:sp>
      <p:pic>
        <p:nvPicPr>
          <p:cNvPr id="9" name="圖片 8">
            <a:extLst>
              <a:ext uri="{FF2B5EF4-FFF2-40B4-BE49-F238E27FC236}">
                <a16:creationId xmlns:a16="http://schemas.microsoft.com/office/drawing/2014/main" id="{84C8FD81-997F-4E1B-B3FA-073D2970DB8A}"/>
              </a:ext>
            </a:extLst>
          </p:cNvPr>
          <p:cNvPicPr>
            <a:picLocks noChangeAspect="1"/>
          </p:cNvPicPr>
          <p:nvPr/>
        </p:nvPicPr>
        <p:blipFill>
          <a:blip r:embed="rId4"/>
          <a:stretch>
            <a:fillRect/>
          </a:stretch>
        </p:blipFill>
        <p:spPr>
          <a:xfrm>
            <a:off x="6027084" y="5248275"/>
            <a:ext cx="1335742" cy="1149753"/>
          </a:xfrm>
          <a:prstGeom prst="rect">
            <a:avLst/>
          </a:prstGeom>
        </p:spPr>
      </p:pic>
      <p:cxnSp>
        <p:nvCxnSpPr>
          <p:cNvPr id="13" name="直線單箭頭接點 12">
            <a:extLst>
              <a:ext uri="{FF2B5EF4-FFF2-40B4-BE49-F238E27FC236}">
                <a16:creationId xmlns:a16="http://schemas.microsoft.com/office/drawing/2014/main" id="{9229B679-F02D-4B0D-9B53-6D2A2B946358}"/>
              </a:ext>
            </a:extLst>
          </p:cNvPr>
          <p:cNvCxnSpPr>
            <a:stCxn id="9" idx="1"/>
          </p:cNvCxnSpPr>
          <p:nvPr/>
        </p:nvCxnSpPr>
        <p:spPr>
          <a:xfrm flipH="1" flipV="1">
            <a:off x="4495800" y="5823151"/>
            <a:ext cx="1531284" cy="1"/>
          </a:xfrm>
          <a:prstGeom prst="straightConnector1">
            <a:avLst/>
          </a:prstGeom>
          <a:ln w="19050">
            <a:headEnd type="none" w="med" len="med"/>
            <a:tailEnd type="arrow" w="med" len="med"/>
          </a:ln>
        </p:spPr>
        <p:style>
          <a:lnRef idx="1">
            <a:schemeClr val="accent2"/>
          </a:lnRef>
          <a:fillRef idx="0">
            <a:schemeClr val="accent2"/>
          </a:fillRef>
          <a:effectRef idx="0">
            <a:schemeClr val="accent2"/>
          </a:effectRef>
          <a:fontRef idx="minor">
            <a:schemeClr val="tx1"/>
          </a:fontRef>
        </p:style>
      </p:cxnSp>
      <p:cxnSp>
        <p:nvCxnSpPr>
          <p:cNvPr id="18" name="直線接點 17">
            <a:extLst>
              <a:ext uri="{FF2B5EF4-FFF2-40B4-BE49-F238E27FC236}">
                <a16:creationId xmlns:a16="http://schemas.microsoft.com/office/drawing/2014/main" id="{B3AA7971-A557-4135-AF8A-DD55C7DBD4E0}"/>
              </a:ext>
            </a:extLst>
          </p:cNvPr>
          <p:cNvCxnSpPr/>
          <p:nvPr/>
        </p:nvCxnSpPr>
        <p:spPr>
          <a:xfrm>
            <a:off x="2505075" y="5648325"/>
            <a:ext cx="0" cy="8763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直線接點 21">
            <a:extLst>
              <a:ext uri="{FF2B5EF4-FFF2-40B4-BE49-F238E27FC236}">
                <a16:creationId xmlns:a16="http://schemas.microsoft.com/office/drawing/2014/main" id="{9B4838D1-FE22-439D-BA93-D3AC55BDEB44}"/>
              </a:ext>
            </a:extLst>
          </p:cNvPr>
          <p:cNvCxnSpPr>
            <a:cxnSpLocks/>
          </p:cNvCxnSpPr>
          <p:nvPr/>
        </p:nvCxnSpPr>
        <p:spPr>
          <a:xfrm flipH="1" flipV="1">
            <a:off x="7800975" y="4238625"/>
            <a:ext cx="1" cy="2286001"/>
          </a:xfrm>
          <a:prstGeom prst="line">
            <a:avLst/>
          </a:prstGeom>
          <a:ln w="19050">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3" name="文字方塊 2">
            <a:extLst>
              <a:ext uri="{FF2B5EF4-FFF2-40B4-BE49-F238E27FC236}">
                <a16:creationId xmlns:a16="http://schemas.microsoft.com/office/drawing/2014/main" id="{902D3AE4-30B6-47EF-A0B9-B804A15D3A00}"/>
              </a:ext>
            </a:extLst>
          </p:cNvPr>
          <p:cNvSpPr txBox="1"/>
          <p:nvPr/>
        </p:nvSpPr>
        <p:spPr>
          <a:xfrm>
            <a:off x="689293" y="2435765"/>
            <a:ext cx="2550698" cy="1754326"/>
          </a:xfrm>
          <a:prstGeom prst="rect">
            <a:avLst/>
          </a:prstGeom>
          <a:noFill/>
        </p:spPr>
        <p:txBody>
          <a:bodyPr wrap="none" rtlCol="0">
            <a:spAutoFit/>
          </a:bodyPr>
          <a:lstStyle/>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按鈕開關</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電機轉動控制</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按鈕與電機調速應用</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感測開關應用</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訊息顯示</a:t>
            </a:r>
            <a:endParaRPr lang="en-US" altLang="zh-TW" dirty="0">
              <a:latin typeface="Adobe 仿宋 Std R" panose="02020400000000000000" pitchFamily="18" charset="-128"/>
              <a:ea typeface="Adobe 仿宋 Std R" panose="02020400000000000000" pitchFamily="18" charset="-128"/>
            </a:endParaRPr>
          </a:p>
          <a:p>
            <a:pPr marL="285750" indent="-285750">
              <a:buBlip>
                <a:blip r:embed="rId5"/>
              </a:buBlip>
            </a:pPr>
            <a:r>
              <a:rPr lang="zh-TW" altLang="en-US" dirty="0">
                <a:latin typeface="Adobe 仿宋 Std R" panose="02020400000000000000" pitchFamily="18" charset="-128"/>
                <a:ea typeface="Adobe 仿宋 Std R" panose="02020400000000000000" pitchFamily="18" charset="-128"/>
              </a:rPr>
              <a:t>藍芽遙控</a:t>
            </a:r>
          </a:p>
        </p:txBody>
      </p:sp>
      <p:pic>
        <p:nvPicPr>
          <p:cNvPr id="6" name="圖片 5">
            <a:extLst>
              <a:ext uri="{FF2B5EF4-FFF2-40B4-BE49-F238E27FC236}">
                <a16:creationId xmlns:a16="http://schemas.microsoft.com/office/drawing/2014/main" id="{FFEBD998-27B3-4B38-B2F6-E54A2D6D4D3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397295" y="749031"/>
            <a:ext cx="3464335" cy="3905250"/>
          </a:xfrm>
          <a:prstGeom prst="rect">
            <a:avLst/>
          </a:prstGeom>
        </p:spPr>
      </p:pic>
      <p:pic>
        <p:nvPicPr>
          <p:cNvPr id="12" name="圖片 11">
            <a:extLst>
              <a:ext uri="{FF2B5EF4-FFF2-40B4-BE49-F238E27FC236}">
                <a16:creationId xmlns:a16="http://schemas.microsoft.com/office/drawing/2014/main" id="{9012E933-A83C-4DD5-A1C0-BB15A5916D0A}"/>
              </a:ext>
            </a:extLst>
          </p:cNvPr>
          <p:cNvPicPr>
            <a:picLocks noChangeAspect="1"/>
          </p:cNvPicPr>
          <p:nvPr/>
        </p:nvPicPr>
        <p:blipFill>
          <a:blip r:embed="rId7"/>
          <a:stretch>
            <a:fillRect/>
          </a:stretch>
        </p:blipFill>
        <p:spPr>
          <a:xfrm flipH="1">
            <a:off x="3709143" y="2169577"/>
            <a:ext cx="1851242" cy="1711323"/>
          </a:xfrm>
          <a:prstGeom prst="rect">
            <a:avLst/>
          </a:prstGeom>
        </p:spPr>
      </p:pic>
      <p:cxnSp>
        <p:nvCxnSpPr>
          <p:cNvPr id="20" name="直線接點 19">
            <a:extLst>
              <a:ext uri="{FF2B5EF4-FFF2-40B4-BE49-F238E27FC236}">
                <a16:creationId xmlns:a16="http://schemas.microsoft.com/office/drawing/2014/main" id="{0E426993-7612-4A83-8096-D028515943EB}"/>
              </a:ext>
            </a:extLst>
          </p:cNvPr>
          <p:cNvCxnSpPr>
            <a:cxnSpLocks/>
          </p:cNvCxnSpPr>
          <p:nvPr/>
        </p:nvCxnSpPr>
        <p:spPr>
          <a:xfrm>
            <a:off x="2505075" y="6524625"/>
            <a:ext cx="52959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直線單箭頭接點 14">
            <a:extLst>
              <a:ext uri="{FF2B5EF4-FFF2-40B4-BE49-F238E27FC236}">
                <a16:creationId xmlns:a16="http://schemas.microsoft.com/office/drawing/2014/main" id="{8A3E0979-C40E-4AFB-A5D0-B06704F1C8D3}"/>
              </a:ext>
            </a:extLst>
          </p:cNvPr>
          <p:cNvCxnSpPr/>
          <p:nvPr/>
        </p:nvCxnSpPr>
        <p:spPr>
          <a:xfrm flipH="1">
            <a:off x="4876800" y="3880900"/>
            <a:ext cx="590550" cy="136737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07189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877985"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智慧型控制電路板</a:t>
            </a:r>
          </a:p>
        </p:txBody>
      </p:sp>
      <p:pic>
        <p:nvPicPr>
          <p:cNvPr id="3" name="圖片 2">
            <a:extLst>
              <a:ext uri="{FF2B5EF4-FFF2-40B4-BE49-F238E27FC236}">
                <a16:creationId xmlns:a16="http://schemas.microsoft.com/office/drawing/2014/main" id="{D591DE93-B9F6-4ECA-A8F4-B562EDE9EBA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66012" y="1343024"/>
            <a:ext cx="6208900" cy="4657725"/>
          </a:xfrm>
          <a:prstGeom prst="rect">
            <a:avLst/>
          </a:prstGeom>
        </p:spPr>
      </p:pic>
      <p:cxnSp>
        <p:nvCxnSpPr>
          <p:cNvPr id="5" name="直線接點 4">
            <a:extLst>
              <a:ext uri="{FF2B5EF4-FFF2-40B4-BE49-F238E27FC236}">
                <a16:creationId xmlns:a16="http://schemas.microsoft.com/office/drawing/2014/main" id="{62E95E7A-E836-41AC-9932-E33369674903}"/>
              </a:ext>
            </a:extLst>
          </p:cNvPr>
          <p:cNvCxnSpPr/>
          <p:nvPr/>
        </p:nvCxnSpPr>
        <p:spPr>
          <a:xfrm flipH="1">
            <a:off x="2790825" y="4495800"/>
            <a:ext cx="123825" cy="1524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線接點 5">
            <a:extLst>
              <a:ext uri="{FF2B5EF4-FFF2-40B4-BE49-F238E27FC236}">
                <a16:creationId xmlns:a16="http://schemas.microsoft.com/office/drawing/2014/main" id="{33896ED5-CCD3-447C-A3A9-98D42CDAB178}"/>
              </a:ext>
            </a:extLst>
          </p:cNvPr>
          <p:cNvCxnSpPr/>
          <p:nvPr/>
        </p:nvCxnSpPr>
        <p:spPr>
          <a:xfrm flipH="1">
            <a:off x="3219450" y="4676775"/>
            <a:ext cx="123825" cy="1524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線接點 7">
            <a:extLst>
              <a:ext uri="{FF2B5EF4-FFF2-40B4-BE49-F238E27FC236}">
                <a16:creationId xmlns:a16="http://schemas.microsoft.com/office/drawing/2014/main" id="{B6F6D776-DCA0-4FC4-8BF1-FC6833ECF604}"/>
              </a:ext>
            </a:extLst>
          </p:cNvPr>
          <p:cNvCxnSpPr/>
          <p:nvPr/>
        </p:nvCxnSpPr>
        <p:spPr>
          <a:xfrm>
            <a:off x="2790825" y="4648200"/>
            <a:ext cx="428625" cy="180975"/>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線單箭頭接點 9">
            <a:extLst>
              <a:ext uri="{FF2B5EF4-FFF2-40B4-BE49-F238E27FC236}">
                <a16:creationId xmlns:a16="http://schemas.microsoft.com/office/drawing/2014/main" id="{47E6343A-6842-4C87-9C0B-EE6CF04492FB}"/>
              </a:ext>
            </a:extLst>
          </p:cNvPr>
          <p:cNvCxnSpPr/>
          <p:nvPr/>
        </p:nvCxnSpPr>
        <p:spPr>
          <a:xfrm>
            <a:off x="1076325" y="416242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1" name="文字方塊 10">
            <a:extLst>
              <a:ext uri="{FF2B5EF4-FFF2-40B4-BE49-F238E27FC236}">
                <a16:creationId xmlns:a16="http://schemas.microsoft.com/office/drawing/2014/main" id="{0AF31CD4-7134-4509-9F41-2695DA3E90FB}"/>
              </a:ext>
            </a:extLst>
          </p:cNvPr>
          <p:cNvSpPr txBox="1"/>
          <p:nvPr/>
        </p:nvSpPr>
        <p:spPr>
          <a:xfrm>
            <a:off x="522327" y="3867150"/>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電源開關</a:t>
            </a:r>
          </a:p>
        </p:txBody>
      </p:sp>
      <p:cxnSp>
        <p:nvCxnSpPr>
          <p:cNvPr id="12" name="直線單箭頭接點 11">
            <a:extLst>
              <a:ext uri="{FF2B5EF4-FFF2-40B4-BE49-F238E27FC236}">
                <a16:creationId xmlns:a16="http://schemas.microsoft.com/office/drawing/2014/main" id="{B1DB388F-8EC2-446E-88C5-3490E08E8DDF}"/>
              </a:ext>
            </a:extLst>
          </p:cNvPr>
          <p:cNvCxnSpPr/>
          <p:nvPr/>
        </p:nvCxnSpPr>
        <p:spPr>
          <a:xfrm>
            <a:off x="2009775" y="475297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677C79D7-ED86-41C6-88F7-32FFC8B2E5A3}"/>
              </a:ext>
            </a:extLst>
          </p:cNvPr>
          <p:cNvSpPr txBox="1"/>
          <p:nvPr/>
        </p:nvSpPr>
        <p:spPr>
          <a:xfrm>
            <a:off x="1241465" y="4463534"/>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電機接口</a:t>
            </a:r>
          </a:p>
        </p:txBody>
      </p:sp>
      <p:sp>
        <p:nvSpPr>
          <p:cNvPr id="14" name="左大括弧 13">
            <a:extLst>
              <a:ext uri="{FF2B5EF4-FFF2-40B4-BE49-F238E27FC236}">
                <a16:creationId xmlns:a16="http://schemas.microsoft.com/office/drawing/2014/main" id="{43FFC3C4-CC2E-482B-89DC-BF86D992C6DB}"/>
              </a:ext>
            </a:extLst>
          </p:cNvPr>
          <p:cNvSpPr/>
          <p:nvPr/>
        </p:nvSpPr>
        <p:spPr>
          <a:xfrm rot="17905160">
            <a:off x="3848362" y="4744029"/>
            <a:ext cx="247650" cy="854002"/>
          </a:xfrm>
          <a:prstGeom prst="leftBrace">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cxnSp>
        <p:nvCxnSpPr>
          <p:cNvPr id="15" name="直線單箭頭接點 14">
            <a:extLst>
              <a:ext uri="{FF2B5EF4-FFF2-40B4-BE49-F238E27FC236}">
                <a16:creationId xmlns:a16="http://schemas.microsoft.com/office/drawing/2014/main" id="{F5331A60-2352-4794-B87C-C8AE8F19A04C}"/>
              </a:ext>
            </a:extLst>
          </p:cNvPr>
          <p:cNvCxnSpPr/>
          <p:nvPr/>
        </p:nvCxnSpPr>
        <p:spPr>
          <a:xfrm>
            <a:off x="2943225" y="528637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6" name="文字方塊 15">
            <a:extLst>
              <a:ext uri="{FF2B5EF4-FFF2-40B4-BE49-F238E27FC236}">
                <a16:creationId xmlns:a16="http://schemas.microsoft.com/office/drawing/2014/main" id="{53EE2686-053C-486A-87A0-B843CEAA6E76}"/>
              </a:ext>
            </a:extLst>
          </p:cNvPr>
          <p:cNvSpPr txBox="1"/>
          <p:nvPr/>
        </p:nvSpPr>
        <p:spPr>
          <a:xfrm>
            <a:off x="2107937" y="5007530"/>
            <a:ext cx="1338828"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傳感器接口</a:t>
            </a:r>
          </a:p>
        </p:txBody>
      </p:sp>
      <p:cxnSp>
        <p:nvCxnSpPr>
          <p:cNvPr id="18" name="直線單箭頭接點 17">
            <a:extLst>
              <a:ext uri="{FF2B5EF4-FFF2-40B4-BE49-F238E27FC236}">
                <a16:creationId xmlns:a16="http://schemas.microsoft.com/office/drawing/2014/main" id="{542A62D9-0C34-4CE2-8A6B-C0824E6E5287}"/>
              </a:ext>
            </a:extLst>
          </p:cNvPr>
          <p:cNvCxnSpPr/>
          <p:nvPr/>
        </p:nvCxnSpPr>
        <p:spPr>
          <a:xfrm>
            <a:off x="4991100" y="5192196"/>
            <a:ext cx="0" cy="808553"/>
          </a:xfrm>
          <a:prstGeom prst="straightConnector1">
            <a:avLst/>
          </a:prstGeom>
          <a:ln w="19050">
            <a:solidFill>
              <a:srgbClr val="FF0000"/>
            </a:solidFill>
            <a:headEnd type="arrow" w="lg" len="lg"/>
            <a:tailEnd type="none" w="med" len="med"/>
          </a:ln>
        </p:spPr>
        <p:style>
          <a:lnRef idx="1">
            <a:schemeClr val="accent1"/>
          </a:lnRef>
          <a:fillRef idx="0">
            <a:schemeClr val="accent1"/>
          </a:fillRef>
          <a:effectRef idx="0">
            <a:schemeClr val="accent1"/>
          </a:effectRef>
          <a:fontRef idx="minor">
            <a:schemeClr val="tx1"/>
          </a:fontRef>
        </p:style>
      </p:cxnSp>
      <p:sp>
        <p:nvSpPr>
          <p:cNvPr id="19" name="文字方塊 18">
            <a:extLst>
              <a:ext uri="{FF2B5EF4-FFF2-40B4-BE49-F238E27FC236}">
                <a16:creationId xmlns:a16="http://schemas.microsoft.com/office/drawing/2014/main" id="{C6B4BBA4-5421-4D8E-9B4B-F6F3A34787F4}"/>
              </a:ext>
            </a:extLst>
          </p:cNvPr>
          <p:cNvSpPr txBox="1"/>
          <p:nvPr/>
        </p:nvSpPr>
        <p:spPr>
          <a:xfrm>
            <a:off x="3972187" y="6000749"/>
            <a:ext cx="177484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重置按鈕</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(reset)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cxnSp>
        <p:nvCxnSpPr>
          <p:cNvPr id="20" name="直線單箭頭接點 19">
            <a:extLst>
              <a:ext uri="{FF2B5EF4-FFF2-40B4-BE49-F238E27FC236}">
                <a16:creationId xmlns:a16="http://schemas.microsoft.com/office/drawing/2014/main" id="{EC2EBA6A-5F0D-49B7-9067-09F9798E6A62}"/>
              </a:ext>
            </a:extLst>
          </p:cNvPr>
          <p:cNvCxnSpPr/>
          <p:nvPr/>
        </p:nvCxnSpPr>
        <p:spPr>
          <a:xfrm>
            <a:off x="862013" y="3133725"/>
            <a:ext cx="933450"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21" name="文字方塊 20">
            <a:extLst>
              <a:ext uri="{FF2B5EF4-FFF2-40B4-BE49-F238E27FC236}">
                <a16:creationId xmlns:a16="http://schemas.microsoft.com/office/drawing/2014/main" id="{FA52E600-F0A2-4C1E-90D4-380F1528E89C}"/>
              </a:ext>
            </a:extLst>
          </p:cNvPr>
          <p:cNvSpPr txBox="1"/>
          <p:nvPr/>
        </p:nvSpPr>
        <p:spPr>
          <a:xfrm>
            <a:off x="560015" y="2806184"/>
            <a:ext cx="1107996"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電源接口</a:t>
            </a:r>
          </a:p>
        </p:txBody>
      </p:sp>
      <p:sp>
        <p:nvSpPr>
          <p:cNvPr id="22" name="橢圓 21">
            <a:extLst>
              <a:ext uri="{FF2B5EF4-FFF2-40B4-BE49-F238E27FC236}">
                <a16:creationId xmlns:a16="http://schemas.microsoft.com/office/drawing/2014/main" id="{44A020D5-A942-44C6-8EEA-E21D1ED69930}"/>
              </a:ext>
            </a:extLst>
          </p:cNvPr>
          <p:cNvSpPr/>
          <p:nvPr/>
        </p:nvSpPr>
        <p:spPr>
          <a:xfrm>
            <a:off x="2476500" y="2914650"/>
            <a:ext cx="628650" cy="51434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cxnSp>
        <p:nvCxnSpPr>
          <p:cNvPr id="24" name="直線接點 23">
            <a:extLst>
              <a:ext uri="{FF2B5EF4-FFF2-40B4-BE49-F238E27FC236}">
                <a16:creationId xmlns:a16="http://schemas.microsoft.com/office/drawing/2014/main" id="{751A7834-4671-4543-AA44-E9C8A61D06F5}"/>
              </a:ext>
            </a:extLst>
          </p:cNvPr>
          <p:cNvCxnSpPr/>
          <p:nvPr/>
        </p:nvCxnSpPr>
        <p:spPr>
          <a:xfrm>
            <a:off x="676275" y="2476500"/>
            <a:ext cx="9540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6" name="直線單箭頭接點 25">
            <a:extLst>
              <a:ext uri="{FF2B5EF4-FFF2-40B4-BE49-F238E27FC236}">
                <a16:creationId xmlns:a16="http://schemas.microsoft.com/office/drawing/2014/main" id="{4BFC9536-5FCD-4509-8007-345D842D5690}"/>
              </a:ext>
            </a:extLst>
          </p:cNvPr>
          <p:cNvCxnSpPr/>
          <p:nvPr/>
        </p:nvCxnSpPr>
        <p:spPr>
          <a:xfrm>
            <a:off x="1630323" y="2476500"/>
            <a:ext cx="979527" cy="65722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27" name="文字方塊 26">
            <a:extLst>
              <a:ext uri="{FF2B5EF4-FFF2-40B4-BE49-F238E27FC236}">
                <a16:creationId xmlns:a16="http://schemas.microsoft.com/office/drawing/2014/main" id="{18064687-3A5A-4146-B6FE-C23EAF396DD6}"/>
              </a:ext>
            </a:extLst>
          </p:cNvPr>
          <p:cNvSpPr txBox="1"/>
          <p:nvPr/>
        </p:nvSpPr>
        <p:spPr>
          <a:xfrm>
            <a:off x="225802" y="2184680"/>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舵機或傳感器接口</a:t>
            </a:r>
          </a:p>
        </p:txBody>
      </p:sp>
      <p:cxnSp>
        <p:nvCxnSpPr>
          <p:cNvPr id="29" name="接點: 肘形 28">
            <a:extLst>
              <a:ext uri="{FF2B5EF4-FFF2-40B4-BE49-F238E27FC236}">
                <a16:creationId xmlns:a16="http://schemas.microsoft.com/office/drawing/2014/main" id="{4AAC1B6B-A0AF-4BBE-9617-733A8B255FA9}"/>
              </a:ext>
            </a:extLst>
          </p:cNvPr>
          <p:cNvCxnSpPr>
            <a:cxnSpLocks/>
          </p:cNvCxnSpPr>
          <p:nvPr/>
        </p:nvCxnSpPr>
        <p:spPr>
          <a:xfrm>
            <a:off x="1007804" y="1799780"/>
            <a:ext cx="1753322" cy="489020"/>
          </a:xfrm>
          <a:prstGeom prst="bentConnector3">
            <a:avLst>
              <a:gd name="adj1" fmla="val 99979"/>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33" name="文字方塊 32">
            <a:extLst>
              <a:ext uri="{FF2B5EF4-FFF2-40B4-BE49-F238E27FC236}">
                <a16:creationId xmlns:a16="http://schemas.microsoft.com/office/drawing/2014/main" id="{153B6F41-56AB-40ED-92CE-BAFFCC4731F7}"/>
              </a:ext>
            </a:extLst>
          </p:cNvPr>
          <p:cNvSpPr txBox="1"/>
          <p:nvPr/>
        </p:nvSpPr>
        <p:spPr>
          <a:xfrm>
            <a:off x="831592" y="1489417"/>
            <a:ext cx="1451038" cy="369332"/>
          </a:xfrm>
          <a:prstGeom prst="rect">
            <a:avLst/>
          </a:prstGeom>
          <a:noFill/>
        </p:spPr>
        <p:txBody>
          <a:bodyPr wrap="none" rtlCol="0">
            <a:spAutoFit/>
          </a:bodyPr>
          <a:lstStyle/>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OLED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顯示器</a:t>
            </a:r>
          </a:p>
        </p:txBody>
      </p:sp>
      <p:cxnSp>
        <p:nvCxnSpPr>
          <p:cNvPr id="34" name="直線單箭頭接點 33">
            <a:extLst>
              <a:ext uri="{FF2B5EF4-FFF2-40B4-BE49-F238E27FC236}">
                <a16:creationId xmlns:a16="http://schemas.microsoft.com/office/drawing/2014/main" id="{D1342549-F596-49B1-94E6-C267680E36F0}"/>
              </a:ext>
            </a:extLst>
          </p:cNvPr>
          <p:cNvCxnSpPr>
            <a:cxnSpLocks/>
          </p:cNvCxnSpPr>
          <p:nvPr/>
        </p:nvCxnSpPr>
        <p:spPr>
          <a:xfrm>
            <a:off x="889102" y="3526867"/>
            <a:ext cx="2392260" cy="1905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36" name="文字方塊 35">
            <a:extLst>
              <a:ext uri="{FF2B5EF4-FFF2-40B4-BE49-F238E27FC236}">
                <a16:creationId xmlns:a16="http://schemas.microsoft.com/office/drawing/2014/main" id="{40AD4989-5CFF-4A0B-A07D-DF7A93964D2E}"/>
              </a:ext>
            </a:extLst>
          </p:cNvPr>
          <p:cNvSpPr txBox="1"/>
          <p:nvPr/>
        </p:nvSpPr>
        <p:spPr>
          <a:xfrm>
            <a:off x="522327" y="3206417"/>
            <a:ext cx="981359" cy="369332"/>
          </a:xfrm>
          <a:prstGeom prst="rect">
            <a:avLst/>
          </a:prstGeom>
          <a:noFill/>
        </p:spPr>
        <p:txBody>
          <a:bodyPr wrap="none" rtlCol="0">
            <a:spAutoFit/>
          </a:bodyPr>
          <a:lstStyle/>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I2C</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接口</a:t>
            </a:r>
          </a:p>
        </p:txBody>
      </p:sp>
      <p:cxnSp>
        <p:nvCxnSpPr>
          <p:cNvPr id="37" name="直線單箭頭接點 36">
            <a:extLst>
              <a:ext uri="{FF2B5EF4-FFF2-40B4-BE49-F238E27FC236}">
                <a16:creationId xmlns:a16="http://schemas.microsoft.com/office/drawing/2014/main" id="{5B58F04C-2A7C-44D7-BCD7-65AFFFEF784E}"/>
              </a:ext>
            </a:extLst>
          </p:cNvPr>
          <p:cNvCxnSpPr>
            <a:cxnSpLocks/>
          </p:cNvCxnSpPr>
          <p:nvPr/>
        </p:nvCxnSpPr>
        <p:spPr>
          <a:xfrm flipH="1">
            <a:off x="3937324" y="1388773"/>
            <a:ext cx="738187" cy="524805"/>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cxnSp>
        <p:nvCxnSpPr>
          <p:cNvPr id="40" name="直線單箭頭接點 39">
            <a:extLst>
              <a:ext uri="{FF2B5EF4-FFF2-40B4-BE49-F238E27FC236}">
                <a16:creationId xmlns:a16="http://schemas.microsoft.com/office/drawing/2014/main" id="{B87AAA4B-DCDF-4F1D-B61D-24A124DC0545}"/>
              </a:ext>
            </a:extLst>
          </p:cNvPr>
          <p:cNvCxnSpPr>
            <a:cxnSpLocks/>
            <a:stCxn id="43" idx="1"/>
          </p:cNvCxnSpPr>
          <p:nvPr/>
        </p:nvCxnSpPr>
        <p:spPr>
          <a:xfrm flipH="1">
            <a:off x="4119213" y="2063340"/>
            <a:ext cx="990336" cy="220218"/>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42" name="文字方塊 41">
            <a:extLst>
              <a:ext uri="{FF2B5EF4-FFF2-40B4-BE49-F238E27FC236}">
                <a16:creationId xmlns:a16="http://schemas.microsoft.com/office/drawing/2014/main" id="{C16B4D4A-382C-48FA-B18D-0AEE17C5B14F}"/>
              </a:ext>
            </a:extLst>
          </p:cNvPr>
          <p:cNvSpPr txBox="1"/>
          <p:nvPr/>
        </p:nvSpPr>
        <p:spPr>
          <a:xfrm>
            <a:off x="4639729" y="1165509"/>
            <a:ext cx="2319866" cy="646331"/>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蜂鳴器、</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SD</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卡讀卡器</a:t>
            </a:r>
            <a:endPar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a:p>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在藍芽模組下方</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
        <p:nvSpPr>
          <p:cNvPr id="43" name="文字方塊 42">
            <a:extLst>
              <a:ext uri="{FF2B5EF4-FFF2-40B4-BE49-F238E27FC236}">
                <a16:creationId xmlns:a16="http://schemas.microsoft.com/office/drawing/2014/main" id="{1A770A32-4BE8-45FE-8B53-FD0651FFD223}"/>
              </a:ext>
            </a:extLst>
          </p:cNvPr>
          <p:cNvSpPr txBox="1"/>
          <p:nvPr/>
        </p:nvSpPr>
        <p:spPr>
          <a:xfrm>
            <a:off x="5109549" y="1878674"/>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陶瓷天線藍芽模組</a:t>
            </a:r>
          </a:p>
        </p:txBody>
      </p:sp>
      <p:cxnSp>
        <p:nvCxnSpPr>
          <p:cNvPr id="45" name="直線單箭頭接點 44">
            <a:extLst>
              <a:ext uri="{FF2B5EF4-FFF2-40B4-BE49-F238E27FC236}">
                <a16:creationId xmlns:a16="http://schemas.microsoft.com/office/drawing/2014/main" id="{8989A79F-4997-4286-BF72-34A10C918B1E}"/>
              </a:ext>
            </a:extLst>
          </p:cNvPr>
          <p:cNvCxnSpPr>
            <a:cxnSpLocks/>
          </p:cNvCxnSpPr>
          <p:nvPr/>
        </p:nvCxnSpPr>
        <p:spPr>
          <a:xfrm flipH="1">
            <a:off x="4249465" y="2396695"/>
            <a:ext cx="979760" cy="300023"/>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49" name="文字方塊 48">
            <a:extLst>
              <a:ext uri="{FF2B5EF4-FFF2-40B4-BE49-F238E27FC236}">
                <a16:creationId xmlns:a16="http://schemas.microsoft.com/office/drawing/2014/main" id="{6D34DCAF-8877-48D4-8BF0-36553A3A4B33}"/>
              </a:ext>
            </a:extLst>
          </p:cNvPr>
          <p:cNvSpPr txBox="1"/>
          <p:nvPr/>
        </p:nvSpPr>
        <p:spPr>
          <a:xfrm>
            <a:off x="5266730" y="2240855"/>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藍芽模組供電按鈕</a:t>
            </a:r>
          </a:p>
        </p:txBody>
      </p:sp>
      <p:cxnSp>
        <p:nvCxnSpPr>
          <p:cNvPr id="50" name="直線單箭頭接點 49">
            <a:extLst>
              <a:ext uri="{FF2B5EF4-FFF2-40B4-BE49-F238E27FC236}">
                <a16:creationId xmlns:a16="http://schemas.microsoft.com/office/drawing/2014/main" id="{0DC73FC5-594D-4642-B0D5-713F58952228}"/>
              </a:ext>
            </a:extLst>
          </p:cNvPr>
          <p:cNvCxnSpPr>
            <a:cxnSpLocks/>
          </p:cNvCxnSpPr>
          <p:nvPr/>
        </p:nvCxnSpPr>
        <p:spPr>
          <a:xfrm flipH="1">
            <a:off x="6125211" y="3064661"/>
            <a:ext cx="1094739"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2" name="文字方塊 51">
            <a:extLst>
              <a:ext uri="{FF2B5EF4-FFF2-40B4-BE49-F238E27FC236}">
                <a16:creationId xmlns:a16="http://schemas.microsoft.com/office/drawing/2014/main" id="{C6767E7B-F1BC-43DD-94C3-68D66BE13E69}"/>
              </a:ext>
            </a:extLst>
          </p:cNvPr>
          <p:cNvSpPr txBox="1"/>
          <p:nvPr/>
        </p:nvSpPr>
        <p:spPr>
          <a:xfrm>
            <a:off x="6498014" y="2764393"/>
            <a:ext cx="2430474"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樹莓派 </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Pico Boot </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按鈕</a:t>
            </a:r>
          </a:p>
        </p:txBody>
      </p:sp>
      <p:cxnSp>
        <p:nvCxnSpPr>
          <p:cNvPr id="53" name="直線單箭頭接點 52">
            <a:extLst>
              <a:ext uri="{FF2B5EF4-FFF2-40B4-BE49-F238E27FC236}">
                <a16:creationId xmlns:a16="http://schemas.microsoft.com/office/drawing/2014/main" id="{9D8C070E-86EF-45EB-B468-8FA9C4B3EA27}"/>
              </a:ext>
            </a:extLst>
          </p:cNvPr>
          <p:cNvCxnSpPr>
            <a:cxnSpLocks/>
          </p:cNvCxnSpPr>
          <p:nvPr/>
        </p:nvCxnSpPr>
        <p:spPr>
          <a:xfrm flipH="1" flipV="1">
            <a:off x="4614382" y="3391083"/>
            <a:ext cx="2434118" cy="184666"/>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5" name="文字方塊 54">
            <a:extLst>
              <a:ext uri="{FF2B5EF4-FFF2-40B4-BE49-F238E27FC236}">
                <a16:creationId xmlns:a16="http://schemas.microsoft.com/office/drawing/2014/main" id="{D0CE2D22-A5FF-4F49-AFBA-0C2642362D7C}"/>
              </a:ext>
            </a:extLst>
          </p:cNvPr>
          <p:cNvSpPr txBox="1"/>
          <p:nvPr/>
        </p:nvSpPr>
        <p:spPr>
          <a:xfrm>
            <a:off x="6847512" y="3244329"/>
            <a:ext cx="2031325"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開放腳位接線端子</a:t>
            </a:r>
          </a:p>
        </p:txBody>
      </p:sp>
      <p:cxnSp>
        <p:nvCxnSpPr>
          <p:cNvPr id="56" name="直線單箭頭接點 55">
            <a:extLst>
              <a:ext uri="{FF2B5EF4-FFF2-40B4-BE49-F238E27FC236}">
                <a16:creationId xmlns:a16="http://schemas.microsoft.com/office/drawing/2014/main" id="{70E410CB-1E05-478F-8E22-4FB62FCC47E0}"/>
              </a:ext>
            </a:extLst>
          </p:cNvPr>
          <p:cNvCxnSpPr>
            <a:cxnSpLocks/>
          </p:cNvCxnSpPr>
          <p:nvPr/>
        </p:nvCxnSpPr>
        <p:spPr>
          <a:xfrm flipH="1">
            <a:off x="5965598" y="4381056"/>
            <a:ext cx="993997" cy="0"/>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58" name="文字方塊 57">
            <a:extLst>
              <a:ext uri="{FF2B5EF4-FFF2-40B4-BE49-F238E27FC236}">
                <a16:creationId xmlns:a16="http://schemas.microsoft.com/office/drawing/2014/main" id="{678B9806-6261-4CA4-B4D8-C78866446329}"/>
              </a:ext>
            </a:extLst>
          </p:cNvPr>
          <p:cNvSpPr txBox="1"/>
          <p:nvPr/>
        </p:nvSpPr>
        <p:spPr>
          <a:xfrm>
            <a:off x="6349584" y="4094202"/>
            <a:ext cx="2178802" cy="369332"/>
          </a:xfrm>
          <a:prstGeom prst="rect">
            <a:avLst/>
          </a:prstGeom>
          <a:noFill/>
        </p:spPr>
        <p:txBody>
          <a:bodyPr wrap="none" rtlCol="0">
            <a:spAutoFit/>
          </a:bodyPr>
          <a:lstStyle/>
          <a:p>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萬用電路板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r>
              <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rPr>
              <a:t>麵包板</a:t>
            </a:r>
            <a:r>
              <a:rPr lang="en-US" altLang="zh-TW" dirty="0">
                <a:solidFill>
                  <a:schemeClr val="tx1">
                    <a:lumMod val="50000"/>
                    <a:lumOff val="50000"/>
                  </a:schemeClr>
                </a:solidFill>
                <a:latin typeface="Adobe 繁黑體 Std B" panose="020B0700000000000000" pitchFamily="34" charset="-120"/>
                <a:ea typeface="Adobe 繁黑體 Std B" panose="020B0700000000000000" pitchFamily="34" charset="-120"/>
              </a:rPr>
              <a:t>)</a:t>
            </a:r>
            <a:endParaRPr lang="zh-TW" altLang="en-US" dirty="0">
              <a:solidFill>
                <a:schemeClr val="tx1">
                  <a:lumMod val="50000"/>
                  <a:lumOff val="50000"/>
                </a:schemeClr>
              </a:solidFill>
              <a:latin typeface="Adobe 繁黑體 Std B" panose="020B0700000000000000" pitchFamily="34" charset="-120"/>
              <a:ea typeface="Adobe 繁黑體 Std B" panose="020B0700000000000000" pitchFamily="34" charset="-120"/>
            </a:endParaRPr>
          </a:p>
        </p:txBody>
      </p:sp>
    </p:spTree>
    <p:extLst>
      <p:ext uri="{BB962C8B-B14F-4D97-AF65-F5344CB8AC3E}">
        <p14:creationId xmlns:p14="http://schemas.microsoft.com/office/powerpoint/2010/main" val="10923620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圖片 11">
            <a:extLst>
              <a:ext uri="{FF2B5EF4-FFF2-40B4-BE49-F238E27FC236}">
                <a16:creationId xmlns:a16="http://schemas.microsoft.com/office/drawing/2014/main" id="{4AA30160-3FFD-4D6E-9087-30AB26693E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73121" y="908082"/>
            <a:ext cx="6208900" cy="4657725"/>
          </a:xfrm>
          <a:prstGeom prst="rect">
            <a:avLst/>
          </a:prstGeom>
        </p:spPr>
      </p:pic>
      <p:sp>
        <p:nvSpPr>
          <p:cNvPr id="101" name="CustomShape 1"/>
          <p:cNvSpPr/>
          <p:nvPr/>
        </p:nvSpPr>
        <p:spPr>
          <a:xfrm>
            <a:off x="628920" y="471600"/>
            <a:ext cx="7886160" cy="608807"/>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繁黑體 Std B"/>
                <a:ea typeface="Adobe 繁黑體 Std B"/>
              </a:rPr>
              <a:t>安裝及更新韌體</a:t>
            </a:r>
            <a:endParaRPr lang="en-US" sz="3600" spc="-1" dirty="0">
              <a:solidFill>
                <a:schemeClr val="tx1">
                  <a:lumMod val="50000"/>
                  <a:lumOff val="50000"/>
                </a:schemeClr>
              </a:solidFill>
              <a:uFill>
                <a:solidFill>
                  <a:srgbClr val="FFFFFF"/>
                </a:solidFill>
              </a:uFill>
              <a:latin typeface="Arial"/>
            </a:endParaRPr>
          </a:p>
        </p:txBody>
      </p:sp>
      <p:sp>
        <p:nvSpPr>
          <p:cNvPr id="7" name="橢圓 6">
            <a:extLst>
              <a:ext uri="{FF2B5EF4-FFF2-40B4-BE49-F238E27FC236}">
                <a16:creationId xmlns:a16="http://schemas.microsoft.com/office/drawing/2014/main" id="{2B44A876-BE56-48A4-8D31-17C577F85E9D}"/>
              </a:ext>
            </a:extLst>
          </p:cNvPr>
          <p:cNvSpPr/>
          <p:nvPr/>
        </p:nvSpPr>
        <p:spPr>
          <a:xfrm>
            <a:off x="4517854" y="2428427"/>
            <a:ext cx="643813" cy="363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8" name="橢圓 7">
            <a:extLst>
              <a:ext uri="{FF2B5EF4-FFF2-40B4-BE49-F238E27FC236}">
                <a16:creationId xmlns:a16="http://schemas.microsoft.com/office/drawing/2014/main" id="{F7813D4F-8CEE-4AF5-A2A4-ACFD09A3D55E}"/>
              </a:ext>
            </a:extLst>
          </p:cNvPr>
          <p:cNvSpPr/>
          <p:nvPr/>
        </p:nvSpPr>
        <p:spPr>
          <a:xfrm>
            <a:off x="4678456" y="1109590"/>
            <a:ext cx="322607" cy="321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t>1</a:t>
            </a:r>
            <a:endParaRPr lang="zh-TW" altLang="en-US" sz="1350" dirty="0"/>
          </a:p>
        </p:txBody>
      </p:sp>
      <p:sp>
        <p:nvSpPr>
          <p:cNvPr id="11" name="橢圓 10">
            <a:extLst>
              <a:ext uri="{FF2B5EF4-FFF2-40B4-BE49-F238E27FC236}">
                <a16:creationId xmlns:a16="http://schemas.microsoft.com/office/drawing/2014/main" id="{BD5F5147-30A0-41D1-A2FF-735A77AB7EFC}"/>
              </a:ext>
            </a:extLst>
          </p:cNvPr>
          <p:cNvSpPr/>
          <p:nvPr/>
        </p:nvSpPr>
        <p:spPr>
          <a:xfrm>
            <a:off x="5099004" y="1972068"/>
            <a:ext cx="322607" cy="32190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1350" dirty="0"/>
              <a:t>2</a:t>
            </a:r>
            <a:endParaRPr lang="zh-TW" altLang="en-US" sz="1350" dirty="0"/>
          </a:p>
        </p:txBody>
      </p:sp>
      <p:sp>
        <p:nvSpPr>
          <p:cNvPr id="10" name="文字方塊 9">
            <a:extLst>
              <a:ext uri="{FF2B5EF4-FFF2-40B4-BE49-F238E27FC236}">
                <a16:creationId xmlns:a16="http://schemas.microsoft.com/office/drawing/2014/main" id="{E27AE73D-1370-4510-9831-452F50224CA3}"/>
              </a:ext>
            </a:extLst>
          </p:cNvPr>
          <p:cNvSpPr txBox="1"/>
          <p:nvPr/>
        </p:nvSpPr>
        <p:spPr>
          <a:xfrm>
            <a:off x="5047316" y="1067004"/>
            <a:ext cx="2766092" cy="715581"/>
          </a:xfrm>
          <a:prstGeom prst="rect">
            <a:avLst/>
          </a:prstGeom>
          <a:noFill/>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同時按下</a:t>
            </a:r>
            <a:r>
              <a:rPr lang="en-US" altLang="zh-TW" sz="1350" dirty="0">
                <a:latin typeface="Adobe 仿宋 Std R" panose="02020400000000000000" pitchFamily="18" charset="-128"/>
                <a:ea typeface="Adobe 仿宋 Std R" panose="02020400000000000000" pitchFamily="18" charset="-128"/>
              </a:rPr>
              <a:t>Raspberry Pi Pico</a:t>
            </a:r>
            <a:r>
              <a:rPr lang="zh-TW" altLang="en-US" sz="1350" dirty="0">
                <a:latin typeface="Adobe 仿宋 Std R" panose="02020400000000000000" pitchFamily="18" charset="-128"/>
                <a:ea typeface="Adobe 仿宋 Std R" panose="02020400000000000000" pitchFamily="18" charset="-128"/>
              </a:rPr>
              <a:t>板上的白色按鈕</a:t>
            </a:r>
            <a:r>
              <a:rPr lang="en-US" altLang="zh-TW" sz="1350" dirty="0">
                <a:latin typeface="Adobe 仿宋 Std R" panose="02020400000000000000" pitchFamily="18" charset="-128"/>
                <a:ea typeface="Adobe 仿宋 Std R" panose="02020400000000000000" pitchFamily="18" charset="-128"/>
              </a:rPr>
              <a:t>, </a:t>
            </a:r>
            <a:r>
              <a:rPr lang="zh-TW" altLang="en-US" sz="1350" dirty="0">
                <a:latin typeface="Adobe 仿宋 Std R" panose="02020400000000000000" pitchFamily="18" charset="-128"/>
                <a:ea typeface="Adobe 仿宋 Std R" panose="02020400000000000000" pitchFamily="18" charset="-128"/>
              </a:rPr>
              <a:t>及開發板上的黑色按鈕。約</a:t>
            </a:r>
            <a:r>
              <a:rPr lang="en-US" altLang="zh-TW" sz="1350" dirty="0">
                <a:latin typeface="Adobe 仿宋 Std R" panose="02020400000000000000" pitchFamily="18" charset="-128"/>
                <a:ea typeface="Adobe 仿宋 Std R" panose="02020400000000000000" pitchFamily="18" charset="-128"/>
              </a:rPr>
              <a:t>3</a:t>
            </a:r>
            <a:r>
              <a:rPr lang="zh-TW" altLang="en-US" sz="1350" dirty="0">
                <a:latin typeface="Adobe 仿宋 Std R" panose="02020400000000000000" pitchFamily="18" charset="-128"/>
                <a:ea typeface="Adobe 仿宋 Std R" panose="02020400000000000000" pitchFamily="18" charset="-128"/>
              </a:rPr>
              <a:t>秒鐘會開啟檔案總管。</a:t>
            </a:r>
          </a:p>
        </p:txBody>
      </p:sp>
      <p:sp>
        <p:nvSpPr>
          <p:cNvPr id="13" name="橢圓 12">
            <a:extLst>
              <a:ext uri="{FF2B5EF4-FFF2-40B4-BE49-F238E27FC236}">
                <a16:creationId xmlns:a16="http://schemas.microsoft.com/office/drawing/2014/main" id="{CE7B5674-EE30-479E-8B64-5CAE8EA50E05}"/>
              </a:ext>
            </a:extLst>
          </p:cNvPr>
          <p:cNvSpPr/>
          <p:nvPr/>
        </p:nvSpPr>
        <p:spPr>
          <a:xfrm>
            <a:off x="3615968" y="4550792"/>
            <a:ext cx="643813" cy="363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文字方塊 13">
            <a:extLst>
              <a:ext uri="{FF2B5EF4-FFF2-40B4-BE49-F238E27FC236}">
                <a16:creationId xmlns:a16="http://schemas.microsoft.com/office/drawing/2014/main" id="{D3D606AE-BF8B-41F6-87E0-35C6F53E5414}"/>
              </a:ext>
            </a:extLst>
          </p:cNvPr>
          <p:cNvSpPr txBox="1"/>
          <p:nvPr/>
        </p:nvSpPr>
        <p:spPr>
          <a:xfrm>
            <a:off x="5588296" y="1881262"/>
            <a:ext cx="2823873" cy="923330"/>
          </a:xfrm>
          <a:prstGeom prst="rect">
            <a:avLst/>
          </a:prstGeom>
          <a:noFill/>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使用檔案總管將韌體以托拉方式放到新開啟的檔案總管中，便會進行上傳。 上傳結束便會關閉該檔案總管視窗。</a:t>
            </a:r>
          </a:p>
        </p:txBody>
      </p:sp>
      <p:pic>
        <p:nvPicPr>
          <p:cNvPr id="4" name="圖片 3">
            <a:extLst>
              <a:ext uri="{FF2B5EF4-FFF2-40B4-BE49-F238E27FC236}">
                <a16:creationId xmlns:a16="http://schemas.microsoft.com/office/drawing/2014/main" id="{F60E4DED-2162-4AC7-A589-D1F6A6A6FD0D}"/>
              </a:ext>
            </a:extLst>
          </p:cNvPr>
          <p:cNvPicPr>
            <a:picLocks noChangeAspect="1"/>
          </p:cNvPicPr>
          <p:nvPr/>
        </p:nvPicPr>
        <p:blipFill>
          <a:blip r:embed="rId3"/>
          <a:stretch>
            <a:fillRect/>
          </a:stretch>
        </p:blipFill>
        <p:spPr>
          <a:xfrm>
            <a:off x="4801186" y="3970711"/>
            <a:ext cx="3713894" cy="2031578"/>
          </a:xfrm>
          <a:prstGeom prst="rect">
            <a:avLst/>
          </a:prstGeom>
        </p:spPr>
      </p:pic>
      <p:sp>
        <p:nvSpPr>
          <p:cNvPr id="5" name="箭號: 弧形右彎 4">
            <a:extLst>
              <a:ext uri="{FF2B5EF4-FFF2-40B4-BE49-F238E27FC236}">
                <a16:creationId xmlns:a16="http://schemas.microsoft.com/office/drawing/2014/main" id="{CF6845D6-ADFE-4775-96A8-ACBDDB23C02A}"/>
              </a:ext>
            </a:extLst>
          </p:cNvPr>
          <p:cNvSpPr/>
          <p:nvPr/>
        </p:nvSpPr>
        <p:spPr>
          <a:xfrm rot="6605361">
            <a:off x="7009516" y="3778043"/>
            <a:ext cx="659902" cy="1694648"/>
          </a:xfrm>
          <a:prstGeom prst="curv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solidFill>
                <a:schemeClr val="tx1"/>
              </a:solidFill>
            </a:endParaRPr>
          </a:p>
        </p:txBody>
      </p:sp>
    </p:spTree>
    <p:extLst>
      <p:ext uri="{BB962C8B-B14F-4D97-AF65-F5344CB8AC3E}">
        <p14:creationId xmlns:p14="http://schemas.microsoft.com/office/powerpoint/2010/main" val="391520193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628920" y="530955"/>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sz="3600" spc="-1" dirty="0">
                <a:solidFill>
                  <a:srgbClr val="000000"/>
                </a:solidFill>
                <a:uFill>
                  <a:solidFill>
                    <a:srgbClr val="FFFFFF"/>
                  </a:solidFill>
                </a:uFill>
                <a:latin typeface="Adobe 繁黑體 Std B"/>
                <a:ea typeface="Adobe 繁黑體 Std B"/>
              </a:rPr>
              <a:t>PICO X2 </a:t>
            </a:r>
            <a:r>
              <a:rPr lang="en-US" sz="3600" spc="-1" dirty="0" err="1">
                <a:solidFill>
                  <a:srgbClr val="000000"/>
                </a:solidFill>
                <a:uFill>
                  <a:solidFill>
                    <a:srgbClr val="FFFFFF"/>
                  </a:solidFill>
                </a:uFill>
                <a:latin typeface="Adobe 繁黑體 Std B"/>
                <a:ea typeface="Adobe 繁黑體 Std B"/>
              </a:rPr>
              <a:t>腳位</a:t>
            </a:r>
            <a:r>
              <a:rPr lang="zh-TW" altLang="en-US" sz="3600" spc="-1" dirty="0">
                <a:solidFill>
                  <a:srgbClr val="000000"/>
                </a:solidFill>
                <a:uFill>
                  <a:solidFill>
                    <a:srgbClr val="FFFFFF"/>
                  </a:solidFill>
                </a:uFill>
                <a:latin typeface="Adobe 繁黑體 Std B"/>
                <a:ea typeface="Adobe 繁黑體 Std B"/>
              </a:rPr>
              <a:t>名稱及定義</a:t>
            </a:r>
            <a:endParaRPr lang="en-US" sz="3600" spc="-1" dirty="0">
              <a:solidFill>
                <a:srgbClr val="000000"/>
              </a:solidFill>
              <a:uFill>
                <a:solidFill>
                  <a:srgbClr val="FFFFFF"/>
                </a:solidFill>
              </a:uFill>
              <a:latin typeface="Arial"/>
            </a:endParaRPr>
          </a:p>
        </p:txBody>
      </p:sp>
      <p:graphicFrame>
        <p:nvGraphicFramePr>
          <p:cNvPr id="105" name="Table 2"/>
          <p:cNvGraphicFramePr/>
          <p:nvPr/>
        </p:nvGraphicFramePr>
        <p:xfrm>
          <a:off x="846753" y="1721250"/>
          <a:ext cx="7431833" cy="3515130"/>
        </p:xfrm>
        <a:graphic>
          <a:graphicData uri="http://schemas.openxmlformats.org/drawingml/2006/table">
            <a:tbl>
              <a:tblPr/>
              <a:tblGrid>
                <a:gridCol w="2366800">
                  <a:extLst>
                    <a:ext uri="{9D8B030D-6E8A-4147-A177-3AD203B41FA5}">
                      <a16:colId xmlns:a16="http://schemas.microsoft.com/office/drawing/2014/main" val="20000"/>
                    </a:ext>
                  </a:extLst>
                </a:gridCol>
                <a:gridCol w="5065033">
                  <a:extLst>
                    <a:ext uri="{9D8B030D-6E8A-4147-A177-3AD203B41FA5}">
                      <a16:colId xmlns:a16="http://schemas.microsoft.com/office/drawing/2014/main" val="20001"/>
                    </a:ext>
                  </a:extLst>
                </a:gridCol>
              </a:tblGrid>
              <a:tr h="390420">
                <a:tc>
                  <a:txBody>
                    <a:bodyPr/>
                    <a:lstStyle/>
                    <a:p>
                      <a:r>
                        <a:rPr lang="en-US" sz="1400" b="0" strike="noStrike" spc="-1" dirty="0">
                          <a:solidFill>
                            <a:srgbClr val="000000"/>
                          </a:solidFill>
                          <a:uFill>
                            <a:solidFill>
                              <a:srgbClr val="FFFFFF"/>
                            </a:solidFill>
                          </a:uFill>
                          <a:latin typeface="Arial"/>
                        </a:rPr>
                        <a:t>GP0, GP1</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zh-TW" altLang="en-US" sz="1400" b="0" strike="noStrike" spc="-1" dirty="0">
                          <a:solidFill>
                            <a:srgbClr val="000000"/>
                          </a:solidFill>
                          <a:uFill>
                            <a:solidFill>
                              <a:srgbClr val="FFFFFF"/>
                            </a:solidFill>
                          </a:uFill>
                          <a:latin typeface="Arial"/>
                        </a:rPr>
                        <a:t>第一組</a:t>
                      </a:r>
                      <a:r>
                        <a:rPr lang="en-US" altLang="zh-TW" sz="1400" b="0" strike="noStrike" spc="-1" dirty="0">
                          <a:solidFill>
                            <a:srgbClr val="000000"/>
                          </a:solidFill>
                          <a:uFill>
                            <a:solidFill>
                              <a:srgbClr val="FFFFFF"/>
                            </a:solidFill>
                          </a:uFill>
                          <a:latin typeface="Arial"/>
                        </a:rPr>
                        <a:t>UART</a:t>
                      </a:r>
                      <a:r>
                        <a:rPr lang="zh-TW" altLang="en-US" sz="1400" b="0" strike="noStrike" spc="-1" dirty="0">
                          <a:solidFill>
                            <a:srgbClr val="000000"/>
                          </a:solidFill>
                          <a:uFill>
                            <a:solidFill>
                              <a:srgbClr val="FFFFFF"/>
                            </a:solidFill>
                          </a:uFill>
                          <a:latin typeface="Arial"/>
                        </a:rPr>
                        <a:t>的 </a:t>
                      </a:r>
                      <a:r>
                        <a:rPr lang="en-US" altLang="zh-TW" sz="1400" b="0" strike="noStrike" spc="-1" dirty="0">
                          <a:solidFill>
                            <a:srgbClr val="000000"/>
                          </a:solidFill>
                          <a:uFill>
                            <a:solidFill>
                              <a:srgbClr val="FFFFFF"/>
                            </a:solidFill>
                          </a:uFill>
                          <a:latin typeface="Arial"/>
                        </a:rPr>
                        <a:t>TX, RX</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r h="390420">
                <a:tc>
                  <a:txBody>
                    <a:bodyPr/>
                    <a:lstStyle/>
                    <a:p>
                      <a:r>
                        <a:rPr lang="en-US" sz="1400" b="0" strike="noStrike" spc="-1" dirty="0">
                          <a:solidFill>
                            <a:srgbClr val="000000"/>
                          </a:solidFill>
                          <a:uFill>
                            <a:solidFill>
                              <a:srgbClr val="FFFFFF"/>
                            </a:solidFill>
                          </a:uFill>
                          <a:latin typeface="Arial"/>
                        </a:rPr>
                        <a:t>GP2, GP3, GP4</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400" b="0" strike="noStrike" spc="-1" dirty="0">
                          <a:solidFill>
                            <a:srgbClr val="000000"/>
                          </a:solidFill>
                          <a:uFill>
                            <a:solidFill>
                              <a:srgbClr val="FFFFFF"/>
                            </a:solidFill>
                          </a:uFill>
                          <a:latin typeface="Arial"/>
                        </a:rPr>
                        <a:t>開放式</a:t>
                      </a:r>
                      <a:r>
                        <a:rPr lang="en-US" altLang="zh-TW" sz="1400" b="0" strike="noStrike" spc="-1" dirty="0">
                          <a:solidFill>
                            <a:srgbClr val="000000"/>
                          </a:solidFill>
                          <a:uFill>
                            <a:solidFill>
                              <a:srgbClr val="FFFFFF"/>
                            </a:solidFill>
                          </a:uFill>
                          <a:latin typeface="Arial"/>
                        </a:rPr>
                        <a:t>GPIO,</a:t>
                      </a:r>
                      <a:r>
                        <a:rPr lang="en-US" sz="1400" b="0" strike="noStrike" spc="-1" dirty="0">
                          <a:solidFill>
                            <a:srgbClr val="000000"/>
                          </a:solidFill>
                          <a:uFill>
                            <a:solidFill>
                              <a:srgbClr val="FFFFFF"/>
                            </a:solidFill>
                          </a:uFill>
                          <a:latin typeface="Arial"/>
                        </a:rPr>
                        <a:t> </a:t>
                      </a:r>
                      <a:r>
                        <a:rPr lang="en-US" sz="1400" b="0" strike="noStrike" spc="-1" dirty="0" err="1">
                          <a:solidFill>
                            <a:srgbClr val="000000"/>
                          </a:solidFill>
                          <a:uFill>
                            <a:solidFill>
                              <a:srgbClr val="FFFFFF"/>
                            </a:solidFill>
                          </a:uFill>
                          <a:latin typeface="Arial"/>
                        </a:rPr>
                        <a:t>可做</a:t>
                      </a:r>
                      <a:r>
                        <a:rPr lang="zh-TW" altLang="en-US" sz="1400" b="0" strike="noStrike" spc="-1" dirty="0">
                          <a:solidFill>
                            <a:srgbClr val="000000"/>
                          </a:solidFill>
                          <a:uFill>
                            <a:solidFill>
                              <a:srgbClr val="FFFFFF"/>
                            </a:solidFill>
                          </a:uFill>
                          <a:latin typeface="Arial"/>
                        </a:rPr>
                        <a:t>數位輸入輸出、</a:t>
                      </a:r>
                      <a:r>
                        <a:rPr lang="en-US" altLang="zh-TW" sz="1400" b="0" strike="noStrike" spc="-1" dirty="0" err="1">
                          <a:solidFill>
                            <a:srgbClr val="000000"/>
                          </a:solidFill>
                          <a:uFill>
                            <a:solidFill>
                              <a:srgbClr val="FFFFFF"/>
                            </a:solidFill>
                          </a:uFill>
                          <a:latin typeface="Arial"/>
                        </a:rPr>
                        <a:t>PWM</a:t>
                      </a:r>
                      <a:r>
                        <a:rPr lang="en-US" sz="1400" b="0" strike="noStrike" spc="-1" dirty="0" err="1">
                          <a:solidFill>
                            <a:srgbClr val="000000"/>
                          </a:solidFill>
                          <a:uFill>
                            <a:solidFill>
                              <a:srgbClr val="FFFFFF"/>
                            </a:solidFill>
                          </a:uFill>
                          <a:latin typeface="Arial"/>
                        </a:rPr>
                        <a:t>類比輸出使用</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390420">
                <a:tc>
                  <a:txBody>
                    <a:bodyPr/>
                    <a:lstStyle/>
                    <a:p>
                      <a:r>
                        <a:rPr lang="en-US" sz="1400" b="0" strike="noStrike" spc="-1" dirty="0">
                          <a:solidFill>
                            <a:srgbClr val="000000"/>
                          </a:solidFill>
                          <a:uFill>
                            <a:solidFill>
                              <a:srgbClr val="FFFFFF"/>
                            </a:solidFill>
                          </a:uFill>
                          <a:latin typeface="Arial"/>
                        </a:rPr>
                        <a:t>ADC0, ADC1, ADC2</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400" b="0" strike="noStrike" spc="-1" dirty="0">
                          <a:solidFill>
                            <a:srgbClr val="000000"/>
                          </a:solidFill>
                          <a:uFill>
                            <a:solidFill>
                              <a:srgbClr val="FFFFFF"/>
                            </a:solidFill>
                          </a:uFill>
                          <a:latin typeface="Arial"/>
                        </a:rPr>
                        <a:t>開放式</a:t>
                      </a:r>
                      <a:r>
                        <a:rPr lang="en-US" sz="1400" b="0" strike="noStrike" spc="-1" dirty="0" err="1">
                          <a:solidFill>
                            <a:srgbClr val="000000"/>
                          </a:solidFill>
                          <a:uFill>
                            <a:solidFill>
                              <a:srgbClr val="FFFFFF"/>
                            </a:solidFill>
                          </a:uFill>
                          <a:latin typeface="Arial"/>
                        </a:rPr>
                        <a:t>類比輸入</a:t>
                      </a:r>
                      <a:r>
                        <a:rPr lang="en-US"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也可當數位輸入及輸出。對映</a:t>
                      </a:r>
                      <a:r>
                        <a:rPr lang="en-US" altLang="zh-TW" sz="1400" b="0" strike="noStrike" spc="-1" dirty="0">
                          <a:solidFill>
                            <a:srgbClr val="000000"/>
                          </a:solidFill>
                          <a:uFill>
                            <a:solidFill>
                              <a:srgbClr val="FFFFFF"/>
                            </a:solidFill>
                          </a:uFill>
                          <a:latin typeface="Arial"/>
                        </a:rPr>
                        <a:t>GP26,27,28</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390420">
                <a:tc>
                  <a:txBody>
                    <a:bodyPr/>
                    <a:lstStyle/>
                    <a:p>
                      <a:r>
                        <a:rPr lang="en-US" sz="1400" b="0" strike="noStrike" spc="-1" dirty="0">
                          <a:solidFill>
                            <a:srgbClr val="000000"/>
                          </a:solidFill>
                          <a:uFill>
                            <a:solidFill>
                              <a:srgbClr val="FFFFFF"/>
                            </a:solidFill>
                          </a:uFill>
                          <a:latin typeface="Arial"/>
                        </a:rPr>
                        <a:t>SCL, SDA</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en-US" sz="1400" b="0" strike="noStrike" spc="-1" dirty="0">
                          <a:solidFill>
                            <a:srgbClr val="000000"/>
                          </a:solidFill>
                          <a:uFill>
                            <a:solidFill>
                              <a:srgbClr val="FFFFFF"/>
                            </a:solidFill>
                          </a:uFill>
                          <a:latin typeface="Arial"/>
                        </a:rPr>
                        <a:t>I2C</a:t>
                      </a:r>
                      <a:r>
                        <a:rPr lang="zh-TW" altLang="en-US" sz="1400" b="0" strike="noStrike" spc="-1" dirty="0">
                          <a:solidFill>
                            <a:srgbClr val="000000"/>
                          </a:solidFill>
                          <a:uFill>
                            <a:solidFill>
                              <a:srgbClr val="FFFFFF"/>
                            </a:solidFill>
                          </a:uFill>
                          <a:latin typeface="Arial"/>
                        </a:rPr>
                        <a:t>通訊介面</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GP21, 20</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390420">
                <a:tc>
                  <a:txBody>
                    <a:bodyPr/>
                    <a:lstStyle/>
                    <a:p>
                      <a:r>
                        <a:rPr lang="en-US" sz="1400" b="0" strike="noStrike" spc="-1" dirty="0">
                          <a:solidFill>
                            <a:srgbClr val="000000"/>
                          </a:solidFill>
                          <a:uFill>
                            <a:solidFill>
                              <a:srgbClr val="FFFFFF"/>
                            </a:solidFill>
                          </a:uFill>
                          <a:latin typeface="Arial"/>
                        </a:rPr>
                        <a:t>SCLK, MOSI, MISO, CS</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en-US" sz="1400" b="0" strike="noStrike" spc="-1" dirty="0">
                          <a:solidFill>
                            <a:srgbClr val="000000"/>
                          </a:solidFill>
                          <a:uFill>
                            <a:solidFill>
                              <a:srgbClr val="FFFFFF"/>
                            </a:solidFill>
                          </a:uFill>
                          <a:latin typeface="Arial"/>
                        </a:rPr>
                        <a:t>SPI</a:t>
                      </a:r>
                      <a:r>
                        <a:rPr lang="zh-TW" altLang="en-US" sz="1400" b="0" strike="noStrike" spc="-1" dirty="0">
                          <a:solidFill>
                            <a:srgbClr val="000000"/>
                          </a:solidFill>
                          <a:uFill>
                            <a:solidFill>
                              <a:srgbClr val="FFFFFF"/>
                            </a:solidFill>
                          </a:uFill>
                          <a:latin typeface="Arial"/>
                        </a:rPr>
                        <a:t>通訊介面</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GP18, 19, 16, 17</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4"/>
                  </a:ext>
                </a:extLst>
              </a:tr>
              <a:tr h="390420">
                <a:tc>
                  <a:txBody>
                    <a:bodyPr/>
                    <a:lstStyle/>
                    <a:p>
                      <a:r>
                        <a:rPr lang="en-US" sz="1400" b="0" strike="noStrike" spc="-1" dirty="0">
                          <a:solidFill>
                            <a:srgbClr val="000000"/>
                          </a:solidFill>
                          <a:uFill>
                            <a:solidFill>
                              <a:srgbClr val="FFFFFF"/>
                            </a:solidFill>
                          </a:uFill>
                          <a:latin typeface="Arial"/>
                        </a:rPr>
                        <a:t>M1_A, M1_B, M2_A, M2_B</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400" b="0" strike="noStrike" spc="-1" dirty="0">
                          <a:solidFill>
                            <a:srgbClr val="000000"/>
                          </a:solidFill>
                          <a:uFill>
                            <a:solidFill>
                              <a:srgbClr val="FFFFFF"/>
                            </a:solidFill>
                          </a:uFill>
                          <a:latin typeface="Arial"/>
                        </a:rPr>
                        <a:t>電機接口</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GP9, 8, 11, 10</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5"/>
                  </a:ext>
                </a:extLst>
              </a:tr>
              <a:tr h="390420">
                <a:tc>
                  <a:txBody>
                    <a:bodyPr/>
                    <a:lstStyle/>
                    <a:p>
                      <a:r>
                        <a:rPr lang="en-US" sz="1400" b="0" strike="noStrike" spc="-1" dirty="0">
                          <a:solidFill>
                            <a:srgbClr val="000000"/>
                          </a:solidFill>
                          <a:uFill>
                            <a:solidFill>
                              <a:srgbClr val="FFFFFF"/>
                            </a:solidFill>
                          </a:uFill>
                          <a:latin typeface="Arial"/>
                        </a:rPr>
                        <a:t>SERVO1, SERVO2</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400" b="0" strike="noStrike" spc="-1" dirty="0">
                          <a:solidFill>
                            <a:srgbClr val="000000"/>
                          </a:solidFill>
                          <a:uFill>
                            <a:solidFill>
                              <a:srgbClr val="FFFFFF"/>
                            </a:solidFill>
                          </a:uFill>
                          <a:latin typeface="Arial"/>
                        </a:rPr>
                        <a:t>舵機接口</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GP6, 7</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6"/>
                  </a:ext>
                </a:extLst>
              </a:tr>
              <a:tr h="390420">
                <a:tc>
                  <a:txBody>
                    <a:bodyPr/>
                    <a:lstStyle/>
                    <a:p>
                      <a:r>
                        <a:rPr lang="en-US" sz="1400" b="0" strike="noStrike" spc="-1" dirty="0">
                          <a:solidFill>
                            <a:srgbClr val="000000"/>
                          </a:solidFill>
                          <a:uFill>
                            <a:solidFill>
                              <a:srgbClr val="FFFFFF"/>
                            </a:solidFill>
                          </a:uFill>
                          <a:latin typeface="Arial"/>
                        </a:rPr>
                        <a:t>BUZZER</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400" b="0" strike="noStrike" spc="-1" dirty="0">
                          <a:solidFill>
                            <a:srgbClr val="000000"/>
                          </a:solidFill>
                          <a:uFill>
                            <a:solidFill>
                              <a:srgbClr val="FFFFFF"/>
                            </a:solidFill>
                          </a:uFill>
                          <a:latin typeface="Arial"/>
                        </a:rPr>
                        <a:t>蜂鳴器</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GP22</a:t>
                      </a:r>
                      <a:r>
                        <a:rPr lang="en-US" sz="1400" b="0" strike="noStrike" spc="-1" dirty="0">
                          <a:solidFill>
                            <a:srgbClr val="000000"/>
                          </a:solidFill>
                          <a:uFill>
                            <a:solidFill>
                              <a:srgbClr val="FFFFFF"/>
                            </a:solidFill>
                          </a:uFill>
                          <a:latin typeface="Arial"/>
                        </a:rPr>
                        <a:t> </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7"/>
                  </a:ext>
                </a:extLst>
              </a:tr>
              <a:tr h="391770">
                <a:tc>
                  <a:txBody>
                    <a:bodyPr/>
                    <a:lstStyle/>
                    <a:p>
                      <a:r>
                        <a:rPr lang="en-US" sz="1400" b="0" strike="noStrike" spc="-1" dirty="0">
                          <a:solidFill>
                            <a:srgbClr val="000000"/>
                          </a:solidFill>
                          <a:uFill>
                            <a:solidFill>
                              <a:srgbClr val="FFFFFF"/>
                            </a:solidFill>
                          </a:uFill>
                          <a:latin typeface="Arial"/>
                        </a:rPr>
                        <a:t>SDCARD </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400" b="0" strike="noStrike" spc="-1" dirty="0">
                          <a:solidFill>
                            <a:srgbClr val="000000"/>
                          </a:solidFill>
                          <a:uFill>
                            <a:solidFill>
                              <a:srgbClr val="FFFFFF"/>
                            </a:solidFill>
                          </a:uFill>
                          <a:latin typeface="Arial"/>
                        </a:rPr>
                        <a:t>內建</a:t>
                      </a:r>
                      <a:r>
                        <a:rPr lang="en-US" altLang="zh-TW" sz="1400" b="0" strike="noStrike" spc="-1" dirty="0">
                          <a:solidFill>
                            <a:srgbClr val="000000"/>
                          </a:solidFill>
                          <a:uFill>
                            <a:solidFill>
                              <a:srgbClr val="FFFFFF"/>
                            </a:solidFill>
                          </a:uFill>
                          <a:latin typeface="Arial"/>
                        </a:rPr>
                        <a:t>TF</a:t>
                      </a:r>
                      <a:r>
                        <a:rPr lang="zh-TW" altLang="en-US" sz="1400" b="0" strike="noStrike" spc="-1" dirty="0">
                          <a:solidFill>
                            <a:srgbClr val="000000"/>
                          </a:solidFill>
                          <a:uFill>
                            <a:solidFill>
                              <a:srgbClr val="FFFFFF"/>
                            </a:solidFill>
                          </a:uFill>
                          <a:latin typeface="Arial"/>
                        </a:rPr>
                        <a:t>卡腳位</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GP5</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8"/>
                  </a:ext>
                </a:extLst>
              </a:tr>
            </a:tbl>
          </a:graphicData>
        </a:graphic>
      </p:graphicFrame>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CustomShape 1"/>
          <p:cNvSpPr/>
          <p:nvPr/>
        </p:nvSpPr>
        <p:spPr>
          <a:xfrm>
            <a:off x="62892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sz="3600" spc="-1" dirty="0">
                <a:solidFill>
                  <a:srgbClr val="000000"/>
                </a:solidFill>
                <a:uFill>
                  <a:solidFill>
                    <a:srgbClr val="FFFFFF"/>
                  </a:solidFill>
                </a:uFill>
                <a:latin typeface="Adobe 繁黑體 Std B"/>
                <a:ea typeface="Adobe 繁黑體 Std B"/>
              </a:rPr>
              <a:t>PICO X2 </a:t>
            </a:r>
            <a:r>
              <a:rPr lang="en-US" sz="3600" spc="-1" dirty="0" err="1">
                <a:solidFill>
                  <a:srgbClr val="000000"/>
                </a:solidFill>
                <a:uFill>
                  <a:solidFill>
                    <a:srgbClr val="FFFFFF"/>
                  </a:solidFill>
                </a:uFill>
                <a:latin typeface="Adobe 繁黑體 Std B"/>
                <a:ea typeface="Adobe 繁黑體 Std B"/>
              </a:rPr>
              <a:t>腳位</a:t>
            </a:r>
            <a:r>
              <a:rPr lang="zh-TW" altLang="en-US" sz="3600" spc="-1" dirty="0">
                <a:solidFill>
                  <a:srgbClr val="000000"/>
                </a:solidFill>
                <a:uFill>
                  <a:solidFill>
                    <a:srgbClr val="FFFFFF"/>
                  </a:solidFill>
                </a:uFill>
                <a:latin typeface="Adobe 繁黑體 Std B"/>
                <a:ea typeface="Adobe 繁黑體 Std B"/>
              </a:rPr>
              <a:t>名稱及定義</a:t>
            </a:r>
            <a:endParaRPr lang="en-US" sz="3600" spc="-1" dirty="0">
              <a:solidFill>
                <a:srgbClr val="000000"/>
              </a:solidFill>
              <a:uFill>
                <a:solidFill>
                  <a:srgbClr val="FFFFFF"/>
                </a:solidFill>
              </a:uFill>
              <a:latin typeface="Arial"/>
            </a:endParaRPr>
          </a:p>
        </p:txBody>
      </p:sp>
      <p:graphicFrame>
        <p:nvGraphicFramePr>
          <p:cNvPr id="105" name="Table 2"/>
          <p:cNvGraphicFramePr/>
          <p:nvPr/>
        </p:nvGraphicFramePr>
        <p:xfrm>
          <a:off x="720790" y="1721249"/>
          <a:ext cx="7669763" cy="2760946"/>
        </p:xfrm>
        <a:graphic>
          <a:graphicData uri="http://schemas.openxmlformats.org/drawingml/2006/table">
            <a:tbl>
              <a:tblPr/>
              <a:tblGrid>
                <a:gridCol w="2442573">
                  <a:extLst>
                    <a:ext uri="{9D8B030D-6E8A-4147-A177-3AD203B41FA5}">
                      <a16:colId xmlns:a16="http://schemas.microsoft.com/office/drawing/2014/main" val="20000"/>
                    </a:ext>
                  </a:extLst>
                </a:gridCol>
                <a:gridCol w="5227190">
                  <a:extLst>
                    <a:ext uri="{9D8B030D-6E8A-4147-A177-3AD203B41FA5}">
                      <a16:colId xmlns:a16="http://schemas.microsoft.com/office/drawing/2014/main" val="20001"/>
                    </a:ext>
                  </a:extLst>
                </a:gridCol>
              </a:tblGrid>
              <a:tr h="573611">
                <a:tc>
                  <a:txBody>
                    <a:bodyPr/>
                    <a:lstStyle/>
                    <a:p>
                      <a:r>
                        <a:rPr lang="en-US" sz="1400" b="0" strike="noStrike" spc="-1" dirty="0">
                          <a:solidFill>
                            <a:srgbClr val="000000"/>
                          </a:solidFill>
                          <a:uFill>
                            <a:solidFill>
                              <a:srgbClr val="FFFFFF"/>
                            </a:solidFill>
                          </a:uFill>
                          <a:latin typeface="Arial"/>
                        </a:rPr>
                        <a:t>SENSOR1_TRIG, SENSOR1_ECHO</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tc>
                  <a:txBody>
                    <a:bodyPr/>
                    <a:lstStyle/>
                    <a:p>
                      <a:r>
                        <a:rPr lang="zh-TW" altLang="en-US" sz="1400" b="0" strike="noStrike" spc="-1" dirty="0">
                          <a:solidFill>
                            <a:srgbClr val="000000"/>
                          </a:solidFill>
                          <a:uFill>
                            <a:solidFill>
                              <a:srgbClr val="FFFFFF"/>
                            </a:solidFill>
                          </a:uFill>
                          <a:latin typeface="Arial"/>
                        </a:rPr>
                        <a:t>感測器接口</a:t>
                      </a:r>
                      <a:r>
                        <a:rPr lang="en-US" altLang="zh-TW" sz="1400" b="0" strike="noStrike" spc="-1" dirty="0">
                          <a:solidFill>
                            <a:srgbClr val="000000"/>
                          </a:solidFill>
                          <a:uFill>
                            <a:solidFill>
                              <a:srgbClr val="FFFFFF"/>
                            </a:solidFill>
                          </a:uFill>
                          <a:latin typeface="Arial"/>
                        </a:rPr>
                        <a:t>(1), </a:t>
                      </a:r>
                      <a:r>
                        <a:rPr lang="zh-TW" altLang="en-US" sz="1400" b="0" strike="noStrike" spc="-1" dirty="0">
                          <a:solidFill>
                            <a:srgbClr val="000000"/>
                          </a:solidFill>
                          <a:uFill>
                            <a:solidFill>
                              <a:srgbClr val="FFFFFF"/>
                            </a:solidFill>
                          </a:uFill>
                          <a:latin typeface="Arial"/>
                        </a:rPr>
                        <a:t>用於聲波測距感測器時定義</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GP12, 13</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B3B3B3"/>
                    </a:solidFill>
                  </a:tcPr>
                </a:tc>
                <a:extLst>
                  <a:ext uri="{0D108BD9-81ED-4DB2-BD59-A6C34878D82A}">
                    <a16:rowId xmlns:a16="http://schemas.microsoft.com/office/drawing/2014/main" val="10000"/>
                  </a:ext>
                </a:extLst>
              </a:tr>
              <a:tr h="573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strike="noStrike" spc="-1" dirty="0">
                          <a:solidFill>
                            <a:srgbClr val="000000"/>
                          </a:solidFill>
                          <a:uFill>
                            <a:solidFill>
                              <a:srgbClr val="FFFFFF"/>
                            </a:solidFill>
                          </a:uFill>
                          <a:latin typeface="+mn-lt"/>
                        </a:rPr>
                        <a:t>SENSOR2_TRIG, SENSOR2_ECHO</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r>
                        <a:rPr lang="zh-TW" altLang="en-US" sz="1400" b="0" strike="noStrike" spc="-1" dirty="0">
                          <a:solidFill>
                            <a:srgbClr val="000000"/>
                          </a:solidFill>
                          <a:uFill>
                            <a:solidFill>
                              <a:srgbClr val="FFFFFF"/>
                            </a:solidFill>
                          </a:uFill>
                          <a:latin typeface="+mn-lt"/>
                        </a:rPr>
                        <a:t>感測器接口</a:t>
                      </a:r>
                      <a:r>
                        <a:rPr lang="en-US" altLang="zh-TW" sz="1400" b="0" strike="noStrike" spc="-1" dirty="0">
                          <a:solidFill>
                            <a:srgbClr val="000000"/>
                          </a:solidFill>
                          <a:uFill>
                            <a:solidFill>
                              <a:srgbClr val="FFFFFF"/>
                            </a:solidFill>
                          </a:uFill>
                          <a:latin typeface="+mn-lt"/>
                        </a:rPr>
                        <a:t>(2), </a:t>
                      </a:r>
                      <a:r>
                        <a:rPr lang="zh-TW" altLang="en-US" sz="1400" b="0" strike="noStrike" spc="-1" dirty="0">
                          <a:solidFill>
                            <a:srgbClr val="000000"/>
                          </a:solidFill>
                          <a:uFill>
                            <a:solidFill>
                              <a:srgbClr val="FFFFFF"/>
                            </a:solidFill>
                          </a:uFill>
                          <a:latin typeface="+mn-lt"/>
                        </a:rPr>
                        <a:t>用於聲波測距感測器時定義</a:t>
                      </a:r>
                      <a:r>
                        <a:rPr lang="en-US" altLang="zh-TW" sz="1400" b="0" strike="noStrike" spc="-1" dirty="0">
                          <a:solidFill>
                            <a:srgbClr val="000000"/>
                          </a:solidFill>
                          <a:uFill>
                            <a:solidFill>
                              <a:srgbClr val="FFFFFF"/>
                            </a:solidFill>
                          </a:uFill>
                          <a:latin typeface="+mn-lt"/>
                        </a:rPr>
                        <a:t>, </a:t>
                      </a:r>
                      <a:r>
                        <a:rPr lang="zh-TW" altLang="en-US" sz="1400" b="0" strike="noStrike" spc="-1" dirty="0">
                          <a:solidFill>
                            <a:srgbClr val="000000"/>
                          </a:solidFill>
                          <a:uFill>
                            <a:solidFill>
                              <a:srgbClr val="FFFFFF"/>
                            </a:solidFill>
                          </a:uFill>
                          <a:latin typeface="+mn-lt"/>
                        </a:rPr>
                        <a:t>對映</a:t>
                      </a:r>
                      <a:r>
                        <a:rPr lang="en-US" altLang="zh-TW" sz="1400" b="0" strike="noStrike" spc="-1" dirty="0">
                          <a:solidFill>
                            <a:srgbClr val="000000"/>
                          </a:solidFill>
                          <a:uFill>
                            <a:solidFill>
                              <a:srgbClr val="FFFFFF"/>
                            </a:solidFill>
                          </a:uFill>
                          <a:latin typeface="+mn-lt"/>
                        </a:rPr>
                        <a:t>GP14, 15</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1"/>
                  </a:ext>
                </a:extLst>
              </a:tr>
              <a:tr h="573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strike="noStrike" spc="-1" dirty="0">
                          <a:solidFill>
                            <a:srgbClr val="000000"/>
                          </a:solidFill>
                          <a:uFill>
                            <a:solidFill>
                              <a:srgbClr val="FFFFFF"/>
                            </a:solidFill>
                          </a:uFill>
                          <a:latin typeface="+mn-lt"/>
                        </a:rPr>
                        <a:t>SENSOR1_RIGHT, SENSOR1_LEFT</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tc>
                  <a:txBody>
                    <a:bodyPr/>
                    <a:lstStyle/>
                    <a:p>
                      <a:r>
                        <a:rPr lang="zh-TW" altLang="en-US" sz="1400" b="0" strike="noStrike" spc="-1" dirty="0">
                          <a:solidFill>
                            <a:srgbClr val="000000"/>
                          </a:solidFill>
                          <a:uFill>
                            <a:solidFill>
                              <a:srgbClr val="FFFFFF"/>
                            </a:solidFill>
                          </a:uFill>
                          <a:latin typeface="+mn-lt"/>
                        </a:rPr>
                        <a:t>感測器接口</a:t>
                      </a:r>
                      <a:r>
                        <a:rPr lang="en-US" altLang="zh-TW" sz="1400" b="0" strike="noStrike" spc="-1" dirty="0">
                          <a:solidFill>
                            <a:srgbClr val="000000"/>
                          </a:solidFill>
                          <a:uFill>
                            <a:solidFill>
                              <a:srgbClr val="FFFFFF"/>
                            </a:solidFill>
                          </a:uFill>
                          <a:latin typeface="+mn-lt"/>
                        </a:rPr>
                        <a:t>(1), </a:t>
                      </a:r>
                      <a:r>
                        <a:rPr lang="zh-TW" altLang="en-US" sz="1400" b="0" strike="noStrike" spc="-1" dirty="0">
                          <a:solidFill>
                            <a:srgbClr val="000000"/>
                          </a:solidFill>
                          <a:uFill>
                            <a:solidFill>
                              <a:srgbClr val="FFFFFF"/>
                            </a:solidFill>
                          </a:uFill>
                          <a:latin typeface="+mn-lt"/>
                        </a:rPr>
                        <a:t>用於紅外線尋線感測器時定義</a:t>
                      </a:r>
                      <a:r>
                        <a:rPr lang="en-US" altLang="zh-TW" sz="1400" b="0" strike="noStrike" spc="-1" dirty="0">
                          <a:solidFill>
                            <a:srgbClr val="000000"/>
                          </a:solidFill>
                          <a:uFill>
                            <a:solidFill>
                              <a:srgbClr val="FFFFFF"/>
                            </a:solidFill>
                          </a:uFill>
                          <a:latin typeface="+mn-lt"/>
                        </a:rPr>
                        <a:t>, </a:t>
                      </a:r>
                      <a:r>
                        <a:rPr lang="zh-TW" altLang="en-US" sz="1400" b="0" strike="noStrike" spc="-1" dirty="0">
                          <a:solidFill>
                            <a:srgbClr val="000000"/>
                          </a:solidFill>
                          <a:uFill>
                            <a:solidFill>
                              <a:srgbClr val="FFFFFF"/>
                            </a:solidFill>
                          </a:uFill>
                          <a:latin typeface="+mn-lt"/>
                        </a:rPr>
                        <a:t>對映</a:t>
                      </a:r>
                      <a:r>
                        <a:rPr lang="en-US" altLang="zh-TW" sz="1400" b="0" strike="noStrike" spc="-1" dirty="0">
                          <a:solidFill>
                            <a:srgbClr val="000000"/>
                          </a:solidFill>
                          <a:uFill>
                            <a:solidFill>
                              <a:srgbClr val="FFFFFF"/>
                            </a:solidFill>
                          </a:uFill>
                          <a:latin typeface="+mn-lt"/>
                        </a:rPr>
                        <a:t>GP12, 13</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E6E6E6"/>
                    </a:solidFill>
                  </a:tcPr>
                </a:tc>
                <a:extLst>
                  <a:ext uri="{0D108BD9-81ED-4DB2-BD59-A6C34878D82A}">
                    <a16:rowId xmlns:a16="http://schemas.microsoft.com/office/drawing/2014/main" val="10002"/>
                  </a:ext>
                </a:extLst>
              </a:tr>
              <a:tr h="5736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400" b="0" strike="noStrike" spc="-1" dirty="0">
                          <a:solidFill>
                            <a:srgbClr val="000000"/>
                          </a:solidFill>
                          <a:uFill>
                            <a:solidFill>
                              <a:srgbClr val="FFFFFF"/>
                            </a:solidFill>
                          </a:uFill>
                          <a:latin typeface="+mn-lt"/>
                        </a:rPr>
                        <a:t>SENSOR2_RIGHT, SENSOR2_LEFT</a:t>
                      </a: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400" b="0" strike="noStrike" spc="-1" dirty="0">
                          <a:solidFill>
                            <a:srgbClr val="000000"/>
                          </a:solidFill>
                          <a:uFill>
                            <a:solidFill>
                              <a:srgbClr val="FFFFFF"/>
                            </a:solidFill>
                          </a:uFill>
                          <a:latin typeface="+mn-lt"/>
                        </a:rPr>
                        <a:t>感測器接口</a:t>
                      </a:r>
                      <a:r>
                        <a:rPr lang="en-US" altLang="zh-TW" sz="1400" b="0" strike="noStrike" spc="-1" dirty="0">
                          <a:solidFill>
                            <a:srgbClr val="000000"/>
                          </a:solidFill>
                          <a:uFill>
                            <a:solidFill>
                              <a:srgbClr val="FFFFFF"/>
                            </a:solidFill>
                          </a:uFill>
                          <a:latin typeface="+mn-lt"/>
                        </a:rPr>
                        <a:t>(2), </a:t>
                      </a:r>
                      <a:r>
                        <a:rPr lang="zh-TW" altLang="en-US" sz="1400" b="0" strike="noStrike" spc="-1" dirty="0">
                          <a:solidFill>
                            <a:srgbClr val="000000"/>
                          </a:solidFill>
                          <a:uFill>
                            <a:solidFill>
                              <a:srgbClr val="FFFFFF"/>
                            </a:solidFill>
                          </a:uFill>
                          <a:latin typeface="+mn-lt"/>
                        </a:rPr>
                        <a:t>用於紅外線尋線感測器時定義</a:t>
                      </a:r>
                      <a:r>
                        <a:rPr lang="en-US" altLang="zh-TW" sz="1400" b="0" strike="noStrike" spc="-1" dirty="0">
                          <a:solidFill>
                            <a:srgbClr val="000000"/>
                          </a:solidFill>
                          <a:uFill>
                            <a:solidFill>
                              <a:srgbClr val="FFFFFF"/>
                            </a:solidFill>
                          </a:uFill>
                          <a:latin typeface="+mn-lt"/>
                        </a:rPr>
                        <a:t>, </a:t>
                      </a:r>
                      <a:r>
                        <a:rPr lang="zh-TW" altLang="en-US" sz="1400" b="0" strike="noStrike" spc="-1" dirty="0">
                          <a:solidFill>
                            <a:srgbClr val="000000"/>
                          </a:solidFill>
                          <a:uFill>
                            <a:solidFill>
                              <a:srgbClr val="FFFFFF"/>
                            </a:solidFill>
                          </a:uFill>
                          <a:latin typeface="+mn-lt"/>
                        </a:rPr>
                        <a:t>對映</a:t>
                      </a:r>
                      <a:r>
                        <a:rPr lang="en-US" altLang="zh-TW" sz="1400" b="0" strike="noStrike" spc="-1" dirty="0">
                          <a:solidFill>
                            <a:srgbClr val="000000"/>
                          </a:solidFill>
                          <a:uFill>
                            <a:solidFill>
                              <a:srgbClr val="FFFFFF"/>
                            </a:solidFill>
                          </a:uFill>
                          <a:latin typeface="+mn-lt"/>
                        </a:rPr>
                        <a:t>GP14, 15</a:t>
                      </a:r>
                    </a:p>
                    <a:p>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a:solidFill>
                        <a:srgbClr val="FFFFFF"/>
                      </a:solidFill>
                    </a:lnB>
                    <a:solidFill>
                      <a:srgbClr val="CCCCCC"/>
                    </a:solidFill>
                  </a:tcPr>
                </a:tc>
                <a:extLst>
                  <a:ext uri="{0D108BD9-81ED-4DB2-BD59-A6C34878D82A}">
                    <a16:rowId xmlns:a16="http://schemas.microsoft.com/office/drawing/2014/main" val="10003"/>
                  </a:ext>
                </a:extLst>
              </a:tr>
              <a:tr h="466502">
                <a:tc>
                  <a:txBody>
                    <a:bodyPr/>
                    <a:lstStyle/>
                    <a:p>
                      <a:r>
                        <a:rPr lang="en-US" sz="1400" b="0" strike="noStrike" spc="-1" dirty="0">
                          <a:solidFill>
                            <a:srgbClr val="000000"/>
                          </a:solidFill>
                          <a:uFill>
                            <a:solidFill>
                              <a:srgbClr val="FFFFFF"/>
                            </a:solidFill>
                          </a:uFill>
                          <a:latin typeface="Arial"/>
                        </a:rPr>
                        <a:t>WIFI_TX, WIFI_RX</a:t>
                      </a:r>
                    </a:p>
                  </a:txBody>
                  <a:tcPr marL="67500" marR="67500" marT="34290" marB="3429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E6E6E6"/>
                    </a:solidFill>
                  </a:tcPr>
                </a:tc>
                <a:tc>
                  <a:txBody>
                    <a:bodyPr/>
                    <a:lstStyle/>
                    <a:p>
                      <a:r>
                        <a:rPr lang="zh-TW" altLang="en-US" sz="1400" b="0" strike="noStrike" spc="-1" dirty="0">
                          <a:solidFill>
                            <a:srgbClr val="000000"/>
                          </a:solidFill>
                          <a:uFill>
                            <a:solidFill>
                              <a:srgbClr val="FFFFFF"/>
                            </a:solidFill>
                          </a:uFill>
                          <a:latin typeface="Arial"/>
                        </a:rPr>
                        <a:t>無線網路攝影機接口</a:t>
                      </a:r>
                      <a:r>
                        <a:rPr lang="en-US" altLang="zh-TW" sz="1400" b="0" strike="noStrike" spc="-1" dirty="0">
                          <a:solidFill>
                            <a:srgbClr val="000000"/>
                          </a:solidFill>
                          <a:uFill>
                            <a:solidFill>
                              <a:srgbClr val="FFFFFF"/>
                            </a:solidFill>
                          </a:uFill>
                          <a:latin typeface="Arial"/>
                        </a:rPr>
                        <a:t>, </a:t>
                      </a:r>
                      <a:r>
                        <a:rPr lang="zh-TW" altLang="en-US" sz="1400" b="0" strike="noStrike" spc="-1" dirty="0">
                          <a:solidFill>
                            <a:srgbClr val="000000"/>
                          </a:solidFill>
                          <a:uFill>
                            <a:solidFill>
                              <a:srgbClr val="FFFFFF"/>
                            </a:solidFill>
                          </a:uFill>
                          <a:latin typeface="Arial"/>
                        </a:rPr>
                        <a:t>對映</a:t>
                      </a:r>
                      <a:r>
                        <a:rPr lang="en-US" altLang="zh-TW" sz="1400" b="0" strike="noStrike" spc="-1" dirty="0">
                          <a:solidFill>
                            <a:srgbClr val="000000"/>
                          </a:solidFill>
                          <a:uFill>
                            <a:solidFill>
                              <a:srgbClr val="FFFFFF"/>
                            </a:solidFill>
                          </a:uFill>
                          <a:latin typeface="Arial"/>
                        </a:rPr>
                        <a:t>GP12, 13</a:t>
                      </a:r>
                      <a:endParaRPr lang="en-US" sz="1400" b="0" strike="noStrike" spc="-1" dirty="0">
                        <a:solidFill>
                          <a:srgbClr val="000000"/>
                        </a:solidFill>
                        <a:uFill>
                          <a:solidFill>
                            <a:srgbClr val="FFFFFF"/>
                          </a:solidFill>
                        </a:uFill>
                        <a:latin typeface="Arial"/>
                      </a:endParaRPr>
                    </a:p>
                  </a:txBody>
                  <a:tcPr marL="67500" marR="67500" marT="34290" marB="34290">
                    <a:lnL w="720">
                      <a:solidFill>
                        <a:srgbClr val="FFFFFF"/>
                      </a:solidFill>
                    </a:lnL>
                    <a:lnR w="720">
                      <a:solidFill>
                        <a:srgbClr val="FFFFFF"/>
                      </a:solidFill>
                    </a:lnR>
                    <a:lnT w="720">
                      <a:solidFill>
                        <a:srgbClr val="FFFFFF"/>
                      </a:solidFill>
                    </a:lnT>
                    <a:lnB w="720" cap="flat" cmpd="sng" algn="ctr">
                      <a:solidFill>
                        <a:srgbClr val="FFFFFF"/>
                      </a:solidFill>
                      <a:prstDash val="solid"/>
                      <a:round/>
                      <a:headEnd type="none" w="med" len="med"/>
                      <a:tailEnd type="none" w="med" len="med"/>
                    </a:lnB>
                    <a:solidFill>
                      <a:srgbClr val="E6E6E6"/>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29618661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圖片 14" descr="一張含有 文字 的圖片&#10;&#10;自動產生的描述">
            <a:extLst>
              <a:ext uri="{FF2B5EF4-FFF2-40B4-BE49-F238E27FC236}">
                <a16:creationId xmlns:a16="http://schemas.microsoft.com/office/drawing/2014/main" id="{DF2D9B51-9843-4932-B389-FBCF66E19F3A}"/>
              </a:ext>
            </a:extLst>
          </p:cNvPr>
          <p:cNvPicPr/>
          <p:nvPr/>
        </p:nvPicPr>
        <p:blipFill>
          <a:blip r:embed="rId2"/>
          <a:stretch>
            <a:fillRect/>
          </a:stretch>
        </p:blipFill>
        <p:spPr>
          <a:xfrm>
            <a:off x="876968" y="2507979"/>
            <a:ext cx="2760821" cy="1285875"/>
          </a:xfrm>
          <a:prstGeom prst="rect">
            <a:avLst/>
          </a:prstGeom>
        </p:spPr>
      </p:pic>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準備工作</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107" name="CustomShape 2"/>
          <p:cNvSpPr/>
          <p:nvPr/>
        </p:nvSpPr>
        <p:spPr>
          <a:xfrm>
            <a:off x="628560" y="1313990"/>
            <a:ext cx="39093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gn="just">
              <a:lnSpc>
                <a:spcPct val="100000"/>
              </a:lnSpc>
            </a:pPr>
            <a:r>
              <a:rPr lang="zh-TW" altLang="en-US" sz="1500" spc="-1" dirty="0">
                <a:solidFill>
                  <a:srgbClr val="000000"/>
                </a:solidFill>
                <a:uFill>
                  <a:solidFill>
                    <a:srgbClr val="FFFFFF"/>
                  </a:solidFill>
                </a:uFill>
                <a:latin typeface="Adobe 仿宋 Std R"/>
                <a:ea typeface="Adobe 仿宋 Std R"/>
              </a:rPr>
              <a:t>麵包板，</a:t>
            </a:r>
            <a:r>
              <a:rPr lang="en-US" sz="1500" spc="-1" dirty="0" err="1">
                <a:solidFill>
                  <a:srgbClr val="000000"/>
                </a:solidFill>
                <a:uFill>
                  <a:solidFill>
                    <a:srgbClr val="FFFFFF"/>
                  </a:solidFill>
                </a:uFill>
                <a:latin typeface="Adobe 仿宋 Std R"/>
                <a:ea typeface="Adobe 仿宋 Std R"/>
              </a:rPr>
              <a:t>用途：模擬電路板連接線</a:t>
            </a:r>
            <a:r>
              <a:rPr lang="zh-TW" altLang="en-US" sz="1500" spc="-1" dirty="0">
                <a:solidFill>
                  <a:srgbClr val="000000"/>
                </a:solidFill>
                <a:uFill>
                  <a:solidFill>
                    <a:srgbClr val="FFFFFF"/>
                  </a:solidFill>
                </a:uFill>
                <a:latin typeface="Adobe 仿宋 Std R"/>
                <a:ea typeface="Adobe 仿宋 Std R"/>
              </a:rPr>
              <a:t>，</a:t>
            </a:r>
            <a:endParaRPr lang="en-US" altLang="zh-TW" sz="1500" spc="-1" dirty="0">
              <a:solidFill>
                <a:srgbClr val="000000"/>
              </a:solidFill>
              <a:uFill>
                <a:solidFill>
                  <a:srgbClr val="FFFFFF"/>
                </a:solidFill>
              </a:uFill>
              <a:latin typeface="Adobe 仿宋 Std R"/>
              <a:ea typeface="Adobe 仿宋 Std R"/>
            </a:endParaRPr>
          </a:p>
          <a:p>
            <a:pPr algn="just">
              <a:lnSpc>
                <a:spcPct val="100000"/>
              </a:lnSpc>
            </a:pPr>
            <a:r>
              <a:rPr lang="zh-TW" altLang="en-US" sz="1500" spc="-1" dirty="0">
                <a:solidFill>
                  <a:srgbClr val="000000"/>
                </a:solidFill>
                <a:uFill>
                  <a:solidFill>
                    <a:srgbClr val="FFFFFF"/>
                  </a:solidFill>
                </a:uFill>
                <a:latin typeface="Adobe 仿宋 Std R"/>
                <a:ea typeface="Adobe 仿宋 Std R"/>
              </a:rPr>
              <a:t>又稱：免焊萬用電路板</a:t>
            </a:r>
            <a:endParaRPr lang="en-US" sz="1500" spc="-1" dirty="0">
              <a:solidFill>
                <a:srgbClr val="000000"/>
              </a:solidFill>
              <a:uFill>
                <a:solidFill>
                  <a:srgbClr val="FFFFFF"/>
                </a:solidFill>
              </a:uFill>
              <a:latin typeface="Arial"/>
            </a:endParaRPr>
          </a:p>
        </p:txBody>
      </p:sp>
      <p:sp>
        <p:nvSpPr>
          <p:cNvPr id="5" name="文字方塊 4">
            <a:extLst>
              <a:ext uri="{FF2B5EF4-FFF2-40B4-BE49-F238E27FC236}">
                <a16:creationId xmlns:a16="http://schemas.microsoft.com/office/drawing/2014/main" id="{68DD88AA-7944-4F26-BDB5-10227489A82E}"/>
              </a:ext>
            </a:extLst>
          </p:cNvPr>
          <p:cNvSpPr txBox="1"/>
          <p:nvPr/>
        </p:nvSpPr>
        <p:spPr>
          <a:xfrm>
            <a:off x="1010878" y="2472221"/>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電源</a:t>
            </a:r>
          </a:p>
        </p:txBody>
      </p:sp>
      <p:cxnSp>
        <p:nvCxnSpPr>
          <p:cNvPr id="7" name="直線單箭頭接點 6">
            <a:extLst>
              <a:ext uri="{FF2B5EF4-FFF2-40B4-BE49-F238E27FC236}">
                <a16:creationId xmlns:a16="http://schemas.microsoft.com/office/drawing/2014/main" id="{53217271-1197-443B-9F93-249C97705123}"/>
              </a:ext>
            </a:extLst>
          </p:cNvPr>
          <p:cNvCxnSpPr/>
          <p:nvPr/>
        </p:nvCxnSpPr>
        <p:spPr>
          <a:xfrm>
            <a:off x="1113308" y="2680320"/>
            <a:ext cx="461865"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單箭頭接點 10">
            <a:extLst>
              <a:ext uri="{FF2B5EF4-FFF2-40B4-BE49-F238E27FC236}">
                <a16:creationId xmlns:a16="http://schemas.microsoft.com/office/drawing/2014/main" id="{997B0EFF-569E-4AC4-9F49-D5BB18D7F202}"/>
              </a:ext>
            </a:extLst>
          </p:cNvPr>
          <p:cNvCxnSpPr>
            <a:cxnSpLocks/>
          </p:cNvCxnSpPr>
          <p:nvPr/>
        </p:nvCxnSpPr>
        <p:spPr>
          <a:xfrm flipH="1">
            <a:off x="2868601" y="3304938"/>
            <a:ext cx="861011"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FC4A4955-4201-4FE2-B533-6C6CAC42336C}"/>
              </a:ext>
            </a:extLst>
          </p:cNvPr>
          <p:cNvSpPr txBox="1"/>
          <p:nvPr/>
        </p:nvSpPr>
        <p:spPr>
          <a:xfrm>
            <a:off x="3395415" y="3098626"/>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電路</a:t>
            </a:r>
          </a:p>
        </p:txBody>
      </p:sp>
      <p:pic>
        <p:nvPicPr>
          <p:cNvPr id="17" name="圖片 16" descr="一張含有 耳機 的圖片&#10;&#10;自動產生的描述">
            <a:extLst>
              <a:ext uri="{FF2B5EF4-FFF2-40B4-BE49-F238E27FC236}">
                <a16:creationId xmlns:a16="http://schemas.microsoft.com/office/drawing/2014/main" id="{8ADF4439-5D41-4502-87F2-80DBDA74421D}"/>
              </a:ext>
            </a:extLst>
          </p:cNvPr>
          <p:cNvPicPr/>
          <p:nvPr/>
        </p:nvPicPr>
        <p:blipFill>
          <a:blip r:embed="rId3"/>
          <a:stretch>
            <a:fillRect/>
          </a:stretch>
        </p:blipFill>
        <p:spPr>
          <a:xfrm>
            <a:off x="1820911" y="3995999"/>
            <a:ext cx="1982153" cy="1617821"/>
          </a:xfrm>
          <a:prstGeom prst="rect">
            <a:avLst/>
          </a:prstGeom>
        </p:spPr>
      </p:pic>
      <p:sp>
        <p:nvSpPr>
          <p:cNvPr id="14" name="文字方塊 13">
            <a:extLst>
              <a:ext uri="{FF2B5EF4-FFF2-40B4-BE49-F238E27FC236}">
                <a16:creationId xmlns:a16="http://schemas.microsoft.com/office/drawing/2014/main" id="{4D335EE2-9B4D-4E01-AB12-318D3C8C411A}"/>
              </a:ext>
            </a:extLst>
          </p:cNvPr>
          <p:cNvSpPr txBox="1"/>
          <p:nvPr/>
        </p:nvSpPr>
        <p:spPr>
          <a:xfrm>
            <a:off x="1721721" y="4876440"/>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跳線</a:t>
            </a:r>
          </a:p>
        </p:txBody>
      </p:sp>
      <p:pic>
        <p:nvPicPr>
          <p:cNvPr id="20" name="圖片 19" descr="一張含有 傢俱, 桌, 座位, 咖啡桌 的圖片&#10;&#10;自動產生的描述">
            <a:extLst>
              <a:ext uri="{FF2B5EF4-FFF2-40B4-BE49-F238E27FC236}">
                <a16:creationId xmlns:a16="http://schemas.microsoft.com/office/drawing/2014/main" id="{3B130231-D610-4562-888C-C43979601047}"/>
              </a:ext>
            </a:extLst>
          </p:cNvPr>
          <p:cNvPicPr/>
          <p:nvPr/>
        </p:nvPicPr>
        <p:blipFill>
          <a:blip r:embed="rId4"/>
          <a:stretch>
            <a:fillRect/>
          </a:stretch>
        </p:blipFill>
        <p:spPr>
          <a:xfrm>
            <a:off x="5683528" y="4436296"/>
            <a:ext cx="1496378" cy="1157288"/>
          </a:xfrm>
          <a:prstGeom prst="rect">
            <a:avLst/>
          </a:prstGeom>
        </p:spPr>
      </p:pic>
      <p:pic>
        <p:nvPicPr>
          <p:cNvPr id="22" name="圖片 21">
            <a:extLst>
              <a:ext uri="{FF2B5EF4-FFF2-40B4-BE49-F238E27FC236}">
                <a16:creationId xmlns:a16="http://schemas.microsoft.com/office/drawing/2014/main" id="{0F97E641-ED1C-4A29-96A9-3259BDB081B6}"/>
              </a:ext>
            </a:extLst>
          </p:cNvPr>
          <p:cNvPicPr/>
          <p:nvPr/>
        </p:nvPicPr>
        <p:blipFill>
          <a:blip r:embed="rId5"/>
          <a:stretch>
            <a:fillRect/>
          </a:stretch>
        </p:blipFill>
        <p:spPr>
          <a:xfrm rot="5400000">
            <a:off x="4210139" y="3911646"/>
            <a:ext cx="2153603" cy="646271"/>
          </a:xfrm>
          <a:prstGeom prst="rect">
            <a:avLst/>
          </a:prstGeom>
        </p:spPr>
      </p:pic>
      <p:pic>
        <p:nvPicPr>
          <p:cNvPr id="23" name="圖片 22">
            <a:extLst>
              <a:ext uri="{FF2B5EF4-FFF2-40B4-BE49-F238E27FC236}">
                <a16:creationId xmlns:a16="http://schemas.microsoft.com/office/drawing/2014/main" id="{B3B315D2-4F74-4F12-8353-9948AD3073B9}"/>
              </a:ext>
            </a:extLst>
          </p:cNvPr>
          <p:cNvPicPr/>
          <p:nvPr/>
        </p:nvPicPr>
        <p:blipFill>
          <a:blip r:embed="rId6"/>
          <a:stretch>
            <a:fillRect/>
          </a:stretch>
        </p:blipFill>
        <p:spPr>
          <a:xfrm>
            <a:off x="6879103" y="3208650"/>
            <a:ext cx="1510665" cy="1171575"/>
          </a:xfrm>
          <a:prstGeom prst="rect">
            <a:avLst/>
          </a:prstGeom>
        </p:spPr>
      </p:pic>
      <p:pic>
        <p:nvPicPr>
          <p:cNvPr id="24" name="圖片 23" descr="一張含有 文字, 美工圖案 的圖片&#10;&#10;自動產生的描述">
            <a:extLst>
              <a:ext uri="{FF2B5EF4-FFF2-40B4-BE49-F238E27FC236}">
                <a16:creationId xmlns:a16="http://schemas.microsoft.com/office/drawing/2014/main" id="{E8F92BE5-2533-459A-BD1B-BEC8D4466706}"/>
              </a:ext>
            </a:extLst>
          </p:cNvPr>
          <p:cNvPicPr/>
          <p:nvPr/>
        </p:nvPicPr>
        <p:blipFill>
          <a:blip r:embed="rId7"/>
          <a:stretch>
            <a:fillRect/>
          </a:stretch>
        </p:blipFill>
        <p:spPr>
          <a:xfrm>
            <a:off x="7316259" y="4873914"/>
            <a:ext cx="1590994" cy="434038"/>
          </a:xfrm>
          <a:prstGeom prst="rect">
            <a:avLst/>
          </a:prstGeom>
        </p:spPr>
      </p:pic>
      <p:pic>
        <p:nvPicPr>
          <p:cNvPr id="19" name="圖片 18">
            <a:extLst>
              <a:ext uri="{FF2B5EF4-FFF2-40B4-BE49-F238E27FC236}">
                <a16:creationId xmlns:a16="http://schemas.microsoft.com/office/drawing/2014/main" id="{6C221769-82AE-4DCB-B226-B2FCC926D375}"/>
              </a:ext>
            </a:extLst>
          </p:cNvPr>
          <p:cNvPicPr/>
          <p:nvPr/>
        </p:nvPicPr>
        <p:blipFill>
          <a:blip r:embed="rId8"/>
          <a:stretch>
            <a:fillRect/>
          </a:stretch>
        </p:blipFill>
        <p:spPr>
          <a:xfrm>
            <a:off x="7073304" y="1707451"/>
            <a:ext cx="1032034" cy="1407319"/>
          </a:xfrm>
          <a:prstGeom prst="rect">
            <a:avLst/>
          </a:prstGeom>
        </p:spPr>
      </p:pic>
      <p:pic>
        <p:nvPicPr>
          <p:cNvPr id="21" name="圖片 20">
            <a:extLst>
              <a:ext uri="{FF2B5EF4-FFF2-40B4-BE49-F238E27FC236}">
                <a16:creationId xmlns:a16="http://schemas.microsoft.com/office/drawing/2014/main" id="{A334AB92-B8E1-460E-9469-9CEBC3801FED}"/>
              </a:ext>
            </a:extLst>
          </p:cNvPr>
          <p:cNvPicPr/>
          <p:nvPr/>
        </p:nvPicPr>
        <p:blipFill>
          <a:blip r:embed="rId9"/>
          <a:stretch>
            <a:fillRect/>
          </a:stretch>
        </p:blipFill>
        <p:spPr>
          <a:xfrm>
            <a:off x="5054214" y="1840682"/>
            <a:ext cx="1471613" cy="1289209"/>
          </a:xfrm>
          <a:prstGeom prst="rect">
            <a:avLst/>
          </a:prstGeom>
        </p:spPr>
      </p:pic>
      <p:sp>
        <p:nvSpPr>
          <p:cNvPr id="18" name="文字方塊 17">
            <a:extLst>
              <a:ext uri="{FF2B5EF4-FFF2-40B4-BE49-F238E27FC236}">
                <a16:creationId xmlns:a16="http://schemas.microsoft.com/office/drawing/2014/main" id="{C8E6C729-4429-4020-9AEE-0EE2624EFDE8}"/>
              </a:ext>
            </a:extLst>
          </p:cNvPr>
          <p:cNvSpPr txBox="1"/>
          <p:nvPr/>
        </p:nvSpPr>
        <p:spPr>
          <a:xfrm>
            <a:off x="4427975" y="4025326"/>
            <a:ext cx="843501" cy="300082"/>
          </a:xfrm>
          <a:prstGeom prst="rect">
            <a:avLst/>
          </a:prstGeom>
          <a:noFill/>
        </p:spPr>
        <p:txBody>
          <a:bodyPr wrap="none" rtlCol="0">
            <a:spAutoFit/>
          </a:bodyPr>
          <a:lstStyle/>
          <a:p>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燈珠</a:t>
            </a:r>
          </a:p>
        </p:txBody>
      </p:sp>
      <p:sp>
        <p:nvSpPr>
          <p:cNvPr id="26" name="文字方塊 25">
            <a:extLst>
              <a:ext uri="{FF2B5EF4-FFF2-40B4-BE49-F238E27FC236}">
                <a16:creationId xmlns:a16="http://schemas.microsoft.com/office/drawing/2014/main" id="{6E82A3E4-C65D-42EE-889D-5631E363C2D7}"/>
              </a:ext>
            </a:extLst>
          </p:cNvPr>
          <p:cNvSpPr txBox="1"/>
          <p:nvPr/>
        </p:nvSpPr>
        <p:spPr>
          <a:xfrm>
            <a:off x="5070079" y="1701615"/>
            <a:ext cx="1050288"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人體感測器</a:t>
            </a:r>
          </a:p>
        </p:txBody>
      </p:sp>
      <p:sp>
        <p:nvSpPr>
          <p:cNvPr id="27" name="文字方塊 26">
            <a:extLst>
              <a:ext uri="{FF2B5EF4-FFF2-40B4-BE49-F238E27FC236}">
                <a16:creationId xmlns:a16="http://schemas.microsoft.com/office/drawing/2014/main" id="{2DC7D9D6-8557-42BA-B090-F3CEAF87597E}"/>
              </a:ext>
            </a:extLst>
          </p:cNvPr>
          <p:cNvSpPr txBox="1"/>
          <p:nvPr/>
        </p:nvSpPr>
        <p:spPr>
          <a:xfrm>
            <a:off x="6787166" y="1928481"/>
            <a:ext cx="704039"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電位器</a:t>
            </a:r>
          </a:p>
        </p:txBody>
      </p:sp>
      <p:sp>
        <p:nvSpPr>
          <p:cNvPr id="28" name="文字方塊 27">
            <a:extLst>
              <a:ext uri="{FF2B5EF4-FFF2-40B4-BE49-F238E27FC236}">
                <a16:creationId xmlns:a16="http://schemas.microsoft.com/office/drawing/2014/main" id="{48396793-7132-406F-9AF3-1043628C3930}"/>
              </a:ext>
            </a:extLst>
          </p:cNvPr>
          <p:cNvSpPr txBox="1"/>
          <p:nvPr/>
        </p:nvSpPr>
        <p:spPr>
          <a:xfrm>
            <a:off x="5994912" y="4318456"/>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按鈕</a:t>
            </a:r>
          </a:p>
        </p:txBody>
      </p:sp>
      <p:sp>
        <p:nvSpPr>
          <p:cNvPr id="29" name="文字方塊 28">
            <a:extLst>
              <a:ext uri="{FF2B5EF4-FFF2-40B4-BE49-F238E27FC236}">
                <a16:creationId xmlns:a16="http://schemas.microsoft.com/office/drawing/2014/main" id="{10DABF15-7391-4541-99C8-43386886230E}"/>
              </a:ext>
            </a:extLst>
          </p:cNvPr>
          <p:cNvSpPr txBox="1"/>
          <p:nvPr/>
        </p:nvSpPr>
        <p:spPr>
          <a:xfrm>
            <a:off x="6430424" y="3394543"/>
            <a:ext cx="704039"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蜂鳴器</a:t>
            </a:r>
          </a:p>
        </p:txBody>
      </p:sp>
      <p:sp>
        <p:nvSpPr>
          <p:cNvPr id="30" name="文字方塊 29">
            <a:extLst>
              <a:ext uri="{FF2B5EF4-FFF2-40B4-BE49-F238E27FC236}">
                <a16:creationId xmlns:a16="http://schemas.microsoft.com/office/drawing/2014/main" id="{A3D918F8-C0B1-4EFA-A16D-647E4BDA560C}"/>
              </a:ext>
            </a:extLst>
          </p:cNvPr>
          <p:cNvSpPr txBox="1"/>
          <p:nvPr/>
        </p:nvSpPr>
        <p:spPr>
          <a:xfrm>
            <a:off x="7857892" y="4692394"/>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電阻</a:t>
            </a:r>
          </a:p>
        </p:txBody>
      </p:sp>
    </p:spTree>
    <p:extLst>
      <p:ext uri="{BB962C8B-B14F-4D97-AF65-F5344CB8AC3E}">
        <p14:creationId xmlns:p14="http://schemas.microsoft.com/office/powerpoint/2010/main" val="36922758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1A0C51CA-73EF-4DD3-84E6-FA1E3C1B7453}"/>
              </a:ext>
            </a:extLst>
          </p:cNvPr>
          <p:cNvSpPr txBox="1"/>
          <p:nvPr/>
        </p:nvSpPr>
        <p:spPr>
          <a:xfrm>
            <a:off x="824564" y="1662001"/>
            <a:ext cx="2414297" cy="415498"/>
          </a:xfrm>
          <a:prstGeom prst="rect">
            <a:avLst/>
          </a:prstGeom>
          <a:noFill/>
        </p:spPr>
        <p:txBody>
          <a:bodyPr wrap="square" rtlCol="0">
            <a:spAutoFit/>
          </a:bodyPr>
          <a:lstStyle/>
          <a:p>
            <a:r>
              <a:rPr lang="zh-TW" altLang="en-US" sz="2100" dirty="0">
                <a:latin typeface="Adobe 黑体 Std R" panose="020B0400000000000000" pitchFamily="34" charset="-128"/>
                <a:ea typeface="Adobe 黑体 Std R" panose="020B0400000000000000" pitchFamily="34" charset="-128"/>
              </a:rPr>
              <a:t>輸入與輸出案例：</a:t>
            </a:r>
          </a:p>
        </p:txBody>
      </p:sp>
      <p:sp>
        <p:nvSpPr>
          <p:cNvPr id="5" name="文字方塊 4">
            <a:extLst>
              <a:ext uri="{FF2B5EF4-FFF2-40B4-BE49-F238E27FC236}">
                <a16:creationId xmlns:a16="http://schemas.microsoft.com/office/drawing/2014/main" id="{40AF923B-82D7-4A7A-8FA7-9047FBE01AA0}"/>
              </a:ext>
            </a:extLst>
          </p:cNvPr>
          <p:cNvSpPr txBox="1"/>
          <p:nvPr/>
        </p:nvSpPr>
        <p:spPr>
          <a:xfrm>
            <a:off x="906328" y="2036828"/>
            <a:ext cx="3281668" cy="923330"/>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數位輸出 </a:t>
            </a:r>
            <a:r>
              <a:rPr lang="en-US" altLang="zh-TW" sz="1350" dirty="0">
                <a:latin typeface="Adobe 仿宋 Std R" panose="02020400000000000000" pitchFamily="18" charset="-128"/>
                <a:ea typeface="Adobe 仿宋 Std R" panose="02020400000000000000" pitchFamily="18" charset="-128"/>
              </a:rPr>
              <a:t>–</a:t>
            </a:r>
            <a:r>
              <a:rPr lang="zh-TW" altLang="en-US" sz="1350" dirty="0">
                <a:latin typeface="Adobe 仿宋 Std R" panose="02020400000000000000" pitchFamily="18" charset="-128"/>
                <a:ea typeface="Adobe 仿宋 Std R" panose="02020400000000000000" pitchFamily="18" charset="-128"/>
              </a:rPr>
              <a:t>內建</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控制、外接</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控制</a:t>
            </a:r>
            <a:endParaRPr lang="en-US" altLang="zh-TW" sz="1350" dirty="0">
              <a:latin typeface="Adobe 仿宋 Std R" panose="02020400000000000000" pitchFamily="18" charset="-128"/>
              <a:ea typeface="Adobe 仿宋 Std R" panose="02020400000000000000" pitchFamily="18" charset="-128"/>
            </a:endParaRPr>
          </a:p>
          <a:p>
            <a:r>
              <a:rPr lang="zh-TW" altLang="en-US" sz="1350" dirty="0">
                <a:latin typeface="Adobe 仿宋 Std R" panose="02020400000000000000" pitchFamily="18" charset="-128"/>
                <a:ea typeface="Adobe 仿宋 Std R" panose="02020400000000000000" pitchFamily="18" charset="-128"/>
              </a:rPr>
              <a:t>數位輸入 </a:t>
            </a:r>
            <a:r>
              <a:rPr lang="en-US" altLang="zh-TW" sz="1350" dirty="0">
                <a:latin typeface="Adobe 仿宋 Std R" panose="02020400000000000000" pitchFamily="18" charset="-128"/>
                <a:ea typeface="Adobe 仿宋 Std R" panose="02020400000000000000" pitchFamily="18" charset="-128"/>
              </a:rPr>
              <a:t>–</a:t>
            </a:r>
            <a:r>
              <a:rPr lang="zh-TW" altLang="en-US" sz="1350" dirty="0">
                <a:latin typeface="Adobe 仿宋 Std R" panose="02020400000000000000" pitchFamily="18" charset="-128"/>
                <a:ea typeface="Adobe 仿宋 Std R" panose="02020400000000000000" pitchFamily="18" charset="-128"/>
              </a:rPr>
              <a:t>按鈕控制</a:t>
            </a:r>
            <a:endParaRPr lang="en-US" altLang="zh-TW" sz="1350" dirty="0">
              <a:latin typeface="Adobe 仿宋 Std R" panose="02020400000000000000" pitchFamily="18" charset="-128"/>
              <a:ea typeface="Adobe 仿宋 Std R" panose="02020400000000000000" pitchFamily="18" charset="-128"/>
            </a:endParaRPr>
          </a:p>
          <a:p>
            <a:r>
              <a:rPr lang="zh-TW" altLang="en-US" sz="1350" dirty="0">
                <a:latin typeface="Adobe 仿宋 Std R" panose="02020400000000000000" pitchFamily="18" charset="-128"/>
                <a:ea typeface="Adobe 仿宋 Std R" panose="02020400000000000000" pitchFamily="18" charset="-128"/>
              </a:rPr>
              <a:t>類比輸入 </a:t>
            </a:r>
            <a:r>
              <a:rPr lang="en-US" altLang="zh-TW" sz="1350" dirty="0">
                <a:latin typeface="Adobe 仿宋 Std R" panose="02020400000000000000" pitchFamily="18" charset="-128"/>
                <a:ea typeface="Adobe 仿宋 Std R" panose="02020400000000000000" pitchFamily="18" charset="-128"/>
              </a:rPr>
              <a:t>–</a:t>
            </a:r>
            <a:r>
              <a:rPr lang="zh-TW" altLang="en-US" sz="1350" dirty="0">
                <a:latin typeface="Adobe 仿宋 Std R" panose="02020400000000000000" pitchFamily="18" charset="-128"/>
                <a:ea typeface="Adobe 仿宋 Std R" panose="02020400000000000000" pitchFamily="18" charset="-128"/>
              </a:rPr>
              <a:t>電位器控制</a:t>
            </a:r>
            <a:r>
              <a:rPr lang="en-US" altLang="zh-TW" sz="1350" dirty="0">
                <a:latin typeface="Adobe 仿宋 Std R" panose="02020400000000000000" pitchFamily="18" charset="-128"/>
                <a:ea typeface="Adobe 仿宋 Std R" panose="02020400000000000000" pitchFamily="18" charset="-128"/>
              </a:rPr>
              <a:t>  </a:t>
            </a:r>
          </a:p>
          <a:p>
            <a:r>
              <a:rPr lang="zh-TW" altLang="en-US" sz="1350" dirty="0">
                <a:latin typeface="Adobe 仿宋 Std R" panose="02020400000000000000" pitchFamily="18" charset="-128"/>
                <a:ea typeface="Adobe 仿宋 Std R" panose="02020400000000000000" pitchFamily="18" charset="-128"/>
              </a:rPr>
              <a:t>類比輸出 </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漸亮與漸暗控制</a:t>
            </a:r>
          </a:p>
        </p:txBody>
      </p:sp>
      <p:sp>
        <p:nvSpPr>
          <p:cNvPr id="2" name="文字方塊 1">
            <a:extLst>
              <a:ext uri="{FF2B5EF4-FFF2-40B4-BE49-F238E27FC236}">
                <a16:creationId xmlns:a16="http://schemas.microsoft.com/office/drawing/2014/main" id="{1DF8E514-913F-417D-8770-EFE4ED913412}"/>
              </a:ext>
            </a:extLst>
          </p:cNvPr>
          <p:cNvSpPr txBox="1"/>
          <p:nvPr/>
        </p:nvSpPr>
        <p:spPr>
          <a:xfrm>
            <a:off x="518665" y="1433139"/>
            <a:ext cx="4168449" cy="300082"/>
          </a:xfrm>
          <a:prstGeom prst="rect">
            <a:avLst/>
          </a:prstGeom>
          <a:noFill/>
        </p:spPr>
        <p:txBody>
          <a:bodyPr wrap="none" rtlCol="0">
            <a:spAutoFit/>
          </a:bodyPr>
          <a:lstStyle/>
          <a:p>
            <a:pPr marL="214313" indent="-214313">
              <a:buBlip>
                <a:blip r:embed="rId2"/>
              </a:buBlip>
            </a:pPr>
            <a:r>
              <a:rPr lang="zh-TW" altLang="en-US" sz="1350" dirty="0">
                <a:latin typeface="Adobe 黑体 Std R" panose="020B0400000000000000" pitchFamily="34" charset="-128"/>
                <a:ea typeface="Adobe 黑体 Std R" panose="020B0400000000000000" pitchFamily="34" charset="-128"/>
              </a:rPr>
              <a:t>程式指令的說明請參考 </a:t>
            </a:r>
            <a:r>
              <a:rPr lang="en-US" altLang="zh-TW" sz="1350" dirty="0">
                <a:latin typeface="Adobe 黑体 Std R" panose="020B0400000000000000" pitchFamily="34" charset="-128"/>
                <a:ea typeface="Adobe 黑体 Std R" panose="020B0400000000000000" pitchFamily="34" charset="-128"/>
              </a:rPr>
              <a:t>Pico X2 </a:t>
            </a:r>
            <a:r>
              <a:rPr lang="zh-TW" altLang="en-US" sz="1350" dirty="0">
                <a:latin typeface="Adobe 黑体 Std R" panose="020B0400000000000000" pitchFamily="34" charset="-128"/>
                <a:ea typeface="Adobe 黑体 Std R" panose="020B0400000000000000" pitchFamily="34" charset="-128"/>
              </a:rPr>
              <a:t>程式設計指導手冊</a:t>
            </a:r>
          </a:p>
        </p:txBody>
      </p:sp>
      <p:grpSp>
        <p:nvGrpSpPr>
          <p:cNvPr id="57" name="群組 56">
            <a:extLst>
              <a:ext uri="{FF2B5EF4-FFF2-40B4-BE49-F238E27FC236}">
                <a16:creationId xmlns:a16="http://schemas.microsoft.com/office/drawing/2014/main" id="{A9B59907-8CC7-4024-BAE7-2166F1E270F0}"/>
              </a:ext>
            </a:extLst>
          </p:cNvPr>
          <p:cNvGrpSpPr/>
          <p:nvPr/>
        </p:nvGrpSpPr>
        <p:grpSpPr>
          <a:xfrm>
            <a:off x="6518465" y="1850261"/>
            <a:ext cx="540000" cy="2701159"/>
            <a:chOff x="8720469" y="1629000"/>
            <a:chExt cx="720000" cy="3601545"/>
          </a:xfrm>
        </p:grpSpPr>
        <p:grpSp>
          <p:nvGrpSpPr>
            <p:cNvPr id="43" name="群組 42">
              <a:extLst>
                <a:ext uri="{FF2B5EF4-FFF2-40B4-BE49-F238E27FC236}">
                  <a16:creationId xmlns:a16="http://schemas.microsoft.com/office/drawing/2014/main" id="{9042211E-B38D-4167-A451-E33C2759C816}"/>
                </a:ext>
              </a:extLst>
            </p:cNvPr>
            <p:cNvGrpSpPr/>
            <p:nvPr/>
          </p:nvGrpSpPr>
          <p:grpSpPr>
            <a:xfrm>
              <a:off x="8720469" y="1629000"/>
              <a:ext cx="720000" cy="1800000"/>
              <a:chOff x="8720469" y="1629000"/>
              <a:chExt cx="720000" cy="1800000"/>
            </a:xfrm>
          </p:grpSpPr>
          <p:grpSp>
            <p:nvGrpSpPr>
              <p:cNvPr id="36" name="群組 35">
                <a:extLst>
                  <a:ext uri="{FF2B5EF4-FFF2-40B4-BE49-F238E27FC236}">
                    <a16:creationId xmlns:a16="http://schemas.microsoft.com/office/drawing/2014/main" id="{77466B66-AC45-4556-B4DF-E6965F83D621}"/>
                  </a:ext>
                </a:extLst>
              </p:cNvPr>
              <p:cNvGrpSpPr/>
              <p:nvPr/>
            </p:nvGrpSpPr>
            <p:grpSpPr>
              <a:xfrm>
                <a:off x="8720469" y="1629000"/>
                <a:ext cx="360000" cy="1800000"/>
                <a:chOff x="8720469" y="1629000"/>
                <a:chExt cx="360000" cy="1800000"/>
              </a:xfrm>
            </p:grpSpPr>
            <p:sp>
              <p:nvSpPr>
                <p:cNvPr id="10" name="矩形 9">
                  <a:extLst>
                    <a:ext uri="{FF2B5EF4-FFF2-40B4-BE49-F238E27FC236}">
                      <a16:creationId xmlns:a16="http://schemas.microsoft.com/office/drawing/2014/main" id="{583C5BB4-A32E-402E-9DCD-F90ED55B8012}"/>
                    </a:ext>
                  </a:extLst>
                </p:cNvPr>
                <p:cNvSpPr/>
                <p:nvPr/>
              </p:nvSpPr>
              <p:spPr>
                <a:xfrm>
                  <a:off x="8720469" y="162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矩形 14">
                  <a:extLst>
                    <a:ext uri="{FF2B5EF4-FFF2-40B4-BE49-F238E27FC236}">
                      <a16:creationId xmlns:a16="http://schemas.microsoft.com/office/drawing/2014/main" id="{3E2B1C70-5640-4F7A-A088-3C34FA6F5122}"/>
                    </a:ext>
                  </a:extLst>
                </p:cNvPr>
                <p:cNvSpPr/>
                <p:nvPr/>
              </p:nvSpPr>
              <p:spPr>
                <a:xfrm>
                  <a:off x="8720469" y="198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6" name="矩形 15">
                  <a:extLst>
                    <a:ext uri="{FF2B5EF4-FFF2-40B4-BE49-F238E27FC236}">
                      <a16:creationId xmlns:a16="http://schemas.microsoft.com/office/drawing/2014/main" id="{B54C2F95-E993-4461-AFC6-1931A64824D0}"/>
                    </a:ext>
                  </a:extLst>
                </p:cNvPr>
                <p:cNvSpPr/>
                <p:nvPr/>
              </p:nvSpPr>
              <p:spPr>
                <a:xfrm>
                  <a:off x="8720469" y="234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17" name="矩形 16">
                  <a:extLst>
                    <a:ext uri="{FF2B5EF4-FFF2-40B4-BE49-F238E27FC236}">
                      <a16:creationId xmlns:a16="http://schemas.microsoft.com/office/drawing/2014/main" id="{9BCC1961-9A71-4C78-88BD-4E0B60537175}"/>
                    </a:ext>
                  </a:extLst>
                </p:cNvPr>
                <p:cNvSpPr/>
                <p:nvPr/>
              </p:nvSpPr>
              <p:spPr>
                <a:xfrm>
                  <a:off x="8720469" y="270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18" name="矩形 17">
                  <a:extLst>
                    <a:ext uri="{FF2B5EF4-FFF2-40B4-BE49-F238E27FC236}">
                      <a16:creationId xmlns:a16="http://schemas.microsoft.com/office/drawing/2014/main" id="{3BB435B8-6F50-4234-A030-8F1AC8D3B550}"/>
                    </a:ext>
                  </a:extLst>
                </p:cNvPr>
                <p:cNvSpPr/>
                <p:nvPr/>
              </p:nvSpPr>
              <p:spPr>
                <a:xfrm>
                  <a:off x="8720469" y="3069000"/>
                  <a:ext cx="360000" cy="360000"/>
                </a:xfrm>
                <a:prstGeom prst="rect">
                  <a:avLst/>
                </a:prstGeom>
                <a:solidFill>
                  <a:schemeClr val="accent6">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grpSp>
            <p:nvGrpSpPr>
              <p:cNvPr id="37" name="群組 36">
                <a:extLst>
                  <a:ext uri="{FF2B5EF4-FFF2-40B4-BE49-F238E27FC236}">
                    <a16:creationId xmlns:a16="http://schemas.microsoft.com/office/drawing/2014/main" id="{6AF560D5-A303-4DA7-BBD7-AAFEB4A10D89}"/>
                  </a:ext>
                </a:extLst>
              </p:cNvPr>
              <p:cNvGrpSpPr/>
              <p:nvPr/>
            </p:nvGrpSpPr>
            <p:grpSpPr>
              <a:xfrm>
                <a:off x="9080469" y="1629000"/>
                <a:ext cx="360000" cy="1800000"/>
                <a:chOff x="8720469" y="1629000"/>
                <a:chExt cx="360000" cy="1800000"/>
              </a:xfrm>
            </p:grpSpPr>
            <p:sp>
              <p:nvSpPr>
                <p:cNvPr id="38" name="矩形 37">
                  <a:extLst>
                    <a:ext uri="{FF2B5EF4-FFF2-40B4-BE49-F238E27FC236}">
                      <a16:creationId xmlns:a16="http://schemas.microsoft.com/office/drawing/2014/main" id="{D54F47AF-E2C8-4561-A1D4-CDD5E3A7D6D7}"/>
                    </a:ext>
                  </a:extLst>
                </p:cNvPr>
                <p:cNvSpPr/>
                <p:nvPr/>
              </p:nvSpPr>
              <p:spPr>
                <a:xfrm>
                  <a:off x="8720469" y="162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39" name="矩形 38">
                  <a:extLst>
                    <a:ext uri="{FF2B5EF4-FFF2-40B4-BE49-F238E27FC236}">
                      <a16:creationId xmlns:a16="http://schemas.microsoft.com/office/drawing/2014/main" id="{17FBD8B7-E4D5-445F-967E-0D58826F1787}"/>
                    </a:ext>
                  </a:extLst>
                </p:cNvPr>
                <p:cNvSpPr/>
                <p:nvPr/>
              </p:nvSpPr>
              <p:spPr>
                <a:xfrm>
                  <a:off x="8720469" y="1989000"/>
                  <a:ext cx="36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0" name="矩形 39">
                  <a:extLst>
                    <a:ext uri="{FF2B5EF4-FFF2-40B4-BE49-F238E27FC236}">
                      <a16:creationId xmlns:a16="http://schemas.microsoft.com/office/drawing/2014/main" id="{270D6D19-9BB0-40D6-B520-0BEBA7927746}"/>
                    </a:ext>
                  </a:extLst>
                </p:cNvPr>
                <p:cNvSpPr/>
                <p:nvPr/>
              </p:nvSpPr>
              <p:spPr>
                <a:xfrm>
                  <a:off x="8720469" y="234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1" name="矩形 40">
                  <a:extLst>
                    <a:ext uri="{FF2B5EF4-FFF2-40B4-BE49-F238E27FC236}">
                      <a16:creationId xmlns:a16="http://schemas.microsoft.com/office/drawing/2014/main" id="{61BD52C2-CD3F-46A9-BAA3-B760FBA67063}"/>
                    </a:ext>
                  </a:extLst>
                </p:cNvPr>
                <p:cNvSpPr/>
                <p:nvPr/>
              </p:nvSpPr>
              <p:spPr>
                <a:xfrm>
                  <a:off x="8720469" y="270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2" name="矩形 41">
                  <a:extLst>
                    <a:ext uri="{FF2B5EF4-FFF2-40B4-BE49-F238E27FC236}">
                      <a16:creationId xmlns:a16="http://schemas.microsoft.com/office/drawing/2014/main" id="{07590344-861E-40A2-94F4-213BA5125A2B}"/>
                    </a:ext>
                  </a:extLst>
                </p:cNvPr>
                <p:cNvSpPr/>
                <p:nvPr/>
              </p:nvSpPr>
              <p:spPr>
                <a:xfrm>
                  <a:off x="8720469" y="3069000"/>
                  <a:ext cx="360000" cy="360000"/>
                </a:xfrm>
                <a:prstGeom prst="rect">
                  <a:avLst/>
                </a:prstGeom>
                <a:solidFill>
                  <a:schemeClr val="accent3">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grpSp>
        </p:grpSp>
        <p:grpSp>
          <p:nvGrpSpPr>
            <p:cNvPr id="44" name="群組 43">
              <a:extLst>
                <a:ext uri="{FF2B5EF4-FFF2-40B4-BE49-F238E27FC236}">
                  <a16:creationId xmlns:a16="http://schemas.microsoft.com/office/drawing/2014/main" id="{38520153-B272-4DEC-8C62-0A4ECE4316DB}"/>
                </a:ext>
              </a:extLst>
            </p:cNvPr>
            <p:cNvGrpSpPr/>
            <p:nvPr/>
          </p:nvGrpSpPr>
          <p:grpSpPr>
            <a:xfrm>
              <a:off x="8720469" y="3430545"/>
              <a:ext cx="720000" cy="1800000"/>
              <a:chOff x="8720469" y="1629000"/>
              <a:chExt cx="720000" cy="1800000"/>
            </a:xfrm>
          </p:grpSpPr>
          <p:grpSp>
            <p:nvGrpSpPr>
              <p:cNvPr id="45" name="群組 44">
                <a:extLst>
                  <a:ext uri="{FF2B5EF4-FFF2-40B4-BE49-F238E27FC236}">
                    <a16:creationId xmlns:a16="http://schemas.microsoft.com/office/drawing/2014/main" id="{F6624AEB-F7B4-4036-B565-9962BE7FC167}"/>
                  </a:ext>
                </a:extLst>
              </p:cNvPr>
              <p:cNvGrpSpPr/>
              <p:nvPr/>
            </p:nvGrpSpPr>
            <p:grpSpPr>
              <a:xfrm>
                <a:off x="8720469" y="1629000"/>
                <a:ext cx="360000" cy="1800000"/>
                <a:chOff x="8720469" y="1629000"/>
                <a:chExt cx="360000" cy="1800000"/>
              </a:xfrm>
            </p:grpSpPr>
            <p:sp>
              <p:nvSpPr>
                <p:cNvPr id="52" name="矩形 51">
                  <a:extLst>
                    <a:ext uri="{FF2B5EF4-FFF2-40B4-BE49-F238E27FC236}">
                      <a16:creationId xmlns:a16="http://schemas.microsoft.com/office/drawing/2014/main" id="{9A042AA4-C3AC-40FC-B665-3422236D6EB6}"/>
                    </a:ext>
                  </a:extLst>
                </p:cNvPr>
                <p:cNvSpPr/>
                <p:nvPr/>
              </p:nvSpPr>
              <p:spPr>
                <a:xfrm>
                  <a:off x="8720469" y="162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3" name="矩形 52">
                  <a:extLst>
                    <a:ext uri="{FF2B5EF4-FFF2-40B4-BE49-F238E27FC236}">
                      <a16:creationId xmlns:a16="http://schemas.microsoft.com/office/drawing/2014/main" id="{2BE0EC9F-8A6E-4191-9254-0B3D90D4B921}"/>
                    </a:ext>
                  </a:extLst>
                </p:cNvPr>
                <p:cNvSpPr/>
                <p:nvPr/>
              </p:nvSpPr>
              <p:spPr>
                <a:xfrm>
                  <a:off x="8720469" y="198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4" name="矩形 53">
                  <a:extLst>
                    <a:ext uri="{FF2B5EF4-FFF2-40B4-BE49-F238E27FC236}">
                      <a16:creationId xmlns:a16="http://schemas.microsoft.com/office/drawing/2014/main" id="{25AA63E9-E588-472A-A158-0C3D5DE2C98F}"/>
                    </a:ext>
                  </a:extLst>
                </p:cNvPr>
                <p:cNvSpPr/>
                <p:nvPr/>
              </p:nvSpPr>
              <p:spPr>
                <a:xfrm>
                  <a:off x="8720469" y="234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5" name="矩形 54">
                  <a:extLst>
                    <a:ext uri="{FF2B5EF4-FFF2-40B4-BE49-F238E27FC236}">
                      <a16:creationId xmlns:a16="http://schemas.microsoft.com/office/drawing/2014/main" id="{9CCDEDFE-F64C-45B0-B4A3-8CBCEC6078FA}"/>
                    </a:ext>
                  </a:extLst>
                </p:cNvPr>
                <p:cNvSpPr/>
                <p:nvPr/>
              </p:nvSpPr>
              <p:spPr>
                <a:xfrm>
                  <a:off x="8720469" y="270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6" name="矩形 55">
                  <a:extLst>
                    <a:ext uri="{FF2B5EF4-FFF2-40B4-BE49-F238E27FC236}">
                      <a16:creationId xmlns:a16="http://schemas.microsoft.com/office/drawing/2014/main" id="{4397BAF1-5AD6-445D-8B73-1B6433BB8A8B}"/>
                    </a:ext>
                  </a:extLst>
                </p:cNvPr>
                <p:cNvSpPr/>
                <p:nvPr/>
              </p:nvSpPr>
              <p:spPr>
                <a:xfrm>
                  <a:off x="8720469" y="306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grpSp>
          <p:grpSp>
            <p:nvGrpSpPr>
              <p:cNvPr id="46" name="群組 45">
                <a:extLst>
                  <a:ext uri="{FF2B5EF4-FFF2-40B4-BE49-F238E27FC236}">
                    <a16:creationId xmlns:a16="http://schemas.microsoft.com/office/drawing/2014/main" id="{64DA183B-5387-4502-A191-34AAC3914319}"/>
                  </a:ext>
                </a:extLst>
              </p:cNvPr>
              <p:cNvGrpSpPr/>
              <p:nvPr/>
            </p:nvGrpSpPr>
            <p:grpSpPr>
              <a:xfrm>
                <a:off x="9080469" y="1629000"/>
                <a:ext cx="360000" cy="1800000"/>
                <a:chOff x="8720469" y="1629000"/>
                <a:chExt cx="360000" cy="1800000"/>
              </a:xfrm>
            </p:grpSpPr>
            <p:sp>
              <p:nvSpPr>
                <p:cNvPr id="47" name="矩形 46">
                  <a:extLst>
                    <a:ext uri="{FF2B5EF4-FFF2-40B4-BE49-F238E27FC236}">
                      <a16:creationId xmlns:a16="http://schemas.microsoft.com/office/drawing/2014/main" id="{5C8EE6B1-F3C3-42BB-BEC4-9ECDA90056F6}"/>
                    </a:ext>
                  </a:extLst>
                </p:cNvPr>
                <p:cNvSpPr/>
                <p:nvPr/>
              </p:nvSpPr>
              <p:spPr>
                <a:xfrm>
                  <a:off x="8720469" y="162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48" name="矩形 47">
                  <a:extLst>
                    <a:ext uri="{FF2B5EF4-FFF2-40B4-BE49-F238E27FC236}">
                      <a16:creationId xmlns:a16="http://schemas.microsoft.com/office/drawing/2014/main" id="{FDEEF492-271C-4904-9677-1603C6ADAD39}"/>
                    </a:ext>
                  </a:extLst>
                </p:cNvPr>
                <p:cNvSpPr/>
                <p:nvPr/>
              </p:nvSpPr>
              <p:spPr>
                <a:xfrm>
                  <a:off x="8720469" y="1989000"/>
                  <a:ext cx="360000" cy="360000"/>
                </a:xfrm>
                <a:prstGeom prst="rect">
                  <a:avLst/>
                </a:prstGeom>
                <a:solidFill>
                  <a:schemeClr val="accent5">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9" name="矩形 48">
                  <a:extLst>
                    <a:ext uri="{FF2B5EF4-FFF2-40B4-BE49-F238E27FC236}">
                      <a16:creationId xmlns:a16="http://schemas.microsoft.com/office/drawing/2014/main" id="{710216B3-5780-4CBF-9A2B-1D754129B7FB}"/>
                    </a:ext>
                  </a:extLst>
                </p:cNvPr>
                <p:cNvSpPr/>
                <p:nvPr/>
              </p:nvSpPr>
              <p:spPr>
                <a:xfrm>
                  <a:off x="8720469" y="234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dirty="0"/>
                </a:p>
              </p:txBody>
            </p:sp>
            <p:sp>
              <p:nvSpPr>
                <p:cNvPr id="50" name="矩形 49">
                  <a:extLst>
                    <a:ext uri="{FF2B5EF4-FFF2-40B4-BE49-F238E27FC236}">
                      <a16:creationId xmlns:a16="http://schemas.microsoft.com/office/drawing/2014/main" id="{5621EA0F-DEB7-4F9D-94FB-CA3BE80897C4}"/>
                    </a:ext>
                  </a:extLst>
                </p:cNvPr>
                <p:cNvSpPr/>
                <p:nvPr/>
              </p:nvSpPr>
              <p:spPr>
                <a:xfrm>
                  <a:off x="8720469" y="270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51" name="矩形 50">
                  <a:extLst>
                    <a:ext uri="{FF2B5EF4-FFF2-40B4-BE49-F238E27FC236}">
                      <a16:creationId xmlns:a16="http://schemas.microsoft.com/office/drawing/2014/main" id="{1FB47B9F-B3E5-457E-87DF-65A422CDD1E8}"/>
                    </a:ext>
                  </a:extLst>
                </p:cNvPr>
                <p:cNvSpPr/>
                <p:nvPr/>
              </p:nvSpPr>
              <p:spPr>
                <a:xfrm>
                  <a:off x="8720469" y="3069000"/>
                  <a:ext cx="360000" cy="360000"/>
                </a:xfrm>
                <a:prstGeom prst="rect">
                  <a:avLst/>
                </a:prstGeom>
                <a:solidFill>
                  <a:schemeClr val="accent3">
                    <a:lumMod val="7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grpSp>
        </p:grpSp>
      </p:grpSp>
      <p:sp>
        <p:nvSpPr>
          <p:cNvPr id="58" name="文字方塊 57">
            <a:extLst>
              <a:ext uri="{FF2B5EF4-FFF2-40B4-BE49-F238E27FC236}">
                <a16:creationId xmlns:a16="http://schemas.microsoft.com/office/drawing/2014/main" id="{E235D6C5-1A8E-41F1-9BAA-8C438559180F}"/>
              </a:ext>
            </a:extLst>
          </p:cNvPr>
          <p:cNvSpPr txBox="1"/>
          <p:nvPr/>
        </p:nvSpPr>
        <p:spPr>
          <a:xfrm>
            <a:off x="5651305" y="4707548"/>
            <a:ext cx="2484976" cy="415498"/>
          </a:xfrm>
          <a:prstGeom prst="rect">
            <a:avLst/>
          </a:prstGeom>
          <a:noFill/>
        </p:spPr>
        <p:txBody>
          <a:bodyPr wrap="none" rtlCol="0">
            <a:spAutoFit/>
          </a:bodyPr>
          <a:lstStyle/>
          <a:p>
            <a:r>
              <a:rPr lang="en-US" altLang="zh-TW" sz="2100" dirty="0">
                <a:latin typeface="Adobe 黑体 Std R" panose="020B0400000000000000" pitchFamily="34" charset="-128"/>
                <a:ea typeface="Adobe 黑体 Std R" panose="020B0400000000000000" pitchFamily="34" charset="-128"/>
              </a:rPr>
              <a:t>Pico X2 </a:t>
            </a:r>
            <a:r>
              <a:rPr lang="zh-TW" altLang="en-US" sz="2100" dirty="0">
                <a:latin typeface="Adobe 黑体 Std R" panose="020B0400000000000000" pitchFamily="34" charset="-128"/>
                <a:ea typeface="Adobe 黑体 Std R" panose="020B0400000000000000" pitchFamily="34" charset="-128"/>
              </a:rPr>
              <a:t>開放式腳位</a:t>
            </a:r>
          </a:p>
        </p:txBody>
      </p:sp>
      <p:sp>
        <p:nvSpPr>
          <p:cNvPr id="59" name="文字方塊 58">
            <a:extLst>
              <a:ext uri="{FF2B5EF4-FFF2-40B4-BE49-F238E27FC236}">
                <a16:creationId xmlns:a16="http://schemas.microsoft.com/office/drawing/2014/main" id="{BE9B5A69-9AFF-444A-A12A-428E3E7332A2}"/>
              </a:ext>
            </a:extLst>
          </p:cNvPr>
          <p:cNvSpPr txBox="1"/>
          <p:nvPr/>
        </p:nvSpPr>
        <p:spPr>
          <a:xfrm>
            <a:off x="6001281" y="1875138"/>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60" name="文字方塊 59">
            <a:extLst>
              <a:ext uri="{FF2B5EF4-FFF2-40B4-BE49-F238E27FC236}">
                <a16:creationId xmlns:a16="http://schemas.microsoft.com/office/drawing/2014/main" id="{970A66A6-ABE7-407E-88F6-73A8F06AF151}"/>
              </a:ext>
            </a:extLst>
          </p:cNvPr>
          <p:cNvSpPr txBox="1"/>
          <p:nvPr/>
        </p:nvSpPr>
        <p:spPr>
          <a:xfrm>
            <a:off x="6001281" y="2120647"/>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61" name="文字方塊 60">
            <a:extLst>
              <a:ext uri="{FF2B5EF4-FFF2-40B4-BE49-F238E27FC236}">
                <a16:creationId xmlns:a16="http://schemas.microsoft.com/office/drawing/2014/main" id="{F304B366-D569-4DDD-9AAD-4281969276BD}"/>
              </a:ext>
            </a:extLst>
          </p:cNvPr>
          <p:cNvSpPr txBox="1"/>
          <p:nvPr/>
        </p:nvSpPr>
        <p:spPr>
          <a:xfrm>
            <a:off x="5849316" y="2412256"/>
            <a:ext cx="646331" cy="300082"/>
          </a:xfrm>
          <a:prstGeom prst="rect">
            <a:avLst/>
          </a:prstGeom>
          <a:noFill/>
        </p:spPr>
        <p:txBody>
          <a:bodyPr wrap="none" rtlCol="0">
            <a:spAutoFit/>
          </a:bodyPr>
          <a:lstStyle/>
          <a:p>
            <a:pPr algn="r"/>
            <a:r>
              <a:rPr lang="en-US" altLang="zh-TW" sz="1350" dirty="0"/>
              <a:t>ADC0</a:t>
            </a:r>
            <a:endParaRPr lang="zh-TW" altLang="en-US" sz="1350" dirty="0"/>
          </a:p>
        </p:txBody>
      </p:sp>
      <p:sp>
        <p:nvSpPr>
          <p:cNvPr id="62" name="文字方塊 61">
            <a:extLst>
              <a:ext uri="{FF2B5EF4-FFF2-40B4-BE49-F238E27FC236}">
                <a16:creationId xmlns:a16="http://schemas.microsoft.com/office/drawing/2014/main" id="{810382AD-D600-4858-B5E6-419243B42BD4}"/>
              </a:ext>
            </a:extLst>
          </p:cNvPr>
          <p:cNvSpPr txBox="1"/>
          <p:nvPr/>
        </p:nvSpPr>
        <p:spPr>
          <a:xfrm>
            <a:off x="5849315" y="2657766"/>
            <a:ext cx="646331" cy="300082"/>
          </a:xfrm>
          <a:prstGeom prst="rect">
            <a:avLst/>
          </a:prstGeom>
          <a:noFill/>
        </p:spPr>
        <p:txBody>
          <a:bodyPr wrap="none" rtlCol="0">
            <a:spAutoFit/>
          </a:bodyPr>
          <a:lstStyle/>
          <a:p>
            <a:pPr algn="r"/>
            <a:r>
              <a:rPr lang="en-US" altLang="zh-TW" sz="1350" dirty="0"/>
              <a:t>ADC1</a:t>
            </a:r>
            <a:endParaRPr lang="zh-TW" altLang="en-US" sz="1350" dirty="0"/>
          </a:p>
        </p:txBody>
      </p:sp>
      <p:sp>
        <p:nvSpPr>
          <p:cNvPr id="63" name="文字方塊 62">
            <a:extLst>
              <a:ext uri="{FF2B5EF4-FFF2-40B4-BE49-F238E27FC236}">
                <a16:creationId xmlns:a16="http://schemas.microsoft.com/office/drawing/2014/main" id="{229A60EC-E499-4975-8C23-93C6188A066C}"/>
              </a:ext>
            </a:extLst>
          </p:cNvPr>
          <p:cNvSpPr txBox="1"/>
          <p:nvPr/>
        </p:nvSpPr>
        <p:spPr>
          <a:xfrm>
            <a:off x="5849314" y="2949375"/>
            <a:ext cx="646331" cy="300082"/>
          </a:xfrm>
          <a:prstGeom prst="rect">
            <a:avLst/>
          </a:prstGeom>
          <a:noFill/>
        </p:spPr>
        <p:txBody>
          <a:bodyPr wrap="none" rtlCol="0">
            <a:spAutoFit/>
          </a:bodyPr>
          <a:lstStyle/>
          <a:p>
            <a:pPr algn="r"/>
            <a:r>
              <a:rPr lang="en-US" altLang="zh-TW" sz="1350" dirty="0"/>
              <a:t>ADC2</a:t>
            </a:r>
            <a:endParaRPr lang="zh-TW" altLang="en-US" sz="1350" dirty="0"/>
          </a:p>
        </p:txBody>
      </p:sp>
      <p:sp>
        <p:nvSpPr>
          <p:cNvPr id="64" name="文字方塊 63">
            <a:extLst>
              <a:ext uri="{FF2B5EF4-FFF2-40B4-BE49-F238E27FC236}">
                <a16:creationId xmlns:a16="http://schemas.microsoft.com/office/drawing/2014/main" id="{F59BC742-9018-4B0A-B595-8784926C0544}"/>
              </a:ext>
            </a:extLst>
          </p:cNvPr>
          <p:cNvSpPr txBox="1"/>
          <p:nvPr/>
        </p:nvSpPr>
        <p:spPr>
          <a:xfrm>
            <a:off x="5926257" y="3205699"/>
            <a:ext cx="569388" cy="300082"/>
          </a:xfrm>
          <a:prstGeom prst="rect">
            <a:avLst/>
          </a:prstGeom>
          <a:noFill/>
        </p:spPr>
        <p:txBody>
          <a:bodyPr wrap="none" rtlCol="0">
            <a:spAutoFit/>
          </a:bodyPr>
          <a:lstStyle/>
          <a:p>
            <a:pPr algn="r"/>
            <a:r>
              <a:rPr lang="en-US" altLang="zh-TW" sz="1350" dirty="0"/>
              <a:t>GND</a:t>
            </a:r>
            <a:endParaRPr lang="zh-TW" altLang="en-US" sz="1350" dirty="0"/>
          </a:p>
        </p:txBody>
      </p:sp>
      <p:sp>
        <p:nvSpPr>
          <p:cNvPr id="65" name="文字方塊 64">
            <a:extLst>
              <a:ext uri="{FF2B5EF4-FFF2-40B4-BE49-F238E27FC236}">
                <a16:creationId xmlns:a16="http://schemas.microsoft.com/office/drawing/2014/main" id="{CE161740-E80E-44D5-A90C-24FF2D17BB9F}"/>
              </a:ext>
            </a:extLst>
          </p:cNvPr>
          <p:cNvSpPr txBox="1"/>
          <p:nvPr/>
        </p:nvSpPr>
        <p:spPr>
          <a:xfrm>
            <a:off x="6099383" y="3467920"/>
            <a:ext cx="396262" cy="300082"/>
          </a:xfrm>
          <a:prstGeom prst="rect">
            <a:avLst/>
          </a:prstGeom>
          <a:noFill/>
        </p:spPr>
        <p:txBody>
          <a:bodyPr wrap="none" rtlCol="0">
            <a:spAutoFit/>
          </a:bodyPr>
          <a:lstStyle/>
          <a:p>
            <a:pPr algn="r"/>
            <a:r>
              <a:rPr lang="en-US" altLang="zh-TW" sz="1350" dirty="0"/>
              <a:t>5V</a:t>
            </a:r>
            <a:endParaRPr lang="zh-TW" altLang="en-US" sz="1350" dirty="0"/>
          </a:p>
        </p:txBody>
      </p:sp>
      <p:sp>
        <p:nvSpPr>
          <p:cNvPr id="66" name="文字方塊 65">
            <a:extLst>
              <a:ext uri="{FF2B5EF4-FFF2-40B4-BE49-F238E27FC236}">
                <a16:creationId xmlns:a16="http://schemas.microsoft.com/office/drawing/2014/main" id="{8AE185D1-71C9-4A35-A52B-5D056C5C48AA}"/>
              </a:ext>
            </a:extLst>
          </p:cNvPr>
          <p:cNvSpPr txBox="1"/>
          <p:nvPr/>
        </p:nvSpPr>
        <p:spPr>
          <a:xfrm>
            <a:off x="5964728" y="3752691"/>
            <a:ext cx="569388" cy="300082"/>
          </a:xfrm>
          <a:prstGeom prst="rect">
            <a:avLst/>
          </a:prstGeom>
          <a:noFill/>
        </p:spPr>
        <p:txBody>
          <a:bodyPr wrap="none" rtlCol="0">
            <a:spAutoFit/>
          </a:bodyPr>
          <a:lstStyle/>
          <a:p>
            <a:pPr algn="r"/>
            <a:r>
              <a:rPr lang="en-US" altLang="zh-TW" sz="1350" dirty="0"/>
              <a:t>GND</a:t>
            </a:r>
            <a:endParaRPr lang="zh-TW" altLang="en-US" sz="1350" dirty="0"/>
          </a:p>
        </p:txBody>
      </p:sp>
      <p:sp>
        <p:nvSpPr>
          <p:cNvPr id="67" name="文字方塊 66">
            <a:extLst>
              <a:ext uri="{FF2B5EF4-FFF2-40B4-BE49-F238E27FC236}">
                <a16:creationId xmlns:a16="http://schemas.microsoft.com/office/drawing/2014/main" id="{0BF7EBD0-1A30-4D98-B4F0-F84A34FFCBDC}"/>
              </a:ext>
            </a:extLst>
          </p:cNvPr>
          <p:cNvSpPr txBox="1"/>
          <p:nvPr/>
        </p:nvSpPr>
        <p:spPr>
          <a:xfrm>
            <a:off x="6099383" y="4014911"/>
            <a:ext cx="396262" cy="300082"/>
          </a:xfrm>
          <a:prstGeom prst="rect">
            <a:avLst/>
          </a:prstGeom>
          <a:noFill/>
        </p:spPr>
        <p:txBody>
          <a:bodyPr wrap="none" rtlCol="0">
            <a:spAutoFit/>
          </a:bodyPr>
          <a:lstStyle/>
          <a:p>
            <a:pPr algn="r"/>
            <a:r>
              <a:rPr lang="en-US" altLang="zh-TW" sz="1350" dirty="0"/>
              <a:t>5V</a:t>
            </a:r>
            <a:endParaRPr lang="zh-TW" altLang="en-US" sz="1350" dirty="0"/>
          </a:p>
        </p:txBody>
      </p:sp>
      <p:sp>
        <p:nvSpPr>
          <p:cNvPr id="68" name="文字方塊 67">
            <a:extLst>
              <a:ext uri="{FF2B5EF4-FFF2-40B4-BE49-F238E27FC236}">
                <a16:creationId xmlns:a16="http://schemas.microsoft.com/office/drawing/2014/main" id="{E2ED31A5-78A7-423F-9ADF-108D13447C32}"/>
              </a:ext>
            </a:extLst>
          </p:cNvPr>
          <p:cNvSpPr txBox="1"/>
          <p:nvPr/>
        </p:nvSpPr>
        <p:spPr>
          <a:xfrm>
            <a:off x="6070528" y="4299394"/>
            <a:ext cx="425117" cy="300082"/>
          </a:xfrm>
          <a:prstGeom prst="rect">
            <a:avLst/>
          </a:prstGeom>
          <a:noFill/>
        </p:spPr>
        <p:txBody>
          <a:bodyPr wrap="none" rtlCol="0">
            <a:spAutoFit/>
          </a:bodyPr>
          <a:lstStyle/>
          <a:p>
            <a:pPr algn="r"/>
            <a:r>
              <a:rPr lang="en-US" altLang="zh-TW" sz="1350" dirty="0"/>
              <a:t>CS</a:t>
            </a:r>
            <a:endParaRPr lang="zh-TW" altLang="en-US" sz="1350" dirty="0"/>
          </a:p>
        </p:txBody>
      </p:sp>
      <p:sp>
        <p:nvSpPr>
          <p:cNvPr id="69" name="文字方塊 68">
            <a:extLst>
              <a:ext uri="{FF2B5EF4-FFF2-40B4-BE49-F238E27FC236}">
                <a16:creationId xmlns:a16="http://schemas.microsoft.com/office/drawing/2014/main" id="{32E2047C-96C5-4AF9-ACF7-3DF041243E98}"/>
              </a:ext>
            </a:extLst>
          </p:cNvPr>
          <p:cNvSpPr txBox="1"/>
          <p:nvPr/>
        </p:nvSpPr>
        <p:spPr>
          <a:xfrm>
            <a:off x="7082851" y="2397646"/>
            <a:ext cx="530915" cy="300082"/>
          </a:xfrm>
          <a:prstGeom prst="rect">
            <a:avLst/>
          </a:prstGeom>
          <a:noFill/>
        </p:spPr>
        <p:txBody>
          <a:bodyPr wrap="none" rtlCol="0">
            <a:spAutoFit/>
          </a:bodyPr>
          <a:lstStyle/>
          <a:p>
            <a:r>
              <a:rPr lang="en-US" altLang="zh-TW" sz="1350" dirty="0"/>
              <a:t>GP2</a:t>
            </a:r>
            <a:endParaRPr lang="zh-TW" altLang="en-US" sz="1350" dirty="0"/>
          </a:p>
        </p:txBody>
      </p:sp>
      <p:sp>
        <p:nvSpPr>
          <p:cNvPr id="70" name="文字方塊 69">
            <a:extLst>
              <a:ext uri="{FF2B5EF4-FFF2-40B4-BE49-F238E27FC236}">
                <a16:creationId xmlns:a16="http://schemas.microsoft.com/office/drawing/2014/main" id="{DE057F00-88C3-4D5D-B39D-D31C5A29F06F}"/>
              </a:ext>
            </a:extLst>
          </p:cNvPr>
          <p:cNvSpPr txBox="1"/>
          <p:nvPr/>
        </p:nvSpPr>
        <p:spPr>
          <a:xfrm>
            <a:off x="7082851" y="2135257"/>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71" name="文字方塊 70">
            <a:extLst>
              <a:ext uri="{FF2B5EF4-FFF2-40B4-BE49-F238E27FC236}">
                <a16:creationId xmlns:a16="http://schemas.microsoft.com/office/drawing/2014/main" id="{90FB0E50-7A14-45BF-A3B4-4B8329F9934F}"/>
              </a:ext>
            </a:extLst>
          </p:cNvPr>
          <p:cNvSpPr txBox="1"/>
          <p:nvPr/>
        </p:nvSpPr>
        <p:spPr>
          <a:xfrm>
            <a:off x="7082852" y="1872097"/>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72" name="文字方塊 71">
            <a:extLst>
              <a:ext uri="{FF2B5EF4-FFF2-40B4-BE49-F238E27FC236}">
                <a16:creationId xmlns:a16="http://schemas.microsoft.com/office/drawing/2014/main" id="{736A40B4-3360-4398-8D1D-1BFBD0871612}"/>
              </a:ext>
            </a:extLst>
          </p:cNvPr>
          <p:cNvSpPr txBox="1"/>
          <p:nvPr/>
        </p:nvSpPr>
        <p:spPr>
          <a:xfrm>
            <a:off x="7081285" y="2650009"/>
            <a:ext cx="530915" cy="300082"/>
          </a:xfrm>
          <a:prstGeom prst="rect">
            <a:avLst/>
          </a:prstGeom>
          <a:noFill/>
        </p:spPr>
        <p:txBody>
          <a:bodyPr wrap="none" rtlCol="0">
            <a:spAutoFit/>
          </a:bodyPr>
          <a:lstStyle/>
          <a:p>
            <a:r>
              <a:rPr lang="en-US" altLang="zh-TW" sz="1350" dirty="0"/>
              <a:t>GP3</a:t>
            </a:r>
            <a:endParaRPr lang="zh-TW" altLang="en-US" sz="1350" dirty="0"/>
          </a:p>
        </p:txBody>
      </p:sp>
      <p:sp>
        <p:nvSpPr>
          <p:cNvPr id="73" name="文字方塊 72">
            <a:extLst>
              <a:ext uri="{FF2B5EF4-FFF2-40B4-BE49-F238E27FC236}">
                <a16:creationId xmlns:a16="http://schemas.microsoft.com/office/drawing/2014/main" id="{EA8D53BC-E513-4654-9E1B-0D1D62514233}"/>
              </a:ext>
            </a:extLst>
          </p:cNvPr>
          <p:cNvSpPr txBox="1"/>
          <p:nvPr/>
        </p:nvSpPr>
        <p:spPr>
          <a:xfrm>
            <a:off x="7079718" y="2927920"/>
            <a:ext cx="530915" cy="300082"/>
          </a:xfrm>
          <a:prstGeom prst="rect">
            <a:avLst/>
          </a:prstGeom>
          <a:noFill/>
        </p:spPr>
        <p:txBody>
          <a:bodyPr wrap="none" rtlCol="0">
            <a:spAutoFit/>
          </a:bodyPr>
          <a:lstStyle/>
          <a:p>
            <a:r>
              <a:rPr lang="en-US" altLang="zh-TW" sz="1350" dirty="0"/>
              <a:t>GP4</a:t>
            </a:r>
            <a:endParaRPr lang="zh-TW" altLang="en-US" sz="1350" dirty="0"/>
          </a:p>
        </p:txBody>
      </p:sp>
      <p:sp>
        <p:nvSpPr>
          <p:cNvPr id="74" name="文字方塊 73">
            <a:extLst>
              <a:ext uri="{FF2B5EF4-FFF2-40B4-BE49-F238E27FC236}">
                <a16:creationId xmlns:a16="http://schemas.microsoft.com/office/drawing/2014/main" id="{2EA94416-2968-4E72-99FF-E9EB7AEEE34B}"/>
              </a:ext>
            </a:extLst>
          </p:cNvPr>
          <p:cNvSpPr txBox="1"/>
          <p:nvPr/>
        </p:nvSpPr>
        <p:spPr>
          <a:xfrm>
            <a:off x="7086090" y="3207739"/>
            <a:ext cx="540533" cy="300082"/>
          </a:xfrm>
          <a:prstGeom prst="rect">
            <a:avLst/>
          </a:prstGeom>
          <a:noFill/>
        </p:spPr>
        <p:txBody>
          <a:bodyPr wrap="none" rtlCol="0">
            <a:spAutoFit/>
          </a:bodyPr>
          <a:lstStyle/>
          <a:p>
            <a:r>
              <a:rPr lang="en-US" altLang="zh-TW" sz="1350" dirty="0"/>
              <a:t>SDA</a:t>
            </a:r>
            <a:endParaRPr lang="zh-TW" altLang="en-US" sz="1350" dirty="0"/>
          </a:p>
        </p:txBody>
      </p:sp>
      <p:sp>
        <p:nvSpPr>
          <p:cNvPr id="75" name="文字方塊 74">
            <a:extLst>
              <a:ext uri="{FF2B5EF4-FFF2-40B4-BE49-F238E27FC236}">
                <a16:creationId xmlns:a16="http://schemas.microsoft.com/office/drawing/2014/main" id="{5988EF14-9C53-46AD-A8E8-A7253D8E28EC}"/>
              </a:ext>
            </a:extLst>
          </p:cNvPr>
          <p:cNvSpPr txBox="1"/>
          <p:nvPr/>
        </p:nvSpPr>
        <p:spPr>
          <a:xfrm>
            <a:off x="7090899" y="3487559"/>
            <a:ext cx="521297" cy="300082"/>
          </a:xfrm>
          <a:prstGeom prst="rect">
            <a:avLst/>
          </a:prstGeom>
          <a:noFill/>
        </p:spPr>
        <p:txBody>
          <a:bodyPr wrap="none" rtlCol="0">
            <a:spAutoFit/>
          </a:bodyPr>
          <a:lstStyle/>
          <a:p>
            <a:r>
              <a:rPr lang="en-US" altLang="zh-TW" sz="1350" dirty="0"/>
              <a:t>SCL</a:t>
            </a:r>
            <a:endParaRPr lang="zh-TW" altLang="en-US" sz="1350" dirty="0"/>
          </a:p>
        </p:txBody>
      </p:sp>
      <p:sp>
        <p:nvSpPr>
          <p:cNvPr id="76" name="文字方塊 75">
            <a:extLst>
              <a:ext uri="{FF2B5EF4-FFF2-40B4-BE49-F238E27FC236}">
                <a16:creationId xmlns:a16="http://schemas.microsoft.com/office/drawing/2014/main" id="{6F97036C-968F-4C7A-B962-81BDD22CA508}"/>
              </a:ext>
            </a:extLst>
          </p:cNvPr>
          <p:cNvSpPr txBox="1"/>
          <p:nvPr/>
        </p:nvSpPr>
        <p:spPr>
          <a:xfrm>
            <a:off x="7090900" y="3723403"/>
            <a:ext cx="627095" cy="300082"/>
          </a:xfrm>
          <a:prstGeom prst="rect">
            <a:avLst/>
          </a:prstGeom>
          <a:noFill/>
        </p:spPr>
        <p:txBody>
          <a:bodyPr wrap="none" rtlCol="0">
            <a:spAutoFit/>
          </a:bodyPr>
          <a:lstStyle/>
          <a:p>
            <a:r>
              <a:rPr lang="en-US" altLang="zh-TW" sz="1350" dirty="0"/>
              <a:t>MOSI</a:t>
            </a:r>
            <a:endParaRPr lang="zh-TW" altLang="en-US" sz="1350" dirty="0"/>
          </a:p>
        </p:txBody>
      </p:sp>
      <p:sp>
        <p:nvSpPr>
          <p:cNvPr id="77" name="文字方塊 76">
            <a:extLst>
              <a:ext uri="{FF2B5EF4-FFF2-40B4-BE49-F238E27FC236}">
                <a16:creationId xmlns:a16="http://schemas.microsoft.com/office/drawing/2014/main" id="{B5AD8147-D8DE-42BF-8A2E-41C964D87679}"/>
              </a:ext>
            </a:extLst>
          </p:cNvPr>
          <p:cNvSpPr txBox="1"/>
          <p:nvPr/>
        </p:nvSpPr>
        <p:spPr>
          <a:xfrm>
            <a:off x="7090900" y="4005629"/>
            <a:ext cx="627095" cy="300082"/>
          </a:xfrm>
          <a:prstGeom prst="rect">
            <a:avLst/>
          </a:prstGeom>
          <a:noFill/>
        </p:spPr>
        <p:txBody>
          <a:bodyPr wrap="none" rtlCol="0">
            <a:spAutoFit/>
          </a:bodyPr>
          <a:lstStyle/>
          <a:p>
            <a:r>
              <a:rPr lang="en-US" altLang="zh-TW" sz="1350" dirty="0"/>
              <a:t>MISO</a:t>
            </a:r>
            <a:endParaRPr lang="zh-TW" altLang="en-US" sz="1350" dirty="0"/>
          </a:p>
        </p:txBody>
      </p:sp>
      <p:sp>
        <p:nvSpPr>
          <p:cNvPr id="78" name="文字方塊 77">
            <a:extLst>
              <a:ext uri="{FF2B5EF4-FFF2-40B4-BE49-F238E27FC236}">
                <a16:creationId xmlns:a16="http://schemas.microsoft.com/office/drawing/2014/main" id="{43876ABF-4E6D-4DE2-8424-4DC644BBC152}"/>
              </a:ext>
            </a:extLst>
          </p:cNvPr>
          <p:cNvSpPr txBox="1"/>
          <p:nvPr/>
        </p:nvSpPr>
        <p:spPr>
          <a:xfrm>
            <a:off x="7090899" y="4253435"/>
            <a:ext cx="521297" cy="300082"/>
          </a:xfrm>
          <a:prstGeom prst="rect">
            <a:avLst/>
          </a:prstGeom>
          <a:noFill/>
        </p:spPr>
        <p:txBody>
          <a:bodyPr wrap="none" rtlCol="0">
            <a:spAutoFit/>
          </a:bodyPr>
          <a:lstStyle/>
          <a:p>
            <a:r>
              <a:rPr lang="en-US" altLang="zh-TW" sz="1350" dirty="0"/>
              <a:t>CLK</a:t>
            </a:r>
            <a:endParaRPr lang="zh-TW" altLang="en-US" sz="1350" dirty="0"/>
          </a:p>
        </p:txBody>
      </p:sp>
      <p:sp>
        <p:nvSpPr>
          <p:cNvPr id="79" name="文字方塊 78">
            <a:extLst>
              <a:ext uri="{FF2B5EF4-FFF2-40B4-BE49-F238E27FC236}">
                <a16:creationId xmlns:a16="http://schemas.microsoft.com/office/drawing/2014/main" id="{D25599D2-E4C2-4B7B-A619-48AD99EF9216}"/>
              </a:ext>
            </a:extLst>
          </p:cNvPr>
          <p:cNvSpPr txBox="1"/>
          <p:nvPr/>
        </p:nvSpPr>
        <p:spPr>
          <a:xfrm>
            <a:off x="615089" y="3100155"/>
            <a:ext cx="4120358" cy="923330"/>
          </a:xfrm>
          <a:prstGeom prst="rect">
            <a:avLst/>
          </a:prstGeom>
          <a:noFill/>
        </p:spPr>
        <p:txBody>
          <a:bodyPr wrap="square" rtlCol="0">
            <a:spAutoFit/>
          </a:bodyPr>
          <a:lstStyle/>
          <a:p>
            <a:r>
              <a:rPr lang="zh-TW" altLang="en-US" sz="1350" dirty="0">
                <a:solidFill>
                  <a:schemeClr val="tx1">
                    <a:lumMod val="65000"/>
                    <a:lumOff val="35000"/>
                  </a:schemeClr>
                </a:solidFill>
                <a:latin typeface="Adobe 繁黑體 Std B" panose="020B0700000000000000" pitchFamily="34" charset="-120"/>
                <a:ea typeface="Adobe 繁黑體 Std B" panose="020B0700000000000000" pitchFamily="34" charset="-120"/>
              </a:rPr>
              <a:t>智慧控制的訊號輸入輸出是關鍵，</a:t>
            </a:r>
            <a:endParaRPr lang="en-US" altLang="zh-TW" sz="135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r>
              <a:rPr lang="zh-TW" altLang="en-US" sz="1350" dirty="0">
                <a:solidFill>
                  <a:schemeClr val="tx1">
                    <a:lumMod val="65000"/>
                    <a:lumOff val="35000"/>
                  </a:schemeClr>
                </a:solidFill>
                <a:latin typeface="Adobe 繁黑體 Std B" panose="020B0700000000000000" pitchFamily="34" charset="-120"/>
                <a:ea typeface="Adobe 繁黑體 Std B" panose="020B0700000000000000" pitchFamily="34" charset="-120"/>
              </a:rPr>
              <a:t>訊號類型可以分為：</a:t>
            </a:r>
            <a:endParaRPr lang="en-US" altLang="zh-TW" sz="135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pPr marL="214313" indent="-214313">
              <a:buBlip>
                <a:blip r:embed="rId3"/>
              </a:buBlip>
            </a:pPr>
            <a:r>
              <a:rPr lang="zh-TW" altLang="en-US" sz="1350" dirty="0">
                <a:solidFill>
                  <a:schemeClr val="tx1">
                    <a:lumMod val="65000"/>
                    <a:lumOff val="35000"/>
                  </a:schemeClr>
                </a:solidFill>
                <a:latin typeface="Adobe 繁黑體 Std B" panose="020B0700000000000000" pitchFamily="34" charset="-120"/>
                <a:ea typeface="Adobe 繁黑體 Std B" panose="020B0700000000000000" pitchFamily="34" charset="-120"/>
              </a:rPr>
              <a:t>數位輸出、數位輸入</a:t>
            </a:r>
            <a:endParaRPr lang="en-US" altLang="zh-TW" sz="1350" dirty="0">
              <a:solidFill>
                <a:schemeClr val="tx1">
                  <a:lumMod val="65000"/>
                  <a:lumOff val="35000"/>
                </a:schemeClr>
              </a:solidFill>
              <a:latin typeface="Adobe 繁黑體 Std B" panose="020B0700000000000000" pitchFamily="34" charset="-120"/>
              <a:ea typeface="Adobe 繁黑體 Std B" panose="020B0700000000000000" pitchFamily="34" charset="-120"/>
            </a:endParaRPr>
          </a:p>
          <a:p>
            <a:pPr marL="214313" indent="-214313">
              <a:buBlip>
                <a:blip r:embed="rId3"/>
              </a:buBlip>
            </a:pPr>
            <a:r>
              <a:rPr lang="zh-TW" altLang="en-US" sz="1350" dirty="0">
                <a:solidFill>
                  <a:schemeClr val="tx1">
                    <a:lumMod val="65000"/>
                    <a:lumOff val="35000"/>
                  </a:schemeClr>
                </a:solidFill>
                <a:latin typeface="Adobe 繁黑體 Std B" panose="020B0700000000000000" pitchFamily="34" charset="-120"/>
                <a:ea typeface="Adobe 繁黑體 Std B" panose="020B0700000000000000" pitchFamily="34" charset="-120"/>
              </a:rPr>
              <a:t>類比輸入、類比輸出</a:t>
            </a:r>
          </a:p>
        </p:txBody>
      </p:sp>
      <p:sp>
        <p:nvSpPr>
          <p:cNvPr id="81" name="文字方塊 80">
            <a:extLst>
              <a:ext uri="{FF2B5EF4-FFF2-40B4-BE49-F238E27FC236}">
                <a16:creationId xmlns:a16="http://schemas.microsoft.com/office/drawing/2014/main" id="{968E4507-620A-4264-BD23-91AFC2834587}"/>
              </a:ext>
            </a:extLst>
          </p:cNvPr>
          <p:cNvSpPr txBox="1"/>
          <p:nvPr/>
        </p:nvSpPr>
        <p:spPr>
          <a:xfrm>
            <a:off x="4979934" y="2688046"/>
            <a:ext cx="877163" cy="300082"/>
          </a:xfrm>
          <a:prstGeom prst="rect">
            <a:avLst/>
          </a:prstGeom>
          <a:noFill/>
        </p:spPr>
        <p:txBody>
          <a:bodyPr wrap="none" rtlCol="0">
            <a:spAutoFit/>
          </a:bodyPr>
          <a:lstStyle/>
          <a:p>
            <a:r>
              <a:rPr lang="zh-TW" altLang="en-US" sz="1350" dirty="0">
                <a:latin typeface="Adobe 黑体 Std R" panose="020B0400000000000000" pitchFamily="34" charset="-128"/>
                <a:ea typeface="Adobe 黑体 Std R" panose="020B0400000000000000" pitchFamily="34" charset="-128"/>
              </a:rPr>
              <a:t>類比輸入</a:t>
            </a:r>
          </a:p>
        </p:txBody>
      </p:sp>
      <p:sp>
        <p:nvSpPr>
          <p:cNvPr id="82" name="右大括弧 81">
            <a:extLst>
              <a:ext uri="{FF2B5EF4-FFF2-40B4-BE49-F238E27FC236}">
                <a16:creationId xmlns:a16="http://schemas.microsoft.com/office/drawing/2014/main" id="{D8993129-C40F-46C7-B270-B72FBFF5EA06}"/>
              </a:ext>
            </a:extLst>
          </p:cNvPr>
          <p:cNvSpPr/>
          <p:nvPr/>
        </p:nvSpPr>
        <p:spPr>
          <a:xfrm>
            <a:off x="7580457" y="2501641"/>
            <a:ext cx="167624" cy="57907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dirty="0"/>
          </a:p>
        </p:txBody>
      </p:sp>
      <p:sp>
        <p:nvSpPr>
          <p:cNvPr id="83" name="左大括弧 82">
            <a:extLst>
              <a:ext uri="{FF2B5EF4-FFF2-40B4-BE49-F238E27FC236}">
                <a16:creationId xmlns:a16="http://schemas.microsoft.com/office/drawing/2014/main" id="{0E0727A0-92FE-4C6D-A07E-FA73B05FEF1E}"/>
              </a:ext>
            </a:extLst>
          </p:cNvPr>
          <p:cNvSpPr/>
          <p:nvPr/>
        </p:nvSpPr>
        <p:spPr>
          <a:xfrm>
            <a:off x="5770767" y="2521180"/>
            <a:ext cx="123148" cy="579079"/>
          </a:xfrm>
          <a:prstGeom prst="lef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4" name="文字方塊 83">
            <a:extLst>
              <a:ext uri="{FF2B5EF4-FFF2-40B4-BE49-F238E27FC236}">
                <a16:creationId xmlns:a16="http://schemas.microsoft.com/office/drawing/2014/main" id="{2822B5F3-8FEF-4A80-A2B0-4E4289BDEC10}"/>
              </a:ext>
            </a:extLst>
          </p:cNvPr>
          <p:cNvSpPr txBox="1"/>
          <p:nvPr/>
        </p:nvSpPr>
        <p:spPr>
          <a:xfrm>
            <a:off x="7748081" y="2568345"/>
            <a:ext cx="1223412" cy="507831"/>
          </a:xfrm>
          <a:prstGeom prst="rect">
            <a:avLst/>
          </a:prstGeom>
          <a:noFill/>
        </p:spPr>
        <p:txBody>
          <a:bodyPr wrap="none" rtlCol="0">
            <a:spAutoFit/>
          </a:bodyPr>
          <a:lstStyle/>
          <a:p>
            <a:r>
              <a:rPr lang="zh-TW" altLang="en-US" sz="1350" dirty="0">
                <a:latin typeface="Adobe 黑体 Std R" panose="020B0400000000000000" pitchFamily="34" charset="-128"/>
                <a:ea typeface="Adobe 黑体 Std R" panose="020B0400000000000000" pitchFamily="34" charset="-128"/>
              </a:rPr>
              <a:t>數位輸入</a:t>
            </a:r>
            <a:endParaRPr lang="en-US" altLang="zh-TW" sz="1350" dirty="0">
              <a:latin typeface="Adobe 黑体 Std R" panose="020B0400000000000000" pitchFamily="34" charset="-128"/>
              <a:ea typeface="Adobe 黑体 Std R" panose="020B0400000000000000" pitchFamily="34" charset="-128"/>
            </a:endParaRPr>
          </a:p>
          <a:p>
            <a:r>
              <a:rPr lang="zh-TW" altLang="en-US" sz="1350" dirty="0">
                <a:latin typeface="Adobe 黑体 Std R" panose="020B0400000000000000" pitchFamily="34" charset="-128"/>
                <a:ea typeface="Adobe 黑体 Std R" panose="020B0400000000000000" pitchFamily="34" charset="-128"/>
              </a:rPr>
              <a:t>模擬類比輸出</a:t>
            </a:r>
          </a:p>
        </p:txBody>
      </p:sp>
      <p:sp>
        <p:nvSpPr>
          <p:cNvPr id="85" name="右大括弧 84">
            <a:extLst>
              <a:ext uri="{FF2B5EF4-FFF2-40B4-BE49-F238E27FC236}">
                <a16:creationId xmlns:a16="http://schemas.microsoft.com/office/drawing/2014/main" id="{C96BB808-1F35-4BB3-B55A-E0ADEB51023F}"/>
              </a:ext>
            </a:extLst>
          </p:cNvPr>
          <p:cNvSpPr/>
          <p:nvPr/>
        </p:nvSpPr>
        <p:spPr>
          <a:xfrm>
            <a:off x="7664269" y="3336419"/>
            <a:ext cx="167624" cy="276999"/>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6" name="文字方塊 85">
            <a:extLst>
              <a:ext uri="{FF2B5EF4-FFF2-40B4-BE49-F238E27FC236}">
                <a16:creationId xmlns:a16="http://schemas.microsoft.com/office/drawing/2014/main" id="{7476F3D6-FBD5-44B2-9363-D63983D4DE7B}"/>
              </a:ext>
            </a:extLst>
          </p:cNvPr>
          <p:cNvSpPr txBox="1"/>
          <p:nvPr/>
        </p:nvSpPr>
        <p:spPr>
          <a:xfrm>
            <a:off x="7831892" y="3336419"/>
            <a:ext cx="453970" cy="300082"/>
          </a:xfrm>
          <a:prstGeom prst="rect">
            <a:avLst/>
          </a:prstGeom>
          <a:noFill/>
        </p:spPr>
        <p:txBody>
          <a:bodyPr wrap="none" rtlCol="0">
            <a:spAutoFit/>
          </a:bodyPr>
          <a:lstStyle/>
          <a:p>
            <a:r>
              <a:rPr lang="en-US" altLang="zh-TW" sz="1350" dirty="0"/>
              <a:t>I2C</a:t>
            </a:r>
            <a:endParaRPr lang="zh-TW" altLang="en-US" sz="1350" dirty="0"/>
          </a:p>
        </p:txBody>
      </p:sp>
      <p:sp>
        <p:nvSpPr>
          <p:cNvPr id="87" name="右大括弧 86">
            <a:extLst>
              <a:ext uri="{FF2B5EF4-FFF2-40B4-BE49-F238E27FC236}">
                <a16:creationId xmlns:a16="http://schemas.microsoft.com/office/drawing/2014/main" id="{292DC748-0E15-48FA-8080-D6E51F42D8DB}"/>
              </a:ext>
            </a:extLst>
          </p:cNvPr>
          <p:cNvSpPr/>
          <p:nvPr/>
        </p:nvSpPr>
        <p:spPr>
          <a:xfrm>
            <a:off x="7671828" y="3861902"/>
            <a:ext cx="167624" cy="563420"/>
          </a:xfrm>
          <a:prstGeom prst="rightBrace">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sz="1350"/>
          </a:p>
        </p:txBody>
      </p:sp>
      <p:sp>
        <p:nvSpPr>
          <p:cNvPr id="88" name="文字方塊 87">
            <a:extLst>
              <a:ext uri="{FF2B5EF4-FFF2-40B4-BE49-F238E27FC236}">
                <a16:creationId xmlns:a16="http://schemas.microsoft.com/office/drawing/2014/main" id="{F0F6A078-5ED7-40EA-85E9-51DD6BEF4A74}"/>
              </a:ext>
            </a:extLst>
          </p:cNvPr>
          <p:cNvSpPr txBox="1"/>
          <p:nvPr/>
        </p:nvSpPr>
        <p:spPr>
          <a:xfrm>
            <a:off x="7867768" y="3974800"/>
            <a:ext cx="463588" cy="300082"/>
          </a:xfrm>
          <a:prstGeom prst="rect">
            <a:avLst/>
          </a:prstGeom>
          <a:noFill/>
        </p:spPr>
        <p:txBody>
          <a:bodyPr wrap="none" rtlCol="0">
            <a:spAutoFit/>
          </a:bodyPr>
          <a:lstStyle/>
          <a:p>
            <a:r>
              <a:rPr lang="en-US" altLang="zh-TW" sz="1350" dirty="0"/>
              <a:t>SPI</a:t>
            </a:r>
            <a:endParaRPr lang="zh-TW" altLang="en-US" sz="1350" dirty="0"/>
          </a:p>
        </p:txBody>
      </p:sp>
      <p:sp>
        <p:nvSpPr>
          <p:cNvPr id="80" name="CustomShape 1">
            <a:extLst>
              <a:ext uri="{FF2B5EF4-FFF2-40B4-BE49-F238E27FC236}">
                <a16:creationId xmlns:a16="http://schemas.microsoft.com/office/drawing/2014/main" id="{0F7A0DAC-3912-4D14-ABFF-243E90A42536}"/>
              </a:ext>
            </a:extLst>
          </p:cNvPr>
          <p:cNvSpPr/>
          <p:nvPr/>
        </p:nvSpPr>
        <p:spPr>
          <a:xfrm>
            <a:off x="542835"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輸入與輸出基本概念</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3" name="文字方塊 2">
            <a:extLst>
              <a:ext uri="{FF2B5EF4-FFF2-40B4-BE49-F238E27FC236}">
                <a16:creationId xmlns:a16="http://schemas.microsoft.com/office/drawing/2014/main" id="{AD075EC4-B017-4BA5-B397-BA5327DF2F85}"/>
              </a:ext>
            </a:extLst>
          </p:cNvPr>
          <p:cNvSpPr txBox="1"/>
          <p:nvPr/>
        </p:nvSpPr>
        <p:spPr>
          <a:xfrm>
            <a:off x="3945731" y="3712927"/>
            <a:ext cx="1804405" cy="715581"/>
          </a:xfrm>
          <a:prstGeom prst="rect">
            <a:avLst/>
          </a:prstGeom>
          <a:noFill/>
        </p:spPr>
        <p:txBody>
          <a:bodyPr wrap="none" rtlCol="0">
            <a:spAutoFit/>
          </a:bodyPr>
          <a:lstStyle/>
          <a:p>
            <a:r>
              <a:rPr lang="en-US" altLang="zh-TW" sz="1350" dirty="0">
                <a:latin typeface="Adobe 仿宋 Std R" panose="02020400000000000000" pitchFamily="18" charset="-128"/>
                <a:ea typeface="Adobe 仿宋 Std R" panose="02020400000000000000" pitchFamily="18" charset="-128"/>
              </a:rPr>
              <a:t>Pico </a:t>
            </a:r>
            <a:r>
              <a:rPr lang="zh-TW" altLang="en-US" sz="1350" dirty="0">
                <a:latin typeface="Adobe 仿宋 Std R" panose="02020400000000000000" pitchFamily="18" charset="-128"/>
                <a:ea typeface="Adobe 仿宋 Std R" panose="02020400000000000000" pitchFamily="18" charset="-128"/>
              </a:rPr>
              <a:t>板內鍵腳位：</a:t>
            </a:r>
            <a:endParaRPr lang="en-US" altLang="zh-TW" sz="1350" dirty="0">
              <a:latin typeface="Adobe 仿宋 Std R" panose="02020400000000000000" pitchFamily="18" charset="-128"/>
              <a:ea typeface="Adobe 仿宋 Std R" panose="02020400000000000000" pitchFamily="18" charset="-128"/>
            </a:endParaRPr>
          </a:p>
          <a:p>
            <a:pPr marL="214313" indent="-214313">
              <a:buBlip>
                <a:blip r:embed="rId4"/>
              </a:buBlip>
            </a:pPr>
            <a:r>
              <a:rPr lang="en-US" altLang="zh-TW" sz="1350" dirty="0">
                <a:latin typeface="Adobe 仿宋 Std R" panose="02020400000000000000" pitchFamily="18" charset="-128"/>
                <a:ea typeface="Adobe 仿宋 Std R" panose="02020400000000000000" pitchFamily="18" charset="-128"/>
              </a:rPr>
              <a:t>GPIO25: </a:t>
            </a:r>
            <a:r>
              <a:rPr lang="zh-TW" altLang="en-US" sz="1350" dirty="0">
                <a:latin typeface="Adobe 仿宋 Std R" panose="02020400000000000000" pitchFamily="18" charset="-128"/>
                <a:ea typeface="Adobe 仿宋 Std R" panose="02020400000000000000" pitchFamily="18" charset="-128"/>
              </a:rPr>
              <a:t>內建</a:t>
            </a:r>
            <a:r>
              <a:rPr lang="en-US" altLang="zh-TW" sz="1350" dirty="0">
                <a:latin typeface="Adobe 仿宋 Std R" panose="02020400000000000000" pitchFamily="18" charset="-128"/>
                <a:ea typeface="Adobe 仿宋 Std R" panose="02020400000000000000" pitchFamily="18" charset="-128"/>
              </a:rPr>
              <a:t>LED</a:t>
            </a:r>
          </a:p>
          <a:p>
            <a:pPr marL="214313" indent="-214313">
              <a:buBlip>
                <a:blip r:embed="rId4"/>
              </a:buBlip>
            </a:pPr>
            <a:r>
              <a:rPr lang="en-US" altLang="zh-TW" sz="1350" dirty="0">
                <a:latin typeface="Adobe 仿宋 Std R" panose="02020400000000000000" pitchFamily="18" charset="-128"/>
                <a:ea typeface="Adobe 仿宋 Std R" panose="02020400000000000000" pitchFamily="18" charset="-128"/>
              </a:rPr>
              <a:t>GPIO29: </a:t>
            </a:r>
            <a:r>
              <a:rPr lang="zh-TW" altLang="en-US" sz="1350" dirty="0">
                <a:latin typeface="Adobe 仿宋 Std R" panose="02020400000000000000" pitchFamily="18" charset="-128"/>
                <a:ea typeface="Adobe 仿宋 Std R" panose="02020400000000000000" pitchFamily="18" charset="-128"/>
              </a:rPr>
              <a:t>偵測電源</a:t>
            </a:r>
          </a:p>
        </p:txBody>
      </p:sp>
    </p:spTree>
    <p:extLst>
      <p:ext uri="{BB962C8B-B14F-4D97-AF65-F5344CB8AC3E}">
        <p14:creationId xmlns:p14="http://schemas.microsoft.com/office/powerpoint/2010/main" val="1780883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CustomShape 1">
            <a:extLst>
              <a:ext uri="{FF2B5EF4-FFF2-40B4-BE49-F238E27FC236}">
                <a16:creationId xmlns:a16="http://schemas.microsoft.com/office/drawing/2014/main" id="{0F7A0DAC-3912-4D14-ABFF-243E90A42536}"/>
              </a:ext>
            </a:extLst>
          </p:cNvPr>
          <p:cNvSpPr/>
          <p:nvPr/>
        </p:nvSpPr>
        <p:spPr>
          <a:xfrm>
            <a:off x="542835"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輸入與輸出基本練習</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6" name="矩形: 圓角 5">
            <a:extLst>
              <a:ext uri="{FF2B5EF4-FFF2-40B4-BE49-F238E27FC236}">
                <a16:creationId xmlns:a16="http://schemas.microsoft.com/office/drawing/2014/main" id="{1D5E640F-DBF1-494C-B3DE-45F6B412842E}"/>
              </a:ext>
            </a:extLst>
          </p:cNvPr>
          <p:cNvSpPr/>
          <p:nvPr/>
        </p:nvSpPr>
        <p:spPr>
          <a:xfrm>
            <a:off x="3968886" y="2790622"/>
            <a:ext cx="990430" cy="638378"/>
          </a:xfrm>
          <a:prstGeom prst="roundRect">
            <a:avLst/>
          </a:prstGeom>
          <a:solidFill>
            <a:schemeClr val="accent3">
              <a:lumMod val="60000"/>
              <a:lumOff val="40000"/>
            </a:schemeClr>
          </a:solidFill>
          <a:ln>
            <a:solidFill>
              <a:schemeClr val="accent3">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350" dirty="0">
                <a:solidFill>
                  <a:schemeClr val="tx1"/>
                </a:solidFill>
                <a:latin typeface="Adobe 繁黑體 Std B" panose="020B0700000000000000" pitchFamily="34" charset="-120"/>
                <a:ea typeface="Adobe 繁黑體 Std B" panose="020B0700000000000000" pitchFamily="34" charset="-120"/>
              </a:rPr>
              <a:t>微處理器</a:t>
            </a:r>
          </a:p>
        </p:txBody>
      </p:sp>
      <p:sp>
        <p:nvSpPr>
          <p:cNvPr id="9" name="箭號: 向右 8">
            <a:extLst>
              <a:ext uri="{FF2B5EF4-FFF2-40B4-BE49-F238E27FC236}">
                <a16:creationId xmlns:a16="http://schemas.microsoft.com/office/drawing/2014/main" id="{790C4EA5-19AE-4BD2-8FA2-29FFE092DEA5}"/>
              </a:ext>
            </a:extLst>
          </p:cNvPr>
          <p:cNvSpPr/>
          <p:nvPr/>
        </p:nvSpPr>
        <p:spPr>
          <a:xfrm>
            <a:off x="5063362" y="2850814"/>
            <a:ext cx="233464" cy="492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89" name="箭號: 向右 88">
            <a:extLst>
              <a:ext uri="{FF2B5EF4-FFF2-40B4-BE49-F238E27FC236}">
                <a16:creationId xmlns:a16="http://schemas.microsoft.com/office/drawing/2014/main" id="{BA1EB870-5099-487F-AF1B-026D22B8500B}"/>
              </a:ext>
            </a:extLst>
          </p:cNvPr>
          <p:cNvSpPr/>
          <p:nvPr/>
        </p:nvSpPr>
        <p:spPr>
          <a:xfrm>
            <a:off x="3640577" y="2863580"/>
            <a:ext cx="233464" cy="492463"/>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 name="文字方塊 10">
            <a:extLst>
              <a:ext uri="{FF2B5EF4-FFF2-40B4-BE49-F238E27FC236}">
                <a16:creationId xmlns:a16="http://schemas.microsoft.com/office/drawing/2014/main" id="{EB3963A5-846D-4F54-B775-389890769D70}"/>
              </a:ext>
            </a:extLst>
          </p:cNvPr>
          <p:cNvSpPr txBox="1"/>
          <p:nvPr/>
        </p:nvSpPr>
        <p:spPr>
          <a:xfrm>
            <a:off x="4863491" y="2513623"/>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輸出</a:t>
            </a:r>
          </a:p>
        </p:txBody>
      </p:sp>
      <p:sp>
        <p:nvSpPr>
          <p:cNvPr id="90" name="文字方塊 89">
            <a:extLst>
              <a:ext uri="{FF2B5EF4-FFF2-40B4-BE49-F238E27FC236}">
                <a16:creationId xmlns:a16="http://schemas.microsoft.com/office/drawing/2014/main" id="{B547A47A-1FF5-4B7F-9814-839DAC7C7CEE}"/>
              </a:ext>
            </a:extLst>
          </p:cNvPr>
          <p:cNvSpPr txBox="1"/>
          <p:nvPr/>
        </p:nvSpPr>
        <p:spPr>
          <a:xfrm>
            <a:off x="3484138" y="2513623"/>
            <a:ext cx="530915"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輸入</a:t>
            </a:r>
          </a:p>
        </p:txBody>
      </p:sp>
      <p:pic>
        <p:nvPicPr>
          <p:cNvPr id="91" name="圖片 90">
            <a:extLst>
              <a:ext uri="{FF2B5EF4-FFF2-40B4-BE49-F238E27FC236}">
                <a16:creationId xmlns:a16="http://schemas.microsoft.com/office/drawing/2014/main" id="{D0B926E9-1892-4B40-B530-B0876AECF0EB}"/>
              </a:ext>
            </a:extLst>
          </p:cNvPr>
          <p:cNvPicPr/>
          <p:nvPr/>
        </p:nvPicPr>
        <p:blipFill>
          <a:blip r:embed="rId3"/>
          <a:stretch>
            <a:fillRect/>
          </a:stretch>
        </p:blipFill>
        <p:spPr>
          <a:xfrm rot="5400000">
            <a:off x="5781832" y="2232455"/>
            <a:ext cx="1383224" cy="345958"/>
          </a:xfrm>
          <a:prstGeom prst="rect">
            <a:avLst/>
          </a:prstGeom>
        </p:spPr>
      </p:pic>
      <p:pic>
        <p:nvPicPr>
          <p:cNvPr id="92" name="圖片 91">
            <a:extLst>
              <a:ext uri="{FF2B5EF4-FFF2-40B4-BE49-F238E27FC236}">
                <a16:creationId xmlns:a16="http://schemas.microsoft.com/office/drawing/2014/main" id="{1A318C1E-F522-4A5D-8CE2-95E2A24D99C7}"/>
              </a:ext>
            </a:extLst>
          </p:cNvPr>
          <p:cNvPicPr/>
          <p:nvPr/>
        </p:nvPicPr>
        <p:blipFill>
          <a:blip r:embed="rId4"/>
          <a:stretch>
            <a:fillRect/>
          </a:stretch>
        </p:blipFill>
        <p:spPr>
          <a:xfrm>
            <a:off x="6811501" y="2190781"/>
            <a:ext cx="1013775" cy="753053"/>
          </a:xfrm>
          <a:prstGeom prst="rect">
            <a:avLst/>
          </a:prstGeom>
        </p:spPr>
      </p:pic>
      <p:pic>
        <p:nvPicPr>
          <p:cNvPr id="1026" name="Picture 2" descr="MG995 High Torque Metal Gear Servo Motor">
            <a:extLst>
              <a:ext uri="{FF2B5EF4-FFF2-40B4-BE49-F238E27FC236}">
                <a16:creationId xmlns:a16="http://schemas.microsoft.com/office/drawing/2014/main" id="{A21F4388-E226-4D66-B858-840FC41103E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6932173" y="3109810"/>
            <a:ext cx="1933373" cy="1933373"/>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2" name="物件 11">
            <a:extLst>
              <a:ext uri="{FF2B5EF4-FFF2-40B4-BE49-F238E27FC236}">
                <a16:creationId xmlns:a16="http://schemas.microsoft.com/office/drawing/2014/main" id="{AFB3E326-94C6-4371-9640-ACF4FD98C5D4}"/>
              </a:ext>
            </a:extLst>
          </p:cNvPr>
          <p:cNvGraphicFramePr>
            <a:graphicFrameLocks noChangeAspect="1"/>
          </p:cNvGraphicFramePr>
          <p:nvPr/>
        </p:nvGraphicFramePr>
        <p:xfrm>
          <a:off x="5518589" y="3184387"/>
          <a:ext cx="1413584" cy="1560821"/>
        </p:xfrm>
        <a:graphic>
          <a:graphicData uri="http://schemas.openxmlformats.org/presentationml/2006/ole">
            <mc:AlternateContent xmlns:mc="http://schemas.openxmlformats.org/markup-compatibility/2006">
              <mc:Choice xmlns:v="urn:schemas-microsoft-com:vml" Requires="v">
                <p:oleObj spid="_x0000_s1046" name="Image" r:id="rId6" imgW="4390200" imgH="4847400" progId="Photoshop.Image.13">
                  <p:embed/>
                </p:oleObj>
              </mc:Choice>
              <mc:Fallback>
                <p:oleObj name="Image" r:id="rId6" imgW="4390200" imgH="4847400" progId="Photoshop.Image.13">
                  <p:embed/>
                  <p:pic>
                    <p:nvPicPr>
                      <p:cNvPr id="12" name="物件 11">
                        <a:extLst>
                          <a:ext uri="{FF2B5EF4-FFF2-40B4-BE49-F238E27FC236}">
                            <a16:creationId xmlns:a16="http://schemas.microsoft.com/office/drawing/2014/main" id="{AFB3E326-94C6-4371-9640-ACF4FD98C5D4}"/>
                          </a:ext>
                        </a:extLst>
                      </p:cNvPr>
                      <p:cNvPicPr/>
                      <p:nvPr/>
                    </p:nvPicPr>
                    <p:blipFill>
                      <a:blip r:embed="rId7"/>
                      <a:stretch>
                        <a:fillRect/>
                      </a:stretch>
                    </p:blipFill>
                    <p:spPr>
                      <a:xfrm>
                        <a:off x="5518589" y="3184387"/>
                        <a:ext cx="1413584" cy="1560821"/>
                      </a:xfrm>
                      <a:prstGeom prst="rect">
                        <a:avLst/>
                      </a:prstGeom>
                    </p:spPr>
                  </p:pic>
                </p:oleObj>
              </mc:Fallback>
            </mc:AlternateContent>
          </a:graphicData>
        </a:graphic>
      </p:graphicFrame>
      <p:pic>
        <p:nvPicPr>
          <p:cNvPr id="93" name="圖片 92" descr="一張含有 傢俱, 桌, 座位, 咖啡桌 的圖片&#10;&#10;自動產生的描述">
            <a:extLst>
              <a:ext uri="{FF2B5EF4-FFF2-40B4-BE49-F238E27FC236}">
                <a16:creationId xmlns:a16="http://schemas.microsoft.com/office/drawing/2014/main" id="{363099F8-0F7A-4DAE-A075-4565BEADA28E}"/>
              </a:ext>
            </a:extLst>
          </p:cNvPr>
          <p:cNvPicPr/>
          <p:nvPr/>
        </p:nvPicPr>
        <p:blipFill>
          <a:blip r:embed="rId8"/>
          <a:stretch>
            <a:fillRect/>
          </a:stretch>
        </p:blipFill>
        <p:spPr>
          <a:xfrm>
            <a:off x="1132763" y="2131863"/>
            <a:ext cx="581738" cy="607690"/>
          </a:xfrm>
          <a:prstGeom prst="rect">
            <a:avLst/>
          </a:prstGeom>
        </p:spPr>
      </p:pic>
      <p:pic>
        <p:nvPicPr>
          <p:cNvPr id="94" name="圖片 93">
            <a:extLst>
              <a:ext uri="{FF2B5EF4-FFF2-40B4-BE49-F238E27FC236}">
                <a16:creationId xmlns:a16="http://schemas.microsoft.com/office/drawing/2014/main" id="{363F35EC-7FE9-4984-A839-6A5AC7C0EF7B}"/>
              </a:ext>
            </a:extLst>
          </p:cNvPr>
          <p:cNvPicPr/>
          <p:nvPr/>
        </p:nvPicPr>
        <p:blipFill>
          <a:blip r:embed="rId9"/>
          <a:stretch>
            <a:fillRect/>
          </a:stretch>
        </p:blipFill>
        <p:spPr>
          <a:xfrm>
            <a:off x="1879578" y="2059225"/>
            <a:ext cx="824419" cy="1050586"/>
          </a:xfrm>
          <a:prstGeom prst="rect">
            <a:avLst/>
          </a:prstGeom>
        </p:spPr>
      </p:pic>
      <p:pic>
        <p:nvPicPr>
          <p:cNvPr id="95" name="圖片 94">
            <a:extLst>
              <a:ext uri="{FF2B5EF4-FFF2-40B4-BE49-F238E27FC236}">
                <a16:creationId xmlns:a16="http://schemas.microsoft.com/office/drawing/2014/main" id="{5ADA8192-61C7-428D-9B3C-50B371AF8E54}"/>
              </a:ext>
            </a:extLst>
          </p:cNvPr>
          <p:cNvPicPr/>
          <p:nvPr/>
        </p:nvPicPr>
        <p:blipFill>
          <a:blip r:embed="rId10"/>
          <a:stretch>
            <a:fillRect/>
          </a:stretch>
        </p:blipFill>
        <p:spPr>
          <a:xfrm>
            <a:off x="665434" y="4184347"/>
            <a:ext cx="1049067" cy="955505"/>
          </a:xfrm>
          <a:prstGeom prst="rect">
            <a:avLst/>
          </a:prstGeom>
        </p:spPr>
      </p:pic>
      <p:pic>
        <p:nvPicPr>
          <p:cNvPr id="14" name="圖片 13">
            <a:extLst>
              <a:ext uri="{FF2B5EF4-FFF2-40B4-BE49-F238E27FC236}">
                <a16:creationId xmlns:a16="http://schemas.microsoft.com/office/drawing/2014/main" id="{A83D575A-CE5D-4111-A456-13F7E94DCED6}"/>
              </a:ext>
            </a:extLst>
          </p:cNvPr>
          <p:cNvPicPr>
            <a:picLocks noChangeAspect="1"/>
          </p:cNvPicPr>
          <p:nvPr/>
        </p:nvPicPr>
        <p:blipFill>
          <a:blip r:embed="rId11"/>
          <a:stretch>
            <a:fillRect/>
          </a:stretch>
        </p:blipFill>
        <p:spPr>
          <a:xfrm>
            <a:off x="737746" y="2850943"/>
            <a:ext cx="1137605" cy="1383225"/>
          </a:xfrm>
          <a:prstGeom prst="rect">
            <a:avLst/>
          </a:prstGeom>
        </p:spPr>
      </p:pic>
      <p:pic>
        <p:nvPicPr>
          <p:cNvPr id="1040" name="Picture 16" descr="HC-SR04超音波感測器超音波模組超聲波模組3.3-5V Arduino避障測距| Yahoo奇摩拍賣">
            <a:extLst>
              <a:ext uri="{FF2B5EF4-FFF2-40B4-BE49-F238E27FC236}">
                <a16:creationId xmlns:a16="http://schemas.microsoft.com/office/drawing/2014/main" id="{C3A8C15D-8DE9-4C39-95A5-520FFCB394F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30423" y="4213827"/>
            <a:ext cx="1768002" cy="1768002"/>
          </a:xfrm>
          <a:prstGeom prst="rect">
            <a:avLst/>
          </a:prstGeom>
          <a:noFill/>
          <a:extLst>
            <a:ext uri="{909E8E84-426E-40DD-AFC4-6F175D3DCCD1}">
              <a14:hiddenFill xmlns:a14="http://schemas.microsoft.com/office/drawing/2010/main">
                <a:solidFill>
                  <a:srgbClr val="FFFFFF"/>
                </a:solidFill>
              </a14:hiddenFill>
            </a:ext>
          </a:extLst>
        </p:spPr>
      </p:pic>
      <p:pic>
        <p:nvPicPr>
          <p:cNvPr id="13" name="圖片 12">
            <a:extLst>
              <a:ext uri="{FF2B5EF4-FFF2-40B4-BE49-F238E27FC236}">
                <a16:creationId xmlns:a16="http://schemas.microsoft.com/office/drawing/2014/main" id="{B12EC135-C2D0-416E-A971-C2A682FE1E8A}"/>
              </a:ext>
            </a:extLst>
          </p:cNvPr>
          <p:cNvPicPr>
            <a:picLocks noChangeAspect="1"/>
          </p:cNvPicPr>
          <p:nvPr/>
        </p:nvPicPr>
        <p:blipFill>
          <a:blip r:embed="rId13"/>
          <a:stretch>
            <a:fillRect/>
          </a:stretch>
        </p:blipFill>
        <p:spPr>
          <a:xfrm>
            <a:off x="2359589" y="3235103"/>
            <a:ext cx="1186143" cy="1319073"/>
          </a:xfrm>
          <a:prstGeom prst="rect">
            <a:avLst/>
          </a:prstGeom>
        </p:spPr>
      </p:pic>
    </p:spTree>
    <p:extLst>
      <p:ext uri="{BB962C8B-B14F-4D97-AF65-F5344CB8AC3E}">
        <p14:creationId xmlns:p14="http://schemas.microsoft.com/office/powerpoint/2010/main" val="5158263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99DCEEDE-63FC-492E-B77C-676E80F36358}"/>
              </a:ext>
            </a:extLst>
          </p:cNvPr>
          <p:cNvSpPr txBox="1"/>
          <p:nvPr/>
        </p:nvSpPr>
        <p:spPr>
          <a:xfrm>
            <a:off x="592477" y="471340"/>
            <a:ext cx="3416320" cy="646331"/>
          </a:xfrm>
          <a:prstGeom prst="rect">
            <a:avLst/>
          </a:prstGeom>
          <a:noFill/>
        </p:spPr>
        <p:txBody>
          <a:bodyPr wrap="none" rtlCol="0">
            <a:spAutoFit/>
          </a:bodyPr>
          <a:lstStyle/>
          <a:p>
            <a:r>
              <a:rPr lang="zh-TW" altLang="en-US" sz="3600" dirty="0">
                <a:latin typeface="Adobe 繁黑體 Std B" panose="020B0700000000000000" pitchFamily="34" charset="-120"/>
                <a:ea typeface="Adobe 繁黑體 Std B" panose="020B0700000000000000" pitchFamily="34" charset="-120"/>
              </a:rPr>
              <a:t>積木程式編輯器</a:t>
            </a:r>
          </a:p>
        </p:txBody>
      </p:sp>
      <p:sp>
        <p:nvSpPr>
          <p:cNvPr id="2" name="文字方塊 1">
            <a:extLst>
              <a:ext uri="{FF2B5EF4-FFF2-40B4-BE49-F238E27FC236}">
                <a16:creationId xmlns:a16="http://schemas.microsoft.com/office/drawing/2014/main" id="{E68B135D-28D3-4980-A9FF-B7651F00B5FC}"/>
              </a:ext>
            </a:extLst>
          </p:cNvPr>
          <p:cNvSpPr txBox="1"/>
          <p:nvPr/>
        </p:nvSpPr>
        <p:spPr>
          <a:xfrm>
            <a:off x="523875" y="5848350"/>
            <a:ext cx="7566495" cy="307777"/>
          </a:xfrm>
          <a:prstGeom prst="rect">
            <a:avLst/>
          </a:prstGeom>
          <a:noFill/>
        </p:spPr>
        <p:txBody>
          <a:bodyPr wrap="none" rtlCol="0">
            <a:spAutoFit/>
          </a:bodyPr>
          <a:lstStyle/>
          <a:p>
            <a:r>
              <a:rPr lang="en-US" altLang="zh-TW" sz="1400" dirty="0"/>
              <a:t>https://github.com/cmlo/mangoblock-desktop/releases/download/v1.2/MangoBlock.1.2.19.msi</a:t>
            </a:r>
            <a:endParaRPr lang="zh-TW" altLang="en-US" sz="1400" dirty="0"/>
          </a:p>
        </p:txBody>
      </p:sp>
      <p:pic>
        <p:nvPicPr>
          <p:cNvPr id="5" name="圖片 4">
            <a:extLst>
              <a:ext uri="{FF2B5EF4-FFF2-40B4-BE49-F238E27FC236}">
                <a16:creationId xmlns:a16="http://schemas.microsoft.com/office/drawing/2014/main" id="{19A7B210-E923-43A7-AC48-0A6A97F11420}"/>
              </a:ext>
            </a:extLst>
          </p:cNvPr>
          <p:cNvPicPr>
            <a:picLocks noChangeAspect="1"/>
          </p:cNvPicPr>
          <p:nvPr/>
        </p:nvPicPr>
        <p:blipFill>
          <a:blip r:embed="rId2"/>
          <a:stretch>
            <a:fillRect/>
          </a:stretch>
        </p:blipFill>
        <p:spPr>
          <a:xfrm>
            <a:off x="592477" y="1117672"/>
            <a:ext cx="6837023" cy="4596642"/>
          </a:xfrm>
          <a:prstGeom prst="rect">
            <a:avLst/>
          </a:prstGeom>
        </p:spPr>
      </p:pic>
    </p:spTree>
    <p:extLst>
      <p:ext uri="{BB962C8B-B14F-4D97-AF65-F5344CB8AC3E}">
        <p14:creationId xmlns:p14="http://schemas.microsoft.com/office/powerpoint/2010/main" val="35489874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561885"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數位輸出 </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 </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內建</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LED</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控制</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10" name="文字方塊 9">
            <a:extLst>
              <a:ext uri="{FF2B5EF4-FFF2-40B4-BE49-F238E27FC236}">
                <a16:creationId xmlns:a16="http://schemas.microsoft.com/office/drawing/2014/main" id="{F2EA5FB4-64BD-436F-933F-E7395FA0FD12}"/>
              </a:ext>
            </a:extLst>
          </p:cNvPr>
          <p:cNvSpPr txBox="1"/>
          <p:nvPr/>
        </p:nvSpPr>
        <p:spPr>
          <a:xfrm>
            <a:off x="7287291" y="1764641"/>
            <a:ext cx="1345306" cy="1131079"/>
          </a:xfrm>
          <a:prstGeom prst="rect">
            <a:avLst/>
          </a:prstGeom>
          <a:noFill/>
          <a:ln>
            <a:solidFill>
              <a:srgbClr val="00B0F0"/>
            </a:solidFill>
          </a:ln>
        </p:spPr>
        <p:txBody>
          <a:bodyPr wrap="square" rtlCol="0">
            <a:spAutoFit/>
          </a:bodyPr>
          <a:lstStyle/>
          <a:p>
            <a:pPr algn="just"/>
            <a:r>
              <a:rPr lang="zh-TW" altLang="en-US" sz="1350" dirty="0">
                <a:latin typeface="Adobe 仿宋 Std R" panose="02020400000000000000" pitchFamily="18" charset="-128"/>
                <a:ea typeface="Adobe 仿宋 Std R" panose="02020400000000000000" pitchFamily="18" charset="-128"/>
              </a:rPr>
              <a:t>板載</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亮</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秒鐘後關閉，再等</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秒鐘再亮，這程序重複執行</a:t>
            </a:r>
            <a:r>
              <a:rPr lang="en-US" altLang="zh-TW" sz="1350" dirty="0">
                <a:latin typeface="Adobe 仿宋 Std R" panose="02020400000000000000" pitchFamily="18" charset="-128"/>
                <a:ea typeface="Adobe 仿宋 Std R" panose="02020400000000000000" pitchFamily="18" charset="-128"/>
              </a:rPr>
              <a:t>10</a:t>
            </a:r>
            <a:r>
              <a:rPr lang="zh-TW" altLang="en-US" sz="1350" dirty="0">
                <a:latin typeface="Adobe 仿宋 Std R" panose="02020400000000000000" pitchFamily="18" charset="-128"/>
                <a:ea typeface="Adobe 仿宋 Std R" panose="02020400000000000000" pitchFamily="18" charset="-128"/>
              </a:rPr>
              <a:t>次。</a:t>
            </a:r>
          </a:p>
        </p:txBody>
      </p:sp>
      <p:sp>
        <p:nvSpPr>
          <p:cNvPr id="3" name="文字方塊 2">
            <a:extLst>
              <a:ext uri="{FF2B5EF4-FFF2-40B4-BE49-F238E27FC236}">
                <a16:creationId xmlns:a16="http://schemas.microsoft.com/office/drawing/2014/main" id="{0ECA1FB1-19DC-4A94-9022-8153043C692C}"/>
              </a:ext>
            </a:extLst>
          </p:cNvPr>
          <p:cNvSpPr txBox="1"/>
          <p:nvPr/>
        </p:nvSpPr>
        <p:spPr>
          <a:xfrm>
            <a:off x="628561" y="4741909"/>
            <a:ext cx="2200571" cy="300082"/>
          </a:xfrm>
          <a:prstGeom prst="rect">
            <a:avLst/>
          </a:prstGeom>
          <a:noFill/>
          <a:ln>
            <a:solidFill>
              <a:schemeClr val="accent2">
                <a:lumMod val="75000"/>
              </a:schemeClr>
            </a:solidFill>
          </a:ln>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板載</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燈亮</a:t>
            </a:r>
            <a:r>
              <a:rPr lang="en-US" altLang="zh-TW" sz="1350" dirty="0">
                <a:latin typeface="Adobe 仿宋 Std R" panose="02020400000000000000" pitchFamily="18" charset="-128"/>
                <a:ea typeface="Adobe 仿宋 Std R" panose="02020400000000000000" pitchFamily="18" charset="-128"/>
              </a:rPr>
              <a:t>5</a:t>
            </a:r>
            <a:r>
              <a:rPr lang="zh-TW" altLang="en-US" sz="1350" dirty="0">
                <a:latin typeface="Adobe 仿宋 Std R" panose="02020400000000000000" pitchFamily="18" charset="-128"/>
                <a:ea typeface="Adobe 仿宋 Std R" panose="02020400000000000000" pitchFamily="18" charset="-128"/>
              </a:rPr>
              <a:t>秒鐘後關閉</a:t>
            </a:r>
          </a:p>
        </p:txBody>
      </p:sp>
      <p:sp>
        <p:nvSpPr>
          <p:cNvPr id="5" name="文字方塊 4">
            <a:extLst>
              <a:ext uri="{FF2B5EF4-FFF2-40B4-BE49-F238E27FC236}">
                <a16:creationId xmlns:a16="http://schemas.microsoft.com/office/drawing/2014/main" id="{A37C6495-A8D3-47F0-8530-29A86233EA12}"/>
              </a:ext>
            </a:extLst>
          </p:cNvPr>
          <p:cNvSpPr txBox="1"/>
          <p:nvPr/>
        </p:nvSpPr>
        <p:spPr>
          <a:xfrm>
            <a:off x="6196830" y="3751347"/>
            <a:ext cx="1050288" cy="300082"/>
          </a:xfrm>
          <a:prstGeom prst="rect">
            <a:avLst/>
          </a:prstGeom>
          <a:noFill/>
        </p:spPr>
        <p:txBody>
          <a:bodyPr wrap="none" rtlCol="0">
            <a:spAutoFit/>
          </a:bodyPr>
          <a:lstStyle/>
          <a:p>
            <a:r>
              <a:rPr lang="zh-TW" altLang="en-US" sz="1350" dirty="0"/>
              <a:t>一般寫法：</a:t>
            </a:r>
          </a:p>
        </p:txBody>
      </p:sp>
      <p:pic>
        <p:nvPicPr>
          <p:cNvPr id="2" name="圖片 1">
            <a:extLst>
              <a:ext uri="{FF2B5EF4-FFF2-40B4-BE49-F238E27FC236}">
                <a16:creationId xmlns:a16="http://schemas.microsoft.com/office/drawing/2014/main" id="{51987743-5366-4215-A360-C9B903DB87BE}"/>
              </a:ext>
            </a:extLst>
          </p:cNvPr>
          <p:cNvPicPr>
            <a:picLocks noChangeAspect="1"/>
          </p:cNvPicPr>
          <p:nvPr/>
        </p:nvPicPr>
        <p:blipFill>
          <a:blip r:embed="rId2"/>
          <a:stretch>
            <a:fillRect/>
          </a:stretch>
        </p:blipFill>
        <p:spPr>
          <a:xfrm>
            <a:off x="628560" y="1764641"/>
            <a:ext cx="3027280" cy="2894699"/>
          </a:xfrm>
          <a:prstGeom prst="rect">
            <a:avLst/>
          </a:prstGeom>
        </p:spPr>
      </p:pic>
      <p:pic>
        <p:nvPicPr>
          <p:cNvPr id="6" name="圖片 5">
            <a:extLst>
              <a:ext uri="{FF2B5EF4-FFF2-40B4-BE49-F238E27FC236}">
                <a16:creationId xmlns:a16="http://schemas.microsoft.com/office/drawing/2014/main" id="{2120C343-DC8B-4EAA-A681-E4C29199EE15}"/>
              </a:ext>
            </a:extLst>
          </p:cNvPr>
          <p:cNvPicPr>
            <a:picLocks noChangeAspect="1"/>
          </p:cNvPicPr>
          <p:nvPr/>
        </p:nvPicPr>
        <p:blipFill>
          <a:blip r:embed="rId3"/>
          <a:stretch>
            <a:fillRect/>
          </a:stretch>
        </p:blipFill>
        <p:spPr>
          <a:xfrm>
            <a:off x="3742179" y="1764642"/>
            <a:ext cx="3458773" cy="3739015"/>
          </a:xfrm>
          <a:prstGeom prst="rect">
            <a:avLst/>
          </a:prstGeom>
        </p:spPr>
      </p:pic>
    </p:spTree>
    <p:extLst>
      <p:ext uri="{BB962C8B-B14F-4D97-AF65-F5344CB8AC3E}">
        <p14:creationId xmlns:p14="http://schemas.microsoft.com/office/powerpoint/2010/main" val="316345183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數位輸出 </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 </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外接</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LED</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控制</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7" name="橢圓 6">
            <a:extLst>
              <a:ext uri="{FF2B5EF4-FFF2-40B4-BE49-F238E27FC236}">
                <a16:creationId xmlns:a16="http://schemas.microsoft.com/office/drawing/2014/main" id="{BFBF4CA3-36A4-4AB6-9667-D3C90D146442}"/>
              </a:ext>
            </a:extLst>
          </p:cNvPr>
          <p:cNvSpPr/>
          <p:nvPr/>
        </p:nvSpPr>
        <p:spPr>
          <a:xfrm>
            <a:off x="5013141" y="3096237"/>
            <a:ext cx="244928" cy="237931"/>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9" name="直線單箭頭接點 8">
            <a:extLst>
              <a:ext uri="{FF2B5EF4-FFF2-40B4-BE49-F238E27FC236}">
                <a16:creationId xmlns:a16="http://schemas.microsoft.com/office/drawing/2014/main" id="{65BFCB3F-8FF8-4307-BC92-EC102D3F8CB4}"/>
              </a:ext>
            </a:extLst>
          </p:cNvPr>
          <p:cNvCxnSpPr>
            <a:cxnSpLocks/>
          </p:cNvCxnSpPr>
          <p:nvPr/>
        </p:nvCxnSpPr>
        <p:spPr>
          <a:xfrm flipV="1">
            <a:off x="5135604" y="2802322"/>
            <a:ext cx="0" cy="293915"/>
          </a:xfrm>
          <a:prstGeom prst="straightConnector1">
            <a:avLst/>
          </a:prstGeom>
          <a:ln w="19050">
            <a:tailEnd type="arrow"/>
          </a:ln>
        </p:spPr>
        <p:style>
          <a:lnRef idx="1">
            <a:schemeClr val="accent1"/>
          </a:lnRef>
          <a:fillRef idx="0">
            <a:schemeClr val="accent1"/>
          </a:fillRef>
          <a:effectRef idx="0">
            <a:schemeClr val="accent1"/>
          </a:effectRef>
          <a:fontRef idx="minor">
            <a:schemeClr val="tx1"/>
          </a:fontRef>
        </p:style>
      </p:cxnSp>
      <p:sp>
        <p:nvSpPr>
          <p:cNvPr id="12" name="文字方塊 11">
            <a:extLst>
              <a:ext uri="{FF2B5EF4-FFF2-40B4-BE49-F238E27FC236}">
                <a16:creationId xmlns:a16="http://schemas.microsoft.com/office/drawing/2014/main" id="{2987CD63-271E-488F-9F9B-B398DBC7A9F5}"/>
              </a:ext>
            </a:extLst>
          </p:cNvPr>
          <p:cNvSpPr txBox="1"/>
          <p:nvPr/>
        </p:nvSpPr>
        <p:spPr>
          <a:xfrm>
            <a:off x="4857313" y="2497489"/>
            <a:ext cx="569387" cy="300082"/>
          </a:xfrm>
          <a:prstGeom prst="rect">
            <a:avLst/>
          </a:prstGeom>
          <a:noFill/>
        </p:spPr>
        <p:txBody>
          <a:bodyPr wrap="none" rtlCol="0">
            <a:spAutoFit/>
          </a:bodyPr>
          <a:lstStyle/>
          <a:p>
            <a:r>
              <a:rPr lang="en-US" altLang="zh-TW" sz="1350" dirty="0"/>
              <a:t>GND</a:t>
            </a:r>
            <a:endParaRPr lang="zh-TW" altLang="en-US" sz="1350" dirty="0"/>
          </a:p>
        </p:txBody>
      </p:sp>
      <p:sp>
        <p:nvSpPr>
          <p:cNvPr id="13" name="文字方塊 12">
            <a:extLst>
              <a:ext uri="{FF2B5EF4-FFF2-40B4-BE49-F238E27FC236}">
                <a16:creationId xmlns:a16="http://schemas.microsoft.com/office/drawing/2014/main" id="{A17F17D3-F5B6-4DA3-AAA8-4CBE6890ECD5}"/>
              </a:ext>
            </a:extLst>
          </p:cNvPr>
          <p:cNvSpPr txBox="1"/>
          <p:nvPr/>
        </p:nvSpPr>
        <p:spPr>
          <a:xfrm>
            <a:off x="5140180" y="2856549"/>
            <a:ext cx="242374" cy="300082"/>
          </a:xfrm>
          <a:prstGeom prst="rect">
            <a:avLst/>
          </a:prstGeom>
          <a:noFill/>
        </p:spPr>
        <p:txBody>
          <a:bodyPr wrap="none" rtlCol="0">
            <a:spAutoFit/>
          </a:bodyPr>
          <a:lstStyle/>
          <a:p>
            <a:r>
              <a:rPr lang="en-US" altLang="zh-TW" sz="1350" dirty="0"/>
              <a:t>-</a:t>
            </a:r>
            <a:endParaRPr lang="zh-TW" altLang="en-US" sz="1350" dirty="0"/>
          </a:p>
        </p:txBody>
      </p:sp>
      <p:cxnSp>
        <p:nvCxnSpPr>
          <p:cNvPr id="15" name="直線單箭頭接點 14">
            <a:extLst>
              <a:ext uri="{FF2B5EF4-FFF2-40B4-BE49-F238E27FC236}">
                <a16:creationId xmlns:a16="http://schemas.microsoft.com/office/drawing/2014/main" id="{00E100CA-0289-44AA-A677-F58D5A01A641}"/>
              </a:ext>
            </a:extLst>
          </p:cNvPr>
          <p:cNvCxnSpPr>
            <a:stCxn id="7" idx="4"/>
          </p:cNvCxnSpPr>
          <p:nvPr/>
        </p:nvCxnSpPr>
        <p:spPr>
          <a:xfrm flipH="1">
            <a:off x="5135604" y="3334167"/>
            <a:ext cx="1" cy="433874"/>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7B2BB933-B26B-4029-976D-EE3B56557739}"/>
              </a:ext>
            </a:extLst>
          </p:cNvPr>
          <p:cNvSpPr/>
          <p:nvPr/>
        </p:nvSpPr>
        <p:spPr>
          <a:xfrm>
            <a:off x="5066523" y="3768041"/>
            <a:ext cx="139958" cy="31140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7" name="文字方塊 16">
            <a:extLst>
              <a:ext uri="{FF2B5EF4-FFF2-40B4-BE49-F238E27FC236}">
                <a16:creationId xmlns:a16="http://schemas.microsoft.com/office/drawing/2014/main" id="{08D1AB2F-EB4D-4272-8BA8-8AFF4BBEFE83}"/>
              </a:ext>
            </a:extLst>
          </p:cNvPr>
          <p:cNvSpPr txBox="1"/>
          <p:nvPr/>
        </p:nvSpPr>
        <p:spPr>
          <a:xfrm>
            <a:off x="5275563" y="3785245"/>
            <a:ext cx="530915" cy="300082"/>
          </a:xfrm>
          <a:prstGeom prst="rect">
            <a:avLst/>
          </a:prstGeom>
          <a:noFill/>
        </p:spPr>
        <p:txBody>
          <a:bodyPr wrap="none" rtlCol="0">
            <a:spAutoFit/>
          </a:bodyPr>
          <a:lstStyle/>
          <a:p>
            <a:r>
              <a:rPr lang="zh-TW" altLang="en-US" sz="1350" dirty="0"/>
              <a:t>電阻</a:t>
            </a:r>
          </a:p>
        </p:txBody>
      </p:sp>
      <p:cxnSp>
        <p:nvCxnSpPr>
          <p:cNvPr id="19" name="直線單箭頭接點 18">
            <a:extLst>
              <a:ext uri="{FF2B5EF4-FFF2-40B4-BE49-F238E27FC236}">
                <a16:creationId xmlns:a16="http://schemas.microsoft.com/office/drawing/2014/main" id="{E1E81251-5C6C-42A8-94D8-54A1449BB096}"/>
              </a:ext>
            </a:extLst>
          </p:cNvPr>
          <p:cNvCxnSpPr>
            <a:stCxn id="16" idx="2"/>
          </p:cNvCxnSpPr>
          <p:nvPr/>
        </p:nvCxnSpPr>
        <p:spPr>
          <a:xfrm flipH="1">
            <a:off x="5135604" y="4079450"/>
            <a:ext cx="898" cy="409381"/>
          </a:xfrm>
          <a:prstGeom prst="straightConnector1">
            <a:avLst/>
          </a:prstGeom>
          <a:ln w="1905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276DF1BD-8952-4273-85A0-26AF0B79934E}"/>
              </a:ext>
            </a:extLst>
          </p:cNvPr>
          <p:cNvSpPr txBox="1"/>
          <p:nvPr/>
        </p:nvSpPr>
        <p:spPr>
          <a:xfrm>
            <a:off x="4893230" y="4503364"/>
            <a:ext cx="530915" cy="300082"/>
          </a:xfrm>
          <a:prstGeom prst="rect">
            <a:avLst/>
          </a:prstGeom>
          <a:noFill/>
        </p:spPr>
        <p:txBody>
          <a:bodyPr wrap="none" rtlCol="0">
            <a:spAutoFit/>
          </a:bodyPr>
          <a:lstStyle/>
          <a:p>
            <a:r>
              <a:rPr lang="en-US" altLang="zh-TW" sz="1350" dirty="0"/>
              <a:t>GP2</a:t>
            </a:r>
            <a:endParaRPr lang="zh-TW" altLang="en-US" sz="1350" dirty="0"/>
          </a:p>
        </p:txBody>
      </p:sp>
      <p:pic>
        <p:nvPicPr>
          <p:cNvPr id="2" name="圖片 1">
            <a:extLst>
              <a:ext uri="{FF2B5EF4-FFF2-40B4-BE49-F238E27FC236}">
                <a16:creationId xmlns:a16="http://schemas.microsoft.com/office/drawing/2014/main" id="{ACF00BC7-662B-46AD-B3BB-6BD8D2932FF6}"/>
              </a:ext>
            </a:extLst>
          </p:cNvPr>
          <p:cNvPicPr>
            <a:picLocks noChangeAspect="1"/>
          </p:cNvPicPr>
          <p:nvPr/>
        </p:nvPicPr>
        <p:blipFill>
          <a:blip r:embed="rId2"/>
          <a:stretch>
            <a:fillRect/>
          </a:stretch>
        </p:blipFill>
        <p:spPr>
          <a:xfrm>
            <a:off x="628560" y="1780794"/>
            <a:ext cx="3646665" cy="3544762"/>
          </a:xfrm>
          <a:prstGeom prst="rect">
            <a:avLst/>
          </a:prstGeom>
        </p:spPr>
      </p:pic>
      <p:sp>
        <p:nvSpPr>
          <p:cNvPr id="3" name="矩形 2">
            <a:extLst>
              <a:ext uri="{FF2B5EF4-FFF2-40B4-BE49-F238E27FC236}">
                <a16:creationId xmlns:a16="http://schemas.microsoft.com/office/drawing/2014/main" id="{2A28AAC2-BA3D-4E1C-AB86-55E23D828C1E}"/>
              </a:ext>
            </a:extLst>
          </p:cNvPr>
          <p:cNvSpPr/>
          <p:nvPr/>
        </p:nvSpPr>
        <p:spPr>
          <a:xfrm>
            <a:off x="4411745" y="1780794"/>
            <a:ext cx="1487191" cy="354476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4" name="文字方塊 3">
            <a:extLst>
              <a:ext uri="{FF2B5EF4-FFF2-40B4-BE49-F238E27FC236}">
                <a16:creationId xmlns:a16="http://schemas.microsoft.com/office/drawing/2014/main" id="{6AA27E86-ECAF-4AFD-94AC-F245B12C62AD}"/>
              </a:ext>
            </a:extLst>
          </p:cNvPr>
          <p:cNvSpPr txBox="1"/>
          <p:nvPr/>
        </p:nvSpPr>
        <p:spPr>
          <a:xfrm>
            <a:off x="4407288" y="1808884"/>
            <a:ext cx="877163" cy="300082"/>
          </a:xfrm>
          <a:prstGeom prst="rect">
            <a:avLst/>
          </a:prstGeom>
          <a:noFill/>
        </p:spPr>
        <p:txBody>
          <a:bodyPr wrap="none" rtlCol="0">
            <a:spAutoFit/>
          </a:bodyPr>
          <a:lstStyle/>
          <a:p>
            <a:r>
              <a:rPr lang="zh-TW" altLang="en-US" sz="1350" dirty="0">
                <a:latin typeface="Adobe 仿宋 Std R" panose="02020400000000000000" pitchFamily="18" charset="-128"/>
                <a:ea typeface="Adobe 仿宋 Std R" panose="02020400000000000000" pitchFamily="18" charset="-128"/>
              </a:rPr>
              <a:t>電路接法</a:t>
            </a:r>
          </a:p>
        </p:txBody>
      </p:sp>
      <p:sp>
        <p:nvSpPr>
          <p:cNvPr id="5" name="文字方塊 4">
            <a:extLst>
              <a:ext uri="{FF2B5EF4-FFF2-40B4-BE49-F238E27FC236}">
                <a16:creationId xmlns:a16="http://schemas.microsoft.com/office/drawing/2014/main" id="{C2F13E77-9595-433E-8154-1366351933C4}"/>
              </a:ext>
            </a:extLst>
          </p:cNvPr>
          <p:cNvSpPr txBox="1"/>
          <p:nvPr/>
        </p:nvSpPr>
        <p:spPr>
          <a:xfrm>
            <a:off x="5238285" y="3078357"/>
            <a:ext cx="521297" cy="300082"/>
          </a:xfrm>
          <a:prstGeom prst="rect">
            <a:avLst/>
          </a:prstGeom>
          <a:noFill/>
        </p:spPr>
        <p:txBody>
          <a:bodyPr wrap="none" rtlCol="0">
            <a:spAutoFit/>
          </a:bodyPr>
          <a:lstStyle/>
          <a:p>
            <a:r>
              <a:rPr lang="en-US" altLang="zh-TW" sz="1350" dirty="0"/>
              <a:t>LED</a:t>
            </a:r>
            <a:endParaRPr lang="zh-TW" altLang="en-US" sz="1350" dirty="0"/>
          </a:p>
        </p:txBody>
      </p:sp>
      <p:sp>
        <p:nvSpPr>
          <p:cNvPr id="8" name="文字方塊 7">
            <a:extLst>
              <a:ext uri="{FF2B5EF4-FFF2-40B4-BE49-F238E27FC236}">
                <a16:creationId xmlns:a16="http://schemas.microsoft.com/office/drawing/2014/main" id="{1A9C6741-66FC-40E6-963F-7914595C5317}"/>
              </a:ext>
            </a:extLst>
          </p:cNvPr>
          <p:cNvSpPr txBox="1"/>
          <p:nvPr/>
        </p:nvSpPr>
        <p:spPr>
          <a:xfrm>
            <a:off x="5150196" y="3293302"/>
            <a:ext cx="160507" cy="300082"/>
          </a:xfrm>
          <a:prstGeom prst="rect">
            <a:avLst/>
          </a:prstGeom>
          <a:noFill/>
        </p:spPr>
        <p:txBody>
          <a:bodyPr wrap="square" rtlCol="0">
            <a:spAutoFit/>
          </a:bodyPr>
          <a:lstStyle/>
          <a:p>
            <a:pPr algn="ctr"/>
            <a:r>
              <a:rPr lang="en-US" altLang="zh-TW" sz="1350" dirty="0"/>
              <a:t>+</a:t>
            </a:r>
            <a:endParaRPr lang="zh-TW" altLang="en-US" sz="1350" dirty="0"/>
          </a:p>
        </p:txBody>
      </p:sp>
      <p:sp>
        <p:nvSpPr>
          <p:cNvPr id="18" name="文字方塊 17">
            <a:extLst>
              <a:ext uri="{FF2B5EF4-FFF2-40B4-BE49-F238E27FC236}">
                <a16:creationId xmlns:a16="http://schemas.microsoft.com/office/drawing/2014/main" id="{C638CE03-E3EA-4EBF-A9B4-B9FDF56BD016}"/>
              </a:ext>
            </a:extLst>
          </p:cNvPr>
          <p:cNvSpPr txBox="1"/>
          <p:nvPr/>
        </p:nvSpPr>
        <p:spPr>
          <a:xfrm>
            <a:off x="6185632" y="1780794"/>
            <a:ext cx="2329088" cy="715581"/>
          </a:xfrm>
          <a:prstGeom prst="rect">
            <a:avLst/>
          </a:prstGeom>
          <a:noFill/>
          <a:ln>
            <a:noFill/>
          </a:ln>
        </p:spPr>
        <p:txBody>
          <a:bodyPr wrap="square" rtlCol="0">
            <a:spAutoFit/>
          </a:bodyPr>
          <a:lstStyle/>
          <a:p>
            <a:pPr algn="just"/>
            <a:r>
              <a:rPr lang="zh-TW" altLang="en-US" sz="1350" dirty="0">
                <a:latin typeface="Adobe 仿宋 Std R" panose="02020400000000000000" pitchFamily="18" charset="-128"/>
                <a:ea typeface="Adobe 仿宋 Std R" panose="02020400000000000000" pitchFamily="18" charset="-128"/>
              </a:rPr>
              <a:t>板載</a:t>
            </a:r>
            <a:r>
              <a:rPr lang="en-US" altLang="zh-TW" sz="1350" dirty="0">
                <a:latin typeface="Adobe 仿宋 Std R" panose="02020400000000000000" pitchFamily="18" charset="-128"/>
                <a:ea typeface="Adobe 仿宋 Std R" panose="02020400000000000000" pitchFamily="18" charset="-128"/>
              </a:rPr>
              <a:t>LED</a:t>
            </a:r>
            <a:r>
              <a:rPr lang="zh-TW" altLang="en-US" sz="1350" dirty="0">
                <a:latin typeface="Adobe 仿宋 Std R" panose="02020400000000000000" pitchFamily="18" charset="-128"/>
                <a:ea typeface="Adobe 仿宋 Std R" panose="02020400000000000000" pitchFamily="18" charset="-128"/>
              </a:rPr>
              <a:t>亮</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秒鐘後關閉，再等</a:t>
            </a:r>
            <a:r>
              <a:rPr lang="en-US" altLang="zh-TW" sz="1350" dirty="0">
                <a:latin typeface="Adobe 仿宋 Std R" panose="02020400000000000000" pitchFamily="18" charset="-128"/>
                <a:ea typeface="Adobe 仿宋 Std R" panose="02020400000000000000" pitchFamily="18" charset="-128"/>
              </a:rPr>
              <a:t>1</a:t>
            </a:r>
            <a:r>
              <a:rPr lang="zh-TW" altLang="en-US" sz="1350" dirty="0">
                <a:latin typeface="Adobe 仿宋 Std R" panose="02020400000000000000" pitchFamily="18" charset="-128"/>
                <a:ea typeface="Adobe 仿宋 Std R" panose="02020400000000000000" pitchFamily="18" charset="-128"/>
              </a:rPr>
              <a:t>秒鐘再亮，這程序重複執行</a:t>
            </a:r>
            <a:r>
              <a:rPr lang="en-US" altLang="zh-TW" sz="1350" dirty="0">
                <a:latin typeface="Adobe 仿宋 Std R" panose="02020400000000000000" pitchFamily="18" charset="-128"/>
                <a:ea typeface="Adobe 仿宋 Std R" panose="02020400000000000000" pitchFamily="18" charset="-128"/>
              </a:rPr>
              <a:t>10</a:t>
            </a:r>
            <a:r>
              <a:rPr lang="zh-TW" altLang="en-US" sz="1350" dirty="0">
                <a:latin typeface="Adobe 仿宋 Std R" panose="02020400000000000000" pitchFamily="18" charset="-128"/>
                <a:ea typeface="Adobe 仿宋 Std R" panose="02020400000000000000" pitchFamily="18" charset="-128"/>
              </a:rPr>
              <a:t>次。</a:t>
            </a:r>
          </a:p>
        </p:txBody>
      </p:sp>
    </p:spTree>
    <p:extLst>
      <p:ext uri="{BB962C8B-B14F-4D97-AF65-F5344CB8AC3E}">
        <p14:creationId xmlns:p14="http://schemas.microsoft.com/office/powerpoint/2010/main" val="13587222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數位輸入與輸出 </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 </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按鈕控制</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LED</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
        <p:nvSpPr>
          <p:cNvPr id="7" name="橢圓 6">
            <a:extLst>
              <a:ext uri="{FF2B5EF4-FFF2-40B4-BE49-F238E27FC236}">
                <a16:creationId xmlns:a16="http://schemas.microsoft.com/office/drawing/2014/main" id="{9CE92F73-C714-4B6A-8DE5-9A79C19886A5}"/>
              </a:ext>
            </a:extLst>
          </p:cNvPr>
          <p:cNvSpPr/>
          <p:nvPr/>
        </p:nvSpPr>
        <p:spPr>
          <a:xfrm>
            <a:off x="6428987" y="2158721"/>
            <a:ext cx="419877" cy="412880"/>
          </a:xfrm>
          <a:prstGeom prst="ellipse">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9" name="矩形 8">
            <a:extLst>
              <a:ext uri="{FF2B5EF4-FFF2-40B4-BE49-F238E27FC236}">
                <a16:creationId xmlns:a16="http://schemas.microsoft.com/office/drawing/2014/main" id="{674BF108-C134-429C-BC88-3D6393EB7651}"/>
              </a:ext>
            </a:extLst>
          </p:cNvPr>
          <p:cNvSpPr/>
          <p:nvPr/>
        </p:nvSpPr>
        <p:spPr>
          <a:xfrm>
            <a:off x="6359008" y="2095739"/>
            <a:ext cx="566834" cy="545841"/>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1" name="矩形 10">
            <a:extLst>
              <a:ext uri="{FF2B5EF4-FFF2-40B4-BE49-F238E27FC236}">
                <a16:creationId xmlns:a16="http://schemas.microsoft.com/office/drawing/2014/main" id="{1CDFFF22-7B8B-4CD8-89E8-FDF20A5C2060}"/>
              </a:ext>
            </a:extLst>
          </p:cNvPr>
          <p:cNvSpPr/>
          <p:nvPr/>
        </p:nvSpPr>
        <p:spPr>
          <a:xfrm>
            <a:off x="6428987" y="1948782"/>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3" name="矩形 12">
            <a:extLst>
              <a:ext uri="{FF2B5EF4-FFF2-40B4-BE49-F238E27FC236}">
                <a16:creationId xmlns:a16="http://schemas.microsoft.com/office/drawing/2014/main" id="{F5887EFC-E867-4999-AED2-7EB43063E2FA}"/>
              </a:ext>
            </a:extLst>
          </p:cNvPr>
          <p:cNvSpPr/>
          <p:nvPr/>
        </p:nvSpPr>
        <p:spPr>
          <a:xfrm>
            <a:off x="6748559" y="1955781"/>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4" name="矩形 13">
            <a:extLst>
              <a:ext uri="{FF2B5EF4-FFF2-40B4-BE49-F238E27FC236}">
                <a16:creationId xmlns:a16="http://schemas.microsoft.com/office/drawing/2014/main" id="{569644F8-3607-4A58-8294-C9163DC99A4D}"/>
              </a:ext>
            </a:extLst>
          </p:cNvPr>
          <p:cNvSpPr/>
          <p:nvPr/>
        </p:nvSpPr>
        <p:spPr>
          <a:xfrm>
            <a:off x="6428987" y="2648578"/>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sp>
        <p:nvSpPr>
          <p:cNvPr id="15" name="矩形 14">
            <a:extLst>
              <a:ext uri="{FF2B5EF4-FFF2-40B4-BE49-F238E27FC236}">
                <a16:creationId xmlns:a16="http://schemas.microsoft.com/office/drawing/2014/main" id="{9E2D9070-F5A3-4754-AAC4-5B67EDCB0E16}"/>
              </a:ext>
            </a:extLst>
          </p:cNvPr>
          <p:cNvSpPr/>
          <p:nvPr/>
        </p:nvSpPr>
        <p:spPr>
          <a:xfrm>
            <a:off x="6748559" y="2648578"/>
            <a:ext cx="118965" cy="1399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350"/>
          </a:p>
        </p:txBody>
      </p:sp>
      <p:cxnSp>
        <p:nvCxnSpPr>
          <p:cNvPr id="16" name="直線單箭頭接點 15">
            <a:extLst>
              <a:ext uri="{FF2B5EF4-FFF2-40B4-BE49-F238E27FC236}">
                <a16:creationId xmlns:a16="http://schemas.microsoft.com/office/drawing/2014/main" id="{FBD553B7-A681-4421-9D00-C0E0E4699AE4}"/>
              </a:ext>
            </a:extLst>
          </p:cNvPr>
          <p:cNvCxnSpPr>
            <a:cxnSpLocks/>
            <a:stCxn id="14" idx="2"/>
          </p:cNvCxnSpPr>
          <p:nvPr/>
        </p:nvCxnSpPr>
        <p:spPr>
          <a:xfrm flipH="1">
            <a:off x="6488469" y="2788538"/>
            <a:ext cx="1" cy="3149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文字方塊 16">
            <a:extLst>
              <a:ext uri="{FF2B5EF4-FFF2-40B4-BE49-F238E27FC236}">
                <a16:creationId xmlns:a16="http://schemas.microsoft.com/office/drawing/2014/main" id="{C254BA42-1C42-49AA-B661-D45A1EBAEB95}"/>
              </a:ext>
            </a:extLst>
          </p:cNvPr>
          <p:cNvSpPr txBox="1"/>
          <p:nvPr/>
        </p:nvSpPr>
        <p:spPr>
          <a:xfrm>
            <a:off x="6246094" y="3099367"/>
            <a:ext cx="530915" cy="300082"/>
          </a:xfrm>
          <a:prstGeom prst="rect">
            <a:avLst/>
          </a:prstGeom>
          <a:noFill/>
        </p:spPr>
        <p:txBody>
          <a:bodyPr wrap="none" rtlCol="0">
            <a:spAutoFit/>
          </a:bodyPr>
          <a:lstStyle/>
          <a:p>
            <a:r>
              <a:rPr lang="en-US" altLang="zh-TW" sz="1350" dirty="0"/>
              <a:t>GP3</a:t>
            </a:r>
            <a:endParaRPr lang="zh-TW" altLang="en-US" sz="1350" dirty="0"/>
          </a:p>
        </p:txBody>
      </p:sp>
      <p:cxnSp>
        <p:nvCxnSpPr>
          <p:cNvPr id="19" name="直線單箭頭接點 18">
            <a:extLst>
              <a:ext uri="{FF2B5EF4-FFF2-40B4-BE49-F238E27FC236}">
                <a16:creationId xmlns:a16="http://schemas.microsoft.com/office/drawing/2014/main" id="{BA7DDD1F-6550-43BE-B9AA-F25265A4F787}"/>
              </a:ext>
            </a:extLst>
          </p:cNvPr>
          <p:cNvCxnSpPr>
            <a:stCxn id="13" idx="0"/>
          </p:cNvCxnSpPr>
          <p:nvPr/>
        </p:nvCxnSpPr>
        <p:spPr>
          <a:xfrm flipV="1">
            <a:off x="6808042" y="1563895"/>
            <a:ext cx="0" cy="3918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文字方塊 19">
            <a:extLst>
              <a:ext uri="{FF2B5EF4-FFF2-40B4-BE49-F238E27FC236}">
                <a16:creationId xmlns:a16="http://schemas.microsoft.com/office/drawing/2014/main" id="{22CAB331-34A7-4DC9-8A01-7D785A3E286E}"/>
              </a:ext>
            </a:extLst>
          </p:cNvPr>
          <p:cNvSpPr txBox="1"/>
          <p:nvPr/>
        </p:nvSpPr>
        <p:spPr>
          <a:xfrm>
            <a:off x="6560859" y="1337068"/>
            <a:ext cx="540533" cy="300082"/>
          </a:xfrm>
          <a:prstGeom prst="rect">
            <a:avLst/>
          </a:prstGeom>
          <a:noFill/>
        </p:spPr>
        <p:txBody>
          <a:bodyPr wrap="none" rtlCol="0">
            <a:spAutoFit/>
          </a:bodyPr>
          <a:lstStyle/>
          <a:p>
            <a:r>
              <a:rPr lang="en-US" altLang="zh-TW" sz="1350" dirty="0"/>
              <a:t>3.3V</a:t>
            </a:r>
            <a:endParaRPr lang="zh-TW" altLang="en-US" sz="1350" dirty="0"/>
          </a:p>
        </p:txBody>
      </p:sp>
      <p:sp>
        <p:nvSpPr>
          <p:cNvPr id="21" name="文字方塊 20">
            <a:extLst>
              <a:ext uri="{FF2B5EF4-FFF2-40B4-BE49-F238E27FC236}">
                <a16:creationId xmlns:a16="http://schemas.microsoft.com/office/drawing/2014/main" id="{A06B32D1-73FF-4D1A-927F-1FA4061F0BAE}"/>
              </a:ext>
            </a:extLst>
          </p:cNvPr>
          <p:cNvSpPr txBox="1"/>
          <p:nvPr/>
        </p:nvSpPr>
        <p:spPr>
          <a:xfrm>
            <a:off x="6053235" y="3414275"/>
            <a:ext cx="2842661" cy="1061829"/>
          </a:xfrm>
          <a:prstGeom prst="rect">
            <a:avLst/>
          </a:prstGeom>
          <a:noFill/>
        </p:spPr>
        <p:txBody>
          <a:bodyPr wrap="square" rtlCol="0">
            <a:spAutoFit/>
          </a:bodyPr>
          <a:lstStyle/>
          <a:p>
            <a:pPr algn="just"/>
            <a:r>
              <a:rPr lang="zh-TW" altLang="zh-TW" sz="1050" dirty="0">
                <a:latin typeface="Adobe 仿宋 Std R" panose="02020400000000000000" pitchFamily="18" charset="-128"/>
                <a:ea typeface="Adobe 仿宋 Std R" panose="02020400000000000000" pitchFamily="18" charset="-128"/>
              </a:rPr>
              <a:t>與</a:t>
            </a:r>
            <a:r>
              <a:rPr lang="en-US" altLang="zh-TW" sz="1050" dirty="0">
                <a:latin typeface="Adobe 仿宋 Std R" panose="02020400000000000000" pitchFamily="18" charset="-128"/>
                <a:ea typeface="Adobe 仿宋 Std R" panose="02020400000000000000" pitchFamily="18" charset="-128"/>
              </a:rPr>
              <a:t>LED</a:t>
            </a:r>
            <a:r>
              <a:rPr lang="zh-TW" altLang="zh-TW" sz="1050" dirty="0">
                <a:latin typeface="Adobe 仿宋 Std R" panose="02020400000000000000" pitchFamily="18" charset="-128"/>
                <a:ea typeface="Adobe 仿宋 Std R" panose="02020400000000000000" pitchFamily="18" charset="-128"/>
              </a:rPr>
              <a:t>不同的是，按鈕開關不需要限流電阻。不過，它仍然需要一個電阻器：它需要上拉或下拉電阻器，取決於電路如何工作。</a:t>
            </a:r>
            <a:endParaRPr lang="en-US" altLang="zh-TW" sz="1050" dirty="0">
              <a:latin typeface="Adobe 仿宋 Std R" panose="02020400000000000000" pitchFamily="18" charset="-128"/>
              <a:ea typeface="Adobe 仿宋 Std R" panose="02020400000000000000" pitchFamily="18" charset="-128"/>
            </a:endParaRPr>
          </a:p>
          <a:p>
            <a:pPr algn="just"/>
            <a:r>
              <a:rPr lang="zh-TW" altLang="zh-TW" sz="1050" dirty="0">
                <a:latin typeface="Adobe 仿宋 Std R" panose="02020400000000000000" pitchFamily="18" charset="-128"/>
                <a:ea typeface="Adobe 仿宋 Std R" panose="02020400000000000000" pitchFamily="18" charset="-128"/>
              </a:rPr>
              <a:t>沒有上拉或下拉電阻，輸入被稱為浮動輸入</a:t>
            </a:r>
            <a:r>
              <a:rPr lang="zh-TW" altLang="en-US" sz="1050" dirty="0">
                <a:latin typeface="Adobe 仿宋 Std R" panose="02020400000000000000" pitchFamily="18" charset="-128"/>
                <a:ea typeface="Adobe 仿宋 Std R" panose="02020400000000000000" pitchFamily="18" charset="-128"/>
              </a:rPr>
              <a:t>，</a:t>
            </a:r>
            <a:r>
              <a:rPr lang="zh-TW" altLang="zh-TW" sz="1050" dirty="0">
                <a:latin typeface="Adobe 仿宋 Std R" panose="02020400000000000000" pitchFamily="18" charset="-128"/>
                <a:ea typeface="Adobe 仿宋 Std R" panose="02020400000000000000" pitchFamily="18" charset="-128"/>
              </a:rPr>
              <a:t> </a:t>
            </a:r>
            <a:r>
              <a:rPr lang="en-US" altLang="zh-TW" sz="1050" dirty="0">
                <a:latin typeface="Adobe 仿宋 Std R" panose="02020400000000000000" pitchFamily="18" charset="-128"/>
                <a:ea typeface="Adobe 仿宋 Std R" panose="02020400000000000000" pitchFamily="18" charset="-128"/>
              </a:rPr>
              <a:t> </a:t>
            </a:r>
            <a:r>
              <a:rPr lang="zh-TW" altLang="zh-TW" sz="1050" dirty="0">
                <a:latin typeface="Adobe 仿宋 Std R" panose="02020400000000000000" pitchFamily="18" charset="-128"/>
                <a:ea typeface="Adobe 仿宋 Std R" panose="02020400000000000000" pitchFamily="18" charset="-128"/>
              </a:rPr>
              <a:t>這意味著它有一個“嘈雜”的</a:t>
            </a:r>
            <a:r>
              <a:rPr lang="zh-TW" altLang="en-US" sz="1050" dirty="0">
                <a:latin typeface="Adobe 仿宋 Std R" panose="02020400000000000000" pitchFamily="18" charset="-128"/>
                <a:ea typeface="Adobe 仿宋 Std R" panose="02020400000000000000" pitchFamily="18" charset="-128"/>
              </a:rPr>
              <a:t>訊</a:t>
            </a:r>
            <a:r>
              <a:rPr lang="zh-TW" altLang="zh-TW" sz="1050" dirty="0">
                <a:latin typeface="Adobe 仿宋 Std R" panose="02020400000000000000" pitchFamily="18" charset="-128"/>
                <a:ea typeface="Adobe 仿宋 Std R" panose="02020400000000000000" pitchFamily="18" charset="-128"/>
              </a:rPr>
              <a:t>號，即使沒有按下按鈕也</a:t>
            </a:r>
            <a:r>
              <a:rPr lang="zh-TW" altLang="en-US" sz="1050" dirty="0">
                <a:latin typeface="Adobe 仿宋 Std R" panose="02020400000000000000" pitchFamily="18" charset="-128"/>
                <a:ea typeface="Adobe 仿宋 Std R" panose="02020400000000000000" pitchFamily="18" charset="-128"/>
              </a:rPr>
              <a:t>可</a:t>
            </a:r>
            <a:r>
              <a:rPr lang="zh-TW" altLang="zh-TW" sz="1050" dirty="0">
                <a:latin typeface="Adobe 仿宋 Std R" panose="02020400000000000000" pitchFamily="18" charset="-128"/>
                <a:ea typeface="Adobe 仿宋 Std R" panose="02020400000000000000" pitchFamily="18" charset="-128"/>
              </a:rPr>
              <a:t>能觸發。</a:t>
            </a:r>
            <a:endParaRPr lang="zh-TW" altLang="en-US" sz="1050" dirty="0">
              <a:latin typeface="Adobe 仿宋 Std R" panose="02020400000000000000" pitchFamily="18" charset="-128"/>
              <a:ea typeface="Adobe 仿宋 Std R" panose="02020400000000000000" pitchFamily="18" charset="-128"/>
            </a:endParaRPr>
          </a:p>
        </p:txBody>
      </p:sp>
      <p:sp>
        <p:nvSpPr>
          <p:cNvPr id="23" name="文字方塊 22">
            <a:extLst>
              <a:ext uri="{FF2B5EF4-FFF2-40B4-BE49-F238E27FC236}">
                <a16:creationId xmlns:a16="http://schemas.microsoft.com/office/drawing/2014/main" id="{3FA1CD9C-FE58-4379-8A55-6F422FA7616B}"/>
              </a:ext>
            </a:extLst>
          </p:cNvPr>
          <p:cNvSpPr txBox="1"/>
          <p:nvPr/>
        </p:nvSpPr>
        <p:spPr>
          <a:xfrm>
            <a:off x="6053235" y="4535967"/>
            <a:ext cx="2818169" cy="738664"/>
          </a:xfrm>
          <a:prstGeom prst="rect">
            <a:avLst/>
          </a:prstGeom>
          <a:noFill/>
        </p:spPr>
        <p:txBody>
          <a:bodyPr wrap="square" rtlCol="0">
            <a:spAutoFit/>
          </a:bodyPr>
          <a:lstStyle/>
          <a:p>
            <a:r>
              <a:rPr lang="zh-TW" altLang="zh-TW" sz="1050" dirty="0">
                <a:latin typeface="Adobe 仿宋 Std R" panose="02020400000000000000" pitchFamily="18" charset="-128"/>
                <a:ea typeface="Adobe 仿宋 Std R" panose="02020400000000000000" pitchFamily="18" charset="-128"/>
              </a:rPr>
              <a:t>下拉電阻將針腳連接到地，這意味著當沒有按下按鈕時，輸入將為</a:t>
            </a:r>
            <a:r>
              <a:rPr lang="en-US" altLang="zh-TW" sz="1050" dirty="0">
                <a:latin typeface="Adobe 仿宋 Std R" panose="02020400000000000000" pitchFamily="18" charset="-128"/>
                <a:ea typeface="Adobe 仿宋 Std R" panose="02020400000000000000" pitchFamily="18" charset="-128"/>
              </a:rPr>
              <a:t>0</a:t>
            </a:r>
            <a:r>
              <a:rPr lang="zh-TW" altLang="zh-TW" sz="1050" dirty="0">
                <a:latin typeface="Adobe 仿宋 Std R" panose="02020400000000000000" pitchFamily="18" charset="-128"/>
                <a:ea typeface="Adobe 仿宋 Std R" panose="02020400000000000000" pitchFamily="18" charset="-128"/>
              </a:rPr>
              <a:t>。一個上拉電阻將針腳連接到</a:t>
            </a:r>
            <a:r>
              <a:rPr lang="en-US" altLang="zh-TW" sz="1050" dirty="0">
                <a:latin typeface="Adobe 仿宋 Std R" panose="02020400000000000000" pitchFamily="18" charset="-128"/>
                <a:ea typeface="Adobe 仿宋 Std R" panose="02020400000000000000" pitchFamily="18" charset="-128"/>
              </a:rPr>
              <a:t>3V3</a:t>
            </a:r>
            <a:r>
              <a:rPr lang="zh-TW" altLang="zh-TW" sz="1050" dirty="0">
                <a:latin typeface="Adobe 仿宋 Std R" panose="02020400000000000000" pitchFamily="18" charset="-128"/>
                <a:ea typeface="Adobe 仿宋 Std R" panose="02020400000000000000" pitchFamily="18" charset="-128"/>
              </a:rPr>
              <a:t>，這意味著當沒有按下按鈕時，輸入將為</a:t>
            </a:r>
            <a:r>
              <a:rPr lang="en-US" altLang="zh-TW" sz="1050" dirty="0">
                <a:latin typeface="Adobe 仿宋 Std R" panose="02020400000000000000" pitchFamily="18" charset="-128"/>
                <a:ea typeface="Adobe 仿宋 Std R" panose="02020400000000000000" pitchFamily="18" charset="-128"/>
              </a:rPr>
              <a:t>1</a:t>
            </a:r>
            <a:r>
              <a:rPr lang="zh-TW" altLang="zh-TW" sz="1050" dirty="0">
                <a:latin typeface="Adobe 仿宋 Std R" panose="02020400000000000000" pitchFamily="18" charset="-128"/>
                <a:ea typeface="Adobe 仿宋 Std R" panose="02020400000000000000" pitchFamily="18" charset="-128"/>
              </a:rPr>
              <a:t>。</a:t>
            </a:r>
            <a:endParaRPr lang="zh-TW" altLang="en-US" sz="1050" dirty="0">
              <a:latin typeface="Adobe 仿宋 Std R" panose="02020400000000000000" pitchFamily="18" charset="-128"/>
              <a:ea typeface="Adobe 仿宋 Std R" panose="02020400000000000000" pitchFamily="18" charset="-128"/>
            </a:endParaRPr>
          </a:p>
        </p:txBody>
      </p:sp>
      <p:pic>
        <p:nvPicPr>
          <p:cNvPr id="2" name="圖片 1">
            <a:extLst>
              <a:ext uri="{FF2B5EF4-FFF2-40B4-BE49-F238E27FC236}">
                <a16:creationId xmlns:a16="http://schemas.microsoft.com/office/drawing/2014/main" id="{DAFE3AE2-45F2-4F5E-AA19-A5D207B1A716}"/>
              </a:ext>
            </a:extLst>
          </p:cNvPr>
          <p:cNvPicPr>
            <a:picLocks noChangeAspect="1"/>
          </p:cNvPicPr>
          <p:nvPr/>
        </p:nvPicPr>
        <p:blipFill>
          <a:blip r:embed="rId2"/>
          <a:stretch>
            <a:fillRect/>
          </a:stretch>
        </p:blipFill>
        <p:spPr>
          <a:xfrm>
            <a:off x="628560" y="1296443"/>
            <a:ext cx="4944507" cy="4139152"/>
          </a:xfrm>
          <a:prstGeom prst="rect">
            <a:avLst/>
          </a:prstGeom>
        </p:spPr>
      </p:pic>
      <p:pic>
        <p:nvPicPr>
          <p:cNvPr id="18" name="圖片 17">
            <a:extLst>
              <a:ext uri="{FF2B5EF4-FFF2-40B4-BE49-F238E27FC236}">
                <a16:creationId xmlns:a16="http://schemas.microsoft.com/office/drawing/2014/main" id="{557F3552-88BF-4549-B5D3-19BF84A6124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823154" y="3626766"/>
            <a:ext cx="2693501" cy="3810000"/>
          </a:xfrm>
          <a:prstGeom prst="rect">
            <a:avLst/>
          </a:prstGeom>
        </p:spPr>
      </p:pic>
    </p:spTree>
    <p:extLst>
      <p:ext uri="{BB962C8B-B14F-4D97-AF65-F5344CB8AC3E}">
        <p14:creationId xmlns:p14="http://schemas.microsoft.com/office/powerpoint/2010/main" val="15002509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模擬類比</a:t>
            </a:r>
            <a:r>
              <a:rPr lang="en-US" altLang="zh-TW"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(PWM)</a:t>
            </a: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輸出</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3" name="圖片 2">
            <a:extLst>
              <a:ext uri="{FF2B5EF4-FFF2-40B4-BE49-F238E27FC236}">
                <a16:creationId xmlns:a16="http://schemas.microsoft.com/office/drawing/2014/main" id="{9C00E003-0CB6-4C93-B9C2-38358F705506}"/>
              </a:ext>
            </a:extLst>
          </p:cNvPr>
          <p:cNvPicPr>
            <a:picLocks noChangeAspect="1"/>
          </p:cNvPicPr>
          <p:nvPr/>
        </p:nvPicPr>
        <p:blipFill>
          <a:blip r:embed="rId2"/>
          <a:stretch>
            <a:fillRect/>
          </a:stretch>
        </p:blipFill>
        <p:spPr>
          <a:xfrm>
            <a:off x="628560" y="1373353"/>
            <a:ext cx="4651085" cy="4111293"/>
          </a:xfrm>
          <a:prstGeom prst="rect">
            <a:avLst/>
          </a:prstGeom>
        </p:spPr>
      </p:pic>
      <p:sp>
        <p:nvSpPr>
          <p:cNvPr id="4" name="文字方塊 3">
            <a:extLst>
              <a:ext uri="{FF2B5EF4-FFF2-40B4-BE49-F238E27FC236}">
                <a16:creationId xmlns:a16="http://schemas.microsoft.com/office/drawing/2014/main" id="{C0C8E799-E8D4-4BC2-9936-3DC62707E839}"/>
              </a:ext>
            </a:extLst>
          </p:cNvPr>
          <p:cNvSpPr txBox="1"/>
          <p:nvPr/>
        </p:nvSpPr>
        <p:spPr>
          <a:xfrm>
            <a:off x="5493136" y="1314562"/>
            <a:ext cx="2809448" cy="2169825"/>
          </a:xfrm>
          <a:prstGeom prst="rect">
            <a:avLst/>
          </a:prstGeom>
          <a:noFill/>
        </p:spPr>
        <p:txBody>
          <a:bodyPr wrap="square" rtlCol="0">
            <a:spAutoFit/>
          </a:bodyPr>
          <a:lstStyle/>
          <a:p>
            <a:pPr algn="just"/>
            <a:r>
              <a:rPr lang="zh-TW" altLang="en-US" sz="1350" dirty="0">
                <a:latin typeface="Adobe 仿宋 Std R" panose="02020400000000000000" pitchFamily="18" charset="-128"/>
                <a:ea typeface="Adobe 仿宋 Std R" panose="02020400000000000000" pitchFamily="18" charset="-128"/>
              </a:rPr>
              <a:t>微處理器的類比輸出是應用模擬方式，使用脈衝寬度調變器</a:t>
            </a:r>
            <a:r>
              <a:rPr lang="en-US" altLang="zh-TW" sz="1350" dirty="0">
                <a:latin typeface="Adobe 仿宋 Std R" panose="02020400000000000000" pitchFamily="18" charset="-128"/>
                <a:ea typeface="Adobe 仿宋 Std R" panose="02020400000000000000" pitchFamily="18" charset="-128"/>
              </a:rPr>
              <a:t>(PWM)</a:t>
            </a:r>
            <a:r>
              <a:rPr lang="zh-TW" altLang="en-US" sz="1350" dirty="0">
                <a:latin typeface="Adobe 仿宋 Std R" panose="02020400000000000000" pitchFamily="18" charset="-128"/>
                <a:ea typeface="Adobe 仿宋 Std R" panose="02020400000000000000" pitchFamily="18" charset="-128"/>
              </a:rPr>
              <a:t>來實現類比訊號的輪出。</a:t>
            </a:r>
            <a:endParaRPr lang="en-US" altLang="zh-TW" sz="1350" dirty="0">
              <a:latin typeface="Adobe 仿宋 Std R" panose="02020400000000000000" pitchFamily="18" charset="-128"/>
              <a:ea typeface="Adobe 仿宋 Std R" panose="02020400000000000000" pitchFamily="18" charset="-128"/>
            </a:endParaRPr>
          </a:p>
          <a:p>
            <a:pPr algn="just"/>
            <a:r>
              <a:rPr lang="en-US" altLang="zh-TW" sz="1350" dirty="0">
                <a:latin typeface="Adobe 仿宋 Std R" panose="02020400000000000000" pitchFamily="18" charset="-128"/>
                <a:ea typeface="Adobe 仿宋 Std R" panose="02020400000000000000" pitchFamily="18" charset="-128"/>
              </a:rPr>
              <a:t>PWM, Pulse Width Modulation</a:t>
            </a:r>
            <a:r>
              <a:rPr lang="zh-TW" altLang="en-US" sz="1350" dirty="0">
                <a:latin typeface="Adobe 仿宋 Std R" panose="02020400000000000000" pitchFamily="18" charset="-128"/>
                <a:ea typeface="Adobe 仿宋 Std R" panose="02020400000000000000" pitchFamily="18" charset="-128"/>
              </a:rPr>
              <a:t>是一種應用數位模擬類比訊號的技術。 數位控制用於產生方波，即在開和關之間切換訊號。 這種開關模式可以透過改變訊號開啟時間與訊號關閉時間的比例來模擬全開（</a:t>
            </a:r>
            <a:r>
              <a:rPr lang="en-US" altLang="zh-TW" sz="1350" dirty="0">
                <a:latin typeface="Adobe 仿宋 Std R" panose="02020400000000000000" pitchFamily="18" charset="-128"/>
                <a:ea typeface="Adobe 仿宋 Std R" panose="02020400000000000000" pitchFamily="18" charset="-128"/>
              </a:rPr>
              <a:t>5 </a:t>
            </a:r>
            <a:r>
              <a:rPr lang="zh-TW" altLang="en-US" sz="1350" dirty="0">
                <a:latin typeface="Adobe 仿宋 Std R" panose="02020400000000000000" pitchFamily="18" charset="-128"/>
                <a:ea typeface="Adobe 仿宋 Std R" panose="02020400000000000000" pitchFamily="18" charset="-128"/>
              </a:rPr>
              <a:t>伏）和關閉（</a:t>
            </a:r>
            <a:r>
              <a:rPr lang="en-US" altLang="zh-TW" sz="1350" dirty="0">
                <a:latin typeface="Adobe 仿宋 Std R" panose="02020400000000000000" pitchFamily="18" charset="-128"/>
                <a:ea typeface="Adobe 仿宋 Std R" panose="02020400000000000000" pitchFamily="18" charset="-128"/>
              </a:rPr>
              <a:t>0 </a:t>
            </a:r>
            <a:r>
              <a:rPr lang="zh-TW" altLang="en-US" sz="1350" dirty="0">
                <a:latin typeface="Adobe 仿宋 Std R" panose="02020400000000000000" pitchFamily="18" charset="-128"/>
                <a:ea typeface="Adobe 仿宋 Std R" panose="02020400000000000000" pitchFamily="18" charset="-128"/>
              </a:rPr>
              <a:t>伏）之間的電壓。</a:t>
            </a:r>
          </a:p>
        </p:txBody>
      </p:sp>
      <p:pic>
        <p:nvPicPr>
          <p:cNvPr id="3074" name="Picture 2" descr="https://how2electronics.com/wp-content/uploads/2022/09/pwm-574x360.jpg">
            <a:extLst>
              <a:ext uri="{FF2B5EF4-FFF2-40B4-BE49-F238E27FC236}">
                <a16:creationId xmlns:a16="http://schemas.microsoft.com/office/drawing/2014/main" id="{A1D017B7-8718-4946-8DFB-03C22EB0A36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93136" y="3831900"/>
            <a:ext cx="3021584" cy="18950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95431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zh-TW" alt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類比輸入</a:t>
            </a:r>
            <a:endParaRPr lang="en-US" sz="36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5" name="圖片 4">
            <a:extLst>
              <a:ext uri="{FF2B5EF4-FFF2-40B4-BE49-F238E27FC236}">
                <a16:creationId xmlns:a16="http://schemas.microsoft.com/office/drawing/2014/main" id="{C2AE895A-78AE-4AAF-B26D-274E7784A671}"/>
              </a:ext>
            </a:extLst>
          </p:cNvPr>
          <p:cNvPicPr>
            <a:picLocks noChangeAspect="1"/>
          </p:cNvPicPr>
          <p:nvPr/>
        </p:nvPicPr>
        <p:blipFill>
          <a:blip r:embed="rId2"/>
          <a:stretch>
            <a:fillRect/>
          </a:stretch>
        </p:blipFill>
        <p:spPr>
          <a:xfrm>
            <a:off x="6337985" y="869952"/>
            <a:ext cx="1851242" cy="1711323"/>
          </a:xfrm>
          <a:prstGeom prst="rect">
            <a:avLst/>
          </a:prstGeom>
        </p:spPr>
      </p:pic>
      <p:pic>
        <p:nvPicPr>
          <p:cNvPr id="6" name="圖片 5">
            <a:extLst>
              <a:ext uri="{FF2B5EF4-FFF2-40B4-BE49-F238E27FC236}">
                <a16:creationId xmlns:a16="http://schemas.microsoft.com/office/drawing/2014/main" id="{62131EDA-3038-4115-AB29-4BEED65A0BBB}"/>
              </a:ext>
            </a:extLst>
          </p:cNvPr>
          <p:cNvPicPr>
            <a:picLocks noChangeAspect="1"/>
          </p:cNvPicPr>
          <p:nvPr/>
        </p:nvPicPr>
        <p:blipFill>
          <a:blip r:embed="rId3"/>
          <a:stretch>
            <a:fillRect/>
          </a:stretch>
        </p:blipFill>
        <p:spPr>
          <a:xfrm>
            <a:off x="521812" y="1273959"/>
            <a:ext cx="4947378" cy="3956467"/>
          </a:xfrm>
          <a:prstGeom prst="rect">
            <a:avLst/>
          </a:prstGeom>
        </p:spPr>
      </p:pic>
      <p:cxnSp>
        <p:nvCxnSpPr>
          <p:cNvPr id="8" name="直線單箭頭接點 7">
            <a:extLst>
              <a:ext uri="{FF2B5EF4-FFF2-40B4-BE49-F238E27FC236}">
                <a16:creationId xmlns:a16="http://schemas.microsoft.com/office/drawing/2014/main" id="{F27D2517-B49D-4B3E-91D5-AF2901B7F5D5}"/>
              </a:ext>
            </a:extLst>
          </p:cNvPr>
          <p:cNvCxnSpPr/>
          <p:nvPr/>
        </p:nvCxnSpPr>
        <p:spPr>
          <a:xfrm>
            <a:off x="6410505" y="2581275"/>
            <a:ext cx="0" cy="580012"/>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9" name="文字方塊 8">
            <a:extLst>
              <a:ext uri="{FF2B5EF4-FFF2-40B4-BE49-F238E27FC236}">
                <a16:creationId xmlns:a16="http://schemas.microsoft.com/office/drawing/2014/main" id="{D3F6E53C-E268-4A4E-95E1-17B3100CE007}"/>
              </a:ext>
            </a:extLst>
          </p:cNvPr>
          <p:cNvSpPr txBox="1"/>
          <p:nvPr/>
        </p:nvSpPr>
        <p:spPr>
          <a:xfrm>
            <a:off x="6110423" y="3161287"/>
            <a:ext cx="646331" cy="300082"/>
          </a:xfrm>
          <a:prstGeom prst="rect">
            <a:avLst/>
          </a:prstGeom>
          <a:noFill/>
        </p:spPr>
        <p:txBody>
          <a:bodyPr wrap="none" rtlCol="0">
            <a:spAutoFit/>
          </a:bodyPr>
          <a:lstStyle/>
          <a:p>
            <a:r>
              <a:rPr lang="en-US" altLang="zh-TW" sz="1350" dirty="0"/>
              <a:t>ADC0</a:t>
            </a:r>
            <a:endParaRPr lang="zh-TW" altLang="en-US" sz="1350" dirty="0"/>
          </a:p>
        </p:txBody>
      </p:sp>
      <p:pic>
        <p:nvPicPr>
          <p:cNvPr id="12" name="圖片 11">
            <a:extLst>
              <a:ext uri="{FF2B5EF4-FFF2-40B4-BE49-F238E27FC236}">
                <a16:creationId xmlns:a16="http://schemas.microsoft.com/office/drawing/2014/main" id="{82C87ECB-64FE-4A4B-9A93-6A37A0E195B5}"/>
              </a:ext>
            </a:extLst>
          </p:cNvPr>
          <p:cNvPicPr/>
          <p:nvPr/>
        </p:nvPicPr>
        <p:blipFill>
          <a:blip r:embed="rId4"/>
          <a:stretch>
            <a:fillRect/>
          </a:stretch>
        </p:blipFill>
        <p:spPr>
          <a:xfrm rot="5400000">
            <a:off x="7107203" y="3191106"/>
            <a:ext cx="1383224" cy="345958"/>
          </a:xfrm>
          <a:prstGeom prst="rect">
            <a:avLst/>
          </a:prstGeom>
        </p:spPr>
      </p:pic>
      <p:cxnSp>
        <p:nvCxnSpPr>
          <p:cNvPr id="11" name="直線單箭頭接點 10">
            <a:extLst>
              <a:ext uri="{FF2B5EF4-FFF2-40B4-BE49-F238E27FC236}">
                <a16:creationId xmlns:a16="http://schemas.microsoft.com/office/drawing/2014/main" id="{4C65CAD5-678D-45F3-A83C-6893AAF59338}"/>
              </a:ext>
            </a:extLst>
          </p:cNvPr>
          <p:cNvCxnSpPr/>
          <p:nvPr/>
        </p:nvCxnSpPr>
        <p:spPr>
          <a:xfrm>
            <a:off x="6959804" y="3898157"/>
            <a:ext cx="890081" cy="0"/>
          </a:xfrm>
          <a:prstGeom prst="straightConnector1">
            <a:avLst/>
          </a:prstGeom>
          <a:ln w="28575">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3" name="文字方塊 12">
            <a:extLst>
              <a:ext uri="{FF2B5EF4-FFF2-40B4-BE49-F238E27FC236}">
                <a16:creationId xmlns:a16="http://schemas.microsoft.com/office/drawing/2014/main" id="{44E8A9D6-09A9-47AE-98B0-2FF92F42A478}"/>
              </a:ext>
            </a:extLst>
          </p:cNvPr>
          <p:cNvSpPr txBox="1"/>
          <p:nvPr/>
        </p:nvSpPr>
        <p:spPr>
          <a:xfrm>
            <a:off x="6475057" y="3778697"/>
            <a:ext cx="530915" cy="300082"/>
          </a:xfrm>
          <a:prstGeom prst="rect">
            <a:avLst/>
          </a:prstGeom>
          <a:noFill/>
        </p:spPr>
        <p:txBody>
          <a:bodyPr wrap="none" rtlCol="0">
            <a:spAutoFit/>
          </a:bodyPr>
          <a:lstStyle/>
          <a:p>
            <a:r>
              <a:rPr lang="en-US" altLang="zh-TW" sz="1350" dirty="0"/>
              <a:t>GP3</a:t>
            </a:r>
            <a:endParaRPr lang="zh-TW" altLang="en-US" sz="1350" dirty="0"/>
          </a:p>
        </p:txBody>
      </p:sp>
      <p:sp>
        <p:nvSpPr>
          <p:cNvPr id="14" name="文字方塊 13">
            <a:extLst>
              <a:ext uri="{FF2B5EF4-FFF2-40B4-BE49-F238E27FC236}">
                <a16:creationId xmlns:a16="http://schemas.microsoft.com/office/drawing/2014/main" id="{FBA7EFFC-EB41-4B07-B75A-0083AB3AC79D}"/>
              </a:ext>
            </a:extLst>
          </p:cNvPr>
          <p:cNvSpPr txBox="1"/>
          <p:nvPr/>
        </p:nvSpPr>
        <p:spPr>
          <a:xfrm>
            <a:off x="6475056" y="2481577"/>
            <a:ext cx="396262" cy="300082"/>
          </a:xfrm>
          <a:prstGeom prst="rect">
            <a:avLst/>
          </a:prstGeom>
          <a:noFill/>
        </p:spPr>
        <p:txBody>
          <a:bodyPr wrap="none" rtlCol="0">
            <a:spAutoFit/>
          </a:bodyPr>
          <a:lstStyle/>
          <a:p>
            <a:r>
              <a:rPr lang="en-US" altLang="zh-TW" sz="1350" dirty="0"/>
              <a:t>5V</a:t>
            </a:r>
            <a:endParaRPr lang="zh-TW" altLang="en-US" sz="1350" dirty="0"/>
          </a:p>
        </p:txBody>
      </p:sp>
      <p:sp>
        <p:nvSpPr>
          <p:cNvPr id="15" name="文字方塊 14">
            <a:extLst>
              <a:ext uri="{FF2B5EF4-FFF2-40B4-BE49-F238E27FC236}">
                <a16:creationId xmlns:a16="http://schemas.microsoft.com/office/drawing/2014/main" id="{0365B344-5DD0-41AB-BB57-CE9F1D158D54}"/>
              </a:ext>
            </a:extLst>
          </p:cNvPr>
          <p:cNvSpPr txBox="1"/>
          <p:nvPr/>
        </p:nvSpPr>
        <p:spPr>
          <a:xfrm>
            <a:off x="5855738" y="2254427"/>
            <a:ext cx="569387" cy="300082"/>
          </a:xfrm>
          <a:prstGeom prst="rect">
            <a:avLst/>
          </a:prstGeom>
          <a:noFill/>
        </p:spPr>
        <p:txBody>
          <a:bodyPr wrap="none" rtlCol="0">
            <a:spAutoFit/>
          </a:bodyPr>
          <a:lstStyle/>
          <a:p>
            <a:r>
              <a:rPr lang="en-US" altLang="zh-TW" sz="1350" dirty="0"/>
              <a:t>GND</a:t>
            </a:r>
            <a:endParaRPr lang="zh-TW" altLang="en-US" sz="1350" dirty="0"/>
          </a:p>
        </p:txBody>
      </p:sp>
      <p:pic>
        <p:nvPicPr>
          <p:cNvPr id="3" name="圖片 2">
            <a:extLst>
              <a:ext uri="{FF2B5EF4-FFF2-40B4-BE49-F238E27FC236}">
                <a16:creationId xmlns:a16="http://schemas.microsoft.com/office/drawing/2014/main" id="{3C8A1ED6-DC4F-433C-8A33-A1431C00CD2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659221" y="3671381"/>
            <a:ext cx="2693501" cy="3810000"/>
          </a:xfrm>
          <a:prstGeom prst="rect">
            <a:avLst/>
          </a:prstGeom>
        </p:spPr>
      </p:pic>
      <p:cxnSp>
        <p:nvCxnSpPr>
          <p:cNvPr id="17" name="直線單箭頭接點 16">
            <a:extLst>
              <a:ext uri="{FF2B5EF4-FFF2-40B4-BE49-F238E27FC236}">
                <a16:creationId xmlns:a16="http://schemas.microsoft.com/office/drawing/2014/main" id="{952E663E-66AA-4F32-A127-C1D1F528D38C}"/>
              </a:ext>
            </a:extLst>
          </p:cNvPr>
          <p:cNvCxnSpPr/>
          <p:nvPr/>
        </p:nvCxnSpPr>
        <p:spPr>
          <a:xfrm>
            <a:off x="4419600" y="4733925"/>
            <a:ext cx="1918385" cy="842456"/>
          </a:xfrm>
          <a:prstGeom prst="straightConnector1">
            <a:avLst/>
          </a:prstGeom>
          <a:ln w="19050">
            <a:solidFill>
              <a:srgbClr val="FF0000"/>
            </a:solidFill>
            <a:tailEnd type="arrow" w="lg" len="lg"/>
          </a:ln>
        </p:spPr>
        <p:style>
          <a:lnRef idx="1">
            <a:schemeClr val="accent1"/>
          </a:lnRef>
          <a:fillRef idx="0">
            <a:schemeClr val="accent1"/>
          </a:fillRef>
          <a:effectRef idx="0">
            <a:schemeClr val="accent1"/>
          </a:effectRef>
          <a:fontRef idx="minor">
            <a:schemeClr val="tx1"/>
          </a:fontRef>
        </p:style>
      </p:cxnSp>
      <p:sp>
        <p:nvSpPr>
          <p:cNvPr id="18" name="文字方塊 17">
            <a:extLst>
              <a:ext uri="{FF2B5EF4-FFF2-40B4-BE49-F238E27FC236}">
                <a16:creationId xmlns:a16="http://schemas.microsoft.com/office/drawing/2014/main" id="{5E3F046E-A07E-451B-9426-AF06EB6B62C4}"/>
              </a:ext>
            </a:extLst>
          </p:cNvPr>
          <p:cNvSpPr txBox="1"/>
          <p:nvPr/>
        </p:nvSpPr>
        <p:spPr>
          <a:xfrm>
            <a:off x="4786777" y="4785821"/>
            <a:ext cx="505267" cy="369332"/>
          </a:xfrm>
          <a:prstGeom prst="rect">
            <a:avLst/>
          </a:prstGeom>
          <a:noFill/>
        </p:spPr>
        <p:txBody>
          <a:bodyPr wrap="none" rtlCol="0">
            <a:spAutoFit/>
          </a:bodyPr>
          <a:lstStyle/>
          <a:p>
            <a:r>
              <a:rPr lang="en-US" altLang="zh-TW" dirty="0"/>
              <a:t>M1</a:t>
            </a:r>
            <a:endParaRPr lang="zh-TW" altLang="en-US" dirty="0"/>
          </a:p>
        </p:txBody>
      </p:sp>
    </p:spTree>
    <p:extLst>
      <p:ext uri="{BB962C8B-B14F-4D97-AF65-F5344CB8AC3E}">
        <p14:creationId xmlns:p14="http://schemas.microsoft.com/office/powerpoint/2010/main" val="379759564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560" y="471600"/>
            <a:ext cx="7886160" cy="495450"/>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altLang="zh-TW"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WS2812B LED</a:t>
            </a:r>
            <a:endParaRPr lang="en-US"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pic>
        <p:nvPicPr>
          <p:cNvPr id="2" name="圖片 1">
            <a:extLst>
              <a:ext uri="{FF2B5EF4-FFF2-40B4-BE49-F238E27FC236}">
                <a16:creationId xmlns:a16="http://schemas.microsoft.com/office/drawing/2014/main" id="{4DC2ED78-B546-4267-B5CE-A3F1EAD8B054}"/>
              </a:ext>
            </a:extLst>
          </p:cNvPr>
          <p:cNvPicPr>
            <a:picLocks noChangeAspect="1"/>
          </p:cNvPicPr>
          <p:nvPr/>
        </p:nvPicPr>
        <p:blipFill>
          <a:blip r:embed="rId3"/>
          <a:stretch>
            <a:fillRect/>
          </a:stretch>
        </p:blipFill>
        <p:spPr>
          <a:xfrm>
            <a:off x="3751597" y="1238183"/>
            <a:ext cx="4032963" cy="4381634"/>
          </a:xfrm>
          <a:prstGeom prst="rect">
            <a:avLst/>
          </a:prstGeom>
        </p:spPr>
      </p:pic>
      <p:graphicFrame>
        <p:nvGraphicFramePr>
          <p:cNvPr id="3" name="物件 2">
            <a:extLst>
              <a:ext uri="{FF2B5EF4-FFF2-40B4-BE49-F238E27FC236}">
                <a16:creationId xmlns:a16="http://schemas.microsoft.com/office/drawing/2014/main" id="{A721F398-99C8-41D9-AF72-8487E6024F85}"/>
              </a:ext>
            </a:extLst>
          </p:cNvPr>
          <p:cNvGraphicFramePr>
            <a:graphicFrameLocks noChangeAspect="1"/>
          </p:cNvGraphicFramePr>
          <p:nvPr>
            <p:extLst>
              <p:ext uri="{D42A27DB-BD31-4B8C-83A1-F6EECF244321}">
                <p14:modId xmlns:p14="http://schemas.microsoft.com/office/powerpoint/2010/main" val="2758113471"/>
              </p:ext>
            </p:extLst>
          </p:nvPr>
        </p:nvGraphicFramePr>
        <p:xfrm>
          <a:off x="695235" y="1238183"/>
          <a:ext cx="1474669" cy="1565596"/>
        </p:xfrm>
        <a:graphic>
          <a:graphicData uri="http://schemas.openxmlformats.org/presentationml/2006/ole">
            <mc:AlternateContent xmlns:mc="http://schemas.openxmlformats.org/markup-compatibility/2006">
              <mc:Choice xmlns:v="urn:schemas-microsoft-com:vml" Requires="v">
                <p:oleObj spid="_x0000_s2069" name="Image" r:id="rId4" imgW="11263320" imgH="11987280" progId="Photoshop.Image.13">
                  <p:embed/>
                </p:oleObj>
              </mc:Choice>
              <mc:Fallback>
                <p:oleObj name="Image" r:id="rId4" imgW="11263320" imgH="11987280" progId="Photoshop.Image.13">
                  <p:embed/>
                  <p:pic>
                    <p:nvPicPr>
                      <p:cNvPr id="3" name="物件 2">
                        <a:extLst>
                          <a:ext uri="{FF2B5EF4-FFF2-40B4-BE49-F238E27FC236}">
                            <a16:creationId xmlns:a16="http://schemas.microsoft.com/office/drawing/2014/main" id="{A721F398-99C8-41D9-AF72-8487E6024F85}"/>
                          </a:ext>
                        </a:extLst>
                      </p:cNvPr>
                      <p:cNvPicPr/>
                      <p:nvPr/>
                    </p:nvPicPr>
                    <p:blipFill>
                      <a:blip r:embed="rId5"/>
                      <a:stretch>
                        <a:fillRect/>
                      </a:stretch>
                    </p:blipFill>
                    <p:spPr>
                      <a:xfrm>
                        <a:off x="695235" y="1238183"/>
                        <a:ext cx="1474669" cy="1565596"/>
                      </a:xfrm>
                      <a:prstGeom prst="rect">
                        <a:avLst/>
                      </a:prstGeom>
                    </p:spPr>
                  </p:pic>
                </p:oleObj>
              </mc:Fallback>
            </mc:AlternateContent>
          </a:graphicData>
        </a:graphic>
      </p:graphicFrame>
      <p:sp>
        <p:nvSpPr>
          <p:cNvPr id="4" name="文字方塊 3">
            <a:extLst>
              <a:ext uri="{FF2B5EF4-FFF2-40B4-BE49-F238E27FC236}">
                <a16:creationId xmlns:a16="http://schemas.microsoft.com/office/drawing/2014/main" id="{549A9D7B-30FF-4C51-8F1C-133D32C9206F}"/>
              </a:ext>
            </a:extLst>
          </p:cNvPr>
          <p:cNvSpPr txBox="1"/>
          <p:nvPr/>
        </p:nvSpPr>
        <p:spPr>
          <a:xfrm>
            <a:off x="628560" y="2921169"/>
            <a:ext cx="2763961" cy="507831"/>
          </a:xfrm>
          <a:prstGeom prst="rect">
            <a:avLst/>
          </a:prstGeom>
          <a:noFill/>
        </p:spPr>
        <p:txBody>
          <a:bodyPr wrap="square" rtlCol="0">
            <a:spAutoFit/>
          </a:bodyPr>
          <a:lstStyle/>
          <a:p>
            <a:r>
              <a:rPr lang="zh-TW" altLang="en-US" sz="1350" dirty="0">
                <a:latin typeface="Adobe 仿宋 Std R" panose="02020400000000000000" pitchFamily="18" charset="-128"/>
                <a:ea typeface="Adobe 仿宋 Std R" panose="02020400000000000000" pitchFamily="18" charset="-128"/>
              </a:rPr>
              <a:t>應用</a:t>
            </a:r>
            <a:r>
              <a:rPr lang="en-US" altLang="zh-TW" sz="1350" dirty="0">
                <a:latin typeface="Adobe 仿宋 Std R" panose="02020400000000000000" pitchFamily="18" charset="-128"/>
                <a:ea typeface="Adobe 仿宋 Std R" panose="02020400000000000000" pitchFamily="18" charset="-128"/>
              </a:rPr>
              <a:t>PIO</a:t>
            </a:r>
            <a:r>
              <a:rPr lang="zh-TW" altLang="en-US" sz="1350" dirty="0">
                <a:latin typeface="Adobe 仿宋 Std R" panose="02020400000000000000" pitchFamily="18" charset="-128"/>
                <a:ea typeface="Adobe 仿宋 Std R" panose="02020400000000000000" pitchFamily="18" charset="-128"/>
              </a:rPr>
              <a:t>的狀態機控制</a:t>
            </a:r>
            <a:r>
              <a:rPr lang="en-US" altLang="zh-TW" sz="1350" dirty="0">
                <a:latin typeface="Adobe 仿宋 Std R" panose="02020400000000000000" pitchFamily="18" charset="-128"/>
                <a:ea typeface="Adobe 仿宋 Std R" panose="02020400000000000000" pitchFamily="18" charset="-128"/>
              </a:rPr>
              <a:t>WS2812B RGB LED</a:t>
            </a:r>
            <a:r>
              <a:rPr lang="zh-TW" altLang="en-US" sz="1350" dirty="0">
                <a:latin typeface="Adobe 仿宋 Std R" panose="02020400000000000000" pitchFamily="18" charset="-128"/>
                <a:ea typeface="Adobe 仿宋 Std R" panose="02020400000000000000" pitchFamily="18" charset="-128"/>
              </a:rPr>
              <a:t>燈串的光源</a:t>
            </a:r>
          </a:p>
        </p:txBody>
      </p:sp>
    </p:spTree>
    <p:extLst>
      <p:ext uri="{BB962C8B-B14F-4D97-AF65-F5344CB8AC3E}">
        <p14:creationId xmlns:p14="http://schemas.microsoft.com/office/powerpoint/2010/main" val="319174710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CustomShape 1"/>
          <p:cNvSpPr/>
          <p:nvPr/>
        </p:nvSpPr>
        <p:spPr>
          <a:xfrm>
            <a:off x="628920" y="1586024"/>
            <a:ext cx="7886160" cy="2319225"/>
          </a:xfrm>
          <a:prstGeom prst="rect">
            <a:avLst/>
          </a:prstGeom>
          <a:noFill/>
          <a:ln>
            <a:noFill/>
          </a:ln>
        </p:spPr>
        <p:style>
          <a:lnRef idx="0">
            <a:scrgbClr r="0" g="0" b="0"/>
          </a:lnRef>
          <a:fillRef idx="0">
            <a:scrgbClr r="0" g="0" b="0"/>
          </a:fillRef>
          <a:effectRef idx="0">
            <a:scrgbClr r="0" g="0" b="0"/>
          </a:effectRef>
          <a:fontRef idx="minor"/>
        </p:style>
        <p:txBody>
          <a:bodyPr lIns="67500" tIns="33750" rIns="67500" bIns="33750"/>
          <a:lstStyle/>
          <a:p>
            <a:pPr>
              <a:lnSpc>
                <a:spcPct val="100000"/>
              </a:lnSpc>
            </a:pPr>
            <a:r>
              <a:rPr lang="en-US" altLang="zh-TW"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rPr>
              <a:t>https://github.com/cmlo/mangoblock-desktop/releases/download/v1.2/MangoBlock.1.2.19.msi</a:t>
            </a:r>
            <a:endParaRPr lang="en-US" sz="3300" spc="-1" dirty="0">
              <a:solidFill>
                <a:srgbClr val="000000"/>
              </a:solidFill>
              <a:uFill>
                <a:solidFill>
                  <a:srgbClr val="FFFFFF"/>
                </a:solidFill>
              </a:uFill>
              <a:latin typeface="Adobe 黑体 Std R" panose="020B0400000000000000" pitchFamily="34" charset="-128"/>
              <a:ea typeface="Adobe 黑体 Std R" panose="020B0400000000000000" pitchFamily="34" charset="-128"/>
            </a:endParaRPr>
          </a:p>
        </p:txBody>
      </p:sp>
    </p:spTree>
    <p:extLst>
      <p:ext uri="{BB962C8B-B14F-4D97-AF65-F5344CB8AC3E}">
        <p14:creationId xmlns:p14="http://schemas.microsoft.com/office/powerpoint/2010/main" val="267333937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ns0:Properties xmlns:ns0="http://schemas.openxmlformats.org/officeDocument/2006/extended-properties" xmlns:ns1="http://schemas.openxmlformats.org/officeDocument/2006/docPropsVTypes">
  <ns0:Template/>
  <ns0:TotalTime>362</ns0:TotalTime>
  <ns0:Words>1787</ns0:Words>
  <ns0:Application>Microsoft Office PowerPoint</ns0:Application>
  <ns0:PresentationFormat>如螢幕大小 (4:3)</ns0:PresentationFormat>
  <ns0:Paragraphs>233</ns0:Paragraphs>
  <ns0:Slides>25</ns0:Slides>
  <ns0:Notes>2</ns0:Notes>
  <ns0:HiddenSlides>0</ns0:HiddenSlides>
  <ns0:MMClips>0</ns0:MMClips>
  <ns0:ScaleCrop>false</ns0:ScaleCrop>
  <ns0:HeadingPairs>
    <ns1:vector size="8" baseType="variant">
      <ns1:variant>
        <ns1:lpstr>使用字型</ns1:lpstr>
      </ns1:variant>
      <ns1:variant>
        <ns1:i4>7</ns1:i4>
      </ns1:variant>
      <ns1:variant>
        <ns1:lpstr>佈景主題</ns1:lpstr>
      </ns1:variant>
      <ns1:variant>
        <ns1:i4>1</ns1:i4>
      </ns1:variant>
      <ns1:variant>
        <ns1:lpstr>內嵌 OLE 伺服程式</ns1:lpstr>
      </ns1:variant>
      <ns1:variant>
        <ns1:i4>1</ns1:i4>
      </ns1:variant>
      <ns1:variant>
        <ns1:lpstr>投影片標題</ns1:lpstr>
      </ns1:variant>
      <ns1:variant>
        <ns1:i4>25</ns1:i4>
      </ns1:variant>
    </ns1:vector>
  </ns0:HeadingPairs>
  <ns0:TitlesOfParts>
    <ns1:vector size="34" baseType="lpstr">
      <ns1:lpstr>Adobe 仿宋 Std R</ns1:lpstr>
      <ns1:lpstr>Adobe 黑体 Std R</ns1:lpstr>
      <ns1:lpstr>Adobe 繁黑體 Std B</ns1:lpstr>
      <ns1:lpstr>Arial</ns1:lpstr>
      <ns1:lpstr>Calibri</ns1:lpstr>
      <ns1:lpstr>Symbol</ns1:lpstr>
      <ns1:lpstr>Wingdings</ns1:lpstr>
      <ns1:lpstr>Office Theme</ns1:lpstr>
      <ns1:lpstr>Image</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lpstr>PowerPoint 簡報</ns1:lpstr>
    </ns1:vector>
  </ns0:TitlesOfParts>
  <ns0:LinksUpToDate>false</ns0:LinksUpToDate>
  <ns0:SharedDoc>false</ns0:SharedDoc>
  <ns0:HyperlinksChanged>false</ns0:HyperlinksChanged>
  <ns0:AppVersion>16.0000</ns0:AppVersion>
</ns0:Properties>
</file>

<file path=docProps/core.xml><?xml version="1.0" encoding="utf-8"?>
<ns0:coreProperties xmlns:dc="http://purl.org/dc/elements/1.1/" xmlns:ns0="http://schemas.openxmlformats.org/package/2006/metadata/core-properties" xmlns:ns2="http://purl.org/dc/terms/" xmlns:xsi="http://www.w3.org/2001/XMLSchema-instance">
  <dc:title/>
  <dc:subject/>
  <dc:creator/>
  <dc:description/>
  <ns0:lastModifiedBy/>
  <ns0:revision>1162</ns0:revision>
  <ns2:created xsi:type="dcterms:W3CDTF">2017-05-07T10:18:10Z</ns2:created>
  <ns2:modified xsi:type="dcterms:W3CDTF">2024-06-12T07:33:19Z</ns2:modified>
  <dc:language>zh-TW</dc:language>
</ns0:coreProperties>
</file>

<file path=docProps/custom.xml><?xml version="1.0" encoding="utf-8"?>
<ns0:Properties xmlns:ns0="http://schemas.openxmlformats.org/officeDocument/2006/custom-properties"/>
</file>