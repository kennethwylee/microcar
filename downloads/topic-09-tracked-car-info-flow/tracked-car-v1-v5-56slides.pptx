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500" b="1">
                <a:solidFill>
                  <a:srgbClr val="0F172A"/>
                </a:solidFill>
                <a:latin typeface="Microsoft JhengHei"/>
              </a:rPr>
              <a:t>V1-V5 的完整資訊流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先看整張地圖，再把每一小段拆開。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148590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操作端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Flutter App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5282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6994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控制封包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4308" y="1755648"/>
            <a:ext cx="148590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53746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Wi-Fi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3746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UDP / RTSP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5020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收指令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1688" y="1755648"/>
            <a:ext cx="148590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3484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網路與影像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轉文字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59068" y="1755648"/>
            <a:ext cx="148590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3222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3222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文字命令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4496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6208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解析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6448" y="1755648"/>
            <a:ext cx="148590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馬達控制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234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45946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輸出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053828" y="1755648"/>
            <a:ext cx="148590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126980" y="1901952"/>
            <a:ext cx="133959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Motor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126980" y="2194560"/>
            <a:ext cx="133959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履帶動作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現象：先看整張地圖，再把每一小段拆開。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判讀：本頁只切開「操作端 → Wi-Fi → AMB82 → UART → X3/RP2040 → Motor」這一段，不把後面所有問題混在一起。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處理：遠端鏈：V5 多了 server 與 gateway，但車內控制鏈仍沿用已驗證的 AMB82 到 X3/RP2040。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資訊流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定義：資料從哪裡產生、經過哪裡、最後造成什麼效果。 本案：在本頁對應到「操作端 → Wi-Fi → AMB82 → UART → X3/RP2040 → Motor」這段資訊流。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鏈路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定義：一段完整的傳遞路徑。 本案：在本頁對應到「操作端 → Wi-Fi → AMB82 → UART → X3/RP2040 → Motor」這段資訊流。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001 / 56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V1-V5 的主題與遇到的問題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每一版不是重新開始，而是解決上一版暴露出的問題。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1865376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V1 移動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控制
問題: 命令鏈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3784" y="1755648"/>
            <a:ext cx="1865376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V2 影像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RTSP
問題: 黑畫面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755648"/>
            <a:ext cx="1865376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V3 穩定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分流
問題: 互相干擾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1755648"/>
            <a:ext cx="1865376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V4 延遲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低延遲
問題: lag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下一個問題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755648"/>
            <a:ext cx="1865376" cy="96012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V5 遠端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主題: 跨校園
NAT relay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現象：每一版不是重新開始，而是解決上一版暴露出的問題。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判讀：本頁只切開「V1 移動 → V2 影像 → V3 穩定 → V4 延遲 → V5 遠端」這一段，不把後面所有問題混在一起。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處理：V3 到 V5 分別處理控制/影像分流、低延遲、跨校園中繼。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版本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定義：每一版代表一個工程目標，不是只改名字。 本案：在本頁對應到「V1 移動 → V2 影像 → V3 穩定 → V4 延遲 → V5 遠端」這段資訊流。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問題導向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定義：先描述現象，再用 log 與資訊流找出是哪一段出問題。 本案：在本頁對應到「V1 移動 → V2 影像 → V3 穩定 → V4 延遲 → V5 遠端」這段資訊流。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002 / 56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兩條主線：控制與影像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小車不是只有一條網路，它同時有命令與影像。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控制線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低資料量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需要快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車子動作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即時反應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需要穩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影像線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高資料量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現象：小車不是只有一條網路，它同時有命令與影像。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判讀：本頁只切開「控制線 → 車子動作 → 影像線」這一段，不把後面所有問題混在一起。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處理：v3 之後的核心想法是：控制先穩，影像按需要再啟動。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控制線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定義：讓車子前進、停止、左右轉。 本案：在本頁對應到「控制線 → 車子動作 → 影像線」這段資訊流。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影像線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定義：讓操作者看到畫面。 本案：在本頁對應到「控制線 → 車子動作 → 影像線」這段資訊流。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003 / 56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V1 總圖：只處理移動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第一版先證明 App 可以讓車子動。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Flutter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按鈕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UDP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UDP:8765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UART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UART 收命令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GPIO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Motor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GPIO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判讀：本頁只切開「Flutter App → AMB82 → X3/RP2040 → Motor」這一段，不把後面所有問題混在一起。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UDP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定義：用來送簡短控制命令。 本案：在本案用來送 FORWARD/STOP，資料小、反應快，但要靠 heartbeat/failsafe 補安全。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定義：X3/RP2040 控制馬達驅動板的輸出腳位。 本案：在本案是 X3/RP2040 最後控制馬達驅動板的腳位輸出。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004 / 56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按下按鈕後，App 先改狀態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按鈕亮起不代表車子已收到命令。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Button Down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使用者按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更新 UI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State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目前方向 = 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判讀：本頁只切開「Button Down → App State」這一段，不把後面所有問題混在一起。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UI state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定義：App 畫面內部記住的狀態。 本案：在本頁對應到「Button Down → App State」這段資訊流。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本機事件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定義：還沒有經過 Wi-Fi 的動作。 本案：在本頁對應到「Button Down → App State」這段資訊流。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005 / 56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App 把狀態包成 UDP 封包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狀態要變成網路能傳的資料。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封包化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UDP Payload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 = FORWARD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判讀：本頁只切開「App State → UDP Payload」這一段，不把後面所有問題混在一起。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payload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定義：封包裡真正要送的資料。 本案：在本案通常就是 cmd=FORWARD 這類真正要送的命令內容。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cmd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定義：command 的縮寫，代表命令欄位。 本案：在本案是封包中的命令欄位，後面元件會照它決定動作。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006 / 56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UDP 封包需要 IP 與 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資料必須知道要送到哪台機器、哪個入口。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UDP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cmd=FORWARD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送到指定入口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192.168.x.x:8765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判讀：本頁只切開「UDP Payload → AMB82 Address」這一段，不把後面所有問題混在一起。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定義：網路上的地址。 本案：在本案是 AMB82 目前連上 Wi-Fi 後取得的位置，換熱點常會改變。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定義：同一台設備上不同服務的入口號碼。 本案：在本案 8765 是控制入口，554 是 RTSP 入口。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007 / 56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AMB82 收到 UDP 後，只做轉接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AMB82 在控制鏈中像網路到 X3/RP2040 的轉接站。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UDP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收到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轉成文字命令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 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onsolas"/>
              </a:rPr>
              <a:t>FORWARD\n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判讀：本頁只切開「AMB82 UDP → UART Text」這一段，不把後面所有問題混在一起。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UART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定義：兩塊板子之間的序列通訊。 本案：在本案是 AMB82 到 X3/RP2040 的車內文字命令線，例如 FORWARD\n。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newline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定義：命令結尾，用來分辨一行命令結束。 本案：在本頁對應到「AMB82 UDP → UART Text」這段資訊流。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008 / 56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解析 UART 文字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X3/RP2040 收到文字後，才知道要呼叫哪個動作。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UART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Consolas"/>
              </a:rPr>
              <a:t>FORWARD\n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解析命令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Function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forward()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判讀：本頁只切開「UART Text → X3/RP2040 Function」這一段，不把後面所有問題混在一起。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parse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定義：把文字拆解成程式能理解的命令。 本案：在本頁對應到「UART Text → X3/RP2040 Function」這段資訊流。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function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定義：程式裡負責做某件事的一段邏輯。 本案：在本頁對應到「UART Text → X3/RP2040 Function」這段資訊流。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009 / 56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用 GPIO 控制馬達驅動板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最後不是網路讓輪子動，而是電位輸出讓馬達動。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forward()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設定腳位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GPIO 輸出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Motor Driver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IN1/IN2 變化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判讀：本頁只切開「X3/RP2040 forward() → Motor Driver」這一段，不把後面所有問題混在一起。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GPIO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定義：微控制器可控制的輸出入腳位。 本案：在本案是 X3/RP2040 最後控制馬達驅動板的腳位輸出。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H-bridge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定義：常見馬達正反轉控制電路。 本案：在本頁對應到「X3/RP2040 forward() → Motor Driver」這段資訊流。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010 / 56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STOP 是另一個命令，不是按鈕放開的魔法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車要停，仍然需要 STOP 走完整條路。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STOP Payload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cmd = STOP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安全停止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stop()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全部腳位歸零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現象：車子會維持上一個方向，因此停止也必須是一個完整送達的命令。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判讀：本頁只切開「STOP Payload → X3/RP2040 stop()」這一段，不把後面所有問題混在一起。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處理：確認 App log、AMB82 monitor、X3/RP2040 shell 都有 STOP，再談馬達是否真的停。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failsafe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定義：命令中斷時自動停車的保護機制。 本案：在本案是 X3/RP2040 收不到新命令時自動停車，避免斷線後繼續跑。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heartbeat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定義：持續送出的控制心跳。 本案：在本案是 App 反覆送目前方向，讓 Wi-Fi 抖動時控制不中斷。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011 / 56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V1-8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三個 log 對應三段路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除錯時不要只看一個畫面。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Log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Sent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網路已送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Monitor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X3: FORWARD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UART 已收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Shell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Received: FORWARD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現象：第一階段只驗證移動控制，目標是讓 FORWARD/STOP 穩定到達 X3/RP2040。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判讀：本頁只切開「App Log → AMB82 Monitor → X3/RP2040 Shell」這一段，不把後面所有問題混在一起。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App log、AMB82 monitor、X3/RP2040 shell 對照，找出斷在哪一段。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log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定義：系統留下的執行紀錄。 本案：在本頁對應到「App Log → AMB82 Monitor → X3/RP2040 Shell」這段資訊流。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分段除錯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定義：一次只確認一小段是否正常。 本案：在本頁對應到「App Log → AMB82 Monitor → X3/RP2040 Shell」這段資訊流。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012 / 56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V2 總圖：加入 RTSP 影像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控制鏈之外，多了一條高資料量的影像鏈。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Camera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frame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編碼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 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H264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串流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RTSP/RTP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554 / packets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播放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VLC/App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判讀：本頁只切開「Camera → AMB82 Encoder → RTSP/RTP → Player」這一段，不把後面所有問題混在一起。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定義：建立播放會話的控制協定。 本案：在本案是播放器向 AMB82 要求開始看影像的控制流程。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RTP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定義：實際承載影音資料的協定。 本案：在本案負責把 H264 frame 切成封包送到播放器。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013 / 56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播放器先連到 RTSP port 554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輸入 rtsp://IP:554 時，播放器先建立會話。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VLC /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connect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建立 TCP 連線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RTSP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port 554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判讀：本頁只切開「VLC / App → AMB82 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TCP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定義：可靠連線，RTSP 控制通常走 TCP。 本案：在本案常出現在 RTSP 控制連線；可靠但卡住時可能累積延遲。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554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定義：RTSP 常用 port。 本案：在本頁對應到「VLC / App → AMB82 RTSP」這段資訊流。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014 / 56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OPTIONS 詢問支援哪些方法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播放器先問 server 會什麼。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OPTIONS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詢問能力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可用方法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判讀：本頁只切開「Player → RTSP Server」這一段，不把後面所有問題混在一起。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OPTIONS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定義：詢問 RTSP server 支援的方法。 本案：在本案是 RTSP 連線初期播放器詢問 AMB82 支援哪些方法。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handshake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定義：正式傳輸前的協商。 本案：在本頁對應到「Player → RTSP Server」這段資訊流。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015 / 56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DESCRIBE 取得 SDP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播放器需要知道影像格式與串流資訊。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DESCRIBE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取得描述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H264 / track info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判讀：本頁只切開「Player → SDP」這一段，不把後面所有問題混在一起。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SDP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定義：Session Description Protocol，描述媒體串流。 本案：在本案是 RTSP DESCRIBE 回傳給播放器的串流說明書。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codec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定義：影像壓縮格式，例如 H264。 本案：在本案通常是 H264，表示影像如何被壓縮。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016 / 56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SETUP 決定 RTP 怎麼送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播放器與 AMB82 協商用 UDP 或 TCP 傳影像資料。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transport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協商傳輸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RTP Channel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UDP 或 TCP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判讀：本頁只切開「SETUP → RTP Channel」這一段，不把後面所有問題混在一起。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UDP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定義：低延遲但不保證送達。 本案：在本案用來送 FORWARD/STOP，資料小、反應快，但要靠 heartbeat/failsafe 補安全。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TCP interleaved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定義：RTP 包在 RTSP TCP 連線裡傳。 本案：在本頁對應到「SETUP → RTP Channel」這段資訊流。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017 / 56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PLAY 才開始要求影像資料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看到 REQUEST_PLAY 代表播放器要求開始播放。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PLAY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開始串流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rtp started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判讀：本頁只切開「Player → AMB82」這一段，不把後面所有問題混在一起。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PLAY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定義：要求 RTSP server 開始送媒體。 本案：在本案是播放器正式要求 AMB82 開始送影像。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sf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定義：送出的 frame 數或相關統計。 本案：在本頁對應到「Player → AMB82」這段資訊流。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018 / 56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Camera frame 要先進 encoder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RTSP 開了，不代表 camera 已經產生可送出的 frame。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 Frame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raw image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壓縮編碼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Encoder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H264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判讀：本頁只切開「Camera Frame → Encoder」這一段，不把後面所有問題混在一起。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frame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定義：影像中的一張畫面。 本案：在本案是 camera 產生的一張畫面；沒有 frame，播放器只會黑畫面。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H264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定義：常見低頻寬影片壓縮格式。 本案：在本案是 AMB82 把 camera 畫面壓縮後送給播放器的格式。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019 / 56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sf:0 代表沒有有效影像送出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這是黑畫面排查中最重要的 log 之一。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REQUEST_PLAY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會話正常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控制成功但資料為零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sf:0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沒有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現象：VLC 已進入 PLAY，但 monitor 顯示 sf:0，代表會話存在、影像 frame 沒送出。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判讀：本頁只切開「REQUEST_PLAY → sf:0」這一段，不把後面所有問題混在一起。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處理：下一步不是改播放器，而是檢查 camera frame、encoder 與 getImage 結果。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sf:0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定義：送出的影像 frame 統計為 0。 本案：在本頁對應到「REQUEST_PLAY → sf:0」這段資訊流。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黑畫面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定義：播放器有連線，但沒有可顯示影像。 本案：在本頁對應到「REQUEST_PLAY → sf:0」這段資訊流。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020 / 56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keepalive timeout 是會話維持問題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播放器需要定期告訴 RTSP server：我還在。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Session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已建立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逾時斷線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Keepalive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沒有持續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現象：加入影像後，連線成功不等於有畫面，必須拆 RTSP 控制與 RTP 影像資料。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判讀：本頁只切開「RTSP Session → Keepalive」這一段，不把後面所有問題混在一起。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處理：依序檢查 OPTIONS、DESCRIBE、SETUP、PLAY，再看 frame 是否真的送出。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keepalive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定義：維持連線活著的訊號。 本案：在本案是維持 RTSP session 不被 server 判定失聯。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timeout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定義：等待太久沒有回應。 本案：在本案可能代表 RTSP 會話逾時，或 X3/RP2040 太久沒收到命令而停車。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021 / 56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V2-9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HTTP JPEG 用來隔離 camera 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把 RTSP 拿掉，只問 camera 能不能抓到圖片。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Browser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/snapshot.jpg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直接抓圖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Camera.getImage()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JPEG frame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現象：RTSP 黑畫面後，用 snapshot/getImage 直接測 camera，確認問題是否在影像來源。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判讀：本頁只切開「Browser → Camera.getImage()」這一段，不把後面所有問題混在一起。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處理：觀察是否印出非零 Image len；若卡住，就把懷疑範圍縮到 camera/硬體。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JPEG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定義：單張壓縮圖片格式。 本案：在本案用 snapshot 測試 camera 是否能產生單張圖片。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Image len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定義：抓到的圖片資料長度，非零通常代表有影像。 本案：在本案若為非零，代表 getImage 抓到有效影像資料。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022 / 56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V3 總圖：控制優先，影像按需啟動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V3 的目標是讓車先能安全移動。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UDP 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先可用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轉 UART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安全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failsafe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影像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按 Start 才開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判讀：本頁只切開「UDP Control → AMB82 → X3/RP2040 → 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on demand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定義：需要時才啟動。 本案：在本頁對應到「UDP Control → AMB82 → X3/RP2040 → RTSP」這段資訊流。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decouple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定義：把兩條鏈路的故障影響切開。 本案：在本頁對應到「UDP Control → AMB82 → X3/RP2040 → RTSP」這段資訊流。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023 / 56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UDP ready 只代表控制入口建立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Connect UDP 成功後，先送 STOP 作為安全起點。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Connect UDP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IP:8765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建立控制入口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UDP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ready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判讀：本頁只切開「Connect UDP → AMB82 UDP」這一段，不把後面所有問題混在一起。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UDP ready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定義：App 已準備往指定 IP:port 送命令。 本案：在本頁對應到「Connect UDP → AMB82 UDP」這段資訊流。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boot safety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定義：開機先停車。 本案：在本頁對應到「Connect UDP → AMB82 UDP」這段資訊流。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024 / 56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Start Embedded 送的是 START_RTSP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影像啟動是另一個命令，不是 UDP control 的必要條件。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Start Embedded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按鈕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要求開影像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START_RTSP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UDP command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判讀：本頁只切開「Start Embedded → START_RTSP」這一段，不把後面所有問題混在一起。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START_RTSP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定義：要求 AMB82 啟動 RTSP pipeline。 本案：在本頁對應到「Start Embedded → START_RTSP」這段資訊流。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embedded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定義：App 內嵌播放器。 本案：在本頁對應到「Start Embedded → START_RTSP」這段資訊流。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025 / 56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RTSP start-once 避免重複啟動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同一條 camera pipeline 不適合一直重開。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RTSP OFF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只啟動一次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RTSP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start once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判讀：本頁只切開「AMB82 → RTSP ON」這一段，不把後面所有問題混在一起。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定義：影像從 camera 到 encoder 到網路的處理流程。 本案：在本頁對應到「AMB82 → RTSP ON」這段資訊流。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idempotent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定義：重複執行不改變狀態。 本案：在本頁對應到「AMB82 → RTSP ON」這段資訊流。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026 / 56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App 用 heartbeat 持續送目前方向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長按或方向亮起時，App 會反覆送命令。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Direction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 active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週期送出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Heartbeat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FORWARD, FORWARD...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判讀：本頁只切開「App Direction → Heartbeat」這一段，不把後面所有問題混在一起。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heartbeat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定義：固定間隔送出的控制訊號。 本案：在本案是 App 反覆送目前方向，讓 Wi-Fi 抖動時控制不中斷。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lag tolerant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定義：容忍短暫網路延遲。 本案：在本頁對應到「App Direction → Heartbeat」這段資訊流。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027 / 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failsafe 負責最後一道安全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如果太久沒收到命令，X3/RP2040 自動 stop。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last command 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失聯停車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Auto 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timeout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現象：控制和影像綁在一起會互相干擾，所以 V3 改成先保控制，再按需開影像。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判讀：本頁只切開「X3/RP2040 → Auto Stop」這一段，不把後面所有問題混在一起。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處理：把 UDP movement、START_RTSP、X3/RP2040 failsafe 分開測，避免混在一起判斷。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timeout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定義：超過指定時間沒有收到新命令。 本案：在本案可能代表 RTSP 會話逾時，或 X3/RP2040 太久沒收到命令而停車。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安全邊界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定義：順暢與防失控之間的取捨。 本案：在本頁對應到「X3/RP2040 → Auto Stop」這段資訊流。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028 / 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V3-6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Thonny 會改變 X3/RP2040 的執行狀態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接著 Thonny 時順，不代表拔線後也一定相同。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Thonny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REPL / exec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測試環境差異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 main.py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自動執行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現象：接 Thonny 時車能動，拔線後不穩或不動，表示 X3/RP2040 開機自動執行需要另外確認。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判讀：本頁只切開「Thonny → X3/RP2040 main.py」這一段，不把後面所有問題混在一起。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os.listdir() 確認 boot.py/main.py 在 X3/RP2040 內，再測獨立供電開機。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REPL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定義：MicroPython 互動命令列。 本案：在本案是 Thonny 與 X3/RP2040 互動測試的命令列。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boot.py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定義：X3/RP2040 開機時先執行的檔案。 本案：在本案確保 X3/RP2040 拔線後能自動執行 main.py。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029 / 56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V4A 總圖：穩定優先，但影像有延遲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V4A 是能跑的穩定版本。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Power Bank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獨立供電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供電穩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UDP Control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順暢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VGA 15fps 1Mbps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影像延遲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Delay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畫面晚幾秒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判讀：本頁只切開「Power Bank → UDP Control → RTSP → Delay」這一段，不把後面所有問題混在一起。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定義：從事件發生到畫面看到的時間差。 本案：在本案指車子已經動了，但畫面幾秒後才反映出來。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bitrate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定義：每秒傳輸的影像資料量。 本案：在本案代表 RTSP 每秒資料量，太高會增加 Wi-Fi 與播放器壓力。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030 / 56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供電不穩會被誤認為網路問題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車子一動，電流需求會變大。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Motor / AMB82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用電增加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電源影響網路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 / RTSP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不穩或重連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現象：接電腦 USB 時車子不穩，改用行動電源後控制變順，顯示供電會影響通訊。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判讀：本頁只切開「Motor / AMB82 → Wi-Fi / RTSP」這一段，不把後面所有問題混在一起。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處理：測試時把 AMB82 供電與馬達負載分開觀察，不要把電源問題誤判為網路問題。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電壓降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定義：負載增加時電壓短暫下降。 本案：在本頁對應到「Motor / AMB82 → Wi-Fi / RTSP」這段資訊流。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供電隔離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定義：讓 AMB82 與馬達電力互相干擾較少。 本案：在本頁對應到「Motor / AMB82 → Wi-Fi / RTSP」這段資訊流。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031 / 56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RTSP buffer 讓畫面變穩但變慢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播放器會先存一點資料再播放。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RTP Packets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影像封包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平滑播放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 Buffer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先存再播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判讀：本頁只切開「RTP Packets → Player Buffer」這一段，不把後面所有問題混在一起。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buffer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定義：播放器暫存資料的空間。 本案：在本案讓影像較穩，但也會讓畫面晚幾秒。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jitter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定義：封包抵達時間忽快忽慢。 本案：在本案是封包有時快、有時慢，會讓播放器需要更多 buffer。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032 / 56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FPS 與 bitrate 會影響延遲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畫面越多、資料越大，Wi-Fi 壓力越高。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15 fps / 1 Mbps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較順畫面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資料量增加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Wi-Fi Load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較高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判讀：本頁只切開「15 fps / 1 Mbps → Wi-Fi Load」這一段，不把後面所有問題混在一起。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FPS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定義：每秒幾張影像。 本案：在本案用來取捨畫面流暢與低延遲，例如 V4B 降到 10fps。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Mbps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定義：每秒多少百萬位元資料。 本案：在本頁對應到「15 fps / 1 Mbps → Wi-Fi Load」這段資訊流。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033 / 56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V4A-4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手機熱點會讓延遲變動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熱點品質不是固定值。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Phone Hotspot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Wi-Fi + 4G/5G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網路品質波動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Ping / Delay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忽快忽慢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判讀：本頁只切開「Phone Hotspot → Ping / Delay」這一段，不把後面所有問題混在一起。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定義：測量來回延遲的工具。 本案：在本頁對應到「Phone Hotspot → Ping / Delay」這段資訊流。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packet loss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定義：封包遺失。 本案：在本案是 Wi-Fi 或熱點不穩時封包消失，影像比控制更容易受影響。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034 / 56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V4B 總圖：低延遲優先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V4B 犧牲一些畫質與流暢度，換取更快的畫面反應。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RTSP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VGA 10fps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降低資料量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Bitrate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512 Kbps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降低 buffer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Player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low delay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方便駕駛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Driver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較快反應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判讀：本頁只切開「RTSP → Bitrate → Player → Driver」這一段，不把後面所有問題混在一起。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low latency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定義：降低操作到畫面回應的時間。 本案：在本頁對應到「RTSP → Bitrate → Player → Driver」這段資訊流。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tradeoff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定義：用某些犧牲換取另一個目標。 本案：在本頁對應到「RTSP → Bitrate → Player → Driver」這段資訊流。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035 / 56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Scan AMB82 也是一段資訊流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搜尋 IP 不是魔法，而是 App 對很多地址試探。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App Scan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192.168.x.0/24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逐一試探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UDP Probe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問誰有回應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找到回應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ACK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現象：按 Scan AMB82 後 Flutter 視窗無回應，問題點轉向 App 搜尋流程本身。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判讀：本頁只切開「App Scan → UDP Probe → AMB82」這一段，不把後面所有問題混在一起。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處理：先用手動 IP 或優先檢查目前 IP，避免全網段掃描把 UI thread 卡住。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/24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定義：一個常見子網範圍，約 254 個可用地址。 本案：在本頁對應到「App Scan → UDP Probe → AMB82」這段資訊流。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probe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定義：試探某個 IP 是否有服務回應。 本案：在本頁對應到「App Scan → UDP Probe → AMB82」這段資訊流。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036 / 56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UI thread 卡住，畫面就沒有回應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App 本身也可能是資訊流的瓶頸。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many futures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大量等待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工作塞住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UI thread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沒有回應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判讀：本頁只切開「many futures → UI thread」這一段，不把後面所有問題混在一起。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future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定義：未來會完成的非同步工作。 本案：在本頁對應到「many futures → UI thread」這段資訊流。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UI thread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定義：負責畫面反應的執行緒。 本案：在本頁對應到「many futures → UI thread」這段資訊流。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037 / 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低延遲不是只改 FPS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編碼、網路、播放器都要一起調。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 Encode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資料量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變小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Network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封包傳輸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變快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Player Cache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播放緩衝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判讀：本頁只切開「Camera Encode → Network → Player Cache」這一段，不把後面所有問題混在一起。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cache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定義：播放器暫存資料。 本案：在本頁對應到「Camera Encode → Network → Player Cache」這段資訊流。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end-to-end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定義：從 camera 到人眼看到的完整路徑。 本案：在本頁對應到「Camera Encode → Network → Player Cache」這段資訊流。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038 / 56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V4B-4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V4A 與 V4B 的選擇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沒有絕對最好，只有情境不同。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V4A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穩、較延遲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取捨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快、較敏感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現象：車子已能動，接著要處理影像延遲、Wi-Fi 抖動與播放器 buffer。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判讀：本頁只切開「V4A → V4B」這一段，不把後面所有問題混在一起。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FPS、bitrate、player cache、ping/jitter 逐項調整，而不是只改一個參數。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穩定性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定義：系統長時間不出錯的能力。 本案：在本頁對應到「V4A → V4B」這段資訊流。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延遲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定義：看到畫面落後現場多少時間。 本案：在本頁對應到「V4A → V4B」這段資訊流。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039 / 56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V5 總圖：跨校園需要中繼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不在同一個 LAN 時，電腦不能直接打到小車。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2434590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Lab 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操作者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0151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1863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連 server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12998" y="1755648"/>
            <a:ext cx="2434590" cy="96012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8615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8615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固定入口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4758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470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長連線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59068" y="1755648"/>
            <a:ext cx="2434590" cy="96012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222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Car Gateway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3222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車上手機/電腦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93658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10778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車內轉接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05138" y="1755648"/>
            <a:ext cx="2434590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78290" y="1901952"/>
            <a:ext cx="2288286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AMB82/X3/RP2040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78290" y="2194560"/>
            <a:ext cx="2288286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車內控制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現象：小車離開同一個 LAN 後，lab 電腦無法假設可以直接打到車上的 IP。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判讀：本頁只切開「Lab Computer → Server → Car Gateway → AMB82/X3/RP2040」這一段，不把後面所有問題混在一起。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處理：讓車上 gateway 主動連 server，再由 server 轉發控制與影像資料。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relay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定義：中繼轉送。 本案：在 V5 是 server 把 lab 的命令或車上的影像轉送給另一端。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定義：車上負責對外連線與對內轉接的設備。 本案：在 V5 是車上的手機/電腦，負責外部網路和車內 AMB82 的橋接。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040 / 56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同一個 LAN 才容易直接連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V1-V4 大多建立在同一個 Wi-Fi 網段。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Computer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192.168.137.x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直接連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192.168.137.y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現象：V1-V4 大多建立在同一個 Wi-Fi 網段。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判讀：本頁只切開「Computer → AMB82」這一段，不把後面所有問題混在一起。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處理：跨校園時，這個條件通常不成立。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定義：同一區域網路。 本案：在本頁對應到「Computer → AMB82」這段資訊流。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subnet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定義：同一段 IP 網路範圍。 本案：在本頁對應到「Computer → AMB82」這段資訊流。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041 / 56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NAT 會擋住外部主動連入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手機網路或校園網路常讓小車躲在內部地址後面。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Public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外部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被隔離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Phone NAT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內部 10.x / 192.168.x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不能被直接打到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現象：小車離開同一個 LAN 後，lab 電腦無法假設可以直接打到車上的 IP。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判讀：本頁只切開「Public Internet → Phone NAT → Car」這一段，不把後面所有問題混在一起。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處理：讓車上 gateway 主動連 server，再由 server 轉發控制與影像資料。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NAT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定義：內外網地址轉換。 本案：在 V5 會讓外部電腦難以直接連進車上的設備，因此需要中繼架構。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public IP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定義：外部網路可以直接看到的地址。 本案：在本頁對應到「Public Internet → Phone NAT → Car」這段資訊流。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042 / 56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控制命令先到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Lab 不直接找車，而是把命令交給固定入口。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Lab App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送到固定入口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驗證與轉送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現象：Lab 不直接找車，而是把命令交給固定入口。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判讀：本頁只切開「Lab App → Server」這一段，不把後面所有問題混在一起。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處理：命令格式仍可保持簡短，例如 direction=FORWARD。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token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定義：操作端與車端的通行證。 本案：在 V5 用來限制誰可以控制車，避免任何人都能送命令。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domain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定義：例如 car.ntub.edu.tw 這類固定名稱。 本案：在本頁對應到「Lab App → Server」這段資訊流。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043 / 56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車上 gateway 保持長連線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車端主動連 server，避開 NAT 的限制。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長連線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主動連出去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等待命令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現象：車端主動連 server，避開 NAT 的限制。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判讀：本頁只切開「Gateway → Server」這一段，不把後面所有問題混在一起。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處理：這比讓外部直接連進車上的 AMB82 更可行。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WebSocket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定義：適合雙向長連線。 本案：在 V5 可讓車上 gateway 與 server 長時間保持雙向連線。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MQTT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定義：用 topic 發布與訂閱訊息。 本案：在 V5 可用 topic 發送控制命令與回報 telemetry。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044 / 56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gateway 再轉回 AMB82 UDP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車外路徑改了，車內路徑不一定要改。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收到 FORWARD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 UDP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UDP:8765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 UART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X3/RP2040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UART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現象：車外路徑改了，車內路徑不一定要改。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判讀：本頁只切開「Gateway → AMB82 → X3/RP2040」這一段，不把後面所有問題混在一起。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處理：gateway 負責把遠端命令翻成 AMB82 已經會收的 UDP。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重用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定義：保留已驗證的模組。 本案：在本頁對應到「Gateway → AMB82 → X3/RP2040」這段資訊流。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車內路徑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定義：Gateway/AMB82/X3/RP2040 之間的短距離控制鏈。 本案：在本頁對應到「Gateway → AMB82 → X3/RP2040」這段資訊流。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045 / 56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ACK 與 telemetry 讓遠端知道車還活著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遠端操控不能只送命令，也要知道車端狀態。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ACK / battery / ping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回報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Lab 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狀態顯示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現象：遠端操控不能只送命令，也要知道車端狀態。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判讀：本頁只切開「Gateway → Lab App」這一段，不把後面所有問題混在一起。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處理：沒有回報時，操作者不知道是車沒收到還是畫面只是延遲。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ACK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定義：收到命令的確認訊息。 本案：在本案用來確認某段命令已收到，但不一定代表馬達已動。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telemetry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定義：設備狀態回報。 本案：在本案可回報電量、延遲、Wi-Fi 品質，協助遠端判斷狀態。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046 / 56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影像中繼比控制中繼更重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控制命令很小，影像資料很大。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 RTSP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車內影像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拉取影像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Gateway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取流 / 轉碼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37120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轉發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轉發給 Lab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現象：控制命令很小，影像資料很大。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判讀：本頁只切開「AMB82 RTSP → Gateway → Server」這一段，不把後面所有問題混在一起。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處理：server 端可以再轉成適合遠端播放的格式。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轉碼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定義：把影像轉成另一種格式或參數。 本案：在本頁對應到「AMB82 RTSP → Gateway → Server」這段資訊流。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uplink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定義：車端往 server 上傳的網路方向。 本案：在本頁對應到「AMB82 RTSP → Gateway → Server」這段資訊流。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047 / 56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WebRTC 通常放在 gateway 或 server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不是寫在 X3/RP2040，也通常不是直接寫在 AMB82。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3105912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AMB82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RTSP source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92296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09416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橋接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14088" y="1609344"/>
            <a:ext cx="3105912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87240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Gateway / Server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87240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WebRTC bridge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0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41792" y="1609344"/>
            <a:ext cx="3105912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14944" y="1755648"/>
            <a:ext cx="2959608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Browser/App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14944" y="2194560"/>
            <a:ext cx="2959608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low latency view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現象：不是寫在 X3/RP2040，也通常不是直接寫在 AMB82。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判讀：本頁只切開「AMB82 → Gateway / Server → Browser/App」這一段，不把後面所有問題混在一起。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處理：X3/RP2040 只負責馬達控制，不適合處理影像協定。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WebRTC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定義：低延遲影音通訊技術。 本案：在本頁對應到「AMB82 → Gateway / Server → Browser/App」這段資訊流。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bridge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定義：把一種協定轉接到另一種協定。 本案：在本頁對應到「AMB82 → Gateway / Server → Browser/App」這段資訊流。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048 / 56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V5-9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server 申請需求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要跨校園，server 需要被 lab 與車端都連得到。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Server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Linux / 固定 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提供入口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Firewall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開必要 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現象：要跨校園，server 需要被 lab 與車端都連得到。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判讀：本頁只切開「Server → Firewall」這一段，不把後面所有問題混在一起。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處理：若要轉發影像，還要評估頻寬、CPU、儲存與資安。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DNS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定義：把名稱轉成 IP。 本案：在 V5 讓 lab 與 gateway 用固定名稱找到 server，不必記 IP。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firewall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定義：限制哪些連線可以進出的規則。 本案：在本頁對應到「Server → Firewall」這段資訊流。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049 / 56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同一個 FORWARD 在各版本的路徑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比較版本時，先看哪一段多了節點。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V1-V4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App -&gt; AMB82 -&gt; X3/RP2040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多了車外路徑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V5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App -&gt; Server -&gt; Gateway -&gt; AMB82 -&gt; X3/RP2040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現象：比較版本時，先看哪一段多了節點。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判讀：本頁只切開「V1-V4 → V5」這一段，不把後面所有問題混在一起。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處理：新增 server/gateway 後，要多測 ACK 與延遲。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車外路徑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定義：Lab 到 server 到車上 gateway。 本案：在本頁對應到「V1-V4 → V5」這段資訊流。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車內路徑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定義：Gateway 到 AMB82 到 X3/RP2040 到馬達。 本案：在本頁對應到「V1-V4 → V5」這段資訊流。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050 / 56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Ping 只證明 IP 可達，不證明服務可用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ping 成功與 RTSP 成功是兩件事。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ping IP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ICMP 有回應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不同層測試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Port 554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RTSP 服務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現象：ping 成功與 RTSP 成功是兩件事。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判讀：本頁只切開「ping IP → Port 554」這一段，不把後面所有問題混在一起。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處理：UDP 8765 不能用 TCP Test-NetConnection 判斷是否開著。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ICMP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定義：ping 使用的網路診斷協定。 本案：在本頁對應到「ping IP → Port 554」這段資訊流。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port test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定義：測某個服務入口是否能連。 本案：在本頁對應到「ping IP → Port 554」這段資訊流。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051 / 56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COM port 是電腦到板子的本地通道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COM port 問題和 Wi-Fi 不是同一件事。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USB 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本機連線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本地序列通道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COM 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Thonny / Monitor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現象：COM port 問題和 Wi-Fi 不是同一件事。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判讀：本頁只切開「USB Cable → COM Port」這一段，不把後面所有問題混在一起。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處理：PermissionError 通常代表 port 被別的程式佔住。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COM port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定義：Windows 給序列裝置的編號。 本案：在本案是 Windows 連 X3/RP2040 或 AMB82 monitor 的本地序列入口。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PermissionError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定義：程式沒有權限或裝置被占用。 本案：在本頁對應到「USB Cable → COM Port」這段資訊流。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052 / 56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X3/RP2040 的 boot.py 決定拔線後會不會自動跑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Thonny 可動，不代表獨立供電可動。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boot.py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開機執行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自動載入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DCFCE7"/>
          </a:solidFill>
          <a:ln w="15240">
            <a:solidFill>
              <a:srgbClr val="1680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main.py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車控程式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現象：接 Thonny 時車能動，拔線後不穩或不動，表示 X3/RP2040 開機自動執行需要另外確認。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判讀：本頁只切開「boot.py → main.py」這一段，不把後面所有問題混在一起。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處理：用 os.listdir() 確認 boot.py/main.py 在 X3/RP2040 內，再測獨立供電開機。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main.py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定義：MicroPython 預設主程式檔名。 本案：在本案是 X3/RP2040 車控程式的主要檔案。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soft reboot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定義：MicroPython 重新啟動。 本案：在本頁對應到「boot.py → main.py」這段資訊流。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053 / 56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Camera.getImage 能區分軟體與硬體問題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RTSP 黑畫面時，先問 camera 有沒有 frame。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Camera.getImage()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呼叫抓圖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隔離 camera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1F5F9"/>
          </a:solidFill>
          <a:ln w="15240"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Image len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非零或卡住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現象：RTSP 黑畫面後，用 snapshot/getImage 直接測 camera，確認問題是否在影像來源。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判讀：本頁只切開「Camera.getImage() → Image len」這一段，不把後面所有問題混在一起。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處理：觀察是否印出非零 Image len；若卡住，就把懷疑範圍縮到 camera/硬體。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隔離測試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定義：拿掉其他因素，只測一段。 本案：在本頁對應到「Camera.getImage() → Image len」這段資訊流。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hardware suspect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定義：懷疑硬體或接線。 本案：在本頁對應到「Camera.getImage() → Image len」這段資訊流。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054 / 56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排查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四台車的結果其實是可靠度資料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不是每台板子都能假設狀態一樣。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59536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1-2 號車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可 demo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56148" y="2093976"/>
            <a:ext cx="621792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4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3268" y="3090672"/>
            <a:ext cx="987552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007E8A"/>
                </a:solidFill>
                <a:latin typeface="Microsoft JhengHei"/>
              </a:rPr>
              <a:t>分組判斷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77940" y="1609344"/>
            <a:ext cx="4969764" cy="1389888"/>
          </a:xfrm>
          <a:prstGeom prst="roundRect">
            <a:avLst/>
          </a:prstGeom>
          <a:solidFill>
            <a:srgbClr val="FFE4E6"/>
          </a:solidFill>
          <a:ln w="15240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1092" y="1755648"/>
            <a:ext cx="4823460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2100" b="1">
                <a:solidFill>
                  <a:srgbClr val="0F172A"/>
                </a:solidFill>
                <a:latin typeface="Microsoft JhengHei"/>
              </a:rPr>
              <a:t>3-4 號車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1092" y="2194560"/>
            <a:ext cx="4823460" cy="7498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Microsoft JhengHei"/>
              </a:rPr>
              <a:t>送修/硬體疑慮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現象：不是每台板子都能假設狀態一樣。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判讀：本頁只切開「1-2 號車 → 3-4 號車」這一段，不把後面所有問題混在一起。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處理：課堂上可以把這當成工程排查的真實案例。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可靠度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定義：多台設備是否能穩定重現結果。 本案：在本頁對應到「1-2 號車 → 3-4 號車」這段資訊流。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最小化測試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定義：移除不必要功能後再測。 本案：在本頁對應到「1-2 號車 → 3-4 號車」這段資訊流。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055 / 56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5240"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007E8A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E2F0FD"/>
          </a:solidFill>
          <a:ln w="15240">
            <a:solidFill>
              <a:srgbClr val="E2F0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310896"/>
            <a:ext cx="1417320" cy="3108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56616"/>
            <a:ext cx="1280160" cy="20116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007E8A"/>
                </a:solidFill>
                <a:latin typeface="Microsoft JhengHei"/>
              </a:rPr>
              <a:t>總結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0080"/>
            <a:ext cx="10881360" cy="47548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3200" b="1">
                <a:solidFill>
                  <a:srgbClr val="0F172A"/>
                </a:solidFill>
                <a:latin typeface="Microsoft JhengHei"/>
              </a:rPr>
              <a:t>V1-V5 的主線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03504" y="1133856"/>
            <a:ext cx="10881360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800" b="1">
                <a:solidFill>
                  <a:srgbClr val="007E8A"/>
                </a:solidFill>
                <a:latin typeface="Microsoft JhengHei"/>
              </a:rPr>
              <a:t>每一版都在回答一個新的資訊流問題。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755648"/>
            <a:ext cx="1865376" cy="960120"/>
          </a:xfrm>
          <a:prstGeom prst="roundRect">
            <a:avLst/>
          </a:prstGeom>
          <a:solidFill>
            <a:srgbClr val="DBEA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命令能到馬達嗎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4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控制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843784" y="1755648"/>
            <a:ext cx="1865376" cy="960120"/>
          </a:xfrm>
          <a:prstGeom prst="roundRect">
            <a:avLst/>
          </a:prstGeom>
          <a:solidFill>
            <a:srgbClr val="EDE9FE"/>
          </a:solidFill>
          <a:ln w="1524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16936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16936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影像能到播放器嗎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09160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26280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影像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20640" y="1755648"/>
            <a:ext cx="1865376" cy="960120"/>
          </a:xfrm>
          <a:prstGeom prst="roundRect">
            <a:avLst/>
          </a:prstGeom>
          <a:solidFill>
            <a:srgbClr val="FEF3C7"/>
          </a:solidFill>
          <a:ln w="15240">
            <a:solidFill>
              <a:srgbClr val="C25F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193792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93792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控制影像能分開嗎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86016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03136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拆分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97496" y="1755648"/>
            <a:ext cx="1865376" cy="960120"/>
          </a:xfrm>
          <a:prstGeom prst="roundRect">
            <a:avLst/>
          </a:prstGeom>
          <a:solidFill>
            <a:srgbClr val="CCFBF1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70648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70648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延遲能降低嗎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62872" y="2025396"/>
            <a:ext cx="411480" cy="34747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800" b="1">
                <a:solidFill>
                  <a:srgbClr val="007E8A"/>
                </a:solidFill>
                <a:latin typeface="Microsoft JhengHe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79992" y="2807208"/>
            <a:ext cx="777240" cy="329184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007E8A"/>
                </a:solidFill>
                <a:latin typeface="Microsoft JhengHei"/>
              </a:rPr>
              <a:t>低延遲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74352" y="1755648"/>
            <a:ext cx="1865376" cy="960120"/>
          </a:xfrm>
          <a:prstGeom prst="roundRect">
            <a:avLst/>
          </a:prstGeom>
          <a:solidFill>
            <a:srgbClr val="E0F2F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47504" y="1901952"/>
            <a:ext cx="1719072" cy="3657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400" b="1">
                <a:solidFill>
                  <a:srgbClr val="0F172A"/>
                </a:solidFill>
                <a:latin typeface="Microsoft JhengHei"/>
              </a:rPr>
              <a:t>V5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47504" y="2194560"/>
            <a:ext cx="1719072" cy="32004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950" b="1">
                <a:solidFill>
                  <a:srgbClr val="1F2937"/>
                </a:solidFill>
                <a:latin typeface="Microsoft JhengHei"/>
              </a:rPr>
              <a:t>能跨校園嗎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4005072"/>
            <a:ext cx="5742432" cy="2084831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E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9808" y="4114800"/>
            <a:ext cx="292608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007E8A"/>
                </a:solidFill>
                <a:latin typeface="Microsoft JhengHei"/>
              </a:rPr>
              <a:t>個案分析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49808" y="4507992"/>
            <a:ext cx="5349240" cy="1325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現象：每一版都在回答一個新的資訊流問題。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判讀：本頁只切開「V1 → V2 → V3 → V4 → V5」這一段，不把後面所有問題混在一起。</a:t>
            </a:r>
          </a:p>
          <a:p>
            <a:pPr>
              <a:spcAft>
                <a:spcPts val="500"/>
              </a:spcAft>
            </a:pPr>
            <a:r>
              <a:rPr sz="1280" b="1">
                <a:solidFill>
                  <a:srgbClr val="0F172A"/>
                </a:solidFill>
                <a:latin typeface="Microsoft JhengHei"/>
              </a:rPr>
              <a:t>• 處理：V5 把同一台小車推向跨網段與遠端控制。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7960" y="4005072"/>
            <a:ext cx="5074920" cy="2084831"/>
          </a:xfrm>
          <a:prstGeom prst="roundRect">
            <a:avLst/>
          </a:prstGeom>
          <a:solidFill>
            <a:srgbClr val="EFF6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720840" y="4114800"/>
            <a:ext cx="3108960" cy="27432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600" b="1">
                <a:solidFill>
                  <a:srgbClr val="2563EB"/>
                </a:solidFill>
                <a:latin typeface="Microsoft JhengHei"/>
              </a:rPr>
              <a:t>名詞解釋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720840" y="4572000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版本演進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36992" y="4553712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定義：每一版解決上一版暴露的新問題。 本案：在本頁對應到「V1 → V2 → V3 → V4 → V5」這段資訊流。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5321808"/>
            <a:ext cx="1234440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450" b="1">
                <a:solidFill>
                  <a:srgbClr val="0F172A"/>
                </a:solidFill>
                <a:latin typeface="Microsoft JhengHei"/>
              </a:rPr>
              <a:t>資訊流思維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936992" y="5303520"/>
            <a:ext cx="3383280" cy="6400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1060" b="1">
                <a:solidFill>
                  <a:srgbClr val="1F2937"/>
                </a:solidFill>
                <a:latin typeface="Microsoft JhengHei"/>
              </a:rPr>
              <a:t>定義：用資料路徑切開問題。 本案：在本頁對應到「V1 → V2 → V3 → V4 → V5」這段資訊流。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66928" y="6620256"/>
            <a:ext cx="530352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l"/>
            <a:r>
              <a:rPr sz="900" b="0">
                <a:solidFill>
                  <a:srgbClr val="1F2937"/>
                </a:solidFill>
                <a:latin typeface="Microsoft JhengHei"/>
              </a:rPr>
              <a:t>Tracked Car V1-V5 Micro Flow Course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71632" y="6620256"/>
            <a:ext cx="868680" cy="18288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r"/>
            <a:r>
              <a:rPr sz="900" b="0">
                <a:solidFill>
                  <a:srgbClr val="1F2937"/>
                </a:solidFill>
                <a:latin typeface="Microsoft JhengHei"/>
              </a:rPr>
              <a:t>056 / 56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ns0:Properties xmlns:ns0="http://schemas.openxmlformats.org/officeDocument/2006/extended-properties" xmlns:ns1="http://schemas.openxmlformats.org/officeDocument/2006/docPropsVTypes">
  <ns0:TotalTime>1</ns0:TotalTime>
  <ns0:Words>0</ns0:Words>
  <ns0:Application>Microsoft Macintosh PowerPoint</ns0:Application>
  <ns0:PresentationFormat>On-screen Show (4:3)</ns0:PresentationFormat>
  <ns0:Paragraphs>0</ns0:Paragraphs>
  <ns0:Slides>0</ns0:Slides>
  <ns0:Notes>0</ns0:Notes>
  <ns0:HiddenSlides>0</ns0:HiddenSlides>
  <ns0:MMClips>0</ns0:MMClips>
  <ns0:ScaleCrop>false</ns0:ScaleCrop>
  <ns0:HeadingPairs>
    <ns1:vector size="4" baseType="variant">
      <ns1:variant>
        <ns1:lpstr>Theme</ns1:lpstr>
      </ns1:variant>
      <ns1:variant>
        <ns1:i4>1</ns1:i4>
      </ns1:variant>
      <ns1:variant>
        <ns1:lpstr>Slide Titles</ns1:lpstr>
      </ns1:variant>
      <ns1:variant>
        <ns1:i4>0</ns1:i4>
      </ns1:variant>
    </ns1:vector>
  </ns0:HeadingPairs>
  <ns0:TitlesOfParts>
    <ns1:vector size="1" baseType="lpstr">
      <ns1:lpstr>Office Theme</ns1:lpstr>
    </ns1:vector>
  </ns0:TitlesOfParts>
  <ns0:Manager/>
  <ns0:Company/>
  <ns0:LinksUpToDate>false</ns0:LinksUpToDate>
  <ns0:SharedDoc>false</ns0:SharedDoc>
  <ns0:HyperlinkBase/>
  <ns0:HyperlinksChanged>false</ns0:HyperlinksChanged>
  <ns0:AppVersion>14.0000</ns0:AppVersion>
</ns0:Properties>
</file>

<file path=docProps/core.xml><?xml version="1.0" encoding="utf-8"?>
<ns0:coreProperties xmlns:dc="http://purl.org/dc/elements/1.1/" xmlns:ns0="http://schemas.openxmlformats.org/package/2006/metadata/core-properties" xmlns:ns2="http://purl.org/dc/terms/" xmlns:xsi="http://www.w3.org/2001/XMLSchema-instance">
  <dc:title/>
  <dc:subject/>
  <dc:creator/>
  <ns0:keywords/>
  <dc:description/>
  <ns0:lastModifiedBy/>
  <ns0:revision>1</ns0:revision>
  <ns2:created xsi:type="dcterms:W3CDTF">2013-01-27T09:14:16Z</ns2:created>
  <ns2:modified xsi:type="dcterms:W3CDTF">2013-01-27T09:15:58Z</ns2:modified>
  <ns0:category/>
</ns0:coreProperties>
</file>