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338" r:id="rId2"/>
    <p:sldId id="334" r:id="rId3"/>
    <p:sldId id="343" r:id="rId4"/>
    <p:sldId id="344" r:id="rId5"/>
    <p:sldId id="279" r:id="rId6"/>
    <p:sldId id="261" r:id="rId7"/>
    <p:sldId id="277" r:id="rId8"/>
    <p:sldId id="291" r:id="rId9"/>
    <p:sldId id="345" r:id="rId10"/>
    <p:sldId id="397" r:id="rId11"/>
    <p:sldId id="398" r:id="rId12"/>
    <p:sldId id="399" r:id="rId13"/>
    <p:sldId id="287" r:id="rId14"/>
    <p:sldId id="288" r:id="rId15"/>
    <p:sldId id="395" r:id="rId16"/>
    <p:sldId id="396" r:id="rId17"/>
    <p:sldId id="312" r:id="rId18"/>
    <p:sldId id="313" r:id="rId19"/>
    <p:sldId id="315" r:id="rId20"/>
    <p:sldId id="400" r:id="rId21"/>
    <p:sldId id="392" r:id="rId22"/>
    <p:sldId id="393" r:id="rId23"/>
    <p:sldId id="401" r:id="rId24"/>
    <p:sldId id="402" r:id="rId25"/>
    <p:sldId id="391" r:id="rId26"/>
  </p:sldIdLst>
  <p:sldSz cx="9144000" cy="6858000" type="screen4x3"/>
  <p:notesSz cx="7559675" cy="106918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3FEBF82F-CE91-4691-9791-3626663856A4}">
          <p14:sldIdLst>
            <p14:sldId id="338"/>
            <p14:sldId id="334"/>
            <p14:sldId id="343"/>
            <p14:sldId id="344"/>
            <p14:sldId id="279"/>
            <p14:sldId id="261"/>
            <p14:sldId id="277"/>
            <p14:sldId id="291"/>
            <p14:sldId id="345"/>
            <p14:sldId id="397"/>
            <p14:sldId id="398"/>
            <p14:sldId id="399"/>
            <p14:sldId id="287"/>
            <p14:sldId id="288"/>
            <p14:sldId id="395"/>
            <p14:sldId id="396"/>
            <p14:sldId id="312"/>
            <p14:sldId id="313"/>
            <p14:sldId id="315"/>
            <p14:sldId id="400"/>
            <p14:sldId id="392"/>
            <p14:sldId id="393"/>
            <p14:sldId id="401"/>
            <p14:sldId id="402"/>
            <p14:sldId id="39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1522" y="53"/>
      </p:cViewPr>
      <p:guideLst/>
    </p:cSldViewPr>
  </p:slideViewPr>
  <p:notesTextViewPr>
    <p:cViewPr>
      <p:scale>
        <a:sx n="1" d="1"/>
        <a:sy n="1" d="1"/>
      </p:scale>
      <p:origin x="0" y="0"/>
    </p:cViewPr>
  </p:notesTextViewPr>
  <p:notesViewPr>
    <p:cSldViewPr snapToGrid="0">
      <p:cViewPr varScale="1">
        <p:scale>
          <a:sx n="56" d="100"/>
          <a:sy n="56" d="100"/>
        </p:scale>
        <p:origin x="3230" y="5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羅治民" userId="6942df94-263f-4db0-b02f-9042cca1213d" providerId="ADAL" clId="{AF710552-7DCD-4EFF-A080-7DBCD7E93B03}"/>
    <pc:docChg chg="custSel addSld delSld modSld">
      <pc:chgData name="羅治民" userId="6942df94-263f-4db0-b02f-9042cca1213d" providerId="ADAL" clId="{AF710552-7DCD-4EFF-A080-7DBCD7E93B03}" dt="2024-05-10T15:58:56.261" v="269" actId="20577"/>
      <pc:docMkLst>
        <pc:docMk/>
      </pc:docMkLst>
      <pc:sldChg chg="modSp mod">
        <pc:chgData name="羅治民" userId="6942df94-263f-4db0-b02f-9042cca1213d" providerId="ADAL" clId="{AF710552-7DCD-4EFF-A080-7DBCD7E93B03}" dt="2024-05-10T15:54:37.871" v="132" actId="20577"/>
        <pc:sldMkLst>
          <pc:docMk/>
          <pc:sldMk cId="3964213713" sldId="334"/>
        </pc:sldMkLst>
        <pc:spChg chg="mod">
          <ac:chgData name="羅治民" userId="6942df94-263f-4db0-b02f-9042cca1213d" providerId="ADAL" clId="{AF710552-7DCD-4EFF-A080-7DBCD7E93B03}" dt="2024-05-10T15:51:37.613" v="36" actId="6549"/>
          <ac:spMkLst>
            <pc:docMk/>
            <pc:sldMk cId="3964213713" sldId="334"/>
            <ac:spMk id="7" creationId="{CD294E92-FD35-4C73-9127-9F5C9CE094C4}"/>
          </ac:spMkLst>
        </pc:spChg>
        <pc:spChg chg="mod">
          <ac:chgData name="羅治民" userId="6942df94-263f-4db0-b02f-9042cca1213d" providerId="ADAL" clId="{AF710552-7DCD-4EFF-A080-7DBCD7E93B03}" dt="2024-05-10T15:53:39.244" v="74" actId="6549"/>
          <ac:spMkLst>
            <pc:docMk/>
            <pc:sldMk cId="3964213713" sldId="334"/>
            <ac:spMk id="8" creationId="{A182CD5C-CC77-420C-91CB-63E8C77B1A92}"/>
          </ac:spMkLst>
        </pc:spChg>
        <pc:spChg chg="mod">
          <ac:chgData name="羅治民" userId="6942df94-263f-4db0-b02f-9042cca1213d" providerId="ADAL" clId="{AF710552-7DCD-4EFF-A080-7DBCD7E93B03}" dt="2024-05-10T15:54:37.871" v="132" actId="20577"/>
          <ac:spMkLst>
            <pc:docMk/>
            <pc:sldMk cId="3964213713" sldId="334"/>
            <ac:spMk id="9" creationId="{691C6EAF-A356-4FDD-B6F2-4774B6197F0A}"/>
          </ac:spMkLst>
        </pc:spChg>
      </pc:sldChg>
      <pc:sldChg chg="delSp modSp mod">
        <pc:chgData name="羅治民" userId="6942df94-263f-4db0-b02f-9042cca1213d" providerId="ADAL" clId="{AF710552-7DCD-4EFF-A080-7DBCD7E93B03}" dt="2024-05-10T15:55:45.799" v="160" actId="6549"/>
        <pc:sldMkLst>
          <pc:docMk/>
          <pc:sldMk cId="1725501435" sldId="335"/>
        </pc:sldMkLst>
        <pc:spChg chg="mod">
          <ac:chgData name="羅治民" userId="6942df94-263f-4db0-b02f-9042cca1213d" providerId="ADAL" clId="{AF710552-7DCD-4EFF-A080-7DBCD7E93B03}" dt="2024-05-10T15:55:45.799" v="160" actId="6549"/>
          <ac:spMkLst>
            <pc:docMk/>
            <pc:sldMk cId="1725501435" sldId="335"/>
            <ac:spMk id="4" creationId="{99DCEEDE-63FC-492E-B77C-676E80F36358}"/>
          </ac:spMkLst>
        </pc:spChg>
        <pc:picChg chg="del">
          <ac:chgData name="羅治民" userId="6942df94-263f-4db0-b02f-9042cca1213d" providerId="ADAL" clId="{AF710552-7DCD-4EFF-A080-7DBCD7E93B03}" dt="2024-05-10T15:49:52.603" v="0" actId="478"/>
          <ac:picMkLst>
            <pc:docMk/>
            <pc:sldMk cId="1725501435" sldId="335"/>
            <ac:picMk id="15" creationId="{AF94A5FA-F78A-46F0-A626-55348447DC9D}"/>
          </ac:picMkLst>
        </pc:picChg>
      </pc:sldChg>
      <pc:sldChg chg="addSp modSp add mod">
        <pc:chgData name="羅治民" userId="6942df94-263f-4db0-b02f-9042cca1213d" providerId="ADAL" clId="{AF710552-7DCD-4EFF-A080-7DBCD7E93B03}" dt="2024-05-10T15:58:56.261" v="269" actId="20577"/>
        <pc:sldMkLst>
          <pc:docMk/>
          <pc:sldMk cId="435873220" sldId="336"/>
        </pc:sldMkLst>
        <pc:spChg chg="add mod">
          <ac:chgData name="羅治民" userId="6942df94-263f-4db0-b02f-9042cca1213d" providerId="ADAL" clId="{AF710552-7DCD-4EFF-A080-7DBCD7E93B03}" dt="2024-05-10T15:57:52.147" v="266" actId="6549"/>
          <ac:spMkLst>
            <pc:docMk/>
            <pc:sldMk cId="435873220" sldId="336"/>
            <ac:spMk id="3" creationId="{ECC5B087-CA12-493A-A085-E30C7619184B}"/>
          </ac:spMkLst>
        </pc:spChg>
        <pc:spChg chg="mod">
          <ac:chgData name="羅治民" userId="6942df94-263f-4db0-b02f-9042cca1213d" providerId="ADAL" clId="{AF710552-7DCD-4EFF-A080-7DBCD7E93B03}" dt="2024-05-10T15:58:56.261" v="269" actId="20577"/>
          <ac:spMkLst>
            <pc:docMk/>
            <pc:sldMk cId="435873220" sldId="336"/>
            <ac:spMk id="4" creationId="{99DCEEDE-63FC-492E-B77C-676E80F36358}"/>
          </ac:spMkLst>
        </pc:spChg>
      </pc:sldChg>
      <pc:sldChg chg="del">
        <pc:chgData name="羅治民" userId="6942df94-263f-4db0-b02f-9042cca1213d" providerId="ADAL" clId="{AF710552-7DCD-4EFF-A080-7DBCD7E93B03}" dt="2024-05-10T15:49:53.725" v="1" actId="47"/>
        <pc:sldMkLst>
          <pc:docMk/>
          <pc:sldMk cId="3147891606" sldId="336"/>
        </pc:sldMkLst>
      </pc:sldChg>
      <pc:sldChg chg="add">
        <pc:chgData name="羅治民" userId="6942df94-263f-4db0-b02f-9042cca1213d" providerId="ADAL" clId="{AF710552-7DCD-4EFF-A080-7DBCD7E93B03}" dt="2024-05-10T15:58:49.253" v="267" actId="2890"/>
        <pc:sldMkLst>
          <pc:docMk/>
          <pc:sldMk cId="906059758" sldId="337"/>
        </pc:sldMkLst>
      </pc:sldChg>
    </pc:docChg>
  </pc:docChgLst>
  <pc:docChgLst>
    <pc:chgData name="羅治民" userId="6942df94-263f-4db0-b02f-9042cca1213d" providerId="ADAL" clId="{2727A790-0D3B-484C-A802-B4DFD9B74CFE}"/>
    <pc:docChg chg="custSel addSld modSld">
      <pc:chgData name="羅治民" userId="6942df94-263f-4db0-b02f-9042cca1213d" providerId="ADAL" clId="{2727A790-0D3B-484C-A802-B4DFD9B74CFE}" dt="2024-04-12T08:24:34.533" v="28" actId="1076"/>
      <pc:docMkLst>
        <pc:docMk/>
      </pc:docMkLst>
      <pc:sldChg chg="addSp delSp modSp add mod">
        <pc:chgData name="羅治民" userId="6942df94-263f-4db0-b02f-9042cca1213d" providerId="ADAL" clId="{2727A790-0D3B-484C-A802-B4DFD9B74CFE}" dt="2024-04-12T08:19:17.223" v="18" actId="1076"/>
        <pc:sldMkLst>
          <pc:docMk/>
          <pc:sldMk cId="1725501435" sldId="335"/>
        </pc:sldMkLst>
        <pc:spChg chg="del">
          <ac:chgData name="羅治民" userId="6942df94-263f-4db0-b02f-9042cca1213d" providerId="ADAL" clId="{2727A790-0D3B-484C-A802-B4DFD9B74CFE}" dt="2024-04-12T04:00:11.297" v="1" actId="478"/>
          <ac:spMkLst>
            <pc:docMk/>
            <pc:sldMk cId="1725501435" sldId="335"/>
            <ac:spMk id="7" creationId="{CD294E92-FD35-4C73-9127-9F5C9CE094C4}"/>
          </ac:spMkLst>
        </pc:spChg>
        <pc:spChg chg="del">
          <ac:chgData name="羅治民" userId="6942df94-263f-4db0-b02f-9042cca1213d" providerId="ADAL" clId="{2727A790-0D3B-484C-A802-B4DFD9B74CFE}" dt="2024-04-12T04:00:12.946" v="2" actId="478"/>
          <ac:spMkLst>
            <pc:docMk/>
            <pc:sldMk cId="1725501435" sldId="335"/>
            <ac:spMk id="8" creationId="{A182CD5C-CC77-420C-91CB-63E8C77B1A92}"/>
          </ac:spMkLst>
        </pc:spChg>
        <pc:spChg chg="del">
          <ac:chgData name="羅治民" userId="6942df94-263f-4db0-b02f-9042cca1213d" providerId="ADAL" clId="{2727A790-0D3B-484C-A802-B4DFD9B74CFE}" dt="2024-04-12T04:00:14.532" v="3" actId="478"/>
          <ac:spMkLst>
            <pc:docMk/>
            <pc:sldMk cId="1725501435" sldId="335"/>
            <ac:spMk id="9" creationId="{691C6EAF-A356-4FDD-B6F2-4774B6197F0A}"/>
          </ac:spMkLst>
        </pc:spChg>
        <pc:picChg chg="add del mod">
          <ac:chgData name="羅治民" userId="6942df94-263f-4db0-b02f-9042cca1213d" providerId="ADAL" clId="{2727A790-0D3B-484C-A802-B4DFD9B74CFE}" dt="2024-04-12T05:44:13.373" v="6" actId="478"/>
          <ac:picMkLst>
            <pc:docMk/>
            <pc:sldMk cId="1725501435" sldId="335"/>
            <ac:picMk id="3" creationId="{B1B3D491-998A-45B3-812C-49834C131E1C}"/>
          </ac:picMkLst>
        </pc:picChg>
        <pc:picChg chg="add del mod">
          <ac:chgData name="羅治民" userId="6942df94-263f-4db0-b02f-9042cca1213d" providerId="ADAL" clId="{2727A790-0D3B-484C-A802-B4DFD9B74CFE}" dt="2024-04-12T05:44:35.343" v="9" actId="478"/>
          <ac:picMkLst>
            <pc:docMk/>
            <pc:sldMk cId="1725501435" sldId="335"/>
            <ac:picMk id="6" creationId="{A931244C-3C5C-45A8-966F-2C55559B91F6}"/>
          </ac:picMkLst>
        </pc:picChg>
        <pc:picChg chg="add del mod">
          <ac:chgData name="羅治民" userId="6942df94-263f-4db0-b02f-9042cca1213d" providerId="ADAL" clId="{2727A790-0D3B-484C-A802-B4DFD9B74CFE}" dt="2024-04-12T05:48:42.527" v="12" actId="478"/>
          <ac:picMkLst>
            <pc:docMk/>
            <pc:sldMk cId="1725501435" sldId="335"/>
            <ac:picMk id="11" creationId="{1E0DEB6E-BA3F-4EE9-A9FD-2B7C570A0BB1}"/>
          </ac:picMkLst>
        </pc:picChg>
        <pc:picChg chg="add del mod">
          <ac:chgData name="羅治民" userId="6942df94-263f-4db0-b02f-9042cca1213d" providerId="ADAL" clId="{2727A790-0D3B-484C-A802-B4DFD9B74CFE}" dt="2024-04-12T08:19:08.870" v="15" actId="478"/>
          <ac:picMkLst>
            <pc:docMk/>
            <pc:sldMk cId="1725501435" sldId="335"/>
            <ac:picMk id="13" creationId="{34D2B053-A12C-4C27-8A8A-154624973969}"/>
          </ac:picMkLst>
        </pc:picChg>
        <pc:picChg chg="add mod">
          <ac:chgData name="羅治民" userId="6942df94-263f-4db0-b02f-9042cca1213d" providerId="ADAL" clId="{2727A790-0D3B-484C-A802-B4DFD9B74CFE}" dt="2024-04-12T08:19:17.223" v="18" actId="1076"/>
          <ac:picMkLst>
            <pc:docMk/>
            <pc:sldMk cId="1725501435" sldId="335"/>
            <ac:picMk id="15" creationId="{AF94A5FA-F78A-46F0-A626-55348447DC9D}"/>
          </ac:picMkLst>
        </pc:picChg>
      </pc:sldChg>
      <pc:sldChg chg="addSp delSp modSp add mod">
        <pc:chgData name="羅治民" userId="6942df94-263f-4db0-b02f-9042cca1213d" providerId="ADAL" clId="{2727A790-0D3B-484C-A802-B4DFD9B74CFE}" dt="2024-04-12T08:24:34.533" v="28" actId="1076"/>
        <pc:sldMkLst>
          <pc:docMk/>
          <pc:sldMk cId="3147891606" sldId="336"/>
        </pc:sldMkLst>
        <pc:picChg chg="add mod">
          <ac:chgData name="羅治民" userId="6942df94-263f-4db0-b02f-9042cca1213d" providerId="ADAL" clId="{2727A790-0D3B-484C-A802-B4DFD9B74CFE}" dt="2024-04-12T08:24:34.533" v="28" actId="1076"/>
          <ac:picMkLst>
            <pc:docMk/>
            <pc:sldMk cId="3147891606" sldId="336"/>
            <ac:picMk id="3" creationId="{CD6105DD-8B75-4BC3-B7F9-249ACFFB1B59}"/>
          </ac:picMkLst>
        </pc:picChg>
        <pc:picChg chg="del">
          <ac:chgData name="羅治民" userId="6942df94-263f-4db0-b02f-9042cca1213d" providerId="ADAL" clId="{2727A790-0D3B-484C-A802-B4DFD9B74CFE}" dt="2024-04-12T08:23:36.439" v="20" actId="478"/>
          <ac:picMkLst>
            <pc:docMk/>
            <pc:sldMk cId="3147891606" sldId="336"/>
            <ac:picMk id="15" creationId="{AF94A5FA-F78A-46F0-A626-55348447DC9D}"/>
          </ac:picMkLst>
        </pc:pic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3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5A96D536-2DF4-4E41-903B-6CF628FC159D}" type="datetimeFigureOut">
              <a:rPr lang="zh-TW" altLang="en-US" smtClean="0"/>
              <a:t>2024/7/5</a:t>
            </a:fld>
            <a:endParaRPr lang="zh-TW" altLang="en-US"/>
          </a:p>
        </p:txBody>
      </p:sp>
      <p:sp>
        <p:nvSpPr>
          <p:cNvPr id="4" name="投影片影像版面配置區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D2DD1B12-5F0E-45C7-A1A4-3FFB4DA7D951}" type="slidenum">
              <a:rPr lang="zh-TW" altLang="en-US" smtClean="0"/>
              <a:t>‹#›</a:t>
            </a:fld>
            <a:endParaRPr lang="zh-TW" altLang="en-US"/>
          </a:p>
        </p:txBody>
      </p:sp>
    </p:spTree>
    <p:extLst>
      <p:ext uri="{BB962C8B-B14F-4D97-AF65-F5344CB8AC3E}">
        <p14:creationId xmlns:p14="http://schemas.microsoft.com/office/powerpoint/2010/main" val="1081860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a:solidFill>
                  <a:schemeClr val="tx1"/>
                </a:solidFill>
                <a:latin typeface="Arial" pitchFamily="34" charset="0"/>
                <a:ea typeface="新細明體" pitchFamily="18" charset="-120"/>
              </a:defRPr>
            </a:lvl1pPr>
            <a:lvl2pPr marL="742950" indent="-285750" defTabSz="990600" eaLnBrk="0" hangingPunct="0">
              <a:defRPr kumimoji="1">
                <a:solidFill>
                  <a:schemeClr val="tx1"/>
                </a:solidFill>
                <a:latin typeface="Arial" pitchFamily="34" charset="0"/>
                <a:ea typeface="新細明體" pitchFamily="18" charset="-120"/>
              </a:defRPr>
            </a:lvl2pPr>
            <a:lvl3pPr marL="1143000" indent="-228600" defTabSz="990600" eaLnBrk="0" hangingPunct="0">
              <a:defRPr kumimoji="1">
                <a:solidFill>
                  <a:schemeClr val="tx1"/>
                </a:solidFill>
                <a:latin typeface="Arial" pitchFamily="34" charset="0"/>
                <a:ea typeface="新細明體" pitchFamily="18" charset="-120"/>
              </a:defRPr>
            </a:lvl3pPr>
            <a:lvl4pPr marL="1600200" indent="-228600" defTabSz="990600" eaLnBrk="0" hangingPunct="0">
              <a:defRPr kumimoji="1">
                <a:solidFill>
                  <a:schemeClr val="tx1"/>
                </a:solidFill>
                <a:latin typeface="Arial" pitchFamily="34" charset="0"/>
                <a:ea typeface="新細明體" pitchFamily="18" charset="-120"/>
              </a:defRPr>
            </a:lvl4pPr>
            <a:lvl5pPr marL="2057400" indent="-228600" defTabSz="990600" eaLnBrk="0" hangingPunct="0">
              <a:defRPr kumimoji="1">
                <a:solidFill>
                  <a:schemeClr val="tx1"/>
                </a:solidFill>
                <a:latin typeface="Arial" pitchFamily="34" charset="0"/>
                <a:ea typeface="新細明體" pitchFamily="18" charset="-120"/>
              </a:defRPr>
            </a:lvl5pPr>
            <a:lvl6pPr marL="2514600" indent="-228600" defTabSz="990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defTabSz="990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defTabSz="990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defTabSz="990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eaLnBrk="1" hangingPunct="1"/>
            <a:fld id="{D6F6EA28-F89A-4CCB-933A-A04E163E88C9}" type="slidenum">
              <a:rPr lang="en-US" altLang="zh-TW" smtClean="0"/>
              <a:pPr eaLnBrk="1" hangingPunct="1"/>
              <a:t>17</a:t>
            </a:fld>
            <a:endParaRPr lang="en-US" altLang="zh-TW" dirty="0"/>
          </a:p>
        </p:txBody>
      </p:sp>
      <p:sp>
        <p:nvSpPr>
          <p:cNvPr id="13315" name="Rectangle 2"/>
          <p:cNvSpPr>
            <a:spLocks noGrp="1" noRot="1" noChangeAspect="1" noChangeArrowheads="1" noTextEdit="1"/>
          </p:cNvSpPr>
          <p:nvPr>
            <p:ph type="sldImg"/>
          </p:nvPr>
        </p:nvSpPr>
        <p:spPr>
          <a:xfrm>
            <a:off x="992188" y="768350"/>
            <a:ext cx="5114925" cy="3836988"/>
          </a:xfrm>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extLst>
      <p:ext uri="{BB962C8B-B14F-4D97-AF65-F5344CB8AC3E}">
        <p14:creationId xmlns:p14="http://schemas.microsoft.com/office/powerpoint/2010/main" val="1870830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a:solidFill>
                  <a:schemeClr val="tx1"/>
                </a:solidFill>
                <a:latin typeface="Arial" pitchFamily="34" charset="0"/>
                <a:ea typeface="新細明體" pitchFamily="18" charset="-120"/>
              </a:defRPr>
            </a:lvl1pPr>
            <a:lvl2pPr marL="742950" indent="-285750" defTabSz="990600" eaLnBrk="0" hangingPunct="0">
              <a:defRPr kumimoji="1">
                <a:solidFill>
                  <a:schemeClr val="tx1"/>
                </a:solidFill>
                <a:latin typeface="Arial" pitchFamily="34" charset="0"/>
                <a:ea typeface="新細明體" pitchFamily="18" charset="-120"/>
              </a:defRPr>
            </a:lvl2pPr>
            <a:lvl3pPr marL="1143000" indent="-228600" defTabSz="990600" eaLnBrk="0" hangingPunct="0">
              <a:defRPr kumimoji="1">
                <a:solidFill>
                  <a:schemeClr val="tx1"/>
                </a:solidFill>
                <a:latin typeface="Arial" pitchFamily="34" charset="0"/>
                <a:ea typeface="新細明體" pitchFamily="18" charset="-120"/>
              </a:defRPr>
            </a:lvl3pPr>
            <a:lvl4pPr marL="1600200" indent="-228600" defTabSz="990600" eaLnBrk="0" hangingPunct="0">
              <a:defRPr kumimoji="1">
                <a:solidFill>
                  <a:schemeClr val="tx1"/>
                </a:solidFill>
                <a:latin typeface="Arial" pitchFamily="34" charset="0"/>
                <a:ea typeface="新細明體" pitchFamily="18" charset="-120"/>
              </a:defRPr>
            </a:lvl4pPr>
            <a:lvl5pPr marL="2057400" indent="-228600" defTabSz="990600" eaLnBrk="0" hangingPunct="0">
              <a:defRPr kumimoji="1">
                <a:solidFill>
                  <a:schemeClr val="tx1"/>
                </a:solidFill>
                <a:latin typeface="Arial" pitchFamily="34" charset="0"/>
                <a:ea typeface="新細明體" pitchFamily="18" charset="-120"/>
              </a:defRPr>
            </a:lvl5pPr>
            <a:lvl6pPr marL="2514600" indent="-228600" defTabSz="990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defTabSz="990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defTabSz="990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defTabSz="990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eaLnBrk="1" hangingPunct="1"/>
            <a:fld id="{D6F6EA28-F89A-4CCB-933A-A04E163E88C9}" type="slidenum">
              <a:rPr lang="en-US" altLang="zh-TW" smtClean="0"/>
              <a:pPr eaLnBrk="1" hangingPunct="1"/>
              <a:t>18</a:t>
            </a:fld>
            <a:endParaRPr lang="en-US" altLang="zh-TW" dirty="0"/>
          </a:p>
        </p:txBody>
      </p:sp>
      <p:sp>
        <p:nvSpPr>
          <p:cNvPr id="13315" name="Rectangle 2"/>
          <p:cNvSpPr>
            <a:spLocks noGrp="1" noRot="1" noChangeAspect="1" noChangeArrowheads="1" noTextEdit="1"/>
          </p:cNvSpPr>
          <p:nvPr>
            <p:ph type="sldImg"/>
          </p:nvPr>
        </p:nvSpPr>
        <p:spPr>
          <a:xfrm>
            <a:off x="992188" y="768350"/>
            <a:ext cx="5114925" cy="3836988"/>
          </a:xfrm>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extLst>
      <p:ext uri="{BB962C8B-B14F-4D97-AF65-F5344CB8AC3E}">
        <p14:creationId xmlns:p14="http://schemas.microsoft.com/office/powerpoint/2010/main" val="3997957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a:solidFill>
                  <a:schemeClr val="tx1"/>
                </a:solidFill>
                <a:latin typeface="Arial" pitchFamily="34" charset="0"/>
                <a:ea typeface="新細明體" pitchFamily="18" charset="-120"/>
              </a:defRPr>
            </a:lvl1pPr>
            <a:lvl2pPr marL="742950" indent="-285750" defTabSz="990600" eaLnBrk="0" hangingPunct="0">
              <a:defRPr kumimoji="1">
                <a:solidFill>
                  <a:schemeClr val="tx1"/>
                </a:solidFill>
                <a:latin typeface="Arial" pitchFamily="34" charset="0"/>
                <a:ea typeface="新細明體" pitchFamily="18" charset="-120"/>
              </a:defRPr>
            </a:lvl2pPr>
            <a:lvl3pPr marL="1143000" indent="-228600" defTabSz="990600" eaLnBrk="0" hangingPunct="0">
              <a:defRPr kumimoji="1">
                <a:solidFill>
                  <a:schemeClr val="tx1"/>
                </a:solidFill>
                <a:latin typeface="Arial" pitchFamily="34" charset="0"/>
                <a:ea typeface="新細明體" pitchFamily="18" charset="-120"/>
              </a:defRPr>
            </a:lvl3pPr>
            <a:lvl4pPr marL="1600200" indent="-228600" defTabSz="990600" eaLnBrk="0" hangingPunct="0">
              <a:defRPr kumimoji="1">
                <a:solidFill>
                  <a:schemeClr val="tx1"/>
                </a:solidFill>
                <a:latin typeface="Arial" pitchFamily="34" charset="0"/>
                <a:ea typeface="新細明體" pitchFamily="18" charset="-120"/>
              </a:defRPr>
            </a:lvl4pPr>
            <a:lvl5pPr marL="2057400" indent="-228600" defTabSz="990600" eaLnBrk="0" hangingPunct="0">
              <a:defRPr kumimoji="1">
                <a:solidFill>
                  <a:schemeClr val="tx1"/>
                </a:solidFill>
                <a:latin typeface="Arial" pitchFamily="34" charset="0"/>
                <a:ea typeface="新細明體" pitchFamily="18" charset="-120"/>
              </a:defRPr>
            </a:lvl5pPr>
            <a:lvl6pPr marL="2514600" indent="-228600" defTabSz="990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defTabSz="990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defTabSz="990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defTabSz="990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eaLnBrk="1" hangingPunct="1"/>
            <a:fld id="{D6F6EA28-F89A-4CCB-933A-A04E163E88C9}" type="slidenum">
              <a:rPr lang="en-US" altLang="zh-TW" smtClean="0"/>
              <a:pPr eaLnBrk="1" hangingPunct="1"/>
              <a:t>19</a:t>
            </a:fld>
            <a:endParaRPr lang="en-US" altLang="zh-TW" dirty="0"/>
          </a:p>
        </p:txBody>
      </p:sp>
      <p:sp>
        <p:nvSpPr>
          <p:cNvPr id="13315" name="Rectangle 2"/>
          <p:cNvSpPr>
            <a:spLocks noGrp="1" noRot="1" noChangeAspect="1" noChangeArrowheads="1" noTextEdit="1"/>
          </p:cNvSpPr>
          <p:nvPr>
            <p:ph type="sldImg"/>
          </p:nvPr>
        </p:nvSpPr>
        <p:spPr>
          <a:xfrm>
            <a:off x="992188" y="768350"/>
            <a:ext cx="5114925" cy="3836988"/>
          </a:xfrm>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p>
        </p:txBody>
      </p:sp>
    </p:spTree>
    <p:extLst>
      <p:ext uri="{BB962C8B-B14F-4D97-AF65-F5344CB8AC3E}">
        <p14:creationId xmlns:p14="http://schemas.microsoft.com/office/powerpoint/2010/main" val="4122066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5" name="PlaceHolder 2"/>
          <p:cNvSpPr>
            <a:spLocks noGrp="1"/>
          </p:cNvSpPr>
          <p:nvPr>
            <p:ph type="subTitle"/>
          </p:nvPr>
        </p:nvSpPr>
        <p:spPr>
          <a:xfrm>
            <a:off x="457110" y="1604520"/>
            <a:ext cx="8229330" cy="397728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7" name="PlaceHolder 2"/>
          <p:cNvSpPr>
            <a:spLocks noGrp="1"/>
          </p:cNvSpPr>
          <p:nvPr>
            <p:ph type="body"/>
          </p:nvPr>
        </p:nvSpPr>
        <p:spPr>
          <a:xfrm>
            <a:off x="457110" y="1604520"/>
            <a:ext cx="8229330" cy="397728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9" name="PlaceHolder 2"/>
          <p:cNvSpPr>
            <a:spLocks noGrp="1"/>
          </p:cNvSpPr>
          <p:nvPr>
            <p:ph type="body"/>
          </p:nvPr>
        </p:nvSpPr>
        <p:spPr>
          <a:xfrm>
            <a:off x="457110" y="1604520"/>
            <a:ext cx="4015710" cy="397728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10" name="PlaceHolder 3"/>
          <p:cNvSpPr>
            <a:spLocks noGrp="1"/>
          </p:cNvSpPr>
          <p:nvPr>
            <p:ph type="body"/>
          </p:nvPr>
        </p:nvSpPr>
        <p:spPr>
          <a:xfrm>
            <a:off x="4673970" y="1604520"/>
            <a:ext cx="4015710" cy="397728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457110" y="273600"/>
            <a:ext cx="8229330" cy="53078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4" name="PlaceHolder 2"/>
          <p:cNvSpPr>
            <a:spLocks noGrp="1"/>
          </p:cNvSpPr>
          <p:nvPr>
            <p:ph type="body"/>
          </p:nvPr>
        </p:nvSpPr>
        <p:spPr>
          <a:xfrm>
            <a:off x="457110" y="160452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15" name="PlaceHolder 3"/>
          <p:cNvSpPr>
            <a:spLocks noGrp="1"/>
          </p:cNvSpPr>
          <p:nvPr>
            <p:ph type="body"/>
          </p:nvPr>
        </p:nvSpPr>
        <p:spPr>
          <a:xfrm>
            <a:off x="457110" y="368208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16" name="PlaceHolder 4"/>
          <p:cNvSpPr>
            <a:spLocks noGrp="1"/>
          </p:cNvSpPr>
          <p:nvPr>
            <p:ph type="body"/>
          </p:nvPr>
        </p:nvSpPr>
        <p:spPr>
          <a:xfrm>
            <a:off x="4673970" y="1604520"/>
            <a:ext cx="4015710" cy="397728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8" name="PlaceHolder 2"/>
          <p:cNvSpPr>
            <a:spLocks noGrp="1"/>
          </p:cNvSpPr>
          <p:nvPr>
            <p:ph type="body"/>
          </p:nvPr>
        </p:nvSpPr>
        <p:spPr>
          <a:xfrm>
            <a:off x="457110" y="1604520"/>
            <a:ext cx="4015710" cy="397728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19" name="PlaceHolder 3"/>
          <p:cNvSpPr>
            <a:spLocks noGrp="1"/>
          </p:cNvSpPr>
          <p:nvPr>
            <p:ph type="body"/>
          </p:nvPr>
        </p:nvSpPr>
        <p:spPr>
          <a:xfrm>
            <a:off x="4673970" y="160452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20" name="PlaceHolder 4"/>
          <p:cNvSpPr>
            <a:spLocks noGrp="1"/>
          </p:cNvSpPr>
          <p:nvPr>
            <p:ph type="body"/>
          </p:nvPr>
        </p:nvSpPr>
        <p:spPr>
          <a:xfrm>
            <a:off x="4673970" y="368208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2" name="PlaceHolder 2"/>
          <p:cNvSpPr>
            <a:spLocks noGrp="1"/>
          </p:cNvSpPr>
          <p:nvPr>
            <p:ph type="body"/>
          </p:nvPr>
        </p:nvSpPr>
        <p:spPr>
          <a:xfrm>
            <a:off x="457110" y="160452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23" name="PlaceHolder 3"/>
          <p:cNvSpPr>
            <a:spLocks noGrp="1"/>
          </p:cNvSpPr>
          <p:nvPr>
            <p:ph type="body"/>
          </p:nvPr>
        </p:nvSpPr>
        <p:spPr>
          <a:xfrm>
            <a:off x="4673970" y="160452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24" name="PlaceHolder 4"/>
          <p:cNvSpPr>
            <a:spLocks noGrp="1"/>
          </p:cNvSpPr>
          <p:nvPr>
            <p:ph type="body"/>
          </p:nvPr>
        </p:nvSpPr>
        <p:spPr>
          <a:xfrm>
            <a:off x="457110" y="3682080"/>
            <a:ext cx="822933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6" name="PlaceHolder 2"/>
          <p:cNvSpPr>
            <a:spLocks noGrp="1"/>
          </p:cNvSpPr>
          <p:nvPr>
            <p:ph type="body"/>
          </p:nvPr>
        </p:nvSpPr>
        <p:spPr>
          <a:xfrm>
            <a:off x="457110" y="1604520"/>
            <a:ext cx="822933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27" name="PlaceHolder 3"/>
          <p:cNvSpPr>
            <a:spLocks noGrp="1"/>
          </p:cNvSpPr>
          <p:nvPr>
            <p:ph type="body"/>
          </p:nvPr>
        </p:nvSpPr>
        <p:spPr>
          <a:xfrm>
            <a:off x="457110" y="3682080"/>
            <a:ext cx="822933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9" name="PlaceHolder 2"/>
          <p:cNvSpPr>
            <a:spLocks noGrp="1"/>
          </p:cNvSpPr>
          <p:nvPr>
            <p:ph type="body"/>
          </p:nvPr>
        </p:nvSpPr>
        <p:spPr>
          <a:xfrm>
            <a:off x="457110" y="160452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0" name="PlaceHolder 3"/>
          <p:cNvSpPr>
            <a:spLocks noGrp="1"/>
          </p:cNvSpPr>
          <p:nvPr>
            <p:ph type="body"/>
          </p:nvPr>
        </p:nvSpPr>
        <p:spPr>
          <a:xfrm>
            <a:off x="4673970" y="160452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1" name="PlaceHolder 4"/>
          <p:cNvSpPr>
            <a:spLocks noGrp="1"/>
          </p:cNvSpPr>
          <p:nvPr>
            <p:ph type="body"/>
          </p:nvPr>
        </p:nvSpPr>
        <p:spPr>
          <a:xfrm>
            <a:off x="4673970" y="368208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2" name="PlaceHolder 5"/>
          <p:cNvSpPr>
            <a:spLocks noGrp="1"/>
          </p:cNvSpPr>
          <p:nvPr>
            <p:ph type="body"/>
          </p:nvPr>
        </p:nvSpPr>
        <p:spPr>
          <a:xfrm>
            <a:off x="457110" y="368208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34" name="PlaceHolder 2"/>
          <p:cNvSpPr>
            <a:spLocks noGrp="1"/>
          </p:cNvSpPr>
          <p:nvPr>
            <p:ph type="body"/>
          </p:nvPr>
        </p:nvSpPr>
        <p:spPr>
          <a:xfrm>
            <a:off x="457110" y="1604520"/>
            <a:ext cx="264978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5" name="PlaceHolder 3"/>
          <p:cNvSpPr>
            <a:spLocks noGrp="1"/>
          </p:cNvSpPr>
          <p:nvPr>
            <p:ph type="body"/>
          </p:nvPr>
        </p:nvSpPr>
        <p:spPr>
          <a:xfrm>
            <a:off x="3239730" y="1604520"/>
            <a:ext cx="264978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6" name="PlaceHolder 4"/>
          <p:cNvSpPr>
            <a:spLocks noGrp="1"/>
          </p:cNvSpPr>
          <p:nvPr>
            <p:ph type="body"/>
          </p:nvPr>
        </p:nvSpPr>
        <p:spPr>
          <a:xfrm>
            <a:off x="6022350" y="1604520"/>
            <a:ext cx="264978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7" name="PlaceHolder 5"/>
          <p:cNvSpPr>
            <a:spLocks noGrp="1"/>
          </p:cNvSpPr>
          <p:nvPr>
            <p:ph type="body"/>
          </p:nvPr>
        </p:nvSpPr>
        <p:spPr>
          <a:xfrm>
            <a:off x="6022350" y="3682080"/>
            <a:ext cx="264978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8" name="PlaceHolder 6"/>
          <p:cNvSpPr>
            <a:spLocks noGrp="1"/>
          </p:cNvSpPr>
          <p:nvPr>
            <p:ph type="body"/>
          </p:nvPr>
        </p:nvSpPr>
        <p:spPr>
          <a:xfrm>
            <a:off x="3239730" y="3682080"/>
            <a:ext cx="264978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9" name="PlaceHolder 7"/>
          <p:cNvSpPr>
            <a:spLocks noGrp="1"/>
          </p:cNvSpPr>
          <p:nvPr>
            <p:ph type="body"/>
          </p:nvPr>
        </p:nvSpPr>
        <p:spPr>
          <a:xfrm>
            <a:off x="457110" y="3682080"/>
            <a:ext cx="264978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a:prstGeom prst="rect">
            <a:avLst/>
          </a:prstGeo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a:t>按一下以編輯母片副標題樣式</a:t>
            </a:r>
          </a:p>
        </p:txBody>
      </p:sp>
    </p:spTree>
    <p:extLst>
      <p:ext uri="{BB962C8B-B14F-4D97-AF65-F5344CB8AC3E}">
        <p14:creationId xmlns:p14="http://schemas.microsoft.com/office/powerpoint/2010/main" val="3403293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2"/>
          <p:cNvSpPr>
            <a:spLocks noGrp="1"/>
          </p:cNvSpPr>
          <p:nvPr>
            <p:ph type="title"/>
          </p:nvPr>
        </p:nvSpPr>
        <p:spPr>
          <a:xfrm>
            <a:off x="628560" y="365040"/>
            <a:ext cx="7886160" cy="660600"/>
          </a:xfrm>
          <a:prstGeom prst="rect">
            <a:avLst/>
          </a:prstGeom>
        </p:spPr>
        <p:txBody>
          <a:bodyPr lIns="0" tIns="0" rIns="0" bIns="0" anchor="ctr"/>
          <a:lstStyle/>
          <a:p>
            <a:r>
              <a:rPr lang="en-US" sz="1800" b="0" strike="noStrike" spc="-1">
                <a:solidFill>
                  <a:srgbClr val="000000"/>
                </a:solidFill>
                <a:uFill>
                  <a:solidFill>
                    <a:srgbClr val="FFFFFF"/>
                  </a:solidFill>
                </a:uFill>
                <a:latin typeface="Arial"/>
              </a:rPr>
              <a:t>請按這裡編輯題名文字格式</a:t>
            </a:r>
          </a:p>
        </p:txBody>
      </p:sp>
      <p:sp>
        <p:nvSpPr>
          <p:cNvPr id="3" name="PlaceHolder 3"/>
          <p:cNvSpPr>
            <a:spLocks noGrp="1"/>
          </p:cNvSpPr>
          <p:nvPr>
            <p:ph type="body"/>
          </p:nvPr>
        </p:nvSpPr>
        <p:spPr>
          <a:xfrm>
            <a:off x="457110" y="1604520"/>
            <a:ext cx="822933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uFill>
                  <a:solidFill>
                    <a:srgbClr val="FFFFFF"/>
                  </a:solidFill>
                </a:uFill>
                <a:latin typeface="Arial"/>
              </a:rPr>
              <a:t>請按這裡編輯大綱文字格式。</a:t>
            </a:r>
          </a:p>
          <a:p>
            <a:pPr marL="864000" lvl="1" indent="-324000">
              <a:spcBef>
                <a:spcPts val="1134"/>
              </a:spcBef>
              <a:buClr>
                <a:srgbClr val="000000"/>
              </a:buClr>
              <a:buSzPct val="75000"/>
              <a:buFont typeface="Symbol" charset="2"/>
              <a:buChar char=""/>
            </a:pPr>
            <a:r>
              <a:rPr lang="en-US" sz="2800" b="0" strike="noStrike" spc="-1">
                <a:solidFill>
                  <a:srgbClr val="000000"/>
                </a:solidFill>
                <a:uFill>
                  <a:solidFill>
                    <a:srgbClr val="FFFFFF"/>
                  </a:solidFill>
                </a:uFill>
                <a:latin typeface="Arial"/>
              </a:rPr>
              <a:t>第二個大綱層次</a:t>
            </a:r>
          </a:p>
          <a:p>
            <a:pPr marL="1296000" lvl="2" indent="-288000">
              <a:spcBef>
                <a:spcPts val="850"/>
              </a:spcBef>
              <a:buClr>
                <a:srgbClr val="000000"/>
              </a:buClr>
              <a:buSzPct val="45000"/>
              <a:buFont typeface="Wingdings" charset="2"/>
              <a:buChar char=""/>
            </a:pPr>
            <a:r>
              <a:rPr lang="en-US" sz="2400" b="0" strike="noStrike" spc="-1">
                <a:solidFill>
                  <a:srgbClr val="000000"/>
                </a:solidFill>
                <a:uFill>
                  <a:solidFill>
                    <a:srgbClr val="FFFFFF"/>
                  </a:solidFill>
                </a:uFill>
                <a:latin typeface="Arial"/>
              </a:rPr>
              <a:t>第三個大綱層次</a:t>
            </a:r>
          </a:p>
          <a:p>
            <a:pPr marL="1728000" lvl="3" indent="-216000">
              <a:spcBef>
                <a:spcPts val="567"/>
              </a:spcBef>
              <a:buClr>
                <a:srgbClr val="000000"/>
              </a:buClr>
              <a:buSzPct val="75000"/>
              <a:buFont typeface="Symbol" charset="2"/>
              <a:buChar char=""/>
            </a:pPr>
            <a:r>
              <a:rPr lang="en-US" sz="2000" b="0" strike="noStrike" spc="-1">
                <a:solidFill>
                  <a:srgbClr val="000000"/>
                </a:solidFill>
                <a:uFill>
                  <a:solidFill>
                    <a:srgbClr val="FFFFFF"/>
                  </a:solidFill>
                </a:uFill>
                <a:latin typeface="Arial"/>
              </a:rPr>
              <a:t>第四個大綱層次</a:t>
            </a:r>
          </a:p>
          <a:p>
            <a:pPr marL="2160000" lvl="4" indent="-216000">
              <a:spcBef>
                <a:spcPts val="283"/>
              </a:spcBef>
              <a:buClr>
                <a:srgbClr val="000000"/>
              </a:buClr>
              <a:buSzPct val="45000"/>
              <a:buFont typeface="Wingdings" charset="2"/>
              <a:buChar char=""/>
            </a:pPr>
            <a:r>
              <a:rPr lang="en-US" sz="2000" b="0" strike="noStrike" spc="-1">
                <a:solidFill>
                  <a:srgbClr val="000000"/>
                </a:solidFill>
                <a:uFill>
                  <a:solidFill>
                    <a:srgbClr val="FFFFFF"/>
                  </a:solidFill>
                </a:uFill>
                <a:latin typeface="Arial"/>
              </a:rPr>
              <a:t>第五個大綱層次</a:t>
            </a:r>
          </a:p>
          <a:p>
            <a:pPr marL="2592000" lvl="5" indent="-216000">
              <a:spcBef>
                <a:spcPts val="283"/>
              </a:spcBef>
              <a:buClr>
                <a:srgbClr val="000000"/>
              </a:buClr>
              <a:buSzPct val="45000"/>
              <a:buFont typeface="Wingdings" charset="2"/>
              <a:buChar char=""/>
            </a:pPr>
            <a:r>
              <a:rPr lang="en-US" sz="2000" b="0" strike="noStrike" spc="-1">
                <a:solidFill>
                  <a:srgbClr val="000000"/>
                </a:solidFill>
                <a:uFill>
                  <a:solidFill>
                    <a:srgbClr val="FFFFFF"/>
                  </a:solidFill>
                </a:uFill>
                <a:latin typeface="Arial"/>
              </a:rPr>
              <a:t>第六個大綱層次</a:t>
            </a:r>
          </a:p>
          <a:p>
            <a:pPr marL="3024000" lvl="6" indent="-216000">
              <a:spcBef>
                <a:spcPts val="283"/>
              </a:spcBef>
              <a:buClr>
                <a:srgbClr val="000000"/>
              </a:buClr>
              <a:buSzPct val="45000"/>
              <a:buFont typeface="Wingdings" charset="2"/>
              <a:buChar char=""/>
            </a:pPr>
            <a:r>
              <a:rPr lang="en-US" sz="2000" b="0" strike="noStrike" spc="-1">
                <a:solidFill>
                  <a:srgbClr val="000000"/>
                </a:solidFill>
                <a:uFill>
                  <a:solidFill>
                    <a:srgbClr val="FFFFFF"/>
                  </a:solidFill>
                </a:uFill>
                <a:latin typeface="Arial"/>
              </a:rPr>
              <a:t>第七個大綱層次</a:t>
            </a:r>
          </a:p>
        </p:txBody>
      </p:sp>
      <p:pic>
        <p:nvPicPr>
          <p:cNvPr id="4" name="Picture 2">
            <a:extLst>
              <a:ext uri="{FF2B5EF4-FFF2-40B4-BE49-F238E27FC236}">
                <a16:creationId xmlns:a16="http://schemas.microsoft.com/office/drawing/2014/main" id="{E21C918F-C4B5-4C23-8CC2-BA750E41DC7E}"/>
              </a:ext>
            </a:extLst>
          </p:cNvPr>
          <p:cNvPicPr/>
          <p:nvPr userDrawn="1"/>
        </p:nvPicPr>
        <p:blipFill>
          <a:blip r:embed="rId15"/>
          <a:stretch/>
        </p:blipFill>
        <p:spPr>
          <a:xfrm>
            <a:off x="7847280" y="0"/>
            <a:ext cx="1296720" cy="1296720"/>
          </a:xfrm>
          <a:prstGeom prst="rect">
            <a:avLst/>
          </a:prstGeom>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432000" indent="-324000" algn="l" defTabSz="914400" rtl="0" eaLnBrk="1" latinLnBrk="0" hangingPunct="1">
        <a:lnSpc>
          <a:spcPct val="90000"/>
        </a:lnSpc>
        <a:spcBef>
          <a:spcPts val="1417"/>
        </a:spcBef>
        <a:buClr>
          <a:srgbClr val="000000"/>
        </a:buClr>
        <a:buSzPct val="45000"/>
        <a:buFont typeface="Wingdings"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34.wmf"/><Relationship Id="rId4"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1A94D0AD-8C14-42FE-86A9-371E2825AF09}"/>
              </a:ext>
            </a:extLst>
          </p:cNvPr>
          <p:cNvSpPr txBox="1">
            <a:spLocks/>
          </p:cNvSpPr>
          <p:nvPr/>
        </p:nvSpPr>
        <p:spPr>
          <a:xfrm>
            <a:off x="799069" y="1121240"/>
            <a:ext cx="7297711" cy="742950"/>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sz="3600" dirty="0">
                <a:latin typeface="Adobe 繁黑體 Std B" panose="020B0700000000000000" pitchFamily="34" charset="-120"/>
                <a:ea typeface="Adobe 繁黑體 Std B" panose="020B0700000000000000" pitchFamily="34" charset="-120"/>
              </a:rPr>
              <a:t>智慧型可擺動電風扇製作與控制</a:t>
            </a:r>
          </a:p>
        </p:txBody>
      </p:sp>
      <p:sp>
        <p:nvSpPr>
          <p:cNvPr id="6" name="文字方塊 5">
            <a:extLst>
              <a:ext uri="{FF2B5EF4-FFF2-40B4-BE49-F238E27FC236}">
                <a16:creationId xmlns:a16="http://schemas.microsoft.com/office/drawing/2014/main" id="{2B461306-2B74-411E-8B0E-851929D20CAB}"/>
              </a:ext>
            </a:extLst>
          </p:cNvPr>
          <p:cNvSpPr txBox="1"/>
          <p:nvPr/>
        </p:nvSpPr>
        <p:spPr>
          <a:xfrm>
            <a:off x="799070" y="601012"/>
            <a:ext cx="3310522" cy="300082"/>
          </a:xfrm>
          <a:prstGeom prst="rect">
            <a:avLst/>
          </a:prstGeom>
          <a:noFill/>
        </p:spPr>
        <p:txBody>
          <a:bodyPr wrap="none" rtlCol="0">
            <a:spAutoFit/>
          </a:bodyPr>
          <a:lstStyle/>
          <a:p>
            <a:r>
              <a:rPr lang="en-US" altLang="zh-TW" sz="1350" dirty="0">
                <a:ea typeface="Adobe 仿宋 Std R" panose="02020400000000000000" pitchFamily="18" charset="-128"/>
              </a:rPr>
              <a:t>2024.6.1</a:t>
            </a:r>
            <a:r>
              <a:rPr lang="zh-TW" altLang="en-US" sz="1350" dirty="0">
                <a:ea typeface="Adobe 仿宋 Std R" panose="02020400000000000000" pitchFamily="18" charset="-128"/>
              </a:rPr>
              <a:t>ˇ</a:t>
            </a:r>
            <a:r>
              <a:rPr lang="en-US" altLang="zh-TW" sz="1350" dirty="0">
                <a:ea typeface="Adobe 仿宋 Std R" panose="02020400000000000000" pitchFamily="18" charset="-128"/>
              </a:rPr>
              <a:t>2 </a:t>
            </a:r>
            <a:r>
              <a:rPr lang="zh-TW" altLang="en-US" sz="1350" dirty="0">
                <a:ea typeface="Adobe 仿宋 Std R" panose="02020400000000000000" pitchFamily="18" charset="-128"/>
              </a:rPr>
              <a:t>高雄市前峰科技中心教師研習</a:t>
            </a:r>
          </a:p>
        </p:txBody>
      </p:sp>
      <p:sp>
        <p:nvSpPr>
          <p:cNvPr id="7" name="文字方塊 20">
            <a:extLst>
              <a:ext uri="{FF2B5EF4-FFF2-40B4-BE49-F238E27FC236}">
                <a16:creationId xmlns:a16="http://schemas.microsoft.com/office/drawing/2014/main" id="{CE8E7A8F-6295-4107-9420-CE5FE1BD3AD2}"/>
              </a:ext>
            </a:extLst>
          </p:cNvPr>
          <p:cNvSpPr txBox="1">
            <a:spLocks noChangeArrowheads="1"/>
          </p:cNvSpPr>
          <p:nvPr/>
        </p:nvSpPr>
        <p:spPr bwMode="auto">
          <a:xfrm>
            <a:off x="6316147" y="5724651"/>
            <a:ext cx="264687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eaLnBrk="1" hangingPunct="1"/>
            <a:r>
              <a:rPr lang="zh-TW" altLang="en-US" sz="1200" dirty="0">
                <a:latin typeface="Adobe 仿宋 Std R" panose="02020400000000000000" pitchFamily="18" charset="-128"/>
                <a:ea typeface="Adobe 仿宋 Std R" panose="02020400000000000000" pitchFamily="18" charset="-128"/>
              </a:rPr>
              <a:t>講師：</a:t>
            </a:r>
            <a:endParaRPr lang="en-US" altLang="zh-TW" sz="1200" dirty="0">
              <a:latin typeface="Adobe 仿宋 Std R" panose="02020400000000000000" pitchFamily="18" charset="-128"/>
              <a:ea typeface="Adobe 仿宋 Std R" panose="02020400000000000000" pitchFamily="18" charset="-128"/>
            </a:endParaRPr>
          </a:p>
          <a:p>
            <a:pPr eaLnBrk="1" hangingPunct="1"/>
            <a:r>
              <a:rPr lang="zh-TW" altLang="en-US" sz="1200" dirty="0">
                <a:latin typeface="Adobe 仿宋 Std R" panose="02020400000000000000" pitchFamily="18" charset="-128"/>
                <a:ea typeface="Adobe 仿宋 Std R" panose="02020400000000000000" pitchFamily="18" charset="-128"/>
              </a:rPr>
              <a:t>羅治民 博士</a:t>
            </a:r>
            <a:endParaRPr lang="en-US" altLang="zh-TW" sz="1200" dirty="0">
              <a:latin typeface="Adobe 仿宋 Std R" panose="02020400000000000000" pitchFamily="18" charset="-128"/>
              <a:ea typeface="Adobe 仿宋 Std R" panose="02020400000000000000" pitchFamily="18" charset="-128"/>
            </a:endParaRPr>
          </a:p>
          <a:p>
            <a:pPr eaLnBrk="1" hangingPunct="1"/>
            <a:r>
              <a:rPr lang="zh-TW" altLang="en-US" sz="1200" dirty="0">
                <a:latin typeface="Adobe 仿宋 Std R" panose="02020400000000000000" pitchFamily="18" charset="-128"/>
                <a:ea typeface="Adobe 仿宋 Std R" panose="02020400000000000000" pitchFamily="18" charset="-128"/>
              </a:rPr>
              <a:t>國立台北商業大學數位多媒體設計系</a:t>
            </a:r>
            <a:endParaRPr lang="en-US" altLang="zh-TW" sz="1200" dirty="0">
              <a:latin typeface="Adobe 仿宋 Std R" panose="02020400000000000000" pitchFamily="18" charset="-128"/>
              <a:ea typeface="Adobe 仿宋 Std R" panose="02020400000000000000" pitchFamily="18" charset="-128"/>
            </a:endParaRPr>
          </a:p>
          <a:p>
            <a:pPr eaLnBrk="1" hangingPunct="1"/>
            <a:r>
              <a:rPr lang="zh-TW" altLang="en-US" sz="1200" dirty="0">
                <a:latin typeface="Adobe 仿宋 Std R" panose="02020400000000000000" pitchFamily="18" charset="-128"/>
                <a:ea typeface="Adobe 仿宋 Std R" panose="02020400000000000000" pitchFamily="18" charset="-128"/>
              </a:rPr>
              <a:t>電子郵件：</a:t>
            </a:r>
            <a:r>
              <a:rPr lang="en-US" altLang="zh-TW" sz="1200" dirty="0">
                <a:latin typeface="Adobe 仿宋 Std R" panose="02020400000000000000" pitchFamily="18" charset="-128"/>
                <a:ea typeface="Adobe 仿宋 Std R" panose="02020400000000000000" pitchFamily="18" charset="-128"/>
              </a:rPr>
              <a:t>cmlotw@ntub.edu.tw</a:t>
            </a:r>
          </a:p>
        </p:txBody>
      </p:sp>
      <p:sp>
        <p:nvSpPr>
          <p:cNvPr id="8" name="文字方塊 7">
            <a:extLst>
              <a:ext uri="{FF2B5EF4-FFF2-40B4-BE49-F238E27FC236}">
                <a16:creationId xmlns:a16="http://schemas.microsoft.com/office/drawing/2014/main" id="{8A683A86-484F-4C79-B79E-32EDD4D2BB1C}"/>
              </a:ext>
            </a:extLst>
          </p:cNvPr>
          <p:cNvSpPr txBox="1"/>
          <p:nvPr/>
        </p:nvSpPr>
        <p:spPr>
          <a:xfrm>
            <a:off x="799069" y="1960854"/>
            <a:ext cx="5089855" cy="1477328"/>
          </a:xfrm>
          <a:prstGeom prst="rect">
            <a:avLst/>
          </a:prstGeom>
          <a:noFill/>
        </p:spPr>
        <p:txBody>
          <a:bodyPr wrap="none" rtlCol="0">
            <a:spAutoFit/>
          </a:bodyPr>
          <a:lstStyle/>
          <a:p>
            <a:r>
              <a:rPr lang="zh-TW" altLang="en-US" dirty="0">
                <a:latin typeface="Adobe 繁黑體 Std B" panose="020B0700000000000000" pitchFamily="34" charset="-120"/>
                <a:ea typeface="Adobe 繁黑體 Std B" panose="020B0700000000000000" pitchFamily="34" charset="-120"/>
              </a:rPr>
              <a:t>教具製作學習主題：</a:t>
            </a:r>
            <a:endParaRPr lang="en-US" altLang="zh-TW" dirty="0">
              <a:latin typeface="Adobe 繁黑體 Std B" panose="020B0700000000000000" pitchFamily="34" charset="-120"/>
              <a:ea typeface="Adobe 繁黑體 Std B" panose="020B0700000000000000" pitchFamily="34" charset="-120"/>
            </a:endParaRPr>
          </a:p>
          <a:p>
            <a:pPr marL="285750" indent="-285750">
              <a:buBlip>
                <a:blip r:embed="rId2"/>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能源與動力、結構與傳動機構。</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2"/>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齒輪傳動機構，包括動力方向及速率的改變。</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2"/>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連桿傳動機構，運動型態的改變。</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2"/>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基本電路的通路與斷路。</a:t>
            </a:r>
          </a:p>
        </p:txBody>
      </p:sp>
      <p:sp>
        <p:nvSpPr>
          <p:cNvPr id="9" name="文字方塊 8">
            <a:extLst>
              <a:ext uri="{FF2B5EF4-FFF2-40B4-BE49-F238E27FC236}">
                <a16:creationId xmlns:a16="http://schemas.microsoft.com/office/drawing/2014/main" id="{81C82015-BF3C-4A50-B12E-34118500AD0A}"/>
              </a:ext>
            </a:extLst>
          </p:cNvPr>
          <p:cNvSpPr txBox="1"/>
          <p:nvPr/>
        </p:nvSpPr>
        <p:spPr>
          <a:xfrm>
            <a:off x="799069" y="3471541"/>
            <a:ext cx="4394152" cy="2031325"/>
          </a:xfrm>
          <a:prstGeom prst="rect">
            <a:avLst/>
          </a:prstGeom>
          <a:noFill/>
        </p:spPr>
        <p:txBody>
          <a:bodyPr wrap="none" rtlCol="0">
            <a:spAutoFit/>
          </a:bodyPr>
          <a:lstStyle/>
          <a:p>
            <a:r>
              <a:rPr lang="zh-TW" altLang="en-US" dirty="0">
                <a:latin typeface="Adobe 繁黑體 Std B" panose="020B0700000000000000" pitchFamily="34" charset="-120"/>
                <a:ea typeface="Adobe 繁黑體 Std B" panose="020B0700000000000000" pitchFamily="34" charset="-120"/>
              </a:rPr>
              <a:t>程式設計學習主題：</a:t>
            </a:r>
            <a:endParaRPr lang="en-US" altLang="zh-TW" dirty="0">
              <a:latin typeface="Adobe 繁黑體 Std B" panose="020B0700000000000000" pitchFamily="34" charset="-120"/>
              <a:ea typeface="Adobe 繁黑體 Std B" panose="020B0700000000000000" pitchFamily="34" charset="-120"/>
            </a:endParaRPr>
          </a:p>
          <a:p>
            <a:pPr marL="285750" indent="-285750">
              <a:buBlip>
                <a:blip r:embed="rId3"/>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程式語言，認識 </a:t>
            </a:r>
            <a:r>
              <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rPr>
              <a:t>Python </a:t>
            </a: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與 積木程式。</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認識微控制器與智慧型裝置的控制。</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認識電子基本訊號與程式控制。</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認識數位開關與數位模擬類比的應用。</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認識電機轉動方向與速度控制。</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認識傳感器的整合應用與智慧控制。</a:t>
            </a:r>
          </a:p>
        </p:txBody>
      </p:sp>
      <p:pic>
        <p:nvPicPr>
          <p:cNvPr id="11" name="圖片 10">
            <a:extLst>
              <a:ext uri="{FF2B5EF4-FFF2-40B4-BE49-F238E27FC236}">
                <a16:creationId xmlns:a16="http://schemas.microsoft.com/office/drawing/2014/main" id="{33A905B2-88E8-44D2-A9CE-4EEEB2F56A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24475" y="1633288"/>
            <a:ext cx="3186150" cy="4506861"/>
          </a:xfrm>
          <a:prstGeom prst="rect">
            <a:avLst/>
          </a:prstGeom>
        </p:spPr>
      </p:pic>
    </p:spTree>
    <p:extLst>
      <p:ext uri="{BB962C8B-B14F-4D97-AF65-F5344CB8AC3E}">
        <p14:creationId xmlns:p14="http://schemas.microsoft.com/office/powerpoint/2010/main" val="336897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5262979"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智慧型可擺動調速電風扇</a:t>
            </a:r>
          </a:p>
        </p:txBody>
      </p:sp>
      <p:sp>
        <p:nvSpPr>
          <p:cNvPr id="7" name="文字方塊 6">
            <a:extLst>
              <a:ext uri="{FF2B5EF4-FFF2-40B4-BE49-F238E27FC236}">
                <a16:creationId xmlns:a16="http://schemas.microsoft.com/office/drawing/2014/main" id="{CD294E92-FD35-4C73-9127-9F5C9CE094C4}"/>
              </a:ext>
            </a:extLst>
          </p:cNvPr>
          <p:cNvSpPr txBox="1"/>
          <p:nvPr/>
        </p:nvSpPr>
        <p:spPr>
          <a:xfrm>
            <a:off x="592477" y="1117671"/>
            <a:ext cx="6753883" cy="1200329"/>
          </a:xfrm>
          <a:prstGeom prst="rect">
            <a:avLst/>
          </a:prstGeom>
          <a:noFill/>
        </p:spPr>
        <p:txBody>
          <a:bodyPr wrap="square" rtlCol="0">
            <a:spAutoFit/>
          </a:bodyPr>
          <a:lstStyle/>
          <a:p>
            <a:pPr algn="just"/>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課程目標：</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2"/>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學習基礎電子電路及簡單調速控制 </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Python </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程式。</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2"/>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認識結構與接合固件的應用。</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2"/>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認識齒輪傳動機構及連桿傳動機構設計。</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p:txBody>
      </p:sp>
      <p:sp>
        <p:nvSpPr>
          <p:cNvPr id="8" name="文字方塊 7">
            <a:extLst>
              <a:ext uri="{FF2B5EF4-FFF2-40B4-BE49-F238E27FC236}">
                <a16:creationId xmlns:a16="http://schemas.microsoft.com/office/drawing/2014/main" id="{A182CD5C-CC77-420C-91CB-63E8C77B1A92}"/>
              </a:ext>
            </a:extLst>
          </p:cNvPr>
          <p:cNvSpPr txBox="1"/>
          <p:nvPr/>
        </p:nvSpPr>
        <p:spPr>
          <a:xfrm>
            <a:off x="592472" y="2462508"/>
            <a:ext cx="6753883" cy="1754326"/>
          </a:xfrm>
          <a:prstGeom prst="rect">
            <a:avLst/>
          </a:prstGeom>
          <a:noFill/>
        </p:spPr>
        <p:txBody>
          <a:bodyPr wrap="square" rtlCol="0">
            <a:spAutoFit/>
          </a:bodyPr>
          <a:lstStyle/>
          <a:p>
            <a:pPr algn="just"/>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課程材料：</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樹莓派 </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Pico </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電路板、麵包板、跳線、鋰電池</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雙出軸直流電機。</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風扇葉槳、蝸桿齒輪、減速塑膠齒輪。</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小鐵軸、小軸承、螺絲及螺母。</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底座與支架結構，使用雷射切割壓克力板</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或膠合板</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a:t>
            </a:r>
          </a:p>
        </p:txBody>
      </p:sp>
      <p:sp>
        <p:nvSpPr>
          <p:cNvPr id="9" name="文字方塊 8">
            <a:extLst>
              <a:ext uri="{FF2B5EF4-FFF2-40B4-BE49-F238E27FC236}">
                <a16:creationId xmlns:a16="http://schemas.microsoft.com/office/drawing/2014/main" id="{691C6EAF-A356-4FDD-B6F2-4774B6197F0A}"/>
              </a:ext>
            </a:extLst>
          </p:cNvPr>
          <p:cNvSpPr txBox="1"/>
          <p:nvPr/>
        </p:nvSpPr>
        <p:spPr>
          <a:xfrm>
            <a:off x="592471" y="4361342"/>
            <a:ext cx="7932404" cy="1477328"/>
          </a:xfrm>
          <a:prstGeom prst="rect">
            <a:avLst/>
          </a:prstGeom>
          <a:noFill/>
        </p:spPr>
        <p:txBody>
          <a:bodyPr wrap="square" rtlCol="0">
            <a:spAutoFit/>
          </a:bodyPr>
          <a:lstStyle/>
          <a:p>
            <a:pPr algn="just"/>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課程工具：</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4"/>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筆記型電腦或桌上型電腦。</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4"/>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軟體：</a:t>
            </a:r>
            <a:r>
              <a:rPr lang="en-US" altLang="zh-TW" dirty="0" err="1">
                <a:solidFill>
                  <a:schemeClr val="bg1">
                    <a:lumMod val="50000"/>
                  </a:schemeClr>
                </a:solidFill>
                <a:latin typeface="Adobe 繁黑體 Std B" panose="020B0700000000000000" pitchFamily="34" charset="-120"/>
                <a:ea typeface="Adobe 繁黑體 Std B" panose="020B0700000000000000" pitchFamily="34" charset="-120"/>
              </a:rPr>
              <a:t>Thonny</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 IDE </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或 </a:t>
            </a:r>
            <a:r>
              <a:rPr lang="en-US" altLang="zh-TW" dirty="0" err="1">
                <a:solidFill>
                  <a:schemeClr val="bg1">
                    <a:lumMod val="50000"/>
                  </a:schemeClr>
                </a:solidFill>
                <a:latin typeface="Adobe 繁黑體 Std B" panose="020B0700000000000000" pitchFamily="34" charset="-120"/>
                <a:ea typeface="Adobe 繁黑體 Std B" panose="020B0700000000000000" pitchFamily="34" charset="-120"/>
              </a:rPr>
              <a:t>mangoblock</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 </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積木程式編輯器。。</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4"/>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螺絲起子、小手鉗。</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4"/>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雷射切割機及</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3D</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列印機。</a:t>
            </a:r>
          </a:p>
        </p:txBody>
      </p:sp>
    </p:spTree>
    <p:extLst>
      <p:ext uri="{BB962C8B-B14F-4D97-AF65-F5344CB8AC3E}">
        <p14:creationId xmlns:p14="http://schemas.microsoft.com/office/powerpoint/2010/main" val="3964213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圖片 10">
            <a:extLst>
              <a:ext uri="{FF2B5EF4-FFF2-40B4-BE49-F238E27FC236}">
                <a16:creationId xmlns:a16="http://schemas.microsoft.com/office/drawing/2014/main" id="{3036F1EB-512E-4CF2-965E-B56E66AF149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75095" y="3314700"/>
            <a:ext cx="4498300" cy="3374486"/>
          </a:xfrm>
          <a:prstGeom prst="rect">
            <a:avLst/>
          </a:prstGeom>
        </p:spPr>
      </p:pic>
      <p:sp>
        <p:nvSpPr>
          <p:cNvPr id="4" name="文字方塊 3">
            <a:extLst>
              <a:ext uri="{FF2B5EF4-FFF2-40B4-BE49-F238E27FC236}">
                <a16:creationId xmlns:a16="http://schemas.microsoft.com/office/drawing/2014/main" id="{99DCEEDE-63FC-492E-B77C-676E80F36358}"/>
              </a:ext>
            </a:extLst>
          </p:cNvPr>
          <p:cNvSpPr txBox="1"/>
          <p:nvPr/>
        </p:nvSpPr>
        <p:spPr>
          <a:xfrm>
            <a:off x="695176" y="821664"/>
            <a:ext cx="2646878" cy="830997"/>
          </a:xfrm>
          <a:prstGeom prst="rect">
            <a:avLst/>
          </a:prstGeom>
          <a:noFill/>
        </p:spPr>
        <p:txBody>
          <a:bodyPr wrap="none" rtlCol="0">
            <a:spAutoFit/>
          </a:bodyPr>
          <a:lstStyle/>
          <a:p>
            <a:r>
              <a:rPr lang="zh-TW" altLang="en-US" sz="4800" dirty="0">
                <a:latin typeface="Adobe 繁黑體 Std B" panose="020B0700000000000000" pitchFamily="34" charset="-120"/>
                <a:ea typeface="Adobe 繁黑體 Std B" panose="020B0700000000000000" pitchFamily="34" charset="-120"/>
              </a:rPr>
              <a:t>智慧控制</a:t>
            </a:r>
          </a:p>
        </p:txBody>
      </p:sp>
      <p:sp>
        <p:nvSpPr>
          <p:cNvPr id="2" name="文字方塊 1">
            <a:extLst>
              <a:ext uri="{FF2B5EF4-FFF2-40B4-BE49-F238E27FC236}">
                <a16:creationId xmlns:a16="http://schemas.microsoft.com/office/drawing/2014/main" id="{4A2B2D06-0F4A-4FBD-B589-25E6E633A95A}"/>
              </a:ext>
            </a:extLst>
          </p:cNvPr>
          <p:cNvSpPr txBox="1"/>
          <p:nvPr/>
        </p:nvSpPr>
        <p:spPr>
          <a:xfrm>
            <a:off x="695176" y="1605631"/>
            <a:ext cx="3013967" cy="923330"/>
          </a:xfrm>
          <a:prstGeom prst="rect">
            <a:avLst/>
          </a:prstGeom>
          <a:noFill/>
        </p:spPr>
        <p:txBody>
          <a:bodyPr wrap="none" rtlCol="0">
            <a:spAutoFit/>
          </a:bodyPr>
          <a:lstStyle/>
          <a:p>
            <a:pPr marL="285750" indent="-285750">
              <a:buBlip>
                <a:blip r:embed="rId3"/>
              </a:buBlip>
            </a:pPr>
            <a:r>
              <a:rPr lang="zh-TW" altLang="en-US" dirty="0">
                <a:latin typeface="Adobe 仿宋 Std R" panose="02020400000000000000" pitchFamily="18" charset="-128"/>
                <a:ea typeface="Adobe 仿宋 Std R" panose="02020400000000000000" pitchFamily="18" charset="-128"/>
              </a:rPr>
              <a:t>認識積木程式</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latin typeface="Adobe 仿宋 Std R" panose="02020400000000000000" pitchFamily="18" charset="-128"/>
                <a:ea typeface="Adobe 仿宋 Std R" panose="02020400000000000000" pitchFamily="18" charset="-128"/>
              </a:rPr>
              <a:t>了解控制程式編寫邏輯</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latin typeface="Adobe 仿宋 Std R" panose="02020400000000000000" pitchFamily="18" charset="-128"/>
                <a:ea typeface="Adobe 仿宋 Std R" panose="02020400000000000000" pitchFamily="18" charset="-128"/>
              </a:rPr>
              <a:t>了解感測器與 </a:t>
            </a:r>
            <a:r>
              <a:rPr lang="en-US" altLang="zh-TW" dirty="0">
                <a:latin typeface="Adobe 仿宋 Std R" panose="02020400000000000000" pitchFamily="18" charset="-128"/>
                <a:ea typeface="Adobe 仿宋 Std R" panose="02020400000000000000" pitchFamily="18" charset="-128"/>
              </a:rPr>
              <a:t>IoT </a:t>
            </a:r>
            <a:r>
              <a:rPr lang="zh-TW" altLang="en-US" dirty="0">
                <a:latin typeface="Adobe 仿宋 Std R" panose="02020400000000000000" pitchFamily="18" charset="-128"/>
                <a:ea typeface="Adobe 仿宋 Std R" panose="02020400000000000000" pitchFamily="18" charset="-128"/>
              </a:rPr>
              <a:t>的應用</a:t>
            </a:r>
          </a:p>
        </p:txBody>
      </p:sp>
      <p:pic>
        <p:nvPicPr>
          <p:cNvPr id="9" name="圖片 8">
            <a:extLst>
              <a:ext uri="{FF2B5EF4-FFF2-40B4-BE49-F238E27FC236}">
                <a16:creationId xmlns:a16="http://schemas.microsoft.com/office/drawing/2014/main" id="{84C8FD81-997F-4E1B-B3FA-073D2970DB8A}"/>
              </a:ext>
            </a:extLst>
          </p:cNvPr>
          <p:cNvPicPr>
            <a:picLocks noChangeAspect="1"/>
          </p:cNvPicPr>
          <p:nvPr/>
        </p:nvPicPr>
        <p:blipFill>
          <a:blip r:embed="rId4"/>
          <a:stretch>
            <a:fillRect/>
          </a:stretch>
        </p:blipFill>
        <p:spPr>
          <a:xfrm>
            <a:off x="6027084" y="5248275"/>
            <a:ext cx="1335742" cy="1149753"/>
          </a:xfrm>
          <a:prstGeom prst="rect">
            <a:avLst/>
          </a:prstGeom>
        </p:spPr>
      </p:pic>
      <p:cxnSp>
        <p:nvCxnSpPr>
          <p:cNvPr id="13" name="直線單箭頭接點 12">
            <a:extLst>
              <a:ext uri="{FF2B5EF4-FFF2-40B4-BE49-F238E27FC236}">
                <a16:creationId xmlns:a16="http://schemas.microsoft.com/office/drawing/2014/main" id="{9229B679-F02D-4B0D-9B53-6D2A2B946358}"/>
              </a:ext>
            </a:extLst>
          </p:cNvPr>
          <p:cNvCxnSpPr>
            <a:stCxn id="9" idx="1"/>
          </p:cNvCxnSpPr>
          <p:nvPr/>
        </p:nvCxnSpPr>
        <p:spPr>
          <a:xfrm flipH="1" flipV="1">
            <a:off x="4495800" y="5823151"/>
            <a:ext cx="1531284" cy="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直線接點 17">
            <a:extLst>
              <a:ext uri="{FF2B5EF4-FFF2-40B4-BE49-F238E27FC236}">
                <a16:creationId xmlns:a16="http://schemas.microsoft.com/office/drawing/2014/main" id="{B3AA7971-A557-4135-AF8A-DD55C7DBD4E0}"/>
              </a:ext>
            </a:extLst>
          </p:cNvPr>
          <p:cNvCxnSpPr/>
          <p:nvPr/>
        </p:nvCxnSpPr>
        <p:spPr>
          <a:xfrm>
            <a:off x="2505075" y="5648325"/>
            <a:ext cx="0" cy="8763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9B4838D1-FE22-439D-BA93-D3AC55BDEB44}"/>
              </a:ext>
            </a:extLst>
          </p:cNvPr>
          <p:cNvCxnSpPr>
            <a:cxnSpLocks/>
          </p:cNvCxnSpPr>
          <p:nvPr/>
        </p:nvCxnSpPr>
        <p:spPr>
          <a:xfrm flipH="1" flipV="1">
            <a:off x="7800975" y="4238625"/>
            <a:ext cx="1" cy="2286001"/>
          </a:xfrm>
          <a:prstGeom prst="line">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 name="文字方塊 2">
            <a:extLst>
              <a:ext uri="{FF2B5EF4-FFF2-40B4-BE49-F238E27FC236}">
                <a16:creationId xmlns:a16="http://schemas.microsoft.com/office/drawing/2014/main" id="{902D3AE4-30B6-47EF-A0B9-B804A15D3A00}"/>
              </a:ext>
            </a:extLst>
          </p:cNvPr>
          <p:cNvSpPr txBox="1"/>
          <p:nvPr/>
        </p:nvSpPr>
        <p:spPr>
          <a:xfrm>
            <a:off x="689293" y="2435765"/>
            <a:ext cx="2550698" cy="1754326"/>
          </a:xfrm>
          <a:prstGeom prst="rect">
            <a:avLst/>
          </a:prstGeom>
          <a:noFill/>
        </p:spPr>
        <p:txBody>
          <a:bodyPr wrap="none" rtlCol="0">
            <a:spAutoFit/>
          </a:bodyPr>
          <a:lstStyle/>
          <a:p>
            <a:pPr marL="285750" indent="-285750">
              <a:buBlip>
                <a:blip r:embed="rId5"/>
              </a:buBlip>
            </a:pPr>
            <a:r>
              <a:rPr lang="zh-TW" altLang="en-US" dirty="0">
                <a:latin typeface="Adobe 仿宋 Std R" panose="02020400000000000000" pitchFamily="18" charset="-128"/>
                <a:ea typeface="Adobe 仿宋 Std R" panose="02020400000000000000" pitchFamily="18" charset="-128"/>
              </a:rPr>
              <a:t>按鈕開關</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zh-TW" altLang="en-US" dirty="0">
                <a:latin typeface="Adobe 仿宋 Std R" panose="02020400000000000000" pitchFamily="18" charset="-128"/>
                <a:ea typeface="Adobe 仿宋 Std R" panose="02020400000000000000" pitchFamily="18" charset="-128"/>
              </a:rPr>
              <a:t>電機轉動控制</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zh-TW" altLang="en-US" dirty="0">
                <a:latin typeface="Adobe 仿宋 Std R" panose="02020400000000000000" pitchFamily="18" charset="-128"/>
                <a:ea typeface="Adobe 仿宋 Std R" panose="02020400000000000000" pitchFamily="18" charset="-128"/>
              </a:rPr>
              <a:t>按鈕與電機調速應用</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zh-TW" altLang="en-US" dirty="0">
                <a:latin typeface="Adobe 仿宋 Std R" panose="02020400000000000000" pitchFamily="18" charset="-128"/>
                <a:ea typeface="Adobe 仿宋 Std R" panose="02020400000000000000" pitchFamily="18" charset="-128"/>
              </a:rPr>
              <a:t>感測開關應用</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zh-TW" altLang="en-US" dirty="0">
                <a:latin typeface="Adobe 仿宋 Std R" panose="02020400000000000000" pitchFamily="18" charset="-128"/>
                <a:ea typeface="Adobe 仿宋 Std R" panose="02020400000000000000" pitchFamily="18" charset="-128"/>
              </a:rPr>
              <a:t>訊息顯示</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zh-TW" altLang="en-US" dirty="0">
                <a:latin typeface="Adobe 仿宋 Std R" panose="02020400000000000000" pitchFamily="18" charset="-128"/>
                <a:ea typeface="Adobe 仿宋 Std R" panose="02020400000000000000" pitchFamily="18" charset="-128"/>
              </a:rPr>
              <a:t>藍芽遙控</a:t>
            </a:r>
          </a:p>
        </p:txBody>
      </p:sp>
      <p:pic>
        <p:nvPicPr>
          <p:cNvPr id="6" name="圖片 5">
            <a:extLst>
              <a:ext uri="{FF2B5EF4-FFF2-40B4-BE49-F238E27FC236}">
                <a16:creationId xmlns:a16="http://schemas.microsoft.com/office/drawing/2014/main" id="{FFEBD998-27B3-4B38-B2F6-E54A2D6D4D3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97295" y="749031"/>
            <a:ext cx="3464335" cy="3905250"/>
          </a:xfrm>
          <a:prstGeom prst="rect">
            <a:avLst/>
          </a:prstGeom>
        </p:spPr>
      </p:pic>
      <p:pic>
        <p:nvPicPr>
          <p:cNvPr id="12" name="圖片 11">
            <a:extLst>
              <a:ext uri="{FF2B5EF4-FFF2-40B4-BE49-F238E27FC236}">
                <a16:creationId xmlns:a16="http://schemas.microsoft.com/office/drawing/2014/main" id="{9012E933-A83C-4DD5-A1C0-BB15A5916D0A}"/>
              </a:ext>
            </a:extLst>
          </p:cNvPr>
          <p:cNvPicPr>
            <a:picLocks noChangeAspect="1"/>
          </p:cNvPicPr>
          <p:nvPr/>
        </p:nvPicPr>
        <p:blipFill>
          <a:blip r:embed="rId7"/>
          <a:stretch>
            <a:fillRect/>
          </a:stretch>
        </p:blipFill>
        <p:spPr>
          <a:xfrm flipH="1">
            <a:off x="3709143" y="2169577"/>
            <a:ext cx="1851242" cy="1711323"/>
          </a:xfrm>
          <a:prstGeom prst="rect">
            <a:avLst/>
          </a:prstGeom>
        </p:spPr>
      </p:pic>
      <p:cxnSp>
        <p:nvCxnSpPr>
          <p:cNvPr id="20" name="直線接點 19">
            <a:extLst>
              <a:ext uri="{FF2B5EF4-FFF2-40B4-BE49-F238E27FC236}">
                <a16:creationId xmlns:a16="http://schemas.microsoft.com/office/drawing/2014/main" id="{0E426993-7612-4A83-8096-D028515943EB}"/>
              </a:ext>
            </a:extLst>
          </p:cNvPr>
          <p:cNvCxnSpPr>
            <a:cxnSpLocks/>
          </p:cNvCxnSpPr>
          <p:nvPr/>
        </p:nvCxnSpPr>
        <p:spPr>
          <a:xfrm>
            <a:off x="2505075" y="6524625"/>
            <a:ext cx="52959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8A3E0979-C40E-4AFB-A5D0-B06704F1C8D3}"/>
              </a:ext>
            </a:extLst>
          </p:cNvPr>
          <p:cNvCxnSpPr/>
          <p:nvPr/>
        </p:nvCxnSpPr>
        <p:spPr>
          <a:xfrm flipH="1">
            <a:off x="4876800" y="3880900"/>
            <a:ext cx="590550" cy="1367375"/>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0718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3877985"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智慧型控制電路板</a:t>
            </a:r>
          </a:p>
        </p:txBody>
      </p:sp>
      <p:pic>
        <p:nvPicPr>
          <p:cNvPr id="3" name="圖片 2">
            <a:extLst>
              <a:ext uri="{FF2B5EF4-FFF2-40B4-BE49-F238E27FC236}">
                <a16:creationId xmlns:a16="http://schemas.microsoft.com/office/drawing/2014/main" id="{D591DE93-B9F6-4ECA-A8F4-B562EDE9EBA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66012" y="1343024"/>
            <a:ext cx="6208900" cy="4657725"/>
          </a:xfrm>
          <a:prstGeom prst="rect">
            <a:avLst/>
          </a:prstGeom>
        </p:spPr>
      </p:pic>
      <p:cxnSp>
        <p:nvCxnSpPr>
          <p:cNvPr id="5" name="直線接點 4">
            <a:extLst>
              <a:ext uri="{FF2B5EF4-FFF2-40B4-BE49-F238E27FC236}">
                <a16:creationId xmlns:a16="http://schemas.microsoft.com/office/drawing/2014/main" id="{62E95E7A-E836-41AC-9932-E33369674903}"/>
              </a:ext>
            </a:extLst>
          </p:cNvPr>
          <p:cNvCxnSpPr/>
          <p:nvPr/>
        </p:nvCxnSpPr>
        <p:spPr>
          <a:xfrm flipH="1">
            <a:off x="2790825" y="4495800"/>
            <a:ext cx="123825" cy="1524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線接點 5">
            <a:extLst>
              <a:ext uri="{FF2B5EF4-FFF2-40B4-BE49-F238E27FC236}">
                <a16:creationId xmlns:a16="http://schemas.microsoft.com/office/drawing/2014/main" id="{33896ED5-CCD3-447C-A3A9-98D42CDAB178}"/>
              </a:ext>
            </a:extLst>
          </p:cNvPr>
          <p:cNvCxnSpPr/>
          <p:nvPr/>
        </p:nvCxnSpPr>
        <p:spPr>
          <a:xfrm flipH="1">
            <a:off x="3219450" y="4676775"/>
            <a:ext cx="123825" cy="1524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a:extLst>
              <a:ext uri="{FF2B5EF4-FFF2-40B4-BE49-F238E27FC236}">
                <a16:creationId xmlns:a16="http://schemas.microsoft.com/office/drawing/2014/main" id="{B6F6D776-DCA0-4FC4-8BF1-FC6833ECF604}"/>
              </a:ext>
            </a:extLst>
          </p:cNvPr>
          <p:cNvCxnSpPr/>
          <p:nvPr/>
        </p:nvCxnSpPr>
        <p:spPr>
          <a:xfrm>
            <a:off x="2790825" y="4648200"/>
            <a:ext cx="428625" cy="18097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47E6343A-6842-4C87-9C0B-EE6CF04492FB}"/>
              </a:ext>
            </a:extLst>
          </p:cNvPr>
          <p:cNvCxnSpPr/>
          <p:nvPr/>
        </p:nvCxnSpPr>
        <p:spPr>
          <a:xfrm>
            <a:off x="1076325" y="4162425"/>
            <a:ext cx="933450"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11" name="文字方塊 10">
            <a:extLst>
              <a:ext uri="{FF2B5EF4-FFF2-40B4-BE49-F238E27FC236}">
                <a16:creationId xmlns:a16="http://schemas.microsoft.com/office/drawing/2014/main" id="{0AF31CD4-7134-4509-9F41-2695DA3E90FB}"/>
              </a:ext>
            </a:extLst>
          </p:cNvPr>
          <p:cNvSpPr txBox="1"/>
          <p:nvPr/>
        </p:nvSpPr>
        <p:spPr>
          <a:xfrm>
            <a:off x="522327" y="3867150"/>
            <a:ext cx="1107996"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電源開關</a:t>
            </a:r>
          </a:p>
        </p:txBody>
      </p:sp>
      <p:cxnSp>
        <p:nvCxnSpPr>
          <p:cNvPr id="12" name="直線單箭頭接點 11">
            <a:extLst>
              <a:ext uri="{FF2B5EF4-FFF2-40B4-BE49-F238E27FC236}">
                <a16:creationId xmlns:a16="http://schemas.microsoft.com/office/drawing/2014/main" id="{B1DB388F-8EC2-446E-88C5-3490E08E8DDF}"/>
              </a:ext>
            </a:extLst>
          </p:cNvPr>
          <p:cNvCxnSpPr/>
          <p:nvPr/>
        </p:nvCxnSpPr>
        <p:spPr>
          <a:xfrm>
            <a:off x="2009775" y="4752975"/>
            <a:ext cx="933450"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677C79D7-ED86-41C6-88F7-32FFC8B2E5A3}"/>
              </a:ext>
            </a:extLst>
          </p:cNvPr>
          <p:cNvSpPr txBox="1"/>
          <p:nvPr/>
        </p:nvSpPr>
        <p:spPr>
          <a:xfrm>
            <a:off x="1241465" y="4463534"/>
            <a:ext cx="1107996"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電機接口</a:t>
            </a:r>
          </a:p>
        </p:txBody>
      </p:sp>
      <p:sp>
        <p:nvSpPr>
          <p:cNvPr id="14" name="左大括弧 13">
            <a:extLst>
              <a:ext uri="{FF2B5EF4-FFF2-40B4-BE49-F238E27FC236}">
                <a16:creationId xmlns:a16="http://schemas.microsoft.com/office/drawing/2014/main" id="{43FFC3C4-CC2E-482B-89DC-BF86D992C6DB}"/>
              </a:ext>
            </a:extLst>
          </p:cNvPr>
          <p:cNvSpPr/>
          <p:nvPr/>
        </p:nvSpPr>
        <p:spPr>
          <a:xfrm rot="17905160">
            <a:off x="3848362" y="4744029"/>
            <a:ext cx="247650" cy="854002"/>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15" name="直線單箭頭接點 14">
            <a:extLst>
              <a:ext uri="{FF2B5EF4-FFF2-40B4-BE49-F238E27FC236}">
                <a16:creationId xmlns:a16="http://schemas.microsoft.com/office/drawing/2014/main" id="{F5331A60-2352-4794-B87C-C8AE8F19A04C}"/>
              </a:ext>
            </a:extLst>
          </p:cNvPr>
          <p:cNvCxnSpPr/>
          <p:nvPr/>
        </p:nvCxnSpPr>
        <p:spPr>
          <a:xfrm>
            <a:off x="2943225" y="5286375"/>
            <a:ext cx="933450"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id="{53EE2686-053C-486A-87A0-B843CEAA6E76}"/>
              </a:ext>
            </a:extLst>
          </p:cNvPr>
          <p:cNvSpPr txBox="1"/>
          <p:nvPr/>
        </p:nvSpPr>
        <p:spPr>
          <a:xfrm>
            <a:off x="2107937" y="5007530"/>
            <a:ext cx="1338828"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傳感器接口</a:t>
            </a:r>
          </a:p>
        </p:txBody>
      </p:sp>
      <p:cxnSp>
        <p:nvCxnSpPr>
          <p:cNvPr id="18" name="直線單箭頭接點 17">
            <a:extLst>
              <a:ext uri="{FF2B5EF4-FFF2-40B4-BE49-F238E27FC236}">
                <a16:creationId xmlns:a16="http://schemas.microsoft.com/office/drawing/2014/main" id="{542A62D9-0C34-4CE2-8A6B-C0824E6E5287}"/>
              </a:ext>
            </a:extLst>
          </p:cNvPr>
          <p:cNvCxnSpPr/>
          <p:nvPr/>
        </p:nvCxnSpPr>
        <p:spPr>
          <a:xfrm>
            <a:off x="4991100" y="5192196"/>
            <a:ext cx="0" cy="808553"/>
          </a:xfrm>
          <a:prstGeom prst="straightConnector1">
            <a:avLst/>
          </a:prstGeom>
          <a:ln w="19050">
            <a:solidFill>
              <a:srgbClr val="FF0000"/>
            </a:solidFill>
            <a:headEnd type="arrow" w="lg" len="lg"/>
            <a:tailEnd type="none" w="med" len="med"/>
          </a:ln>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C6B4BBA4-5421-4D8E-9B4B-F6F3A34787F4}"/>
              </a:ext>
            </a:extLst>
          </p:cNvPr>
          <p:cNvSpPr txBox="1"/>
          <p:nvPr/>
        </p:nvSpPr>
        <p:spPr>
          <a:xfrm>
            <a:off x="3972187" y="6000749"/>
            <a:ext cx="1774845"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重置按鈕</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(reset)</a:t>
            </a:r>
            <a:endPar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p:txBody>
      </p:sp>
      <p:cxnSp>
        <p:nvCxnSpPr>
          <p:cNvPr id="20" name="直線單箭頭接點 19">
            <a:extLst>
              <a:ext uri="{FF2B5EF4-FFF2-40B4-BE49-F238E27FC236}">
                <a16:creationId xmlns:a16="http://schemas.microsoft.com/office/drawing/2014/main" id="{EC2EBA6A-5F0D-49B7-9067-09F9798E6A62}"/>
              </a:ext>
            </a:extLst>
          </p:cNvPr>
          <p:cNvCxnSpPr/>
          <p:nvPr/>
        </p:nvCxnSpPr>
        <p:spPr>
          <a:xfrm>
            <a:off x="862013" y="3133725"/>
            <a:ext cx="933450"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FA52E600-F0A2-4C1E-90D4-380F1528E89C}"/>
              </a:ext>
            </a:extLst>
          </p:cNvPr>
          <p:cNvSpPr txBox="1"/>
          <p:nvPr/>
        </p:nvSpPr>
        <p:spPr>
          <a:xfrm>
            <a:off x="560015" y="2806184"/>
            <a:ext cx="1107996"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電源接口</a:t>
            </a:r>
          </a:p>
        </p:txBody>
      </p:sp>
      <p:sp>
        <p:nvSpPr>
          <p:cNvPr id="22" name="橢圓 21">
            <a:extLst>
              <a:ext uri="{FF2B5EF4-FFF2-40B4-BE49-F238E27FC236}">
                <a16:creationId xmlns:a16="http://schemas.microsoft.com/office/drawing/2014/main" id="{44A020D5-A942-44C6-8EEA-E21D1ED69930}"/>
              </a:ext>
            </a:extLst>
          </p:cNvPr>
          <p:cNvSpPr/>
          <p:nvPr/>
        </p:nvSpPr>
        <p:spPr>
          <a:xfrm>
            <a:off x="2476500" y="2914650"/>
            <a:ext cx="628650" cy="51434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直線接點 23">
            <a:extLst>
              <a:ext uri="{FF2B5EF4-FFF2-40B4-BE49-F238E27FC236}">
                <a16:creationId xmlns:a16="http://schemas.microsoft.com/office/drawing/2014/main" id="{751A7834-4671-4543-AA44-E9C8A61D06F5}"/>
              </a:ext>
            </a:extLst>
          </p:cNvPr>
          <p:cNvCxnSpPr/>
          <p:nvPr/>
        </p:nvCxnSpPr>
        <p:spPr>
          <a:xfrm>
            <a:off x="676275" y="2476500"/>
            <a:ext cx="95404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4BFC9536-5FCD-4509-8007-345D842D5690}"/>
              </a:ext>
            </a:extLst>
          </p:cNvPr>
          <p:cNvCxnSpPr/>
          <p:nvPr/>
        </p:nvCxnSpPr>
        <p:spPr>
          <a:xfrm>
            <a:off x="1630323" y="2476500"/>
            <a:ext cx="979527" cy="657225"/>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18064687-3A5A-4146-B6FE-C23EAF396DD6}"/>
              </a:ext>
            </a:extLst>
          </p:cNvPr>
          <p:cNvSpPr txBox="1"/>
          <p:nvPr/>
        </p:nvSpPr>
        <p:spPr>
          <a:xfrm>
            <a:off x="225802" y="2184680"/>
            <a:ext cx="2031325"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舵機或傳感器接口</a:t>
            </a:r>
          </a:p>
        </p:txBody>
      </p:sp>
      <p:cxnSp>
        <p:nvCxnSpPr>
          <p:cNvPr id="29" name="接點: 肘形 28">
            <a:extLst>
              <a:ext uri="{FF2B5EF4-FFF2-40B4-BE49-F238E27FC236}">
                <a16:creationId xmlns:a16="http://schemas.microsoft.com/office/drawing/2014/main" id="{4AAC1B6B-A0AF-4BBE-9617-733A8B255FA9}"/>
              </a:ext>
            </a:extLst>
          </p:cNvPr>
          <p:cNvCxnSpPr>
            <a:cxnSpLocks/>
          </p:cNvCxnSpPr>
          <p:nvPr/>
        </p:nvCxnSpPr>
        <p:spPr>
          <a:xfrm>
            <a:off x="1007804" y="1799780"/>
            <a:ext cx="1753322" cy="489020"/>
          </a:xfrm>
          <a:prstGeom prst="bentConnector3">
            <a:avLst>
              <a:gd name="adj1" fmla="val 99979"/>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33" name="文字方塊 32">
            <a:extLst>
              <a:ext uri="{FF2B5EF4-FFF2-40B4-BE49-F238E27FC236}">
                <a16:creationId xmlns:a16="http://schemas.microsoft.com/office/drawing/2014/main" id="{153B6F41-56AB-40ED-92CE-BAFFCC4731F7}"/>
              </a:ext>
            </a:extLst>
          </p:cNvPr>
          <p:cNvSpPr txBox="1"/>
          <p:nvPr/>
        </p:nvSpPr>
        <p:spPr>
          <a:xfrm>
            <a:off x="831592" y="1489417"/>
            <a:ext cx="1451038" cy="369332"/>
          </a:xfrm>
          <a:prstGeom prst="rect">
            <a:avLst/>
          </a:prstGeom>
          <a:noFill/>
        </p:spPr>
        <p:txBody>
          <a:bodyPr wrap="none" rtlCol="0">
            <a:spAutoFit/>
          </a:bodyPr>
          <a:lstStyle/>
          <a:p>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OLED</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顯示器</a:t>
            </a:r>
          </a:p>
        </p:txBody>
      </p:sp>
      <p:cxnSp>
        <p:nvCxnSpPr>
          <p:cNvPr id="34" name="直線單箭頭接點 33">
            <a:extLst>
              <a:ext uri="{FF2B5EF4-FFF2-40B4-BE49-F238E27FC236}">
                <a16:creationId xmlns:a16="http://schemas.microsoft.com/office/drawing/2014/main" id="{D1342549-F596-49B1-94E6-C267680E36F0}"/>
              </a:ext>
            </a:extLst>
          </p:cNvPr>
          <p:cNvCxnSpPr>
            <a:cxnSpLocks/>
          </p:cNvCxnSpPr>
          <p:nvPr/>
        </p:nvCxnSpPr>
        <p:spPr>
          <a:xfrm>
            <a:off x="889102" y="3526867"/>
            <a:ext cx="2392260" cy="1905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36" name="文字方塊 35">
            <a:extLst>
              <a:ext uri="{FF2B5EF4-FFF2-40B4-BE49-F238E27FC236}">
                <a16:creationId xmlns:a16="http://schemas.microsoft.com/office/drawing/2014/main" id="{40AD4989-5CFF-4A0B-A07D-DF7A93964D2E}"/>
              </a:ext>
            </a:extLst>
          </p:cNvPr>
          <p:cNvSpPr txBox="1"/>
          <p:nvPr/>
        </p:nvSpPr>
        <p:spPr>
          <a:xfrm>
            <a:off x="522327" y="3206417"/>
            <a:ext cx="981359" cy="369332"/>
          </a:xfrm>
          <a:prstGeom prst="rect">
            <a:avLst/>
          </a:prstGeom>
          <a:noFill/>
        </p:spPr>
        <p:txBody>
          <a:bodyPr wrap="none" rtlCol="0">
            <a:spAutoFit/>
          </a:bodyPr>
          <a:lstStyle/>
          <a:p>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I2C</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接口</a:t>
            </a:r>
          </a:p>
        </p:txBody>
      </p:sp>
      <p:cxnSp>
        <p:nvCxnSpPr>
          <p:cNvPr id="37" name="直線單箭頭接點 36">
            <a:extLst>
              <a:ext uri="{FF2B5EF4-FFF2-40B4-BE49-F238E27FC236}">
                <a16:creationId xmlns:a16="http://schemas.microsoft.com/office/drawing/2014/main" id="{5B58F04C-2A7C-44D7-BCD7-65AFFFEF784E}"/>
              </a:ext>
            </a:extLst>
          </p:cNvPr>
          <p:cNvCxnSpPr>
            <a:cxnSpLocks/>
          </p:cNvCxnSpPr>
          <p:nvPr/>
        </p:nvCxnSpPr>
        <p:spPr>
          <a:xfrm flipH="1">
            <a:off x="3937324" y="1388773"/>
            <a:ext cx="738187" cy="524805"/>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B87AAA4B-DCDF-4F1D-B61D-24A124DC0545}"/>
              </a:ext>
            </a:extLst>
          </p:cNvPr>
          <p:cNvCxnSpPr>
            <a:cxnSpLocks/>
            <a:stCxn id="43" idx="1"/>
          </p:cNvCxnSpPr>
          <p:nvPr/>
        </p:nvCxnSpPr>
        <p:spPr>
          <a:xfrm flipH="1">
            <a:off x="4119213" y="2063340"/>
            <a:ext cx="990336" cy="220218"/>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42" name="文字方塊 41">
            <a:extLst>
              <a:ext uri="{FF2B5EF4-FFF2-40B4-BE49-F238E27FC236}">
                <a16:creationId xmlns:a16="http://schemas.microsoft.com/office/drawing/2014/main" id="{C16B4D4A-382C-48FA-B18D-0AEE17C5B14F}"/>
              </a:ext>
            </a:extLst>
          </p:cNvPr>
          <p:cNvSpPr txBox="1"/>
          <p:nvPr/>
        </p:nvSpPr>
        <p:spPr>
          <a:xfrm>
            <a:off x="4639729" y="1165509"/>
            <a:ext cx="2319866" cy="646331"/>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蜂鳴器、</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SD</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卡讀卡器</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在藍芽模組下方</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t>
            </a:r>
            <a:endPar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p:txBody>
      </p:sp>
      <p:sp>
        <p:nvSpPr>
          <p:cNvPr id="43" name="文字方塊 42">
            <a:extLst>
              <a:ext uri="{FF2B5EF4-FFF2-40B4-BE49-F238E27FC236}">
                <a16:creationId xmlns:a16="http://schemas.microsoft.com/office/drawing/2014/main" id="{1A770A32-4BE8-45FE-8B53-FD0651FFD223}"/>
              </a:ext>
            </a:extLst>
          </p:cNvPr>
          <p:cNvSpPr txBox="1"/>
          <p:nvPr/>
        </p:nvSpPr>
        <p:spPr>
          <a:xfrm>
            <a:off x="5109549" y="1878674"/>
            <a:ext cx="2031325"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陶瓷天線藍芽模組</a:t>
            </a:r>
          </a:p>
        </p:txBody>
      </p:sp>
      <p:cxnSp>
        <p:nvCxnSpPr>
          <p:cNvPr id="45" name="直線單箭頭接點 44">
            <a:extLst>
              <a:ext uri="{FF2B5EF4-FFF2-40B4-BE49-F238E27FC236}">
                <a16:creationId xmlns:a16="http://schemas.microsoft.com/office/drawing/2014/main" id="{8989A79F-4997-4286-BF72-34A10C918B1E}"/>
              </a:ext>
            </a:extLst>
          </p:cNvPr>
          <p:cNvCxnSpPr>
            <a:cxnSpLocks/>
          </p:cNvCxnSpPr>
          <p:nvPr/>
        </p:nvCxnSpPr>
        <p:spPr>
          <a:xfrm flipH="1">
            <a:off x="4249465" y="2396695"/>
            <a:ext cx="979760" cy="300023"/>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49" name="文字方塊 48">
            <a:extLst>
              <a:ext uri="{FF2B5EF4-FFF2-40B4-BE49-F238E27FC236}">
                <a16:creationId xmlns:a16="http://schemas.microsoft.com/office/drawing/2014/main" id="{6D34DCAF-8877-48D4-8BF0-36553A3A4B33}"/>
              </a:ext>
            </a:extLst>
          </p:cNvPr>
          <p:cNvSpPr txBox="1"/>
          <p:nvPr/>
        </p:nvSpPr>
        <p:spPr>
          <a:xfrm>
            <a:off x="5266730" y="2240855"/>
            <a:ext cx="2031325"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藍芽模組供電按鈕</a:t>
            </a:r>
          </a:p>
        </p:txBody>
      </p:sp>
      <p:cxnSp>
        <p:nvCxnSpPr>
          <p:cNvPr id="50" name="直線單箭頭接點 49">
            <a:extLst>
              <a:ext uri="{FF2B5EF4-FFF2-40B4-BE49-F238E27FC236}">
                <a16:creationId xmlns:a16="http://schemas.microsoft.com/office/drawing/2014/main" id="{0DC73FC5-594D-4642-B0D5-713F58952228}"/>
              </a:ext>
            </a:extLst>
          </p:cNvPr>
          <p:cNvCxnSpPr>
            <a:cxnSpLocks/>
          </p:cNvCxnSpPr>
          <p:nvPr/>
        </p:nvCxnSpPr>
        <p:spPr>
          <a:xfrm flipH="1">
            <a:off x="6125211" y="3064661"/>
            <a:ext cx="1094739"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52" name="文字方塊 51">
            <a:extLst>
              <a:ext uri="{FF2B5EF4-FFF2-40B4-BE49-F238E27FC236}">
                <a16:creationId xmlns:a16="http://schemas.microsoft.com/office/drawing/2014/main" id="{C6767E7B-F1BC-43DD-94C3-68D66BE13E69}"/>
              </a:ext>
            </a:extLst>
          </p:cNvPr>
          <p:cNvSpPr txBox="1"/>
          <p:nvPr/>
        </p:nvSpPr>
        <p:spPr>
          <a:xfrm>
            <a:off x="6498014" y="2764393"/>
            <a:ext cx="2430474"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樹莓派 </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Pico Boot </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按鈕</a:t>
            </a:r>
          </a:p>
        </p:txBody>
      </p:sp>
      <p:cxnSp>
        <p:nvCxnSpPr>
          <p:cNvPr id="53" name="直線單箭頭接點 52">
            <a:extLst>
              <a:ext uri="{FF2B5EF4-FFF2-40B4-BE49-F238E27FC236}">
                <a16:creationId xmlns:a16="http://schemas.microsoft.com/office/drawing/2014/main" id="{9D8C070E-86EF-45EB-B468-8FA9C4B3EA27}"/>
              </a:ext>
            </a:extLst>
          </p:cNvPr>
          <p:cNvCxnSpPr>
            <a:cxnSpLocks/>
          </p:cNvCxnSpPr>
          <p:nvPr/>
        </p:nvCxnSpPr>
        <p:spPr>
          <a:xfrm flipH="1" flipV="1">
            <a:off x="4614382" y="3391083"/>
            <a:ext cx="2434118" cy="184666"/>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55" name="文字方塊 54">
            <a:extLst>
              <a:ext uri="{FF2B5EF4-FFF2-40B4-BE49-F238E27FC236}">
                <a16:creationId xmlns:a16="http://schemas.microsoft.com/office/drawing/2014/main" id="{D0CE2D22-A5FF-4F49-AFBA-0C2642362D7C}"/>
              </a:ext>
            </a:extLst>
          </p:cNvPr>
          <p:cNvSpPr txBox="1"/>
          <p:nvPr/>
        </p:nvSpPr>
        <p:spPr>
          <a:xfrm>
            <a:off x="6847512" y="3244329"/>
            <a:ext cx="2031325"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開放腳位接線端子</a:t>
            </a:r>
          </a:p>
        </p:txBody>
      </p:sp>
      <p:cxnSp>
        <p:nvCxnSpPr>
          <p:cNvPr id="56" name="直線單箭頭接點 55">
            <a:extLst>
              <a:ext uri="{FF2B5EF4-FFF2-40B4-BE49-F238E27FC236}">
                <a16:creationId xmlns:a16="http://schemas.microsoft.com/office/drawing/2014/main" id="{70E410CB-1E05-478F-8E22-4FB62FCC47E0}"/>
              </a:ext>
            </a:extLst>
          </p:cNvPr>
          <p:cNvCxnSpPr>
            <a:cxnSpLocks/>
          </p:cNvCxnSpPr>
          <p:nvPr/>
        </p:nvCxnSpPr>
        <p:spPr>
          <a:xfrm flipH="1">
            <a:off x="5965598" y="4381056"/>
            <a:ext cx="993997"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58" name="文字方塊 57">
            <a:extLst>
              <a:ext uri="{FF2B5EF4-FFF2-40B4-BE49-F238E27FC236}">
                <a16:creationId xmlns:a16="http://schemas.microsoft.com/office/drawing/2014/main" id="{678B9806-6261-4CA4-B4D8-C78866446329}"/>
              </a:ext>
            </a:extLst>
          </p:cNvPr>
          <p:cNvSpPr txBox="1"/>
          <p:nvPr/>
        </p:nvSpPr>
        <p:spPr>
          <a:xfrm>
            <a:off x="6349584" y="4094202"/>
            <a:ext cx="2178802"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萬用電路板</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麵包板</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t>
            </a:r>
            <a:endPar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p:txBody>
      </p:sp>
    </p:spTree>
    <p:extLst>
      <p:ext uri="{BB962C8B-B14F-4D97-AF65-F5344CB8AC3E}">
        <p14:creationId xmlns:p14="http://schemas.microsoft.com/office/powerpoint/2010/main" val="1092362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圖片 11">
            <a:extLst>
              <a:ext uri="{FF2B5EF4-FFF2-40B4-BE49-F238E27FC236}">
                <a16:creationId xmlns:a16="http://schemas.microsoft.com/office/drawing/2014/main" id="{4AA30160-3FFD-4D6E-9087-30AB26693E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3121" y="908082"/>
            <a:ext cx="5756309" cy="4318205"/>
          </a:xfrm>
          <a:prstGeom prst="rect">
            <a:avLst/>
          </a:prstGeom>
        </p:spPr>
      </p:pic>
      <p:sp>
        <p:nvSpPr>
          <p:cNvPr id="101" name="CustomShape 1"/>
          <p:cNvSpPr/>
          <p:nvPr/>
        </p:nvSpPr>
        <p:spPr>
          <a:xfrm>
            <a:off x="628920" y="471600"/>
            <a:ext cx="7886160" cy="608807"/>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繁黑體 Std B"/>
                <a:ea typeface="Adobe 繁黑體 Std B"/>
              </a:rPr>
              <a:t>安裝及更新韌體</a:t>
            </a:r>
            <a:endParaRPr lang="en-US" sz="3600" spc="-1" dirty="0">
              <a:solidFill>
                <a:schemeClr val="tx1">
                  <a:lumMod val="50000"/>
                  <a:lumOff val="50000"/>
                </a:schemeClr>
              </a:solidFill>
              <a:uFill>
                <a:solidFill>
                  <a:srgbClr val="FFFFFF"/>
                </a:solidFill>
              </a:uFill>
              <a:latin typeface="Arial"/>
            </a:endParaRPr>
          </a:p>
        </p:txBody>
      </p:sp>
      <p:sp>
        <p:nvSpPr>
          <p:cNvPr id="7" name="橢圓 6">
            <a:extLst>
              <a:ext uri="{FF2B5EF4-FFF2-40B4-BE49-F238E27FC236}">
                <a16:creationId xmlns:a16="http://schemas.microsoft.com/office/drawing/2014/main" id="{2B44A876-BE56-48A4-8D31-17C577F85E9D}"/>
              </a:ext>
            </a:extLst>
          </p:cNvPr>
          <p:cNvSpPr/>
          <p:nvPr/>
        </p:nvSpPr>
        <p:spPr>
          <a:xfrm>
            <a:off x="4310063" y="2307470"/>
            <a:ext cx="643813" cy="363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8" name="橢圓 7">
            <a:extLst>
              <a:ext uri="{FF2B5EF4-FFF2-40B4-BE49-F238E27FC236}">
                <a16:creationId xmlns:a16="http://schemas.microsoft.com/office/drawing/2014/main" id="{F7813D4F-8CEE-4AF5-A2A4-ACFD09A3D55E}"/>
              </a:ext>
            </a:extLst>
          </p:cNvPr>
          <p:cNvSpPr/>
          <p:nvPr/>
        </p:nvSpPr>
        <p:spPr>
          <a:xfrm>
            <a:off x="4678456" y="1109590"/>
            <a:ext cx="322607" cy="3219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t>1</a:t>
            </a:r>
            <a:endParaRPr lang="zh-TW" altLang="en-US" sz="1350" dirty="0"/>
          </a:p>
        </p:txBody>
      </p:sp>
      <p:sp>
        <p:nvSpPr>
          <p:cNvPr id="11" name="橢圓 10">
            <a:extLst>
              <a:ext uri="{FF2B5EF4-FFF2-40B4-BE49-F238E27FC236}">
                <a16:creationId xmlns:a16="http://schemas.microsoft.com/office/drawing/2014/main" id="{BD5F5147-30A0-41D1-A2FF-735A77AB7EFC}"/>
              </a:ext>
            </a:extLst>
          </p:cNvPr>
          <p:cNvSpPr/>
          <p:nvPr/>
        </p:nvSpPr>
        <p:spPr>
          <a:xfrm>
            <a:off x="5334318" y="1936443"/>
            <a:ext cx="322607" cy="3219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t>2</a:t>
            </a:r>
            <a:endParaRPr lang="zh-TW" altLang="en-US" sz="1350" dirty="0"/>
          </a:p>
        </p:txBody>
      </p:sp>
      <p:sp>
        <p:nvSpPr>
          <p:cNvPr id="10" name="文字方塊 9">
            <a:extLst>
              <a:ext uri="{FF2B5EF4-FFF2-40B4-BE49-F238E27FC236}">
                <a16:creationId xmlns:a16="http://schemas.microsoft.com/office/drawing/2014/main" id="{E27AE73D-1370-4510-9831-452F50224CA3}"/>
              </a:ext>
            </a:extLst>
          </p:cNvPr>
          <p:cNvSpPr txBox="1"/>
          <p:nvPr/>
        </p:nvSpPr>
        <p:spPr>
          <a:xfrm>
            <a:off x="5001063" y="1025006"/>
            <a:ext cx="3123762" cy="830997"/>
          </a:xfrm>
          <a:prstGeom prst="rect">
            <a:avLst/>
          </a:prstGeom>
          <a:noFill/>
        </p:spPr>
        <p:txBody>
          <a:bodyPr wrap="square" rtlCol="0">
            <a:spAutoFit/>
          </a:bodyPr>
          <a:lstStyle/>
          <a:p>
            <a:r>
              <a:rPr lang="zh-TW" altLang="en-US" sz="1600" dirty="0">
                <a:latin typeface="Adobe 仿宋 Std R" panose="02020400000000000000" pitchFamily="18" charset="-128"/>
                <a:ea typeface="Adobe 仿宋 Std R" panose="02020400000000000000" pitchFamily="18" charset="-128"/>
              </a:rPr>
              <a:t>同時按下</a:t>
            </a:r>
            <a:r>
              <a:rPr lang="en-US" altLang="zh-TW" sz="1600" dirty="0">
                <a:latin typeface="Adobe 仿宋 Std R" panose="02020400000000000000" pitchFamily="18" charset="-128"/>
                <a:ea typeface="Adobe 仿宋 Std R" panose="02020400000000000000" pitchFamily="18" charset="-128"/>
              </a:rPr>
              <a:t>Raspberry Pi Pico</a:t>
            </a:r>
            <a:r>
              <a:rPr lang="zh-TW" altLang="en-US" sz="1600" dirty="0">
                <a:latin typeface="Adobe 仿宋 Std R" panose="02020400000000000000" pitchFamily="18" charset="-128"/>
                <a:ea typeface="Adobe 仿宋 Std R" panose="02020400000000000000" pitchFamily="18" charset="-128"/>
              </a:rPr>
              <a:t>板上的白色按鈕</a:t>
            </a:r>
            <a:r>
              <a:rPr lang="en-US" altLang="zh-TW" sz="1600" dirty="0">
                <a:latin typeface="Adobe 仿宋 Std R" panose="02020400000000000000" pitchFamily="18" charset="-128"/>
                <a:ea typeface="Adobe 仿宋 Std R" panose="02020400000000000000" pitchFamily="18" charset="-128"/>
              </a:rPr>
              <a:t>, </a:t>
            </a:r>
            <a:r>
              <a:rPr lang="zh-TW" altLang="en-US" sz="1600" dirty="0">
                <a:latin typeface="Adobe 仿宋 Std R" panose="02020400000000000000" pitchFamily="18" charset="-128"/>
                <a:ea typeface="Adobe 仿宋 Std R" panose="02020400000000000000" pitchFamily="18" charset="-128"/>
              </a:rPr>
              <a:t>及開發板上的黑色按鈕。約</a:t>
            </a:r>
            <a:r>
              <a:rPr lang="en-US" altLang="zh-TW" sz="1600" dirty="0">
                <a:latin typeface="Adobe 仿宋 Std R" panose="02020400000000000000" pitchFamily="18" charset="-128"/>
                <a:ea typeface="Adobe 仿宋 Std R" panose="02020400000000000000" pitchFamily="18" charset="-128"/>
              </a:rPr>
              <a:t>3</a:t>
            </a:r>
            <a:r>
              <a:rPr lang="zh-TW" altLang="en-US" sz="1600" dirty="0">
                <a:latin typeface="Adobe 仿宋 Std R" panose="02020400000000000000" pitchFamily="18" charset="-128"/>
                <a:ea typeface="Adobe 仿宋 Std R" panose="02020400000000000000" pitchFamily="18" charset="-128"/>
              </a:rPr>
              <a:t>秒鐘會開啟檔案總管。</a:t>
            </a:r>
          </a:p>
        </p:txBody>
      </p:sp>
      <p:sp>
        <p:nvSpPr>
          <p:cNvPr id="13" name="橢圓 12">
            <a:extLst>
              <a:ext uri="{FF2B5EF4-FFF2-40B4-BE49-F238E27FC236}">
                <a16:creationId xmlns:a16="http://schemas.microsoft.com/office/drawing/2014/main" id="{CE7B5674-EE30-479E-8B64-5CAE8EA50E05}"/>
              </a:ext>
            </a:extLst>
          </p:cNvPr>
          <p:cNvSpPr/>
          <p:nvPr/>
        </p:nvSpPr>
        <p:spPr>
          <a:xfrm>
            <a:off x="3406418" y="4280309"/>
            <a:ext cx="643813" cy="363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4" name="文字方塊 13">
            <a:extLst>
              <a:ext uri="{FF2B5EF4-FFF2-40B4-BE49-F238E27FC236}">
                <a16:creationId xmlns:a16="http://schemas.microsoft.com/office/drawing/2014/main" id="{D3D606AE-BF8B-41F6-87E0-35C6F53E5414}"/>
              </a:ext>
            </a:extLst>
          </p:cNvPr>
          <p:cNvSpPr txBox="1"/>
          <p:nvPr/>
        </p:nvSpPr>
        <p:spPr>
          <a:xfrm>
            <a:off x="5691207" y="1892269"/>
            <a:ext cx="2823873" cy="1077218"/>
          </a:xfrm>
          <a:prstGeom prst="rect">
            <a:avLst/>
          </a:prstGeom>
          <a:noFill/>
        </p:spPr>
        <p:txBody>
          <a:bodyPr wrap="square" rtlCol="0">
            <a:spAutoFit/>
          </a:bodyPr>
          <a:lstStyle/>
          <a:p>
            <a:r>
              <a:rPr lang="zh-TW" altLang="en-US" sz="1600" dirty="0">
                <a:latin typeface="Adobe 仿宋 Std R" panose="02020400000000000000" pitchFamily="18" charset="-128"/>
                <a:ea typeface="Adobe 仿宋 Std R" panose="02020400000000000000" pitchFamily="18" charset="-128"/>
              </a:rPr>
              <a:t>使用檔案總管將韌體以托拉方式放到新開啟的檔案總管中，便會進行上傳。 上傳結束便會關閉該檔案總管視窗。</a:t>
            </a:r>
          </a:p>
        </p:txBody>
      </p:sp>
      <p:pic>
        <p:nvPicPr>
          <p:cNvPr id="4" name="圖片 3">
            <a:extLst>
              <a:ext uri="{FF2B5EF4-FFF2-40B4-BE49-F238E27FC236}">
                <a16:creationId xmlns:a16="http://schemas.microsoft.com/office/drawing/2014/main" id="{F60E4DED-2162-4AC7-A589-D1F6A6A6FD0D}"/>
              </a:ext>
            </a:extLst>
          </p:cNvPr>
          <p:cNvPicPr>
            <a:picLocks noChangeAspect="1"/>
          </p:cNvPicPr>
          <p:nvPr/>
        </p:nvPicPr>
        <p:blipFill>
          <a:blip r:embed="rId3"/>
          <a:stretch>
            <a:fillRect/>
          </a:stretch>
        </p:blipFill>
        <p:spPr>
          <a:xfrm>
            <a:off x="4368732" y="3762705"/>
            <a:ext cx="4531062" cy="2478586"/>
          </a:xfrm>
          <a:prstGeom prst="rect">
            <a:avLst/>
          </a:prstGeom>
        </p:spPr>
      </p:pic>
      <p:sp>
        <p:nvSpPr>
          <p:cNvPr id="5" name="箭號: 弧形右彎 4">
            <a:extLst>
              <a:ext uri="{FF2B5EF4-FFF2-40B4-BE49-F238E27FC236}">
                <a16:creationId xmlns:a16="http://schemas.microsoft.com/office/drawing/2014/main" id="{CF6845D6-ADFE-4775-96A8-ACBDDB23C02A}"/>
              </a:ext>
            </a:extLst>
          </p:cNvPr>
          <p:cNvSpPr/>
          <p:nvPr/>
        </p:nvSpPr>
        <p:spPr>
          <a:xfrm rot="6605361">
            <a:off x="7009516" y="3778043"/>
            <a:ext cx="659902" cy="169464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solidFill>
                <a:schemeClr val="tx1"/>
              </a:solidFill>
            </a:endParaRPr>
          </a:p>
        </p:txBody>
      </p:sp>
    </p:spTree>
    <p:extLst>
      <p:ext uri="{BB962C8B-B14F-4D97-AF65-F5344CB8AC3E}">
        <p14:creationId xmlns:p14="http://schemas.microsoft.com/office/powerpoint/2010/main" val="391520193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628920" y="530955"/>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en-US" sz="3600" spc="-1" dirty="0">
                <a:solidFill>
                  <a:srgbClr val="000000"/>
                </a:solidFill>
                <a:uFill>
                  <a:solidFill>
                    <a:srgbClr val="FFFFFF"/>
                  </a:solidFill>
                </a:uFill>
                <a:latin typeface="Adobe 繁黑體 Std B"/>
                <a:ea typeface="Adobe 繁黑體 Std B"/>
              </a:rPr>
              <a:t>PICO X2 </a:t>
            </a:r>
            <a:r>
              <a:rPr lang="en-US" sz="3600" spc="-1" dirty="0" err="1">
                <a:solidFill>
                  <a:srgbClr val="000000"/>
                </a:solidFill>
                <a:uFill>
                  <a:solidFill>
                    <a:srgbClr val="FFFFFF"/>
                  </a:solidFill>
                </a:uFill>
                <a:latin typeface="Adobe 繁黑體 Std B"/>
                <a:ea typeface="Adobe 繁黑體 Std B"/>
              </a:rPr>
              <a:t>腳位</a:t>
            </a:r>
            <a:r>
              <a:rPr lang="zh-TW" altLang="en-US" sz="3600" spc="-1" dirty="0">
                <a:solidFill>
                  <a:srgbClr val="000000"/>
                </a:solidFill>
                <a:uFill>
                  <a:solidFill>
                    <a:srgbClr val="FFFFFF"/>
                  </a:solidFill>
                </a:uFill>
                <a:latin typeface="Adobe 繁黑體 Std B"/>
                <a:ea typeface="Adobe 繁黑體 Std B"/>
              </a:rPr>
              <a:t>名稱及定義</a:t>
            </a:r>
            <a:endParaRPr lang="en-US" sz="3600" spc="-1" dirty="0">
              <a:solidFill>
                <a:srgbClr val="000000"/>
              </a:solidFill>
              <a:uFill>
                <a:solidFill>
                  <a:srgbClr val="FFFFFF"/>
                </a:solidFill>
              </a:uFill>
              <a:latin typeface="Arial"/>
            </a:endParaRPr>
          </a:p>
        </p:txBody>
      </p:sp>
      <p:graphicFrame>
        <p:nvGraphicFramePr>
          <p:cNvPr id="105" name="Table 2"/>
          <p:cNvGraphicFramePr/>
          <p:nvPr>
            <p:extLst>
              <p:ext uri="{D42A27DB-BD31-4B8C-83A1-F6EECF244321}">
                <p14:modId xmlns:p14="http://schemas.microsoft.com/office/powerpoint/2010/main" val="2655646461"/>
              </p:ext>
            </p:extLst>
          </p:nvPr>
        </p:nvGraphicFramePr>
        <p:xfrm>
          <a:off x="628920" y="1311675"/>
          <a:ext cx="7886160" cy="4546720"/>
        </p:xfrm>
        <a:graphic>
          <a:graphicData uri="http://schemas.openxmlformats.org/drawingml/2006/table">
            <a:tbl>
              <a:tblPr/>
              <a:tblGrid>
                <a:gridCol w="2511489">
                  <a:extLst>
                    <a:ext uri="{9D8B030D-6E8A-4147-A177-3AD203B41FA5}">
                      <a16:colId xmlns:a16="http://schemas.microsoft.com/office/drawing/2014/main" val="20000"/>
                    </a:ext>
                  </a:extLst>
                </a:gridCol>
                <a:gridCol w="5374671">
                  <a:extLst>
                    <a:ext uri="{9D8B030D-6E8A-4147-A177-3AD203B41FA5}">
                      <a16:colId xmlns:a16="http://schemas.microsoft.com/office/drawing/2014/main" val="20001"/>
                    </a:ext>
                  </a:extLst>
                </a:gridCol>
              </a:tblGrid>
              <a:tr h="498592">
                <a:tc>
                  <a:txBody>
                    <a:bodyPr/>
                    <a:lstStyle/>
                    <a:p>
                      <a:r>
                        <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GP0, GP1</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第一組</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UART</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的 </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TX, RX</a:t>
                      </a:r>
                      <a:endPar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B3B3B3"/>
                    </a:solidFill>
                  </a:tcPr>
                </a:tc>
                <a:extLst>
                  <a:ext uri="{0D108BD9-81ED-4DB2-BD59-A6C34878D82A}">
                    <a16:rowId xmlns:a16="http://schemas.microsoft.com/office/drawing/2014/main" val="10000"/>
                  </a:ext>
                </a:extLst>
              </a:tr>
              <a:tr h="498592">
                <a:tc>
                  <a:txBody>
                    <a:bodyPr/>
                    <a:lstStyle/>
                    <a:p>
                      <a:r>
                        <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GP2, GP3, GP4</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開放式</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GPIO,</a:t>
                      </a:r>
                      <a:r>
                        <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 </a:t>
                      </a:r>
                      <a:r>
                        <a:rPr lang="en-US" sz="1600" b="0" strike="noStrike" spc="-1" dirty="0" err="1">
                          <a:solidFill>
                            <a:srgbClr val="000000"/>
                          </a:solidFill>
                          <a:uFill>
                            <a:solidFill>
                              <a:srgbClr val="FFFFFF"/>
                            </a:solidFill>
                          </a:uFill>
                          <a:latin typeface="Adobe 繁黑體 Std B" panose="020B0700000000000000" pitchFamily="34" charset="-120"/>
                          <a:ea typeface="Adobe 繁黑體 Std B" panose="020B0700000000000000" pitchFamily="34" charset="-120"/>
                        </a:rPr>
                        <a:t>可做</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數位輸入輸出、</a:t>
                      </a:r>
                      <a:r>
                        <a:rPr lang="en-US" altLang="zh-TW" sz="1600" b="0" strike="noStrike" spc="-1" dirty="0" err="1">
                          <a:solidFill>
                            <a:srgbClr val="000000"/>
                          </a:solidFill>
                          <a:uFill>
                            <a:solidFill>
                              <a:srgbClr val="FFFFFF"/>
                            </a:solidFill>
                          </a:uFill>
                          <a:latin typeface="Adobe 繁黑體 Std B" panose="020B0700000000000000" pitchFamily="34" charset="-120"/>
                          <a:ea typeface="Adobe 繁黑體 Std B" panose="020B0700000000000000" pitchFamily="34" charset="-120"/>
                        </a:rPr>
                        <a:t>PWM</a:t>
                      </a:r>
                      <a:r>
                        <a:rPr lang="en-US" sz="1600" b="0" strike="noStrike" spc="-1" dirty="0" err="1">
                          <a:solidFill>
                            <a:srgbClr val="000000"/>
                          </a:solidFill>
                          <a:uFill>
                            <a:solidFill>
                              <a:srgbClr val="FFFFFF"/>
                            </a:solidFill>
                          </a:uFill>
                          <a:latin typeface="Adobe 繁黑體 Std B" panose="020B0700000000000000" pitchFamily="34" charset="-120"/>
                          <a:ea typeface="Adobe 繁黑體 Std B" panose="020B0700000000000000" pitchFamily="34" charset="-120"/>
                        </a:rPr>
                        <a:t>類比輸出使用</a:t>
                      </a:r>
                      <a:endPar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1"/>
                  </a:ext>
                </a:extLst>
              </a:tr>
              <a:tr h="498592">
                <a:tc>
                  <a:txBody>
                    <a:bodyPr/>
                    <a:lstStyle/>
                    <a:p>
                      <a:r>
                        <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ADC0, ADC1, ADC2</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開放式</a:t>
                      </a:r>
                      <a:r>
                        <a:rPr lang="en-US" sz="1600" b="0" strike="noStrike" spc="-1" dirty="0" err="1">
                          <a:solidFill>
                            <a:srgbClr val="000000"/>
                          </a:solidFill>
                          <a:uFill>
                            <a:solidFill>
                              <a:srgbClr val="FFFFFF"/>
                            </a:solidFill>
                          </a:uFill>
                          <a:latin typeface="Adobe 繁黑體 Std B" panose="020B0700000000000000" pitchFamily="34" charset="-120"/>
                          <a:ea typeface="Adobe 繁黑體 Std B" panose="020B0700000000000000" pitchFamily="34" charset="-120"/>
                        </a:rPr>
                        <a:t>類比輸入</a:t>
                      </a:r>
                      <a:r>
                        <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 </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也可當數位輸入及輸出。對映</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GP26,27,28</a:t>
                      </a:r>
                      <a:endPar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2"/>
                  </a:ext>
                </a:extLst>
              </a:tr>
              <a:tr h="498592">
                <a:tc>
                  <a:txBody>
                    <a:bodyPr/>
                    <a:lstStyle/>
                    <a:p>
                      <a:r>
                        <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SCL, SDA</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I2C</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通訊介面</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 </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對映</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GP21, 20</a:t>
                      </a:r>
                      <a:endPar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3"/>
                  </a:ext>
                </a:extLst>
              </a:tr>
              <a:tr h="498592">
                <a:tc>
                  <a:txBody>
                    <a:bodyPr/>
                    <a:lstStyle/>
                    <a:p>
                      <a:r>
                        <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SCLK, MOSI, MISO, CS</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SPI</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通訊介面</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 </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對映</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GP18, 19, 16, 17</a:t>
                      </a:r>
                      <a:endPar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4"/>
                  </a:ext>
                </a:extLst>
              </a:tr>
              <a:tr h="498592">
                <a:tc>
                  <a:txBody>
                    <a:bodyPr/>
                    <a:lstStyle/>
                    <a:p>
                      <a:r>
                        <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M1_A, M1_B, M2_A, M2_B</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電機接口</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 </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對映</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GP9, 8, 11, 10</a:t>
                      </a:r>
                      <a:endPar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5"/>
                  </a:ext>
                </a:extLst>
              </a:tr>
              <a:tr h="498592">
                <a:tc>
                  <a:txBody>
                    <a:bodyPr/>
                    <a:lstStyle/>
                    <a:p>
                      <a:r>
                        <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SERVO1, SERVO2</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舵機接口</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 </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對映</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GP6, 7</a:t>
                      </a:r>
                      <a:endPar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6"/>
                  </a:ext>
                </a:extLst>
              </a:tr>
              <a:tr h="498592">
                <a:tc>
                  <a:txBody>
                    <a:bodyPr/>
                    <a:lstStyle/>
                    <a:p>
                      <a:r>
                        <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BUZZER</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蜂鳴器</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 </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對映</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GP22</a:t>
                      </a:r>
                      <a:r>
                        <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 </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7"/>
                  </a:ext>
                </a:extLst>
              </a:tr>
              <a:tr h="500316">
                <a:tc>
                  <a:txBody>
                    <a:bodyPr/>
                    <a:lstStyle/>
                    <a:p>
                      <a:r>
                        <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SDCARD </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內建</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TF</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卡腳位</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 </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對映</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GP5</a:t>
                      </a:r>
                      <a:endPar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62892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en-US" sz="3600" spc="-1" dirty="0">
                <a:solidFill>
                  <a:srgbClr val="000000"/>
                </a:solidFill>
                <a:uFill>
                  <a:solidFill>
                    <a:srgbClr val="FFFFFF"/>
                  </a:solidFill>
                </a:uFill>
                <a:latin typeface="Adobe 繁黑體 Std B"/>
                <a:ea typeface="Adobe 繁黑體 Std B"/>
              </a:rPr>
              <a:t>PICO X2 </a:t>
            </a:r>
            <a:r>
              <a:rPr lang="en-US" sz="3600" spc="-1" dirty="0" err="1">
                <a:solidFill>
                  <a:srgbClr val="000000"/>
                </a:solidFill>
                <a:uFill>
                  <a:solidFill>
                    <a:srgbClr val="FFFFFF"/>
                  </a:solidFill>
                </a:uFill>
                <a:latin typeface="Adobe 繁黑體 Std B"/>
                <a:ea typeface="Adobe 繁黑體 Std B"/>
              </a:rPr>
              <a:t>腳位</a:t>
            </a:r>
            <a:r>
              <a:rPr lang="zh-TW" altLang="en-US" sz="3600" spc="-1" dirty="0">
                <a:solidFill>
                  <a:srgbClr val="000000"/>
                </a:solidFill>
                <a:uFill>
                  <a:solidFill>
                    <a:srgbClr val="FFFFFF"/>
                  </a:solidFill>
                </a:uFill>
                <a:latin typeface="Adobe 繁黑體 Std B"/>
                <a:ea typeface="Adobe 繁黑體 Std B"/>
              </a:rPr>
              <a:t>名稱及定義</a:t>
            </a:r>
            <a:endParaRPr lang="en-US" sz="3600" spc="-1" dirty="0">
              <a:solidFill>
                <a:srgbClr val="000000"/>
              </a:solidFill>
              <a:uFill>
                <a:solidFill>
                  <a:srgbClr val="FFFFFF"/>
                </a:solidFill>
              </a:uFill>
              <a:latin typeface="Arial"/>
            </a:endParaRPr>
          </a:p>
        </p:txBody>
      </p:sp>
      <p:graphicFrame>
        <p:nvGraphicFramePr>
          <p:cNvPr id="105" name="Table 2"/>
          <p:cNvGraphicFramePr/>
          <p:nvPr>
            <p:extLst>
              <p:ext uri="{D42A27DB-BD31-4B8C-83A1-F6EECF244321}">
                <p14:modId xmlns:p14="http://schemas.microsoft.com/office/powerpoint/2010/main" val="514561005"/>
              </p:ext>
            </p:extLst>
          </p:nvPr>
        </p:nvGraphicFramePr>
        <p:xfrm>
          <a:off x="628920" y="1254524"/>
          <a:ext cx="8010255" cy="4026815"/>
        </p:xfrm>
        <a:graphic>
          <a:graphicData uri="http://schemas.openxmlformats.org/drawingml/2006/table">
            <a:tbl>
              <a:tblPr/>
              <a:tblGrid>
                <a:gridCol w="2551009">
                  <a:extLst>
                    <a:ext uri="{9D8B030D-6E8A-4147-A177-3AD203B41FA5}">
                      <a16:colId xmlns:a16="http://schemas.microsoft.com/office/drawing/2014/main" val="20000"/>
                    </a:ext>
                  </a:extLst>
                </a:gridCol>
                <a:gridCol w="5459246">
                  <a:extLst>
                    <a:ext uri="{9D8B030D-6E8A-4147-A177-3AD203B41FA5}">
                      <a16:colId xmlns:a16="http://schemas.microsoft.com/office/drawing/2014/main" val="20001"/>
                    </a:ext>
                  </a:extLst>
                </a:gridCol>
              </a:tblGrid>
              <a:tr h="825356">
                <a:tc>
                  <a:txBody>
                    <a:bodyPr/>
                    <a:lstStyle/>
                    <a:p>
                      <a:r>
                        <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SENSOR1_TRIG, SENSOR1_ECHO</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感測器接口</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(1), </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用於聲波測距感測器時定義</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 </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對映</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GP12, 13</a:t>
                      </a:r>
                      <a:endPar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B3B3B3"/>
                    </a:solidFill>
                  </a:tcPr>
                </a:tc>
                <a:extLst>
                  <a:ext uri="{0D108BD9-81ED-4DB2-BD59-A6C34878D82A}">
                    <a16:rowId xmlns:a16="http://schemas.microsoft.com/office/drawing/2014/main" val="10000"/>
                  </a:ext>
                </a:extLst>
              </a:tr>
              <a:tr h="8253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SENSOR2_TRIG, SENSOR2_ECHO</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感測器接口</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(2), </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用於聲波測距感測器時定義</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 </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對映</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GP14, 15</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1"/>
                  </a:ext>
                </a:extLst>
              </a:tr>
              <a:tr h="8253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SENSOR1_RIGHT, SENSOR1_LEFT</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感測器接口</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(1), </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用於紅外線尋線感測器時定義</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 </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對映</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GP12, 13</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2"/>
                  </a:ext>
                </a:extLst>
              </a:tr>
              <a:tr h="8795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SENSOR2_RIGHT, SENSOR2_LEFT</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感測器接口</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(2), </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用於紅外線尋線感測器時定義</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 </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對映</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GP14, 15</a:t>
                      </a:r>
                    </a:p>
                    <a:p>
                      <a:endPar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3"/>
                  </a:ext>
                </a:extLst>
              </a:tr>
              <a:tr h="671239">
                <a:tc>
                  <a:txBody>
                    <a:bodyPr/>
                    <a:lstStyle/>
                    <a:p>
                      <a:r>
                        <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WIFI_TX, WIFI_RX</a:t>
                      </a:r>
                    </a:p>
                  </a:txBody>
                  <a:tcPr marL="67500" marR="67500" marT="34290" marB="34290">
                    <a:lnL w="720">
                      <a:solidFill>
                        <a:srgbClr val="FFFFFF"/>
                      </a:solidFill>
                    </a:lnL>
                    <a:lnR w="720">
                      <a:solidFill>
                        <a:srgbClr val="FFFFFF"/>
                      </a:solidFill>
                    </a:lnR>
                    <a:lnT w="720">
                      <a:solidFill>
                        <a:srgbClr val="FFFFFF"/>
                      </a:solidFill>
                    </a:lnT>
                    <a:lnB w="720" cap="flat" cmpd="sng" algn="ctr">
                      <a:solidFill>
                        <a:srgbClr val="FFFFFF"/>
                      </a:solidFill>
                      <a:prstDash val="solid"/>
                      <a:round/>
                      <a:headEnd type="none" w="med" len="med"/>
                      <a:tailEnd type="none" w="med" len="med"/>
                    </a:lnB>
                    <a:solidFill>
                      <a:srgbClr val="E6E6E6"/>
                    </a:solidFill>
                  </a:tcPr>
                </a:tc>
                <a:tc>
                  <a:txBody>
                    <a:bodyPr/>
                    <a:lstStyle/>
                    <a:p>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無線網路攝影機接口</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 </a:t>
                      </a:r>
                      <a:r>
                        <a:rPr lang="zh-TW" alt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對映</a:t>
                      </a:r>
                      <a:r>
                        <a:rPr lang="en-US" altLang="zh-TW"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rPr>
                        <a:t>GP12, 13</a:t>
                      </a:r>
                      <a:endParaRPr lang="en-US" sz="1600" b="0" strike="noStrike" spc="-1" dirty="0">
                        <a:solidFill>
                          <a:srgbClr val="000000"/>
                        </a:solidFill>
                        <a:uFill>
                          <a:solidFill>
                            <a:srgbClr val="FFFFFF"/>
                          </a:solidFill>
                        </a:uFill>
                        <a:latin typeface="Adobe 繁黑體 Std B" panose="020B0700000000000000" pitchFamily="34" charset="-120"/>
                        <a:ea typeface="Adobe 繁黑體 Std B" panose="020B0700000000000000" pitchFamily="34" charset="-120"/>
                      </a:endParaRPr>
                    </a:p>
                  </a:txBody>
                  <a:tcPr marL="67500" marR="67500" marT="34290" marB="34290">
                    <a:lnL w="720">
                      <a:solidFill>
                        <a:srgbClr val="FFFFFF"/>
                      </a:solidFill>
                    </a:lnL>
                    <a:lnR w="720">
                      <a:solidFill>
                        <a:srgbClr val="FFFFFF"/>
                      </a:solidFill>
                    </a:lnR>
                    <a:lnT w="720">
                      <a:solidFill>
                        <a:srgbClr val="FFFFFF"/>
                      </a:solidFill>
                    </a:lnT>
                    <a:lnB w="720" cap="flat" cmpd="sng" algn="ctr">
                      <a:solidFill>
                        <a:srgbClr val="FFFFFF"/>
                      </a:solidFill>
                      <a:prstDash val="solid"/>
                      <a:round/>
                      <a:headEnd type="none" w="med" len="med"/>
                      <a:tailEnd type="none" w="med" len="med"/>
                    </a:lnB>
                    <a:solidFill>
                      <a:srgbClr val="E6E6E6"/>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9618661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1A0C51CA-73EF-4DD3-84E6-FA1E3C1B7453}"/>
              </a:ext>
            </a:extLst>
          </p:cNvPr>
          <p:cNvSpPr txBox="1"/>
          <p:nvPr/>
        </p:nvSpPr>
        <p:spPr>
          <a:xfrm>
            <a:off x="542835" y="1288830"/>
            <a:ext cx="2414297" cy="415498"/>
          </a:xfrm>
          <a:prstGeom prst="rect">
            <a:avLst/>
          </a:prstGeom>
          <a:noFill/>
        </p:spPr>
        <p:txBody>
          <a:bodyPr wrap="square" rtlCol="0">
            <a:spAutoFit/>
          </a:bodyPr>
          <a:lstStyle/>
          <a:p>
            <a:r>
              <a:rPr lang="zh-TW" altLang="en-US" sz="2100" dirty="0">
                <a:latin typeface="Adobe 黑体 Std R" panose="020B0400000000000000" pitchFamily="34" charset="-128"/>
                <a:ea typeface="Adobe 黑体 Std R" panose="020B0400000000000000" pitchFamily="34" charset="-128"/>
              </a:rPr>
              <a:t>輸入與輸出案例：</a:t>
            </a:r>
          </a:p>
        </p:txBody>
      </p:sp>
      <p:sp>
        <p:nvSpPr>
          <p:cNvPr id="5" name="文字方塊 4">
            <a:extLst>
              <a:ext uri="{FF2B5EF4-FFF2-40B4-BE49-F238E27FC236}">
                <a16:creationId xmlns:a16="http://schemas.microsoft.com/office/drawing/2014/main" id="{40AF923B-82D7-4A7A-8FA7-9047FBE01AA0}"/>
              </a:ext>
            </a:extLst>
          </p:cNvPr>
          <p:cNvSpPr txBox="1"/>
          <p:nvPr/>
        </p:nvSpPr>
        <p:spPr>
          <a:xfrm>
            <a:off x="542835" y="1745042"/>
            <a:ext cx="3073277" cy="1077218"/>
          </a:xfrm>
          <a:prstGeom prst="rect">
            <a:avLst/>
          </a:prstGeom>
          <a:noFill/>
        </p:spPr>
        <p:txBody>
          <a:bodyPr wrap="none" rtlCol="0">
            <a:spAutoFit/>
          </a:bodyPr>
          <a:lstStyle/>
          <a:p>
            <a:r>
              <a:rPr lang="zh-TW" altLang="en-US" sz="1600" dirty="0">
                <a:latin typeface="Adobe 仿宋 Std R" panose="02020400000000000000" pitchFamily="18" charset="-128"/>
                <a:ea typeface="Adobe 仿宋 Std R" panose="02020400000000000000" pitchFamily="18" charset="-128"/>
              </a:rPr>
              <a:t>數位輸出 </a:t>
            </a:r>
            <a:r>
              <a:rPr lang="en-US" altLang="zh-TW" sz="1600" dirty="0">
                <a:latin typeface="Adobe 仿宋 Std R" panose="02020400000000000000" pitchFamily="18" charset="-128"/>
                <a:ea typeface="Adobe 仿宋 Std R" panose="02020400000000000000" pitchFamily="18" charset="-128"/>
              </a:rPr>
              <a:t>–</a:t>
            </a:r>
            <a:r>
              <a:rPr lang="zh-TW" altLang="en-US" sz="1600" dirty="0">
                <a:latin typeface="Adobe 仿宋 Std R" panose="02020400000000000000" pitchFamily="18" charset="-128"/>
                <a:ea typeface="Adobe 仿宋 Std R" panose="02020400000000000000" pitchFamily="18" charset="-128"/>
              </a:rPr>
              <a:t>內建</a:t>
            </a:r>
            <a:r>
              <a:rPr lang="en-US" altLang="zh-TW" sz="1600" dirty="0">
                <a:latin typeface="Adobe 仿宋 Std R" panose="02020400000000000000" pitchFamily="18" charset="-128"/>
                <a:ea typeface="Adobe 仿宋 Std R" panose="02020400000000000000" pitchFamily="18" charset="-128"/>
              </a:rPr>
              <a:t>LED</a:t>
            </a:r>
            <a:r>
              <a:rPr lang="zh-TW" altLang="en-US" sz="1600" dirty="0">
                <a:latin typeface="Adobe 仿宋 Std R" panose="02020400000000000000" pitchFamily="18" charset="-128"/>
                <a:ea typeface="Adobe 仿宋 Std R" panose="02020400000000000000" pitchFamily="18" charset="-128"/>
              </a:rPr>
              <a:t>控制</a:t>
            </a:r>
            <a:endParaRPr lang="en-US" altLang="zh-TW" sz="1600" dirty="0">
              <a:latin typeface="Adobe 仿宋 Std R" panose="02020400000000000000" pitchFamily="18" charset="-128"/>
              <a:ea typeface="Adobe 仿宋 Std R" panose="02020400000000000000" pitchFamily="18" charset="-128"/>
            </a:endParaRPr>
          </a:p>
          <a:p>
            <a:r>
              <a:rPr lang="zh-TW" altLang="en-US" sz="1600" dirty="0">
                <a:latin typeface="Adobe 仿宋 Std R" panose="02020400000000000000" pitchFamily="18" charset="-128"/>
                <a:ea typeface="Adobe 仿宋 Std R" panose="02020400000000000000" pitchFamily="18" charset="-128"/>
              </a:rPr>
              <a:t>數位輸入 </a:t>
            </a:r>
            <a:r>
              <a:rPr lang="en-US" altLang="zh-TW" sz="1600" dirty="0">
                <a:latin typeface="Adobe 仿宋 Std R" panose="02020400000000000000" pitchFamily="18" charset="-128"/>
                <a:ea typeface="Adobe 仿宋 Std R" panose="02020400000000000000" pitchFamily="18" charset="-128"/>
              </a:rPr>
              <a:t>–</a:t>
            </a:r>
            <a:r>
              <a:rPr lang="zh-TW" altLang="en-US" sz="1600" dirty="0">
                <a:latin typeface="Adobe 仿宋 Std R" panose="02020400000000000000" pitchFamily="18" charset="-128"/>
                <a:ea typeface="Adobe 仿宋 Std R" panose="02020400000000000000" pitchFamily="18" charset="-128"/>
              </a:rPr>
              <a:t>按鈕控制</a:t>
            </a:r>
            <a:endParaRPr lang="en-US" altLang="zh-TW" sz="1600" dirty="0">
              <a:latin typeface="Adobe 仿宋 Std R" panose="02020400000000000000" pitchFamily="18" charset="-128"/>
              <a:ea typeface="Adobe 仿宋 Std R" panose="02020400000000000000" pitchFamily="18" charset="-128"/>
            </a:endParaRPr>
          </a:p>
          <a:p>
            <a:r>
              <a:rPr lang="zh-TW" altLang="en-US" sz="1600" dirty="0">
                <a:latin typeface="Adobe 仿宋 Std R" panose="02020400000000000000" pitchFamily="18" charset="-128"/>
                <a:ea typeface="Adobe 仿宋 Std R" panose="02020400000000000000" pitchFamily="18" charset="-128"/>
              </a:rPr>
              <a:t>類比輸入 </a:t>
            </a:r>
            <a:r>
              <a:rPr lang="en-US" altLang="zh-TW" sz="1600" dirty="0">
                <a:latin typeface="Adobe 仿宋 Std R" panose="02020400000000000000" pitchFamily="18" charset="-128"/>
                <a:ea typeface="Adobe 仿宋 Std R" panose="02020400000000000000" pitchFamily="18" charset="-128"/>
              </a:rPr>
              <a:t>–</a:t>
            </a:r>
            <a:r>
              <a:rPr lang="zh-TW" altLang="en-US" sz="1600" dirty="0">
                <a:latin typeface="Adobe 仿宋 Std R" panose="02020400000000000000" pitchFamily="18" charset="-128"/>
                <a:ea typeface="Adobe 仿宋 Std R" panose="02020400000000000000" pitchFamily="18" charset="-128"/>
              </a:rPr>
              <a:t>電位器控制</a:t>
            </a:r>
            <a:r>
              <a:rPr lang="en-US" altLang="zh-TW" sz="1600" dirty="0">
                <a:latin typeface="Adobe 仿宋 Std R" panose="02020400000000000000" pitchFamily="18" charset="-128"/>
                <a:ea typeface="Adobe 仿宋 Std R" panose="02020400000000000000" pitchFamily="18" charset="-128"/>
              </a:rPr>
              <a:t>  </a:t>
            </a:r>
          </a:p>
          <a:p>
            <a:r>
              <a:rPr lang="zh-TW" altLang="en-US" sz="1600" dirty="0">
                <a:latin typeface="Adobe 仿宋 Std R" panose="02020400000000000000" pitchFamily="18" charset="-128"/>
                <a:ea typeface="Adobe 仿宋 Std R" panose="02020400000000000000" pitchFamily="18" charset="-128"/>
              </a:rPr>
              <a:t>類比輸出 </a:t>
            </a:r>
            <a:r>
              <a:rPr lang="en-US" altLang="zh-TW" sz="1600" dirty="0">
                <a:latin typeface="Adobe 仿宋 Std R" panose="02020400000000000000" pitchFamily="18" charset="-128"/>
                <a:ea typeface="Adobe 仿宋 Std R" panose="02020400000000000000" pitchFamily="18" charset="-128"/>
              </a:rPr>
              <a:t>–LED</a:t>
            </a:r>
            <a:r>
              <a:rPr lang="zh-TW" altLang="en-US" sz="1600" dirty="0">
                <a:latin typeface="Adobe 仿宋 Std R" panose="02020400000000000000" pitchFamily="18" charset="-128"/>
                <a:ea typeface="Adobe 仿宋 Std R" panose="02020400000000000000" pitchFamily="18" charset="-128"/>
              </a:rPr>
              <a:t>漸亮與漸暗控制</a:t>
            </a:r>
          </a:p>
        </p:txBody>
      </p:sp>
      <p:grpSp>
        <p:nvGrpSpPr>
          <p:cNvPr id="57" name="群組 56">
            <a:extLst>
              <a:ext uri="{FF2B5EF4-FFF2-40B4-BE49-F238E27FC236}">
                <a16:creationId xmlns:a16="http://schemas.microsoft.com/office/drawing/2014/main" id="{A9B59907-8CC7-4024-BAE7-2166F1E270F0}"/>
              </a:ext>
            </a:extLst>
          </p:cNvPr>
          <p:cNvGrpSpPr/>
          <p:nvPr/>
        </p:nvGrpSpPr>
        <p:grpSpPr>
          <a:xfrm>
            <a:off x="6088747" y="2188794"/>
            <a:ext cx="540000" cy="2701159"/>
            <a:chOff x="8720469" y="1629000"/>
            <a:chExt cx="720000" cy="3601545"/>
          </a:xfrm>
        </p:grpSpPr>
        <p:grpSp>
          <p:nvGrpSpPr>
            <p:cNvPr id="43" name="群組 42">
              <a:extLst>
                <a:ext uri="{FF2B5EF4-FFF2-40B4-BE49-F238E27FC236}">
                  <a16:creationId xmlns:a16="http://schemas.microsoft.com/office/drawing/2014/main" id="{9042211E-B38D-4167-A451-E33C2759C816}"/>
                </a:ext>
              </a:extLst>
            </p:cNvPr>
            <p:cNvGrpSpPr/>
            <p:nvPr/>
          </p:nvGrpSpPr>
          <p:grpSpPr>
            <a:xfrm>
              <a:off x="8720469" y="1629000"/>
              <a:ext cx="720000" cy="1800000"/>
              <a:chOff x="8720469" y="1629000"/>
              <a:chExt cx="720000" cy="1800000"/>
            </a:xfrm>
          </p:grpSpPr>
          <p:grpSp>
            <p:nvGrpSpPr>
              <p:cNvPr id="36" name="群組 35">
                <a:extLst>
                  <a:ext uri="{FF2B5EF4-FFF2-40B4-BE49-F238E27FC236}">
                    <a16:creationId xmlns:a16="http://schemas.microsoft.com/office/drawing/2014/main" id="{77466B66-AC45-4556-B4DF-E6965F83D621}"/>
                  </a:ext>
                </a:extLst>
              </p:cNvPr>
              <p:cNvGrpSpPr/>
              <p:nvPr/>
            </p:nvGrpSpPr>
            <p:grpSpPr>
              <a:xfrm>
                <a:off x="8720469" y="1629000"/>
                <a:ext cx="360000" cy="1800000"/>
                <a:chOff x="8720469" y="1629000"/>
                <a:chExt cx="360000" cy="1800000"/>
              </a:xfrm>
            </p:grpSpPr>
            <p:sp>
              <p:nvSpPr>
                <p:cNvPr id="10" name="矩形 9">
                  <a:extLst>
                    <a:ext uri="{FF2B5EF4-FFF2-40B4-BE49-F238E27FC236}">
                      <a16:creationId xmlns:a16="http://schemas.microsoft.com/office/drawing/2014/main" id="{583C5BB4-A32E-402E-9DCD-F90ED55B8012}"/>
                    </a:ext>
                  </a:extLst>
                </p:cNvPr>
                <p:cNvSpPr/>
                <p:nvPr/>
              </p:nvSpPr>
              <p:spPr>
                <a:xfrm>
                  <a:off x="8720469" y="1629000"/>
                  <a:ext cx="360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5" name="矩形 14">
                  <a:extLst>
                    <a:ext uri="{FF2B5EF4-FFF2-40B4-BE49-F238E27FC236}">
                      <a16:creationId xmlns:a16="http://schemas.microsoft.com/office/drawing/2014/main" id="{3E2B1C70-5640-4F7A-A088-3C34FA6F5122}"/>
                    </a:ext>
                  </a:extLst>
                </p:cNvPr>
                <p:cNvSpPr/>
                <p:nvPr/>
              </p:nvSpPr>
              <p:spPr>
                <a:xfrm>
                  <a:off x="8720469" y="1989000"/>
                  <a:ext cx="360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6" name="矩形 15">
                  <a:extLst>
                    <a:ext uri="{FF2B5EF4-FFF2-40B4-BE49-F238E27FC236}">
                      <a16:creationId xmlns:a16="http://schemas.microsoft.com/office/drawing/2014/main" id="{B54C2F95-E993-4461-AFC6-1931A64824D0}"/>
                    </a:ext>
                  </a:extLst>
                </p:cNvPr>
                <p:cNvSpPr/>
                <p:nvPr/>
              </p:nvSpPr>
              <p:spPr>
                <a:xfrm>
                  <a:off x="8720469" y="2349000"/>
                  <a:ext cx="360000" cy="36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17" name="矩形 16">
                  <a:extLst>
                    <a:ext uri="{FF2B5EF4-FFF2-40B4-BE49-F238E27FC236}">
                      <a16:creationId xmlns:a16="http://schemas.microsoft.com/office/drawing/2014/main" id="{9BCC1961-9A71-4C78-88BD-4E0B60537175}"/>
                    </a:ext>
                  </a:extLst>
                </p:cNvPr>
                <p:cNvSpPr/>
                <p:nvPr/>
              </p:nvSpPr>
              <p:spPr>
                <a:xfrm>
                  <a:off x="8720469" y="2709000"/>
                  <a:ext cx="360000" cy="36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18" name="矩形 17">
                  <a:extLst>
                    <a:ext uri="{FF2B5EF4-FFF2-40B4-BE49-F238E27FC236}">
                      <a16:creationId xmlns:a16="http://schemas.microsoft.com/office/drawing/2014/main" id="{3BB435B8-6F50-4234-A030-8F1AC8D3B550}"/>
                    </a:ext>
                  </a:extLst>
                </p:cNvPr>
                <p:cNvSpPr/>
                <p:nvPr/>
              </p:nvSpPr>
              <p:spPr>
                <a:xfrm>
                  <a:off x="8720469" y="3069000"/>
                  <a:ext cx="360000" cy="36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grpSp>
          <p:grpSp>
            <p:nvGrpSpPr>
              <p:cNvPr id="37" name="群組 36">
                <a:extLst>
                  <a:ext uri="{FF2B5EF4-FFF2-40B4-BE49-F238E27FC236}">
                    <a16:creationId xmlns:a16="http://schemas.microsoft.com/office/drawing/2014/main" id="{6AF560D5-A303-4DA7-BBD7-AAFEB4A10D89}"/>
                  </a:ext>
                </a:extLst>
              </p:cNvPr>
              <p:cNvGrpSpPr/>
              <p:nvPr/>
            </p:nvGrpSpPr>
            <p:grpSpPr>
              <a:xfrm>
                <a:off x="9080469" y="1629000"/>
                <a:ext cx="360000" cy="1800000"/>
                <a:chOff x="8720469" y="1629000"/>
                <a:chExt cx="360000" cy="1800000"/>
              </a:xfrm>
            </p:grpSpPr>
            <p:sp>
              <p:nvSpPr>
                <p:cNvPr id="38" name="矩形 37">
                  <a:extLst>
                    <a:ext uri="{FF2B5EF4-FFF2-40B4-BE49-F238E27FC236}">
                      <a16:creationId xmlns:a16="http://schemas.microsoft.com/office/drawing/2014/main" id="{D54F47AF-E2C8-4561-A1D4-CDD5E3A7D6D7}"/>
                    </a:ext>
                  </a:extLst>
                </p:cNvPr>
                <p:cNvSpPr/>
                <p:nvPr/>
              </p:nvSpPr>
              <p:spPr>
                <a:xfrm>
                  <a:off x="8720469" y="1629000"/>
                  <a:ext cx="360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9" name="矩形 38">
                  <a:extLst>
                    <a:ext uri="{FF2B5EF4-FFF2-40B4-BE49-F238E27FC236}">
                      <a16:creationId xmlns:a16="http://schemas.microsoft.com/office/drawing/2014/main" id="{17FBD8B7-E4D5-445F-967E-0D58826F1787}"/>
                    </a:ext>
                  </a:extLst>
                </p:cNvPr>
                <p:cNvSpPr/>
                <p:nvPr/>
              </p:nvSpPr>
              <p:spPr>
                <a:xfrm>
                  <a:off x="8720469" y="1989000"/>
                  <a:ext cx="360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0" name="矩形 39">
                  <a:extLst>
                    <a:ext uri="{FF2B5EF4-FFF2-40B4-BE49-F238E27FC236}">
                      <a16:creationId xmlns:a16="http://schemas.microsoft.com/office/drawing/2014/main" id="{270D6D19-9BB0-40D6-B520-0BEBA7927746}"/>
                    </a:ext>
                  </a:extLst>
                </p:cNvPr>
                <p:cNvSpPr/>
                <p:nvPr/>
              </p:nvSpPr>
              <p:spPr>
                <a:xfrm>
                  <a:off x="8720469" y="2349000"/>
                  <a:ext cx="360000" cy="360000"/>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1" name="矩形 40">
                  <a:extLst>
                    <a:ext uri="{FF2B5EF4-FFF2-40B4-BE49-F238E27FC236}">
                      <a16:creationId xmlns:a16="http://schemas.microsoft.com/office/drawing/2014/main" id="{61BD52C2-CD3F-46A9-BAA3-B760FBA67063}"/>
                    </a:ext>
                  </a:extLst>
                </p:cNvPr>
                <p:cNvSpPr/>
                <p:nvPr/>
              </p:nvSpPr>
              <p:spPr>
                <a:xfrm>
                  <a:off x="8720469" y="2709000"/>
                  <a:ext cx="360000" cy="360000"/>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2" name="矩形 41">
                  <a:extLst>
                    <a:ext uri="{FF2B5EF4-FFF2-40B4-BE49-F238E27FC236}">
                      <a16:creationId xmlns:a16="http://schemas.microsoft.com/office/drawing/2014/main" id="{07590344-861E-40A2-94F4-213BA5125A2B}"/>
                    </a:ext>
                  </a:extLst>
                </p:cNvPr>
                <p:cNvSpPr/>
                <p:nvPr/>
              </p:nvSpPr>
              <p:spPr>
                <a:xfrm>
                  <a:off x="8720469" y="3069000"/>
                  <a:ext cx="360000" cy="360000"/>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grpSp>
        </p:grpSp>
        <p:grpSp>
          <p:nvGrpSpPr>
            <p:cNvPr id="44" name="群組 43">
              <a:extLst>
                <a:ext uri="{FF2B5EF4-FFF2-40B4-BE49-F238E27FC236}">
                  <a16:creationId xmlns:a16="http://schemas.microsoft.com/office/drawing/2014/main" id="{38520153-B272-4DEC-8C62-0A4ECE4316DB}"/>
                </a:ext>
              </a:extLst>
            </p:cNvPr>
            <p:cNvGrpSpPr/>
            <p:nvPr/>
          </p:nvGrpSpPr>
          <p:grpSpPr>
            <a:xfrm>
              <a:off x="8720469" y="3430545"/>
              <a:ext cx="720000" cy="1800000"/>
              <a:chOff x="8720469" y="1629000"/>
              <a:chExt cx="720000" cy="1800000"/>
            </a:xfrm>
          </p:grpSpPr>
          <p:grpSp>
            <p:nvGrpSpPr>
              <p:cNvPr id="45" name="群組 44">
                <a:extLst>
                  <a:ext uri="{FF2B5EF4-FFF2-40B4-BE49-F238E27FC236}">
                    <a16:creationId xmlns:a16="http://schemas.microsoft.com/office/drawing/2014/main" id="{F6624AEB-F7B4-4036-B565-9962BE7FC167}"/>
                  </a:ext>
                </a:extLst>
              </p:cNvPr>
              <p:cNvGrpSpPr/>
              <p:nvPr/>
            </p:nvGrpSpPr>
            <p:grpSpPr>
              <a:xfrm>
                <a:off x="8720469" y="1629000"/>
                <a:ext cx="360000" cy="1800000"/>
                <a:chOff x="8720469" y="1629000"/>
                <a:chExt cx="360000" cy="1800000"/>
              </a:xfrm>
            </p:grpSpPr>
            <p:sp>
              <p:nvSpPr>
                <p:cNvPr id="52" name="矩形 51">
                  <a:extLst>
                    <a:ext uri="{FF2B5EF4-FFF2-40B4-BE49-F238E27FC236}">
                      <a16:creationId xmlns:a16="http://schemas.microsoft.com/office/drawing/2014/main" id="{9A042AA4-C3AC-40FC-B665-3422236D6EB6}"/>
                    </a:ext>
                  </a:extLst>
                </p:cNvPr>
                <p:cNvSpPr/>
                <p:nvPr/>
              </p:nvSpPr>
              <p:spPr>
                <a:xfrm>
                  <a:off x="8720469" y="1629000"/>
                  <a:ext cx="360000" cy="360000"/>
                </a:xfrm>
                <a:prstGeom prst="rect">
                  <a:avLst/>
                </a:prstGeom>
                <a:solidFill>
                  <a:schemeClr val="accent5">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53" name="矩形 52">
                  <a:extLst>
                    <a:ext uri="{FF2B5EF4-FFF2-40B4-BE49-F238E27FC236}">
                      <a16:creationId xmlns:a16="http://schemas.microsoft.com/office/drawing/2014/main" id="{2BE0EC9F-8A6E-4191-9254-0B3D90D4B921}"/>
                    </a:ext>
                  </a:extLst>
                </p:cNvPr>
                <p:cNvSpPr/>
                <p:nvPr/>
              </p:nvSpPr>
              <p:spPr>
                <a:xfrm>
                  <a:off x="8720469" y="1989000"/>
                  <a:ext cx="360000" cy="360000"/>
                </a:xfrm>
                <a:prstGeom prst="rect">
                  <a:avLst/>
                </a:prstGeom>
                <a:solidFill>
                  <a:schemeClr val="accent5">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54" name="矩形 53">
                  <a:extLst>
                    <a:ext uri="{FF2B5EF4-FFF2-40B4-BE49-F238E27FC236}">
                      <a16:creationId xmlns:a16="http://schemas.microsoft.com/office/drawing/2014/main" id="{25AA63E9-E588-472A-A158-0C3D5DE2C98F}"/>
                    </a:ext>
                  </a:extLst>
                </p:cNvPr>
                <p:cNvSpPr/>
                <p:nvPr/>
              </p:nvSpPr>
              <p:spPr>
                <a:xfrm>
                  <a:off x="8720469" y="2349000"/>
                  <a:ext cx="360000" cy="360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55" name="矩形 54">
                  <a:extLst>
                    <a:ext uri="{FF2B5EF4-FFF2-40B4-BE49-F238E27FC236}">
                      <a16:creationId xmlns:a16="http://schemas.microsoft.com/office/drawing/2014/main" id="{9CCDEDFE-F64C-45B0-B4A3-8CBCEC6078FA}"/>
                    </a:ext>
                  </a:extLst>
                </p:cNvPr>
                <p:cNvSpPr/>
                <p:nvPr/>
              </p:nvSpPr>
              <p:spPr>
                <a:xfrm>
                  <a:off x="8720469" y="2709000"/>
                  <a:ext cx="360000" cy="360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56" name="矩形 55">
                  <a:extLst>
                    <a:ext uri="{FF2B5EF4-FFF2-40B4-BE49-F238E27FC236}">
                      <a16:creationId xmlns:a16="http://schemas.microsoft.com/office/drawing/2014/main" id="{4397BAF1-5AD6-445D-8B73-1B6433BB8A8B}"/>
                    </a:ext>
                  </a:extLst>
                </p:cNvPr>
                <p:cNvSpPr/>
                <p:nvPr/>
              </p:nvSpPr>
              <p:spPr>
                <a:xfrm>
                  <a:off x="8720469" y="3069000"/>
                  <a:ext cx="360000" cy="360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grpSp>
          <p:grpSp>
            <p:nvGrpSpPr>
              <p:cNvPr id="46" name="群組 45">
                <a:extLst>
                  <a:ext uri="{FF2B5EF4-FFF2-40B4-BE49-F238E27FC236}">
                    <a16:creationId xmlns:a16="http://schemas.microsoft.com/office/drawing/2014/main" id="{64DA183B-5387-4502-A191-34AAC3914319}"/>
                  </a:ext>
                </a:extLst>
              </p:cNvPr>
              <p:cNvGrpSpPr/>
              <p:nvPr/>
            </p:nvGrpSpPr>
            <p:grpSpPr>
              <a:xfrm>
                <a:off x="9080469" y="1629000"/>
                <a:ext cx="360000" cy="1800000"/>
                <a:chOff x="8720469" y="1629000"/>
                <a:chExt cx="360000" cy="1800000"/>
              </a:xfrm>
            </p:grpSpPr>
            <p:sp>
              <p:nvSpPr>
                <p:cNvPr id="47" name="矩形 46">
                  <a:extLst>
                    <a:ext uri="{FF2B5EF4-FFF2-40B4-BE49-F238E27FC236}">
                      <a16:creationId xmlns:a16="http://schemas.microsoft.com/office/drawing/2014/main" id="{5C8EE6B1-F3C3-42BB-BEC4-9ECDA90056F6}"/>
                    </a:ext>
                  </a:extLst>
                </p:cNvPr>
                <p:cNvSpPr/>
                <p:nvPr/>
              </p:nvSpPr>
              <p:spPr>
                <a:xfrm>
                  <a:off x="8720469" y="1629000"/>
                  <a:ext cx="360000" cy="360000"/>
                </a:xfrm>
                <a:prstGeom prst="rect">
                  <a:avLst/>
                </a:prstGeom>
                <a:solidFill>
                  <a:schemeClr val="accent5">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48" name="矩形 47">
                  <a:extLst>
                    <a:ext uri="{FF2B5EF4-FFF2-40B4-BE49-F238E27FC236}">
                      <a16:creationId xmlns:a16="http://schemas.microsoft.com/office/drawing/2014/main" id="{FDEEF492-271C-4904-9677-1603C6ADAD39}"/>
                    </a:ext>
                  </a:extLst>
                </p:cNvPr>
                <p:cNvSpPr/>
                <p:nvPr/>
              </p:nvSpPr>
              <p:spPr>
                <a:xfrm>
                  <a:off x="8720469" y="1989000"/>
                  <a:ext cx="360000" cy="360000"/>
                </a:xfrm>
                <a:prstGeom prst="rect">
                  <a:avLst/>
                </a:prstGeom>
                <a:solidFill>
                  <a:schemeClr val="accent5">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9" name="矩形 48">
                  <a:extLst>
                    <a:ext uri="{FF2B5EF4-FFF2-40B4-BE49-F238E27FC236}">
                      <a16:creationId xmlns:a16="http://schemas.microsoft.com/office/drawing/2014/main" id="{710216B3-5780-4CBF-9A2B-1D754129B7FB}"/>
                    </a:ext>
                  </a:extLst>
                </p:cNvPr>
                <p:cNvSpPr/>
                <p:nvPr/>
              </p:nvSpPr>
              <p:spPr>
                <a:xfrm>
                  <a:off x="8720469" y="2349000"/>
                  <a:ext cx="360000" cy="360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50" name="矩形 49">
                  <a:extLst>
                    <a:ext uri="{FF2B5EF4-FFF2-40B4-BE49-F238E27FC236}">
                      <a16:creationId xmlns:a16="http://schemas.microsoft.com/office/drawing/2014/main" id="{5621EA0F-DEB7-4F9D-94FB-CA3BE80897C4}"/>
                    </a:ext>
                  </a:extLst>
                </p:cNvPr>
                <p:cNvSpPr/>
                <p:nvPr/>
              </p:nvSpPr>
              <p:spPr>
                <a:xfrm>
                  <a:off x="8720469" y="2709000"/>
                  <a:ext cx="360000" cy="360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51" name="矩形 50">
                  <a:extLst>
                    <a:ext uri="{FF2B5EF4-FFF2-40B4-BE49-F238E27FC236}">
                      <a16:creationId xmlns:a16="http://schemas.microsoft.com/office/drawing/2014/main" id="{1FB47B9F-B3E5-457E-87DF-65A422CDD1E8}"/>
                    </a:ext>
                  </a:extLst>
                </p:cNvPr>
                <p:cNvSpPr/>
                <p:nvPr/>
              </p:nvSpPr>
              <p:spPr>
                <a:xfrm>
                  <a:off x="8720469" y="3069000"/>
                  <a:ext cx="360000" cy="360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grpSp>
        </p:grpSp>
      </p:grpSp>
      <p:sp>
        <p:nvSpPr>
          <p:cNvPr id="58" name="文字方塊 57">
            <a:extLst>
              <a:ext uri="{FF2B5EF4-FFF2-40B4-BE49-F238E27FC236}">
                <a16:creationId xmlns:a16="http://schemas.microsoft.com/office/drawing/2014/main" id="{E235D6C5-1A8E-41F1-9BAA-8C438559180F}"/>
              </a:ext>
            </a:extLst>
          </p:cNvPr>
          <p:cNvSpPr txBox="1"/>
          <p:nvPr/>
        </p:nvSpPr>
        <p:spPr>
          <a:xfrm>
            <a:off x="4549991" y="1288830"/>
            <a:ext cx="2484976" cy="415498"/>
          </a:xfrm>
          <a:prstGeom prst="rect">
            <a:avLst/>
          </a:prstGeom>
          <a:noFill/>
        </p:spPr>
        <p:txBody>
          <a:bodyPr wrap="none" rtlCol="0">
            <a:spAutoFit/>
          </a:bodyPr>
          <a:lstStyle/>
          <a:p>
            <a:r>
              <a:rPr lang="en-US" altLang="zh-TW" sz="2100" dirty="0">
                <a:latin typeface="Adobe 黑体 Std R" panose="020B0400000000000000" pitchFamily="34" charset="-128"/>
                <a:ea typeface="Adobe 黑体 Std R" panose="020B0400000000000000" pitchFamily="34" charset="-128"/>
              </a:rPr>
              <a:t>Pico X2 </a:t>
            </a:r>
            <a:r>
              <a:rPr lang="zh-TW" altLang="en-US" sz="2100" dirty="0">
                <a:latin typeface="Adobe 黑体 Std R" panose="020B0400000000000000" pitchFamily="34" charset="-128"/>
                <a:ea typeface="Adobe 黑体 Std R" panose="020B0400000000000000" pitchFamily="34" charset="-128"/>
              </a:rPr>
              <a:t>開放式腳位</a:t>
            </a:r>
          </a:p>
        </p:txBody>
      </p:sp>
      <p:sp>
        <p:nvSpPr>
          <p:cNvPr id="59" name="文字方塊 58">
            <a:extLst>
              <a:ext uri="{FF2B5EF4-FFF2-40B4-BE49-F238E27FC236}">
                <a16:creationId xmlns:a16="http://schemas.microsoft.com/office/drawing/2014/main" id="{BE9B5A69-9AFF-444A-A12A-428E3E7332A2}"/>
              </a:ext>
            </a:extLst>
          </p:cNvPr>
          <p:cNvSpPr txBox="1"/>
          <p:nvPr/>
        </p:nvSpPr>
        <p:spPr>
          <a:xfrm>
            <a:off x="5571563" y="2213671"/>
            <a:ext cx="540533" cy="300082"/>
          </a:xfrm>
          <a:prstGeom prst="rect">
            <a:avLst/>
          </a:prstGeom>
          <a:noFill/>
        </p:spPr>
        <p:txBody>
          <a:bodyPr wrap="none" rtlCol="0">
            <a:spAutoFit/>
          </a:bodyPr>
          <a:lstStyle/>
          <a:p>
            <a:r>
              <a:rPr lang="en-US" altLang="zh-TW" sz="1350" dirty="0"/>
              <a:t>3.3V</a:t>
            </a:r>
            <a:endParaRPr lang="zh-TW" altLang="en-US" sz="1350" dirty="0"/>
          </a:p>
        </p:txBody>
      </p:sp>
      <p:sp>
        <p:nvSpPr>
          <p:cNvPr id="60" name="文字方塊 59">
            <a:extLst>
              <a:ext uri="{FF2B5EF4-FFF2-40B4-BE49-F238E27FC236}">
                <a16:creationId xmlns:a16="http://schemas.microsoft.com/office/drawing/2014/main" id="{970A66A6-ABE7-407E-88F6-73A8F06AF151}"/>
              </a:ext>
            </a:extLst>
          </p:cNvPr>
          <p:cNvSpPr txBox="1"/>
          <p:nvPr/>
        </p:nvSpPr>
        <p:spPr>
          <a:xfrm>
            <a:off x="5571563" y="2459180"/>
            <a:ext cx="540533" cy="300082"/>
          </a:xfrm>
          <a:prstGeom prst="rect">
            <a:avLst/>
          </a:prstGeom>
          <a:noFill/>
        </p:spPr>
        <p:txBody>
          <a:bodyPr wrap="none" rtlCol="0">
            <a:spAutoFit/>
          </a:bodyPr>
          <a:lstStyle/>
          <a:p>
            <a:r>
              <a:rPr lang="en-US" altLang="zh-TW" sz="1350" dirty="0"/>
              <a:t>3.3V</a:t>
            </a:r>
            <a:endParaRPr lang="zh-TW" altLang="en-US" sz="1350" dirty="0"/>
          </a:p>
        </p:txBody>
      </p:sp>
      <p:sp>
        <p:nvSpPr>
          <p:cNvPr id="61" name="文字方塊 60">
            <a:extLst>
              <a:ext uri="{FF2B5EF4-FFF2-40B4-BE49-F238E27FC236}">
                <a16:creationId xmlns:a16="http://schemas.microsoft.com/office/drawing/2014/main" id="{F304B366-D569-4DDD-9AAD-4281969276BD}"/>
              </a:ext>
            </a:extLst>
          </p:cNvPr>
          <p:cNvSpPr txBox="1"/>
          <p:nvPr/>
        </p:nvSpPr>
        <p:spPr>
          <a:xfrm>
            <a:off x="5419598" y="2750789"/>
            <a:ext cx="646331" cy="300082"/>
          </a:xfrm>
          <a:prstGeom prst="rect">
            <a:avLst/>
          </a:prstGeom>
          <a:noFill/>
        </p:spPr>
        <p:txBody>
          <a:bodyPr wrap="none" rtlCol="0">
            <a:spAutoFit/>
          </a:bodyPr>
          <a:lstStyle/>
          <a:p>
            <a:pPr algn="r"/>
            <a:r>
              <a:rPr lang="en-US" altLang="zh-TW" sz="1350" dirty="0"/>
              <a:t>ADC0</a:t>
            </a:r>
            <a:endParaRPr lang="zh-TW" altLang="en-US" sz="1350" dirty="0"/>
          </a:p>
        </p:txBody>
      </p:sp>
      <p:sp>
        <p:nvSpPr>
          <p:cNvPr id="62" name="文字方塊 61">
            <a:extLst>
              <a:ext uri="{FF2B5EF4-FFF2-40B4-BE49-F238E27FC236}">
                <a16:creationId xmlns:a16="http://schemas.microsoft.com/office/drawing/2014/main" id="{810382AD-D600-4858-B5E6-419243B42BD4}"/>
              </a:ext>
            </a:extLst>
          </p:cNvPr>
          <p:cNvSpPr txBox="1"/>
          <p:nvPr/>
        </p:nvSpPr>
        <p:spPr>
          <a:xfrm>
            <a:off x="5419597" y="2996299"/>
            <a:ext cx="646331" cy="300082"/>
          </a:xfrm>
          <a:prstGeom prst="rect">
            <a:avLst/>
          </a:prstGeom>
          <a:noFill/>
        </p:spPr>
        <p:txBody>
          <a:bodyPr wrap="none" rtlCol="0">
            <a:spAutoFit/>
          </a:bodyPr>
          <a:lstStyle/>
          <a:p>
            <a:pPr algn="r"/>
            <a:r>
              <a:rPr lang="en-US" altLang="zh-TW" sz="1350" dirty="0"/>
              <a:t>ADC1</a:t>
            </a:r>
            <a:endParaRPr lang="zh-TW" altLang="en-US" sz="1350" dirty="0"/>
          </a:p>
        </p:txBody>
      </p:sp>
      <p:sp>
        <p:nvSpPr>
          <p:cNvPr id="63" name="文字方塊 62">
            <a:extLst>
              <a:ext uri="{FF2B5EF4-FFF2-40B4-BE49-F238E27FC236}">
                <a16:creationId xmlns:a16="http://schemas.microsoft.com/office/drawing/2014/main" id="{229A60EC-E499-4975-8C23-93C6188A066C}"/>
              </a:ext>
            </a:extLst>
          </p:cNvPr>
          <p:cNvSpPr txBox="1"/>
          <p:nvPr/>
        </p:nvSpPr>
        <p:spPr>
          <a:xfrm>
            <a:off x="5419596" y="3287908"/>
            <a:ext cx="646331" cy="300082"/>
          </a:xfrm>
          <a:prstGeom prst="rect">
            <a:avLst/>
          </a:prstGeom>
          <a:noFill/>
        </p:spPr>
        <p:txBody>
          <a:bodyPr wrap="none" rtlCol="0">
            <a:spAutoFit/>
          </a:bodyPr>
          <a:lstStyle/>
          <a:p>
            <a:pPr algn="r"/>
            <a:r>
              <a:rPr lang="en-US" altLang="zh-TW" sz="1350" dirty="0"/>
              <a:t>ADC2</a:t>
            </a:r>
            <a:endParaRPr lang="zh-TW" altLang="en-US" sz="1350" dirty="0"/>
          </a:p>
        </p:txBody>
      </p:sp>
      <p:sp>
        <p:nvSpPr>
          <p:cNvPr id="64" name="文字方塊 63">
            <a:extLst>
              <a:ext uri="{FF2B5EF4-FFF2-40B4-BE49-F238E27FC236}">
                <a16:creationId xmlns:a16="http://schemas.microsoft.com/office/drawing/2014/main" id="{F59BC742-9018-4B0A-B595-8784926C0544}"/>
              </a:ext>
            </a:extLst>
          </p:cNvPr>
          <p:cNvSpPr txBox="1"/>
          <p:nvPr/>
        </p:nvSpPr>
        <p:spPr>
          <a:xfrm>
            <a:off x="5496539" y="3544232"/>
            <a:ext cx="569388" cy="300082"/>
          </a:xfrm>
          <a:prstGeom prst="rect">
            <a:avLst/>
          </a:prstGeom>
          <a:noFill/>
        </p:spPr>
        <p:txBody>
          <a:bodyPr wrap="none" rtlCol="0">
            <a:spAutoFit/>
          </a:bodyPr>
          <a:lstStyle/>
          <a:p>
            <a:pPr algn="r"/>
            <a:r>
              <a:rPr lang="en-US" altLang="zh-TW" sz="1350" dirty="0"/>
              <a:t>GND</a:t>
            </a:r>
            <a:endParaRPr lang="zh-TW" altLang="en-US" sz="1350" dirty="0"/>
          </a:p>
        </p:txBody>
      </p:sp>
      <p:sp>
        <p:nvSpPr>
          <p:cNvPr id="65" name="文字方塊 64">
            <a:extLst>
              <a:ext uri="{FF2B5EF4-FFF2-40B4-BE49-F238E27FC236}">
                <a16:creationId xmlns:a16="http://schemas.microsoft.com/office/drawing/2014/main" id="{CE161740-E80E-44D5-A90C-24FF2D17BB9F}"/>
              </a:ext>
            </a:extLst>
          </p:cNvPr>
          <p:cNvSpPr txBox="1"/>
          <p:nvPr/>
        </p:nvSpPr>
        <p:spPr>
          <a:xfrm>
            <a:off x="5669665" y="3806453"/>
            <a:ext cx="396262" cy="300082"/>
          </a:xfrm>
          <a:prstGeom prst="rect">
            <a:avLst/>
          </a:prstGeom>
          <a:noFill/>
        </p:spPr>
        <p:txBody>
          <a:bodyPr wrap="none" rtlCol="0">
            <a:spAutoFit/>
          </a:bodyPr>
          <a:lstStyle/>
          <a:p>
            <a:pPr algn="r"/>
            <a:r>
              <a:rPr lang="en-US" altLang="zh-TW" sz="1350" dirty="0"/>
              <a:t>5V</a:t>
            </a:r>
            <a:endParaRPr lang="zh-TW" altLang="en-US" sz="1350" dirty="0"/>
          </a:p>
        </p:txBody>
      </p:sp>
      <p:sp>
        <p:nvSpPr>
          <p:cNvPr id="66" name="文字方塊 65">
            <a:extLst>
              <a:ext uri="{FF2B5EF4-FFF2-40B4-BE49-F238E27FC236}">
                <a16:creationId xmlns:a16="http://schemas.microsoft.com/office/drawing/2014/main" id="{8AE185D1-71C9-4A35-A52B-5D056C5C48AA}"/>
              </a:ext>
            </a:extLst>
          </p:cNvPr>
          <p:cNvSpPr txBox="1"/>
          <p:nvPr/>
        </p:nvSpPr>
        <p:spPr>
          <a:xfrm>
            <a:off x="5535010" y="4091224"/>
            <a:ext cx="569388" cy="300082"/>
          </a:xfrm>
          <a:prstGeom prst="rect">
            <a:avLst/>
          </a:prstGeom>
          <a:noFill/>
        </p:spPr>
        <p:txBody>
          <a:bodyPr wrap="none" rtlCol="0">
            <a:spAutoFit/>
          </a:bodyPr>
          <a:lstStyle/>
          <a:p>
            <a:pPr algn="r"/>
            <a:r>
              <a:rPr lang="en-US" altLang="zh-TW" sz="1350" dirty="0"/>
              <a:t>GND</a:t>
            </a:r>
            <a:endParaRPr lang="zh-TW" altLang="en-US" sz="1350" dirty="0"/>
          </a:p>
        </p:txBody>
      </p:sp>
      <p:sp>
        <p:nvSpPr>
          <p:cNvPr id="67" name="文字方塊 66">
            <a:extLst>
              <a:ext uri="{FF2B5EF4-FFF2-40B4-BE49-F238E27FC236}">
                <a16:creationId xmlns:a16="http://schemas.microsoft.com/office/drawing/2014/main" id="{0BF7EBD0-1A30-4D98-B4F0-F84A34FFCBDC}"/>
              </a:ext>
            </a:extLst>
          </p:cNvPr>
          <p:cNvSpPr txBox="1"/>
          <p:nvPr/>
        </p:nvSpPr>
        <p:spPr>
          <a:xfrm>
            <a:off x="5669665" y="4353444"/>
            <a:ext cx="396262" cy="300082"/>
          </a:xfrm>
          <a:prstGeom prst="rect">
            <a:avLst/>
          </a:prstGeom>
          <a:noFill/>
        </p:spPr>
        <p:txBody>
          <a:bodyPr wrap="none" rtlCol="0">
            <a:spAutoFit/>
          </a:bodyPr>
          <a:lstStyle/>
          <a:p>
            <a:pPr algn="r"/>
            <a:r>
              <a:rPr lang="en-US" altLang="zh-TW" sz="1350" dirty="0"/>
              <a:t>5V</a:t>
            </a:r>
            <a:endParaRPr lang="zh-TW" altLang="en-US" sz="1350" dirty="0"/>
          </a:p>
        </p:txBody>
      </p:sp>
      <p:sp>
        <p:nvSpPr>
          <p:cNvPr id="68" name="文字方塊 67">
            <a:extLst>
              <a:ext uri="{FF2B5EF4-FFF2-40B4-BE49-F238E27FC236}">
                <a16:creationId xmlns:a16="http://schemas.microsoft.com/office/drawing/2014/main" id="{E2ED31A5-78A7-423F-9ADF-108D13447C32}"/>
              </a:ext>
            </a:extLst>
          </p:cNvPr>
          <p:cNvSpPr txBox="1"/>
          <p:nvPr/>
        </p:nvSpPr>
        <p:spPr>
          <a:xfrm>
            <a:off x="5640810" y="4637927"/>
            <a:ext cx="425117" cy="300082"/>
          </a:xfrm>
          <a:prstGeom prst="rect">
            <a:avLst/>
          </a:prstGeom>
          <a:noFill/>
        </p:spPr>
        <p:txBody>
          <a:bodyPr wrap="none" rtlCol="0">
            <a:spAutoFit/>
          </a:bodyPr>
          <a:lstStyle/>
          <a:p>
            <a:pPr algn="r"/>
            <a:r>
              <a:rPr lang="en-US" altLang="zh-TW" sz="1350" dirty="0"/>
              <a:t>CS</a:t>
            </a:r>
            <a:endParaRPr lang="zh-TW" altLang="en-US" sz="1350" dirty="0"/>
          </a:p>
        </p:txBody>
      </p:sp>
      <p:sp>
        <p:nvSpPr>
          <p:cNvPr id="69" name="文字方塊 68">
            <a:extLst>
              <a:ext uri="{FF2B5EF4-FFF2-40B4-BE49-F238E27FC236}">
                <a16:creationId xmlns:a16="http://schemas.microsoft.com/office/drawing/2014/main" id="{32E2047C-96C5-4AF9-ACF7-3DF041243E98}"/>
              </a:ext>
            </a:extLst>
          </p:cNvPr>
          <p:cNvSpPr txBox="1"/>
          <p:nvPr/>
        </p:nvSpPr>
        <p:spPr>
          <a:xfrm>
            <a:off x="6653133" y="2736179"/>
            <a:ext cx="530915" cy="300082"/>
          </a:xfrm>
          <a:prstGeom prst="rect">
            <a:avLst/>
          </a:prstGeom>
          <a:noFill/>
        </p:spPr>
        <p:txBody>
          <a:bodyPr wrap="none" rtlCol="0">
            <a:spAutoFit/>
          </a:bodyPr>
          <a:lstStyle/>
          <a:p>
            <a:r>
              <a:rPr lang="en-US" altLang="zh-TW" sz="1350" dirty="0"/>
              <a:t>GP2</a:t>
            </a:r>
            <a:endParaRPr lang="zh-TW" altLang="en-US" sz="1350" dirty="0"/>
          </a:p>
        </p:txBody>
      </p:sp>
      <p:sp>
        <p:nvSpPr>
          <p:cNvPr id="70" name="文字方塊 69">
            <a:extLst>
              <a:ext uri="{FF2B5EF4-FFF2-40B4-BE49-F238E27FC236}">
                <a16:creationId xmlns:a16="http://schemas.microsoft.com/office/drawing/2014/main" id="{DE057F00-88C3-4D5D-B39D-D31C5A29F06F}"/>
              </a:ext>
            </a:extLst>
          </p:cNvPr>
          <p:cNvSpPr txBox="1"/>
          <p:nvPr/>
        </p:nvSpPr>
        <p:spPr>
          <a:xfrm>
            <a:off x="6653133" y="2473790"/>
            <a:ext cx="569387" cy="300082"/>
          </a:xfrm>
          <a:prstGeom prst="rect">
            <a:avLst/>
          </a:prstGeom>
          <a:noFill/>
        </p:spPr>
        <p:txBody>
          <a:bodyPr wrap="none" rtlCol="0">
            <a:spAutoFit/>
          </a:bodyPr>
          <a:lstStyle/>
          <a:p>
            <a:r>
              <a:rPr lang="en-US" altLang="zh-TW" sz="1350" dirty="0"/>
              <a:t>GND</a:t>
            </a:r>
            <a:endParaRPr lang="zh-TW" altLang="en-US" sz="1350" dirty="0"/>
          </a:p>
        </p:txBody>
      </p:sp>
      <p:sp>
        <p:nvSpPr>
          <p:cNvPr id="71" name="文字方塊 70">
            <a:extLst>
              <a:ext uri="{FF2B5EF4-FFF2-40B4-BE49-F238E27FC236}">
                <a16:creationId xmlns:a16="http://schemas.microsoft.com/office/drawing/2014/main" id="{90FB0E50-7A14-45BF-A3B4-4B8329F9934F}"/>
              </a:ext>
            </a:extLst>
          </p:cNvPr>
          <p:cNvSpPr txBox="1"/>
          <p:nvPr/>
        </p:nvSpPr>
        <p:spPr>
          <a:xfrm>
            <a:off x="6653134" y="2210630"/>
            <a:ext cx="569387" cy="300082"/>
          </a:xfrm>
          <a:prstGeom prst="rect">
            <a:avLst/>
          </a:prstGeom>
          <a:noFill/>
        </p:spPr>
        <p:txBody>
          <a:bodyPr wrap="none" rtlCol="0">
            <a:spAutoFit/>
          </a:bodyPr>
          <a:lstStyle/>
          <a:p>
            <a:r>
              <a:rPr lang="en-US" altLang="zh-TW" sz="1350" dirty="0"/>
              <a:t>GND</a:t>
            </a:r>
            <a:endParaRPr lang="zh-TW" altLang="en-US" sz="1350" dirty="0"/>
          </a:p>
        </p:txBody>
      </p:sp>
      <p:sp>
        <p:nvSpPr>
          <p:cNvPr id="72" name="文字方塊 71">
            <a:extLst>
              <a:ext uri="{FF2B5EF4-FFF2-40B4-BE49-F238E27FC236}">
                <a16:creationId xmlns:a16="http://schemas.microsoft.com/office/drawing/2014/main" id="{736A40B4-3360-4398-8D1D-1BFBD0871612}"/>
              </a:ext>
            </a:extLst>
          </p:cNvPr>
          <p:cNvSpPr txBox="1"/>
          <p:nvPr/>
        </p:nvSpPr>
        <p:spPr>
          <a:xfrm>
            <a:off x="6651567" y="2988542"/>
            <a:ext cx="530915" cy="300082"/>
          </a:xfrm>
          <a:prstGeom prst="rect">
            <a:avLst/>
          </a:prstGeom>
          <a:noFill/>
        </p:spPr>
        <p:txBody>
          <a:bodyPr wrap="none" rtlCol="0">
            <a:spAutoFit/>
          </a:bodyPr>
          <a:lstStyle/>
          <a:p>
            <a:r>
              <a:rPr lang="en-US" altLang="zh-TW" sz="1350" dirty="0"/>
              <a:t>GP3</a:t>
            </a:r>
            <a:endParaRPr lang="zh-TW" altLang="en-US" sz="1350" dirty="0"/>
          </a:p>
        </p:txBody>
      </p:sp>
      <p:sp>
        <p:nvSpPr>
          <p:cNvPr id="73" name="文字方塊 72">
            <a:extLst>
              <a:ext uri="{FF2B5EF4-FFF2-40B4-BE49-F238E27FC236}">
                <a16:creationId xmlns:a16="http://schemas.microsoft.com/office/drawing/2014/main" id="{EA8D53BC-E513-4654-9E1B-0D1D62514233}"/>
              </a:ext>
            </a:extLst>
          </p:cNvPr>
          <p:cNvSpPr txBox="1"/>
          <p:nvPr/>
        </p:nvSpPr>
        <p:spPr>
          <a:xfrm>
            <a:off x="6650000" y="3266453"/>
            <a:ext cx="530915" cy="300082"/>
          </a:xfrm>
          <a:prstGeom prst="rect">
            <a:avLst/>
          </a:prstGeom>
          <a:noFill/>
        </p:spPr>
        <p:txBody>
          <a:bodyPr wrap="none" rtlCol="0">
            <a:spAutoFit/>
          </a:bodyPr>
          <a:lstStyle/>
          <a:p>
            <a:r>
              <a:rPr lang="en-US" altLang="zh-TW" sz="1350" dirty="0"/>
              <a:t>GP4</a:t>
            </a:r>
            <a:endParaRPr lang="zh-TW" altLang="en-US" sz="1350" dirty="0"/>
          </a:p>
        </p:txBody>
      </p:sp>
      <p:sp>
        <p:nvSpPr>
          <p:cNvPr id="74" name="文字方塊 73">
            <a:extLst>
              <a:ext uri="{FF2B5EF4-FFF2-40B4-BE49-F238E27FC236}">
                <a16:creationId xmlns:a16="http://schemas.microsoft.com/office/drawing/2014/main" id="{2EA94416-2968-4E72-99FF-E9EB7AEEE34B}"/>
              </a:ext>
            </a:extLst>
          </p:cNvPr>
          <p:cNvSpPr txBox="1"/>
          <p:nvPr/>
        </p:nvSpPr>
        <p:spPr>
          <a:xfrm>
            <a:off x="6656372" y="3546272"/>
            <a:ext cx="540533" cy="300082"/>
          </a:xfrm>
          <a:prstGeom prst="rect">
            <a:avLst/>
          </a:prstGeom>
          <a:noFill/>
        </p:spPr>
        <p:txBody>
          <a:bodyPr wrap="none" rtlCol="0">
            <a:spAutoFit/>
          </a:bodyPr>
          <a:lstStyle/>
          <a:p>
            <a:r>
              <a:rPr lang="en-US" altLang="zh-TW" sz="1350" dirty="0"/>
              <a:t>SDA</a:t>
            </a:r>
            <a:endParaRPr lang="zh-TW" altLang="en-US" sz="1350" dirty="0"/>
          </a:p>
        </p:txBody>
      </p:sp>
      <p:sp>
        <p:nvSpPr>
          <p:cNvPr id="75" name="文字方塊 74">
            <a:extLst>
              <a:ext uri="{FF2B5EF4-FFF2-40B4-BE49-F238E27FC236}">
                <a16:creationId xmlns:a16="http://schemas.microsoft.com/office/drawing/2014/main" id="{5988EF14-9C53-46AD-A8E8-A7253D8E28EC}"/>
              </a:ext>
            </a:extLst>
          </p:cNvPr>
          <p:cNvSpPr txBox="1"/>
          <p:nvPr/>
        </p:nvSpPr>
        <p:spPr>
          <a:xfrm>
            <a:off x="6661181" y="3826092"/>
            <a:ext cx="521297" cy="300082"/>
          </a:xfrm>
          <a:prstGeom prst="rect">
            <a:avLst/>
          </a:prstGeom>
          <a:noFill/>
        </p:spPr>
        <p:txBody>
          <a:bodyPr wrap="none" rtlCol="0">
            <a:spAutoFit/>
          </a:bodyPr>
          <a:lstStyle/>
          <a:p>
            <a:r>
              <a:rPr lang="en-US" altLang="zh-TW" sz="1350" dirty="0"/>
              <a:t>SCL</a:t>
            </a:r>
            <a:endParaRPr lang="zh-TW" altLang="en-US" sz="1350" dirty="0"/>
          </a:p>
        </p:txBody>
      </p:sp>
      <p:sp>
        <p:nvSpPr>
          <p:cNvPr id="76" name="文字方塊 75">
            <a:extLst>
              <a:ext uri="{FF2B5EF4-FFF2-40B4-BE49-F238E27FC236}">
                <a16:creationId xmlns:a16="http://schemas.microsoft.com/office/drawing/2014/main" id="{6F97036C-968F-4C7A-B962-81BDD22CA508}"/>
              </a:ext>
            </a:extLst>
          </p:cNvPr>
          <p:cNvSpPr txBox="1"/>
          <p:nvPr/>
        </p:nvSpPr>
        <p:spPr>
          <a:xfrm>
            <a:off x="6661182" y="4061936"/>
            <a:ext cx="627095" cy="300082"/>
          </a:xfrm>
          <a:prstGeom prst="rect">
            <a:avLst/>
          </a:prstGeom>
          <a:noFill/>
        </p:spPr>
        <p:txBody>
          <a:bodyPr wrap="none" rtlCol="0">
            <a:spAutoFit/>
          </a:bodyPr>
          <a:lstStyle/>
          <a:p>
            <a:r>
              <a:rPr lang="en-US" altLang="zh-TW" sz="1350" dirty="0"/>
              <a:t>MOSI</a:t>
            </a:r>
            <a:endParaRPr lang="zh-TW" altLang="en-US" sz="1350" dirty="0"/>
          </a:p>
        </p:txBody>
      </p:sp>
      <p:sp>
        <p:nvSpPr>
          <p:cNvPr id="77" name="文字方塊 76">
            <a:extLst>
              <a:ext uri="{FF2B5EF4-FFF2-40B4-BE49-F238E27FC236}">
                <a16:creationId xmlns:a16="http://schemas.microsoft.com/office/drawing/2014/main" id="{B5AD8147-D8DE-42BF-8A2E-41C964D87679}"/>
              </a:ext>
            </a:extLst>
          </p:cNvPr>
          <p:cNvSpPr txBox="1"/>
          <p:nvPr/>
        </p:nvSpPr>
        <p:spPr>
          <a:xfrm>
            <a:off x="6661182" y="4344162"/>
            <a:ext cx="627095" cy="300082"/>
          </a:xfrm>
          <a:prstGeom prst="rect">
            <a:avLst/>
          </a:prstGeom>
          <a:noFill/>
        </p:spPr>
        <p:txBody>
          <a:bodyPr wrap="none" rtlCol="0">
            <a:spAutoFit/>
          </a:bodyPr>
          <a:lstStyle/>
          <a:p>
            <a:r>
              <a:rPr lang="en-US" altLang="zh-TW" sz="1350" dirty="0"/>
              <a:t>MISO</a:t>
            </a:r>
            <a:endParaRPr lang="zh-TW" altLang="en-US" sz="1350" dirty="0"/>
          </a:p>
        </p:txBody>
      </p:sp>
      <p:sp>
        <p:nvSpPr>
          <p:cNvPr id="78" name="文字方塊 77">
            <a:extLst>
              <a:ext uri="{FF2B5EF4-FFF2-40B4-BE49-F238E27FC236}">
                <a16:creationId xmlns:a16="http://schemas.microsoft.com/office/drawing/2014/main" id="{43876ABF-4E6D-4DE2-8424-4DC644BBC152}"/>
              </a:ext>
            </a:extLst>
          </p:cNvPr>
          <p:cNvSpPr txBox="1"/>
          <p:nvPr/>
        </p:nvSpPr>
        <p:spPr>
          <a:xfrm>
            <a:off x="6661181" y="4591968"/>
            <a:ext cx="521297" cy="300082"/>
          </a:xfrm>
          <a:prstGeom prst="rect">
            <a:avLst/>
          </a:prstGeom>
          <a:noFill/>
        </p:spPr>
        <p:txBody>
          <a:bodyPr wrap="none" rtlCol="0">
            <a:spAutoFit/>
          </a:bodyPr>
          <a:lstStyle/>
          <a:p>
            <a:r>
              <a:rPr lang="en-US" altLang="zh-TW" sz="1350" dirty="0"/>
              <a:t>CLK</a:t>
            </a:r>
            <a:endParaRPr lang="zh-TW" altLang="en-US" sz="1350" dirty="0"/>
          </a:p>
        </p:txBody>
      </p:sp>
      <p:sp>
        <p:nvSpPr>
          <p:cNvPr id="79" name="文字方塊 78">
            <a:extLst>
              <a:ext uri="{FF2B5EF4-FFF2-40B4-BE49-F238E27FC236}">
                <a16:creationId xmlns:a16="http://schemas.microsoft.com/office/drawing/2014/main" id="{D25599D2-E4C2-4B7B-A619-48AD99EF9216}"/>
              </a:ext>
            </a:extLst>
          </p:cNvPr>
          <p:cNvSpPr txBox="1"/>
          <p:nvPr/>
        </p:nvSpPr>
        <p:spPr>
          <a:xfrm>
            <a:off x="567195" y="2988128"/>
            <a:ext cx="4120358" cy="1077218"/>
          </a:xfrm>
          <a:prstGeom prst="rect">
            <a:avLst/>
          </a:prstGeom>
          <a:noFill/>
        </p:spPr>
        <p:txBody>
          <a:bodyPr wrap="square" rtlCol="0">
            <a:spAutoFit/>
          </a:bodyPr>
          <a:lstStyle/>
          <a:p>
            <a:r>
              <a:rPr lang="zh-TW" altLang="en-US" sz="1600" dirty="0">
                <a:solidFill>
                  <a:schemeClr val="tx1">
                    <a:lumMod val="65000"/>
                    <a:lumOff val="35000"/>
                  </a:schemeClr>
                </a:solidFill>
                <a:latin typeface="Adobe 繁黑體 Std B" panose="020B0700000000000000" pitchFamily="34" charset="-120"/>
                <a:ea typeface="Adobe 繁黑體 Std B" panose="020B0700000000000000" pitchFamily="34" charset="-120"/>
              </a:rPr>
              <a:t>智慧控制的訊號輸入輸出是關鍵，</a:t>
            </a:r>
            <a:endParaRPr lang="en-US" altLang="zh-TW" sz="1600" dirty="0">
              <a:solidFill>
                <a:schemeClr val="tx1">
                  <a:lumMod val="65000"/>
                  <a:lumOff val="35000"/>
                </a:schemeClr>
              </a:solidFill>
              <a:latin typeface="Adobe 繁黑體 Std B" panose="020B0700000000000000" pitchFamily="34" charset="-120"/>
              <a:ea typeface="Adobe 繁黑體 Std B" panose="020B0700000000000000" pitchFamily="34" charset="-120"/>
            </a:endParaRPr>
          </a:p>
          <a:p>
            <a:r>
              <a:rPr lang="zh-TW" altLang="en-US" sz="1600" dirty="0">
                <a:solidFill>
                  <a:schemeClr val="tx1">
                    <a:lumMod val="65000"/>
                    <a:lumOff val="35000"/>
                  </a:schemeClr>
                </a:solidFill>
                <a:latin typeface="Adobe 繁黑體 Std B" panose="020B0700000000000000" pitchFamily="34" charset="-120"/>
                <a:ea typeface="Adobe 繁黑體 Std B" panose="020B0700000000000000" pitchFamily="34" charset="-120"/>
              </a:rPr>
              <a:t>訊號類型可以分為：</a:t>
            </a:r>
            <a:endParaRPr lang="en-US" altLang="zh-TW" sz="1600" dirty="0">
              <a:solidFill>
                <a:schemeClr val="tx1">
                  <a:lumMod val="65000"/>
                  <a:lumOff val="35000"/>
                </a:schemeClr>
              </a:solidFill>
              <a:latin typeface="Adobe 繁黑體 Std B" panose="020B0700000000000000" pitchFamily="34" charset="-120"/>
              <a:ea typeface="Adobe 繁黑體 Std B" panose="020B0700000000000000" pitchFamily="34" charset="-120"/>
            </a:endParaRPr>
          </a:p>
          <a:p>
            <a:pPr marL="214313" indent="-214313">
              <a:buBlip>
                <a:blip r:embed="rId2"/>
              </a:buBlip>
            </a:pPr>
            <a:r>
              <a:rPr lang="zh-TW" altLang="en-US" sz="1600" dirty="0">
                <a:solidFill>
                  <a:schemeClr val="tx1">
                    <a:lumMod val="65000"/>
                    <a:lumOff val="35000"/>
                  </a:schemeClr>
                </a:solidFill>
                <a:latin typeface="Adobe 繁黑體 Std B" panose="020B0700000000000000" pitchFamily="34" charset="-120"/>
                <a:ea typeface="Adobe 繁黑體 Std B" panose="020B0700000000000000" pitchFamily="34" charset="-120"/>
              </a:rPr>
              <a:t>數位輸出、數位輸入</a:t>
            </a:r>
            <a:endParaRPr lang="en-US" altLang="zh-TW" sz="1600" dirty="0">
              <a:solidFill>
                <a:schemeClr val="tx1">
                  <a:lumMod val="65000"/>
                  <a:lumOff val="35000"/>
                </a:schemeClr>
              </a:solidFill>
              <a:latin typeface="Adobe 繁黑體 Std B" panose="020B0700000000000000" pitchFamily="34" charset="-120"/>
              <a:ea typeface="Adobe 繁黑體 Std B" panose="020B0700000000000000" pitchFamily="34" charset="-120"/>
            </a:endParaRPr>
          </a:p>
          <a:p>
            <a:pPr marL="214313" indent="-214313">
              <a:buBlip>
                <a:blip r:embed="rId2"/>
              </a:buBlip>
            </a:pPr>
            <a:r>
              <a:rPr lang="zh-TW" altLang="en-US" sz="1600" dirty="0">
                <a:solidFill>
                  <a:schemeClr val="tx1">
                    <a:lumMod val="65000"/>
                    <a:lumOff val="35000"/>
                  </a:schemeClr>
                </a:solidFill>
                <a:latin typeface="Adobe 繁黑體 Std B" panose="020B0700000000000000" pitchFamily="34" charset="-120"/>
                <a:ea typeface="Adobe 繁黑體 Std B" panose="020B0700000000000000" pitchFamily="34" charset="-120"/>
              </a:rPr>
              <a:t>類比輸入、類比輸出</a:t>
            </a:r>
          </a:p>
        </p:txBody>
      </p:sp>
      <p:sp>
        <p:nvSpPr>
          <p:cNvPr id="81" name="文字方塊 80">
            <a:extLst>
              <a:ext uri="{FF2B5EF4-FFF2-40B4-BE49-F238E27FC236}">
                <a16:creationId xmlns:a16="http://schemas.microsoft.com/office/drawing/2014/main" id="{968E4507-620A-4264-BD23-91AFC2834587}"/>
              </a:ext>
            </a:extLst>
          </p:cNvPr>
          <p:cNvSpPr txBox="1"/>
          <p:nvPr/>
        </p:nvSpPr>
        <p:spPr>
          <a:xfrm>
            <a:off x="4550216" y="3026579"/>
            <a:ext cx="877163" cy="300082"/>
          </a:xfrm>
          <a:prstGeom prst="rect">
            <a:avLst/>
          </a:prstGeom>
          <a:noFill/>
        </p:spPr>
        <p:txBody>
          <a:bodyPr wrap="none" rtlCol="0">
            <a:spAutoFit/>
          </a:bodyPr>
          <a:lstStyle/>
          <a:p>
            <a:r>
              <a:rPr lang="zh-TW" altLang="en-US" sz="1350" dirty="0">
                <a:latin typeface="Adobe 黑体 Std R" panose="020B0400000000000000" pitchFamily="34" charset="-128"/>
                <a:ea typeface="Adobe 黑体 Std R" panose="020B0400000000000000" pitchFamily="34" charset="-128"/>
              </a:rPr>
              <a:t>類比輸入</a:t>
            </a:r>
          </a:p>
        </p:txBody>
      </p:sp>
      <p:sp>
        <p:nvSpPr>
          <p:cNvPr id="82" name="右大括弧 81">
            <a:extLst>
              <a:ext uri="{FF2B5EF4-FFF2-40B4-BE49-F238E27FC236}">
                <a16:creationId xmlns:a16="http://schemas.microsoft.com/office/drawing/2014/main" id="{D8993129-C40F-46C7-B270-B72FBFF5EA06}"/>
              </a:ext>
            </a:extLst>
          </p:cNvPr>
          <p:cNvSpPr/>
          <p:nvPr/>
        </p:nvSpPr>
        <p:spPr>
          <a:xfrm>
            <a:off x="7150739" y="2840174"/>
            <a:ext cx="167624" cy="57907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350" dirty="0"/>
          </a:p>
        </p:txBody>
      </p:sp>
      <p:sp>
        <p:nvSpPr>
          <p:cNvPr id="83" name="左大括弧 82">
            <a:extLst>
              <a:ext uri="{FF2B5EF4-FFF2-40B4-BE49-F238E27FC236}">
                <a16:creationId xmlns:a16="http://schemas.microsoft.com/office/drawing/2014/main" id="{0E0727A0-92FE-4C6D-A07E-FA73B05FEF1E}"/>
              </a:ext>
            </a:extLst>
          </p:cNvPr>
          <p:cNvSpPr/>
          <p:nvPr/>
        </p:nvSpPr>
        <p:spPr>
          <a:xfrm>
            <a:off x="5341049" y="2859713"/>
            <a:ext cx="123148" cy="579079"/>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350"/>
          </a:p>
        </p:txBody>
      </p:sp>
      <p:sp>
        <p:nvSpPr>
          <p:cNvPr id="84" name="文字方塊 83">
            <a:extLst>
              <a:ext uri="{FF2B5EF4-FFF2-40B4-BE49-F238E27FC236}">
                <a16:creationId xmlns:a16="http://schemas.microsoft.com/office/drawing/2014/main" id="{2822B5F3-8FEF-4A80-A2B0-4E4289BDEC10}"/>
              </a:ext>
            </a:extLst>
          </p:cNvPr>
          <p:cNvSpPr txBox="1"/>
          <p:nvPr/>
        </p:nvSpPr>
        <p:spPr>
          <a:xfrm>
            <a:off x="7318363" y="2906878"/>
            <a:ext cx="1223412" cy="507831"/>
          </a:xfrm>
          <a:prstGeom prst="rect">
            <a:avLst/>
          </a:prstGeom>
          <a:noFill/>
        </p:spPr>
        <p:txBody>
          <a:bodyPr wrap="none" rtlCol="0">
            <a:spAutoFit/>
          </a:bodyPr>
          <a:lstStyle/>
          <a:p>
            <a:r>
              <a:rPr lang="zh-TW" altLang="en-US" sz="1350" dirty="0">
                <a:latin typeface="Adobe 黑体 Std R" panose="020B0400000000000000" pitchFamily="34" charset="-128"/>
                <a:ea typeface="Adobe 黑体 Std R" panose="020B0400000000000000" pitchFamily="34" charset="-128"/>
              </a:rPr>
              <a:t>數位輸入</a:t>
            </a:r>
            <a:endParaRPr lang="en-US" altLang="zh-TW" sz="1350" dirty="0">
              <a:latin typeface="Adobe 黑体 Std R" panose="020B0400000000000000" pitchFamily="34" charset="-128"/>
              <a:ea typeface="Adobe 黑体 Std R" panose="020B0400000000000000" pitchFamily="34" charset="-128"/>
            </a:endParaRPr>
          </a:p>
          <a:p>
            <a:r>
              <a:rPr lang="zh-TW" altLang="en-US" sz="1350" dirty="0">
                <a:latin typeface="Adobe 黑体 Std R" panose="020B0400000000000000" pitchFamily="34" charset="-128"/>
                <a:ea typeface="Adobe 黑体 Std R" panose="020B0400000000000000" pitchFamily="34" charset="-128"/>
              </a:rPr>
              <a:t>模擬類比輸出</a:t>
            </a:r>
          </a:p>
        </p:txBody>
      </p:sp>
      <p:sp>
        <p:nvSpPr>
          <p:cNvPr id="85" name="右大括弧 84">
            <a:extLst>
              <a:ext uri="{FF2B5EF4-FFF2-40B4-BE49-F238E27FC236}">
                <a16:creationId xmlns:a16="http://schemas.microsoft.com/office/drawing/2014/main" id="{C96BB808-1F35-4BB3-B55A-E0ADEB51023F}"/>
              </a:ext>
            </a:extLst>
          </p:cNvPr>
          <p:cNvSpPr/>
          <p:nvPr/>
        </p:nvSpPr>
        <p:spPr>
          <a:xfrm>
            <a:off x="7234551" y="3674952"/>
            <a:ext cx="167624" cy="27699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350"/>
          </a:p>
        </p:txBody>
      </p:sp>
      <p:sp>
        <p:nvSpPr>
          <p:cNvPr id="86" name="文字方塊 85">
            <a:extLst>
              <a:ext uri="{FF2B5EF4-FFF2-40B4-BE49-F238E27FC236}">
                <a16:creationId xmlns:a16="http://schemas.microsoft.com/office/drawing/2014/main" id="{7476F3D6-FBD5-44B2-9363-D63983D4DE7B}"/>
              </a:ext>
            </a:extLst>
          </p:cNvPr>
          <p:cNvSpPr txBox="1"/>
          <p:nvPr/>
        </p:nvSpPr>
        <p:spPr>
          <a:xfrm>
            <a:off x="7402174" y="3674952"/>
            <a:ext cx="453970" cy="300082"/>
          </a:xfrm>
          <a:prstGeom prst="rect">
            <a:avLst/>
          </a:prstGeom>
          <a:noFill/>
        </p:spPr>
        <p:txBody>
          <a:bodyPr wrap="none" rtlCol="0">
            <a:spAutoFit/>
          </a:bodyPr>
          <a:lstStyle/>
          <a:p>
            <a:r>
              <a:rPr lang="en-US" altLang="zh-TW" sz="1350" dirty="0"/>
              <a:t>I2C</a:t>
            </a:r>
            <a:endParaRPr lang="zh-TW" altLang="en-US" sz="1350" dirty="0"/>
          </a:p>
        </p:txBody>
      </p:sp>
      <p:sp>
        <p:nvSpPr>
          <p:cNvPr id="87" name="右大括弧 86">
            <a:extLst>
              <a:ext uri="{FF2B5EF4-FFF2-40B4-BE49-F238E27FC236}">
                <a16:creationId xmlns:a16="http://schemas.microsoft.com/office/drawing/2014/main" id="{292DC748-0E15-48FA-8080-D6E51F42D8DB}"/>
              </a:ext>
            </a:extLst>
          </p:cNvPr>
          <p:cNvSpPr/>
          <p:nvPr/>
        </p:nvSpPr>
        <p:spPr>
          <a:xfrm>
            <a:off x="7242110" y="4200435"/>
            <a:ext cx="167624" cy="563420"/>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350"/>
          </a:p>
        </p:txBody>
      </p:sp>
      <p:sp>
        <p:nvSpPr>
          <p:cNvPr id="88" name="文字方塊 87">
            <a:extLst>
              <a:ext uri="{FF2B5EF4-FFF2-40B4-BE49-F238E27FC236}">
                <a16:creationId xmlns:a16="http://schemas.microsoft.com/office/drawing/2014/main" id="{F0F6A078-5ED7-40EA-85E9-51DD6BEF4A74}"/>
              </a:ext>
            </a:extLst>
          </p:cNvPr>
          <p:cNvSpPr txBox="1"/>
          <p:nvPr/>
        </p:nvSpPr>
        <p:spPr>
          <a:xfrm>
            <a:off x="7438050" y="4313333"/>
            <a:ext cx="463588" cy="300082"/>
          </a:xfrm>
          <a:prstGeom prst="rect">
            <a:avLst/>
          </a:prstGeom>
          <a:noFill/>
        </p:spPr>
        <p:txBody>
          <a:bodyPr wrap="none" rtlCol="0">
            <a:spAutoFit/>
          </a:bodyPr>
          <a:lstStyle/>
          <a:p>
            <a:r>
              <a:rPr lang="en-US" altLang="zh-TW" sz="1350" dirty="0"/>
              <a:t>SPI</a:t>
            </a:r>
            <a:endParaRPr lang="zh-TW" altLang="en-US" sz="1350" dirty="0"/>
          </a:p>
        </p:txBody>
      </p:sp>
      <p:sp>
        <p:nvSpPr>
          <p:cNvPr id="80" name="CustomShape 1">
            <a:extLst>
              <a:ext uri="{FF2B5EF4-FFF2-40B4-BE49-F238E27FC236}">
                <a16:creationId xmlns:a16="http://schemas.microsoft.com/office/drawing/2014/main" id="{0F7A0DAC-3912-4D14-ABFF-243E90A42536}"/>
              </a:ext>
            </a:extLst>
          </p:cNvPr>
          <p:cNvSpPr/>
          <p:nvPr/>
        </p:nvSpPr>
        <p:spPr>
          <a:xfrm>
            <a:off x="542835"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輸入與輸出基本概念</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sp>
        <p:nvSpPr>
          <p:cNvPr id="3" name="文字方塊 2">
            <a:extLst>
              <a:ext uri="{FF2B5EF4-FFF2-40B4-BE49-F238E27FC236}">
                <a16:creationId xmlns:a16="http://schemas.microsoft.com/office/drawing/2014/main" id="{AD075EC4-B017-4BA5-B397-BA5327DF2F85}"/>
              </a:ext>
            </a:extLst>
          </p:cNvPr>
          <p:cNvSpPr txBox="1"/>
          <p:nvPr/>
        </p:nvSpPr>
        <p:spPr>
          <a:xfrm>
            <a:off x="602225" y="4597633"/>
            <a:ext cx="2355132" cy="830997"/>
          </a:xfrm>
          <a:prstGeom prst="rect">
            <a:avLst/>
          </a:prstGeom>
          <a:noFill/>
        </p:spPr>
        <p:txBody>
          <a:bodyPr wrap="none" rtlCol="0">
            <a:spAutoFit/>
          </a:bodyPr>
          <a:lstStyle/>
          <a:p>
            <a:r>
              <a:rPr lang="en-US" altLang="zh-TW" sz="1600" dirty="0">
                <a:latin typeface="Adobe 仿宋 Std R" panose="02020400000000000000" pitchFamily="18" charset="-128"/>
                <a:ea typeface="Adobe 仿宋 Std R" panose="02020400000000000000" pitchFamily="18" charset="-128"/>
              </a:rPr>
              <a:t>RPI - Pico </a:t>
            </a:r>
            <a:r>
              <a:rPr lang="zh-TW" altLang="en-US" sz="1600" dirty="0">
                <a:latin typeface="Adobe 仿宋 Std R" panose="02020400000000000000" pitchFamily="18" charset="-128"/>
                <a:ea typeface="Adobe 仿宋 Std R" panose="02020400000000000000" pitchFamily="18" charset="-128"/>
              </a:rPr>
              <a:t>板內鍵腳位：</a:t>
            </a:r>
            <a:endParaRPr lang="en-US" altLang="zh-TW" sz="1600" dirty="0">
              <a:latin typeface="Adobe 仿宋 Std R" panose="02020400000000000000" pitchFamily="18" charset="-128"/>
              <a:ea typeface="Adobe 仿宋 Std R" panose="02020400000000000000" pitchFamily="18" charset="-128"/>
            </a:endParaRPr>
          </a:p>
          <a:p>
            <a:pPr marL="214313" indent="-214313">
              <a:buBlip>
                <a:blip r:embed="rId3"/>
              </a:buBlip>
            </a:pPr>
            <a:r>
              <a:rPr lang="en-US" altLang="zh-TW" sz="1600" dirty="0">
                <a:latin typeface="Adobe 仿宋 Std R" panose="02020400000000000000" pitchFamily="18" charset="-128"/>
                <a:ea typeface="Adobe 仿宋 Std R" panose="02020400000000000000" pitchFamily="18" charset="-128"/>
              </a:rPr>
              <a:t>GPIO25: </a:t>
            </a:r>
            <a:r>
              <a:rPr lang="zh-TW" altLang="en-US" sz="1600" dirty="0">
                <a:latin typeface="Adobe 仿宋 Std R" panose="02020400000000000000" pitchFamily="18" charset="-128"/>
                <a:ea typeface="Adobe 仿宋 Std R" panose="02020400000000000000" pitchFamily="18" charset="-128"/>
              </a:rPr>
              <a:t>內建</a:t>
            </a:r>
            <a:r>
              <a:rPr lang="en-US" altLang="zh-TW" sz="1600" dirty="0">
                <a:latin typeface="Adobe 仿宋 Std R" panose="02020400000000000000" pitchFamily="18" charset="-128"/>
                <a:ea typeface="Adobe 仿宋 Std R" panose="02020400000000000000" pitchFamily="18" charset="-128"/>
              </a:rPr>
              <a:t>LED</a:t>
            </a:r>
          </a:p>
          <a:p>
            <a:pPr marL="214313" indent="-214313">
              <a:buBlip>
                <a:blip r:embed="rId3"/>
              </a:buBlip>
            </a:pPr>
            <a:r>
              <a:rPr lang="en-US" altLang="zh-TW" sz="1600" dirty="0">
                <a:latin typeface="Adobe 仿宋 Std R" panose="02020400000000000000" pitchFamily="18" charset="-128"/>
                <a:ea typeface="Adobe 仿宋 Std R" panose="02020400000000000000" pitchFamily="18" charset="-128"/>
              </a:rPr>
              <a:t>GPIO29: </a:t>
            </a:r>
            <a:r>
              <a:rPr lang="zh-TW" altLang="en-US" sz="1600" dirty="0">
                <a:latin typeface="Adobe 仿宋 Std R" panose="02020400000000000000" pitchFamily="18" charset="-128"/>
                <a:ea typeface="Adobe 仿宋 Std R" panose="02020400000000000000" pitchFamily="18" charset="-128"/>
              </a:rPr>
              <a:t>偵測電源</a:t>
            </a:r>
          </a:p>
        </p:txBody>
      </p:sp>
      <p:sp>
        <p:nvSpPr>
          <p:cNvPr id="6" name="矩形 5">
            <a:extLst>
              <a:ext uri="{FF2B5EF4-FFF2-40B4-BE49-F238E27FC236}">
                <a16:creationId xmlns:a16="http://schemas.microsoft.com/office/drawing/2014/main" id="{629DB137-E18E-4117-B302-71A658E5EB8D}"/>
              </a:ext>
            </a:extLst>
          </p:cNvPr>
          <p:cNvSpPr/>
          <p:nvPr/>
        </p:nvSpPr>
        <p:spPr>
          <a:xfrm>
            <a:off x="4550216" y="1645728"/>
            <a:ext cx="4026589" cy="36385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78088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19A7B210-E923-43A7-AC48-0A6A97F11420}"/>
              </a:ext>
            </a:extLst>
          </p:cNvPr>
          <p:cNvPicPr>
            <a:picLocks noChangeAspect="1"/>
          </p:cNvPicPr>
          <p:nvPr/>
        </p:nvPicPr>
        <p:blipFill>
          <a:blip r:embed="rId2"/>
          <a:stretch>
            <a:fillRect/>
          </a:stretch>
        </p:blipFill>
        <p:spPr>
          <a:xfrm>
            <a:off x="1153488" y="1209782"/>
            <a:ext cx="6837023" cy="4596642"/>
          </a:xfrm>
          <a:prstGeom prst="rect">
            <a:avLst/>
          </a:prstGeom>
        </p:spPr>
      </p:pic>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3416320"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積木程式編輯器</a:t>
            </a:r>
          </a:p>
        </p:txBody>
      </p:sp>
      <p:sp>
        <p:nvSpPr>
          <p:cNvPr id="2" name="文字方塊 1">
            <a:extLst>
              <a:ext uri="{FF2B5EF4-FFF2-40B4-BE49-F238E27FC236}">
                <a16:creationId xmlns:a16="http://schemas.microsoft.com/office/drawing/2014/main" id="{E68B135D-28D3-4980-A9FF-B7651F00B5FC}"/>
              </a:ext>
            </a:extLst>
          </p:cNvPr>
          <p:cNvSpPr txBox="1"/>
          <p:nvPr/>
        </p:nvSpPr>
        <p:spPr>
          <a:xfrm>
            <a:off x="3816437" y="4257675"/>
            <a:ext cx="1569660" cy="369332"/>
          </a:xfrm>
          <a:prstGeom prst="rect">
            <a:avLst/>
          </a:prstGeom>
          <a:noFill/>
        </p:spPr>
        <p:txBody>
          <a:bodyPr wrap="none" rtlCol="0">
            <a:spAutoFit/>
          </a:bodyPr>
          <a:lstStyle/>
          <a:p>
            <a:r>
              <a:rPr lang="zh-TW" altLang="en-US" dirty="0">
                <a:latin typeface="Adobe 繁黑體 Std B" panose="020B0700000000000000" pitchFamily="34" charset="-120"/>
                <a:ea typeface="Adobe 繁黑體 Std B" panose="020B0700000000000000" pitchFamily="34" charset="-120"/>
              </a:rPr>
              <a:t>下載安裝軟體</a:t>
            </a:r>
          </a:p>
        </p:txBody>
      </p:sp>
      <p:sp>
        <p:nvSpPr>
          <p:cNvPr id="3" name="文字方塊 2">
            <a:extLst>
              <a:ext uri="{FF2B5EF4-FFF2-40B4-BE49-F238E27FC236}">
                <a16:creationId xmlns:a16="http://schemas.microsoft.com/office/drawing/2014/main" id="{E5FD8419-7F23-4B7B-A0B3-2CFA737F1739}"/>
              </a:ext>
            </a:extLst>
          </p:cNvPr>
          <p:cNvSpPr txBox="1"/>
          <p:nvPr/>
        </p:nvSpPr>
        <p:spPr>
          <a:xfrm>
            <a:off x="3816437" y="4627007"/>
            <a:ext cx="3007555" cy="461665"/>
          </a:xfrm>
          <a:prstGeom prst="rect">
            <a:avLst/>
          </a:prstGeom>
          <a:noFill/>
        </p:spPr>
        <p:txBody>
          <a:bodyPr wrap="none" rtlCol="0">
            <a:spAutoFit/>
          </a:bodyPr>
          <a:lstStyle/>
          <a:p>
            <a:r>
              <a:rPr lang="en-US" altLang="zh-TW" sz="2400" dirty="0"/>
              <a:t>http://mangoblock.tw</a:t>
            </a:r>
            <a:endParaRPr lang="zh-TW" altLang="en-US" sz="2400" dirty="0"/>
          </a:p>
        </p:txBody>
      </p:sp>
    </p:spTree>
    <p:extLst>
      <p:ext uri="{BB962C8B-B14F-4D97-AF65-F5344CB8AC3E}">
        <p14:creationId xmlns:p14="http://schemas.microsoft.com/office/powerpoint/2010/main" val="3548987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圖片 10">
            <a:extLst>
              <a:ext uri="{FF2B5EF4-FFF2-40B4-BE49-F238E27FC236}">
                <a16:creationId xmlns:a16="http://schemas.microsoft.com/office/drawing/2014/main" id="{78895E32-14D8-416A-A539-FE12C03E2A11}"/>
              </a:ext>
            </a:extLst>
          </p:cNvPr>
          <p:cNvPicPr>
            <a:picLocks noChangeAspect="1"/>
          </p:cNvPicPr>
          <p:nvPr/>
        </p:nvPicPr>
        <p:blipFill>
          <a:blip r:embed="rId2"/>
          <a:stretch>
            <a:fillRect/>
          </a:stretch>
        </p:blipFill>
        <p:spPr>
          <a:xfrm>
            <a:off x="676275" y="1109033"/>
            <a:ext cx="7467600" cy="5528271"/>
          </a:xfrm>
          <a:prstGeom prst="rect">
            <a:avLst/>
          </a:prstGeom>
          <a:ln>
            <a:noFill/>
          </a:ln>
        </p:spPr>
      </p:pic>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5262979"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安裝或更新電路板的韌體</a:t>
            </a:r>
          </a:p>
        </p:txBody>
      </p:sp>
      <p:cxnSp>
        <p:nvCxnSpPr>
          <p:cNvPr id="9" name="直線單箭頭接點 8">
            <a:extLst>
              <a:ext uri="{FF2B5EF4-FFF2-40B4-BE49-F238E27FC236}">
                <a16:creationId xmlns:a16="http://schemas.microsoft.com/office/drawing/2014/main" id="{122F79C5-EEA8-407C-AE6D-E5480127533D}"/>
              </a:ext>
            </a:extLst>
          </p:cNvPr>
          <p:cNvCxnSpPr/>
          <p:nvPr/>
        </p:nvCxnSpPr>
        <p:spPr>
          <a:xfrm flipH="1">
            <a:off x="1695450" y="3429000"/>
            <a:ext cx="2190750"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12" name="橢圓 11">
            <a:extLst>
              <a:ext uri="{FF2B5EF4-FFF2-40B4-BE49-F238E27FC236}">
                <a16:creationId xmlns:a16="http://schemas.microsoft.com/office/drawing/2014/main" id="{FA3221F0-3855-4B11-A0A0-C9E72BEC52C3}"/>
              </a:ext>
            </a:extLst>
          </p:cNvPr>
          <p:cNvSpPr/>
          <p:nvPr/>
        </p:nvSpPr>
        <p:spPr>
          <a:xfrm>
            <a:off x="1695450" y="1238250"/>
            <a:ext cx="561975" cy="36194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rgbClr val="FF0000"/>
                </a:solidFill>
              </a:ln>
            </a:endParaRPr>
          </a:p>
        </p:txBody>
      </p:sp>
      <p:sp>
        <p:nvSpPr>
          <p:cNvPr id="13" name="矩形 12">
            <a:extLst>
              <a:ext uri="{FF2B5EF4-FFF2-40B4-BE49-F238E27FC236}">
                <a16:creationId xmlns:a16="http://schemas.microsoft.com/office/drawing/2014/main" id="{9E3DF434-3862-4878-AE74-0E4B215C31D2}"/>
              </a:ext>
            </a:extLst>
          </p:cNvPr>
          <p:cNvSpPr/>
          <p:nvPr/>
        </p:nvSpPr>
        <p:spPr>
          <a:xfrm>
            <a:off x="1695450" y="3038475"/>
            <a:ext cx="1209675" cy="28574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noFill/>
            </a:endParaRPr>
          </a:p>
        </p:txBody>
      </p:sp>
      <p:sp>
        <p:nvSpPr>
          <p:cNvPr id="14" name="文字方塊 13">
            <a:extLst>
              <a:ext uri="{FF2B5EF4-FFF2-40B4-BE49-F238E27FC236}">
                <a16:creationId xmlns:a16="http://schemas.microsoft.com/office/drawing/2014/main" id="{6817CDD6-93DA-4D03-A967-49DB54169909}"/>
              </a:ext>
            </a:extLst>
          </p:cNvPr>
          <p:cNvSpPr txBox="1"/>
          <p:nvPr/>
        </p:nvSpPr>
        <p:spPr>
          <a:xfrm>
            <a:off x="4008796" y="2471922"/>
            <a:ext cx="3531736" cy="923330"/>
          </a:xfrm>
          <a:prstGeom prst="rect">
            <a:avLst/>
          </a:prstGeom>
          <a:noFill/>
        </p:spPr>
        <p:txBody>
          <a:bodyPr wrap="none" rtlCol="0">
            <a:spAutoFit/>
          </a:bodyPr>
          <a:lstStyle/>
          <a:p>
            <a:r>
              <a:rPr lang="zh-TW" altLang="en-US" dirty="0">
                <a:latin typeface="Adobe 繁黑體 Std B" panose="020B0700000000000000" pitchFamily="34" charset="-120"/>
                <a:ea typeface="Adobe 繁黑體 Std B" panose="020B0700000000000000" pitchFamily="34" charset="-120"/>
              </a:rPr>
              <a:t>安裝或更新韌體</a:t>
            </a:r>
            <a:endParaRPr lang="en-US" altLang="zh-TW" dirty="0">
              <a:latin typeface="Adobe 繁黑體 Std B" panose="020B0700000000000000" pitchFamily="34" charset="-120"/>
              <a:ea typeface="Adobe 繁黑體 Std B" panose="020B0700000000000000" pitchFamily="34" charset="-120"/>
            </a:endParaRPr>
          </a:p>
          <a:p>
            <a:pPr marL="342900" indent="-342900">
              <a:buAutoNum type="arabicPeriod"/>
            </a:pPr>
            <a:r>
              <a:rPr lang="zh-TW" altLang="en-US" dirty="0">
                <a:latin typeface="Adobe 繁黑體 Std B" panose="020B0700000000000000" pitchFamily="34" charset="-120"/>
                <a:ea typeface="Adobe 繁黑體 Std B" panose="020B0700000000000000" pitchFamily="34" charset="-120"/>
              </a:rPr>
              <a:t>點選側面板的綠色齒輪小圖示</a:t>
            </a:r>
            <a:endParaRPr lang="en-US" altLang="zh-TW" dirty="0">
              <a:latin typeface="Adobe 繁黑體 Std B" panose="020B0700000000000000" pitchFamily="34" charset="-120"/>
              <a:ea typeface="Adobe 繁黑體 Std B" panose="020B0700000000000000" pitchFamily="34" charset="-120"/>
            </a:endParaRPr>
          </a:p>
          <a:p>
            <a:pPr marL="342900" indent="-342900">
              <a:buAutoNum type="arabicPeriod"/>
            </a:pPr>
            <a:r>
              <a:rPr lang="zh-TW" altLang="en-US" dirty="0">
                <a:latin typeface="Adobe 繁黑體 Std B" panose="020B0700000000000000" pitchFamily="34" charset="-120"/>
                <a:ea typeface="Adobe 繁黑體 Std B" panose="020B0700000000000000" pitchFamily="34" charset="-120"/>
              </a:rPr>
              <a:t>或點選點的主板</a:t>
            </a:r>
            <a:r>
              <a:rPr lang="en-US" altLang="zh-TW" dirty="0">
                <a:latin typeface="Adobe 繁黑體 Std B" panose="020B0700000000000000" pitchFamily="34" charset="-120"/>
                <a:ea typeface="Adobe 繁黑體 Std B" panose="020B0700000000000000" pitchFamily="34" charset="-120"/>
              </a:rPr>
              <a:t>-&gt;</a:t>
            </a:r>
            <a:r>
              <a:rPr lang="zh-TW" altLang="en-US" dirty="0">
                <a:latin typeface="Adobe 繁黑體 Std B" panose="020B0700000000000000" pitchFamily="34" charset="-120"/>
                <a:ea typeface="Adobe 繁黑體 Std B" panose="020B0700000000000000" pitchFamily="34" charset="-120"/>
              </a:rPr>
              <a:t>更新韌體</a:t>
            </a:r>
          </a:p>
        </p:txBody>
      </p:sp>
      <p:pic>
        <p:nvPicPr>
          <p:cNvPr id="16" name="圖片 15">
            <a:extLst>
              <a:ext uri="{FF2B5EF4-FFF2-40B4-BE49-F238E27FC236}">
                <a16:creationId xmlns:a16="http://schemas.microsoft.com/office/drawing/2014/main" id="{8C296C10-75F8-4C48-9419-252BEDCE7EA2}"/>
              </a:ext>
            </a:extLst>
          </p:cNvPr>
          <p:cNvPicPr>
            <a:picLocks noChangeAspect="1"/>
          </p:cNvPicPr>
          <p:nvPr/>
        </p:nvPicPr>
        <p:blipFill>
          <a:blip r:embed="rId3"/>
          <a:stretch>
            <a:fillRect/>
          </a:stretch>
        </p:blipFill>
        <p:spPr>
          <a:xfrm>
            <a:off x="3519047" y="3500028"/>
            <a:ext cx="5358253" cy="2852364"/>
          </a:xfrm>
          <a:prstGeom prst="rect">
            <a:avLst/>
          </a:prstGeom>
        </p:spPr>
      </p:pic>
      <p:sp>
        <p:nvSpPr>
          <p:cNvPr id="17" name="箭號: 向右 16">
            <a:extLst>
              <a:ext uri="{FF2B5EF4-FFF2-40B4-BE49-F238E27FC236}">
                <a16:creationId xmlns:a16="http://schemas.microsoft.com/office/drawing/2014/main" id="{DC186565-FD46-4E8F-B09F-5D502A26A06A}"/>
              </a:ext>
            </a:extLst>
          </p:cNvPr>
          <p:cNvSpPr/>
          <p:nvPr/>
        </p:nvSpPr>
        <p:spPr>
          <a:xfrm rot="2804545">
            <a:off x="6475276" y="3366574"/>
            <a:ext cx="323898" cy="348069"/>
          </a:xfrm>
          <a:prstGeom prst="right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489084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5724644"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認識芒果磚積木程式編輯器</a:t>
            </a:r>
          </a:p>
        </p:txBody>
      </p:sp>
      <p:pic>
        <p:nvPicPr>
          <p:cNvPr id="3" name="圖片 2">
            <a:extLst>
              <a:ext uri="{FF2B5EF4-FFF2-40B4-BE49-F238E27FC236}">
                <a16:creationId xmlns:a16="http://schemas.microsoft.com/office/drawing/2014/main" id="{8B948E7C-152E-4127-BD86-FA9E365D2A4E}"/>
              </a:ext>
            </a:extLst>
          </p:cNvPr>
          <p:cNvPicPr>
            <a:picLocks noChangeAspect="1"/>
          </p:cNvPicPr>
          <p:nvPr/>
        </p:nvPicPr>
        <p:blipFill>
          <a:blip r:embed="rId2"/>
          <a:stretch>
            <a:fillRect/>
          </a:stretch>
        </p:blipFill>
        <p:spPr>
          <a:xfrm>
            <a:off x="659153" y="1117671"/>
            <a:ext cx="7627598" cy="5545699"/>
          </a:xfrm>
          <a:prstGeom prst="rect">
            <a:avLst/>
          </a:prstGeom>
        </p:spPr>
      </p:pic>
      <p:sp>
        <p:nvSpPr>
          <p:cNvPr id="5" name="矩形 4">
            <a:extLst>
              <a:ext uri="{FF2B5EF4-FFF2-40B4-BE49-F238E27FC236}">
                <a16:creationId xmlns:a16="http://schemas.microsoft.com/office/drawing/2014/main" id="{721AE64F-1066-4919-9107-5DB7CF1CCB95}"/>
              </a:ext>
            </a:extLst>
          </p:cNvPr>
          <p:cNvSpPr/>
          <p:nvPr/>
        </p:nvSpPr>
        <p:spPr>
          <a:xfrm>
            <a:off x="592477" y="1905000"/>
            <a:ext cx="1245848" cy="45624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FF959C48-48C8-4710-834D-98DA718103D1}"/>
              </a:ext>
            </a:extLst>
          </p:cNvPr>
          <p:cNvSpPr/>
          <p:nvPr/>
        </p:nvSpPr>
        <p:spPr>
          <a:xfrm>
            <a:off x="1905001" y="1905000"/>
            <a:ext cx="1247775" cy="45624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EA99C6C9-75F9-4FB2-8AD5-6F0E1ED1A4D2}"/>
              </a:ext>
            </a:extLst>
          </p:cNvPr>
          <p:cNvSpPr/>
          <p:nvPr/>
        </p:nvSpPr>
        <p:spPr>
          <a:xfrm>
            <a:off x="525801" y="1476375"/>
            <a:ext cx="7865724" cy="4286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09AA99C3-8D1D-45B6-B4E9-42DB929118E2}"/>
              </a:ext>
            </a:extLst>
          </p:cNvPr>
          <p:cNvSpPr txBox="1"/>
          <p:nvPr/>
        </p:nvSpPr>
        <p:spPr>
          <a:xfrm>
            <a:off x="3962430" y="2686050"/>
            <a:ext cx="2262158" cy="369332"/>
          </a:xfrm>
          <a:prstGeom prst="rect">
            <a:avLst/>
          </a:prstGeom>
          <a:noFill/>
        </p:spPr>
        <p:txBody>
          <a:bodyPr wrap="none" rtlCol="0">
            <a:spAutoFit/>
          </a:bodyPr>
          <a:lstStyle/>
          <a:p>
            <a:r>
              <a:rPr lang="zh-TW" altLang="en-US" dirty="0">
                <a:latin typeface="Adobe 繁黑體 Std B" panose="020B0700000000000000" pitchFamily="34" charset="-120"/>
                <a:ea typeface="Adobe 繁黑體 Std B" panose="020B0700000000000000" pitchFamily="34" charset="-120"/>
              </a:rPr>
              <a:t>連線與執行操作面板</a:t>
            </a:r>
          </a:p>
        </p:txBody>
      </p:sp>
      <p:cxnSp>
        <p:nvCxnSpPr>
          <p:cNvPr id="15" name="直線單箭頭接點 14">
            <a:extLst>
              <a:ext uri="{FF2B5EF4-FFF2-40B4-BE49-F238E27FC236}">
                <a16:creationId xmlns:a16="http://schemas.microsoft.com/office/drawing/2014/main" id="{18973CC4-6E66-4E12-B44D-7E995FA032B1}"/>
              </a:ext>
            </a:extLst>
          </p:cNvPr>
          <p:cNvCxnSpPr>
            <a:stCxn id="8" idx="1"/>
          </p:cNvCxnSpPr>
          <p:nvPr/>
        </p:nvCxnSpPr>
        <p:spPr>
          <a:xfrm flipH="1">
            <a:off x="1562100" y="2870716"/>
            <a:ext cx="2400330" cy="834509"/>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34BC96C8-2371-4BEC-9B97-7901AFB824AE}"/>
              </a:ext>
            </a:extLst>
          </p:cNvPr>
          <p:cNvCxnSpPr/>
          <p:nvPr/>
        </p:nvCxnSpPr>
        <p:spPr>
          <a:xfrm flipH="1">
            <a:off x="2695575" y="3705225"/>
            <a:ext cx="1571625"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11DBCBC1-282B-45A5-8A07-29DB4DF326B5}"/>
              </a:ext>
            </a:extLst>
          </p:cNvPr>
          <p:cNvSpPr txBox="1"/>
          <p:nvPr/>
        </p:nvSpPr>
        <p:spPr>
          <a:xfrm>
            <a:off x="4174927" y="3517047"/>
            <a:ext cx="1569660" cy="369332"/>
          </a:xfrm>
          <a:prstGeom prst="rect">
            <a:avLst/>
          </a:prstGeom>
          <a:noFill/>
        </p:spPr>
        <p:txBody>
          <a:bodyPr wrap="none" rtlCol="0">
            <a:spAutoFit/>
          </a:bodyPr>
          <a:lstStyle/>
          <a:p>
            <a:r>
              <a:rPr lang="zh-TW" altLang="en-US" dirty="0">
                <a:latin typeface="Adobe 繁黑體 Std B" panose="020B0700000000000000" pitchFamily="34" charset="-120"/>
                <a:ea typeface="Adobe 繁黑體 Std B" panose="020B0700000000000000" pitchFamily="34" charset="-120"/>
              </a:rPr>
              <a:t>積木類型選單</a:t>
            </a:r>
          </a:p>
        </p:txBody>
      </p:sp>
      <p:sp>
        <p:nvSpPr>
          <p:cNvPr id="21" name="文字方塊 20">
            <a:extLst>
              <a:ext uri="{FF2B5EF4-FFF2-40B4-BE49-F238E27FC236}">
                <a16:creationId xmlns:a16="http://schemas.microsoft.com/office/drawing/2014/main" id="{ECC1E9E5-A610-4E1E-9CCF-5D976DFFDA60}"/>
              </a:ext>
            </a:extLst>
          </p:cNvPr>
          <p:cNvSpPr txBox="1"/>
          <p:nvPr/>
        </p:nvSpPr>
        <p:spPr>
          <a:xfrm>
            <a:off x="4645834" y="4583669"/>
            <a:ext cx="1800493" cy="369332"/>
          </a:xfrm>
          <a:prstGeom prst="rect">
            <a:avLst/>
          </a:prstGeom>
          <a:noFill/>
        </p:spPr>
        <p:txBody>
          <a:bodyPr wrap="none" rtlCol="0">
            <a:spAutoFit/>
          </a:bodyPr>
          <a:lstStyle/>
          <a:p>
            <a:r>
              <a:rPr lang="zh-TW" altLang="en-US" dirty="0">
                <a:latin typeface="Adobe 繁黑體 Std B" panose="020B0700000000000000" pitchFamily="34" charset="-120"/>
                <a:ea typeface="Adobe 繁黑體 Std B" panose="020B0700000000000000" pitchFamily="34" charset="-120"/>
              </a:rPr>
              <a:t>積木程式編輯區</a:t>
            </a:r>
          </a:p>
        </p:txBody>
      </p:sp>
      <p:sp>
        <p:nvSpPr>
          <p:cNvPr id="22" name="文字方塊 21">
            <a:extLst>
              <a:ext uri="{FF2B5EF4-FFF2-40B4-BE49-F238E27FC236}">
                <a16:creationId xmlns:a16="http://schemas.microsoft.com/office/drawing/2014/main" id="{15368D74-09F7-46F4-9E49-0207B1A0465D}"/>
              </a:ext>
            </a:extLst>
          </p:cNvPr>
          <p:cNvSpPr txBox="1"/>
          <p:nvPr/>
        </p:nvSpPr>
        <p:spPr>
          <a:xfrm>
            <a:off x="6317121" y="1951166"/>
            <a:ext cx="877163" cy="369332"/>
          </a:xfrm>
          <a:prstGeom prst="rect">
            <a:avLst/>
          </a:prstGeom>
          <a:noFill/>
        </p:spPr>
        <p:txBody>
          <a:bodyPr wrap="none" rtlCol="0">
            <a:spAutoFit/>
          </a:bodyPr>
          <a:lstStyle/>
          <a:p>
            <a:r>
              <a:rPr lang="zh-TW" altLang="en-US" dirty="0">
                <a:latin typeface="Adobe 繁黑體 Std B" panose="020B0700000000000000" pitchFamily="34" charset="-120"/>
                <a:ea typeface="Adobe 繁黑體 Std B" panose="020B0700000000000000" pitchFamily="34" charset="-120"/>
              </a:rPr>
              <a:t>工具列</a:t>
            </a:r>
          </a:p>
        </p:txBody>
      </p:sp>
      <p:cxnSp>
        <p:nvCxnSpPr>
          <p:cNvPr id="24" name="直線單箭頭接點 23">
            <a:extLst>
              <a:ext uri="{FF2B5EF4-FFF2-40B4-BE49-F238E27FC236}">
                <a16:creationId xmlns:a16="http://schemas.microsoft.com/office/drawing/2014/main" id="{45322231-7FF3-4811-A602-1CBACD983443}"/>
              </a:ext>
            </a:extLst>
          </p:cNvPr>
          <p:cNvCxnSpPr/>
          <p:nvPr/>
        </p:nvCxnSpPr>
        <p:spPr>
          <a:xfrm flipH="1" flipV="1">
            <a:off x="5953125" y="1790700"/>
            <a:ext cx="271463" cy="345132"/>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1113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3416320"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芒果磚積木程式</a:t>
            </a:r>
          </a:p>
        </p:txBody>
      </p:sp>
      <p:pic>
        <p:nvPicPr>
          <p:cNvPr id="9" name="圖片 8">
            <a:extLst>
              <a:ext uri="{FF2B5EF4-FFF2-40B4-BE49-F238E27FC236}">
                <a16:creationId xmlns:a16="http://schemas.microsoft.com/office/drawing/2014/main" id="{C54B9640-2C9D-4E67-8018-CCAC4F072F97}"/>
              </a:ext>
            </a:extLst>
          </p:cNvPr>
          <p:cNvPicPr>
            <a:picLocks noChangeAspect="1"/>
          </p:cNvPicPr>
          <p:nvPr/>
        </p:nvPicPr>
        <p:blipFill>
          <a:blip r:embed="rId2"/>
          <a:stretch>
            <a:fillRect/>
          </a:stretch>
        </p:blipFill>
        <p:spPr>
          <a:xfrm>
            <a:off x="712448" y="1117672"/>
            <a:ext cx="7698127" cy="5596978"/>
          </a:xfrm>
          <a:prstGeom prst="rect">
            <a:avLst/>
          </a:prstGeom>
        </p:spPr>
      </p:pic>
      <p:sp>
        <p:nvSpPr>
          <p:cNvPr id="10" name="文字方塊 9">
            <a:extLst>
              <a:ext uri="{FF2B5EF4-FFF2-40B4-BE49-F238E27FC236}">
                <a16:creationId xmlns:a16="http://schemas.microsoft.com/office/drawing/2014/main" id="{D74B931A-C997-4D98-BE47-97010E35C2FB}"/>
              </a:ext>
            </a:extLst>
          </p:cNvPr>
          <p:cNvSpPr txBox="1"/>
          <p:nvPr/>
        </p:nvSpPr>
        <p:spPr>
          <a:xfrm>
            <a:off x="5457825" y="2143125"/>
            <a:ext cx="1338828" cy="369332"/>
          </a:xfrm>
          <a:prstGeom prst="rect">
            <a:avLst/>
          </a:prstGeom>
          <a:noFill/>
        </p:spPr>
        <p:txBody>
          <a:bodyPr wrap="none" rtlCol="0">
            <a:spAutoFit/>
          </a:bodyPr>
          <a:lstStyle/>
          <a:p>
            <a:r>
              <a:rPr lang="zh-TW" altLang="en-US" dirty="0">
                <a:latin typeface="Adobe 繁黑體 Std B" panose="020B0700000000000000" pitchFamily="34" charset="-120"/>
                <a:ea typeface="Adobe 繁黑體 Std B" panose="020B0700000000000000" pitchFamily="34" charset="-120"/>
              </a:rPr>
              <a:t>程式主結構</a:t>
            </a:r>
          </a:p>
        </p:txBody>
      </p:sp>
      <p:cxnSp>
        <p:nvCxnSpPr>
          <p:cNvPr id="12" name="直線單箭頭接點 11">
            <a:extLst>
              <a:ext uri="{FF2B5EF4-FFF2-40B4-BE49-F238E27FC236}">
                <a16:creationId xmlns:a16="http://schemas.microsoft.com/office/drawing/2014/main" id="{E494F41C-D743-4813-B7EE-42A86C0D6A73}"/>
              </a:ext>
            </a:extLst>
          </p:cNvPr>
          <p:cNvCxnSpPr/>
          <p:nvPr/>
        </p:nvCxnSpPr>
        <p:spPr>
          <a:xfrm flipH="1">
            <a:off x="5229225" y="2512457"/>
            <a:ext cx="447675" cy="297418"/>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0025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a:extLst>
              <a:ext uri="{FF2B5EF4-FFF2-40B4-BE49-F238E27FC236}">
                <a16:creationId xmlns:a16="http://schemas.microsoft.com/office/drawing/2014/main" id="{EA755EC9-B72A-4E87-97F8-B019B4F46F4F}"/>
              </a:ext>
            </a:extLst>
          </p:cNvPr>
          <p:cNvPicPr>
            <a:picLocks noChangeAspect="1"/>
          </p:cNvPicPr>
          <p:nvPr/>
        </p:nvPicPr>
        <p:blipFill>
          <a:blip r:embed="rId2"/>
          <a:stretch>
            <a:fillRect/>
          </a:stretch>
        </p:blipFill>
        <p:spPr>
          <a:xfrm>
            <a:off x="4823276" y="1198827"/>
            <a:ext cx="3581900" cy="5277587"/>
          </a:xfrm>
          <a:prstGeom prst="rect">
            <a:avLst/>
          </a:prstGeom>
        </p:spPr>
      </p:pic>
      <p:pic>
        <p:nvPicPr>
          <p:cNvPr id="8" name="圖片 7">
            <a:extLst>
              <a:ext uri="{FF2B5EF4-FFF2-40B4-BE49-F238E27FC236}">
                <a16:creationId xmlns:a16="http://schemas.microsoft.com/office/drawing/2014/main" id="{B17BC13C-9B27-4DC1-A92E-1333C2AD86B3}"/>
              </a:ext>
            </a:extLst>
          </p:cNvPr>
          <p:cNvPicPr>
            <a:picLocks noChangeAspect="1"/>
          </p:cNvPicPr>
          <p:nvPr/>
        </p:nvPicPr>
        <p:blipFill>
          <a:blip r:embed="rId3"/>
          <a:stretch>
            <a:fillRect/>
          </a:stretch>
        </p:blipFill>
        <p:spPr>
          <a:xfrm>
            <a:off x="561885" y="1198827"/>
            <a:ext cx="4077269" cy="4420217"/>
          </a:xfrm>
          <a:prstGeom prst="rect">
            <a:avLst/>
          </a:prstGeom>
        </p:spPr>
      </p:pic>
      <p:sp>
        <p:nvSpPr>
          <p:cNvPr id="106" name="CustomShape 1"/>
          <p:cNvSpPr/>
          <p:nvPr/>
        </p:nvSpPr>
        <p:spPr>
          <a:xfrm>
            <a:off x="561885"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基本練習：數位輸出</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sp>
        <p:nvSpPr>
          <p:cNvPr id="10" name="文字方塊 9">
            <a:extLst>
              <a:ext uri="{FF2B5EF4-FFF2-40B4-BE49-F238E27FC236}">
                <a16:creationId xmlns:a16="http://schemas.microsoft.com/office/drawing/2014/main" id="{F2EA5FB4-64BD-436F-933F-E7395FA0FD12}"/>
              </a:ext>
            </a:extLst>
          </p:cNvPr>
          <p:cNvSpPr txBox="1"/>
          <p:nvPr/>
        </p:nvSpPr>
        <p:spPr>
          <a:xfrm>
            <a:off x="5010972" y="6174334"/>
            <a:ext cx="3206508" cy="507831"/>
          </a:xfrm>
          <a:prstGeom prst="rect">
            <a:avLst/>
          </a:prstGeom>
          <a:noFill/>
          <a:ln>
            <a:solidFill>
              <a:srgbClr val="FF0000"/>
            </a:solidFill>
          </a:ln>
        </p:spPr>
        <p:txBody>
          <a:bodyPr wrap="square" rtlCol="0">
            <a:spAutoFit/>
          </a:bodyPr>
          <a:lstStyle/>
          <a:p>
            <a:pPr algn="just"/>
            <a:r>
              <a:rPr lang="zh-TW" altLang="en-US" sz="1350" dirty="0">
                <a:latin typeface="Adobe 仿宋 Std R" panose="02020400000000000000" pitchFamily="18" charset="-128"/>
                <a:ea typeface="Adobe 仿宋 Std R" panose="02020400000000000000" pitchFamily="18" charset="-128"/>
              </a:rPr>
              <a:t>板載</a:t>
            </a:r>
            <a:r>
              <a:rPr lang="en-US" altLang="zh-TW" sz="1350" dirty="0">
                <a:latin typeface="Adobe 仿宋 Std R" panose="02020400000000000000" pitchFamily="18" charset="-128"/>
                <a:ea typeface="Adobe 仿宋 Std R" panose="02020400000000000000" pitchFamily="18" charset="-128"/>
              </a:rPr>
              <a:t>LED</a:t>
            </a:r>
            <a:r>
              <a:rPr lang="zh-TW" altLang="en-US" sz="1350" dirty="0">
                <a:latin typeface="Adobe 仿宋 Std R" panose="02020400000000000000" pitchFamily="18" charset="-128"/>
                <a:ea typeface="Adobe 仿宋 Std R" panose="02020400000000000000" pitchFamily="18" charset="-128"/>
              </a:rPr>
              <a:t>亮</a:t>
            </a:r>
            <a:r>
              <a:rPr lang="en-US" altLang="zh-TW" sz="1350" dirty="0">
                <a:latin typeface="Adobe 仿宋 Std R" panose="02020400000000000000" pitchFamily="18" charset="-128"/>
                <a:ea typeface="Adobe 仿宋 Std R" panose="02020400000000000000" pitchFamily="18" charset="-128"/>
              </a:rPr>
              <a:t>1</a:t>
            </a:r>
            <a:r>
              <a:rPr lang="zh-TW" altLang="en-US" sz="1350" dirty="0">
                <a:latin typeface="Adobe 仿宋 Std R" panose="02020400000000000000" pitchFamily="18" charset="-128"/>
                <a:ea typeface="Adobe 仿宋 Std R" panose="02020400000000000000" pitchFamily="18" charset="-128"/>
              </a:rPr>
              <a:t>秒鐘後關閉，再等</a:t>
            </a:r>
            <a:r>
              <a:rPr lang="en-US" altLang="zh-TW" sz="1350" dirty="0">
                <a:latin typeface="Adobe 仿宋 Std R" panose="02020400000000000000" pitchFamily="18" charset="-128"/>
                <a:ea typeface="Adobe 仿宋 Std R" panose="02020400000000000000" pitchFamily="18" charset="-128"/>
              </a:rPr>
              <a:t>1</a:t>
            </a:r>
            <a:r>
              <a:rPr lang="zh-TW" altLang="en-US" sz="1350" dirty="0">
                <a:latin typeface="Adobe 仿宋 Std R" panose="02020400000000000000" pitchFamily="18" charset="-128"/>
                <a:ea typeface="Adobe 仿宋 Std R" panose="02020400000000000000" pitchFamily="18" charset="-128"/>
              </a:rPr>
              <a:t>秒鐘再亮，這程序重複執行</a:t>
            </a:r>
            <a:r>
              <a:rPr lang="en-US" altLang="zh-TW" sz="1350" dirty="0">
                <a:latin typeface="Adobe 仿宋 Std R" panose="02020400000000000000" pitchFamily="18" charset="-128"/>
                <a:ea typeface="Adobe 仿宋 Std R" panose="02020400000000000000" pitchFamily="18" charset="-128"/>
              </a:rPr>
              <a:t>10</a:t>
            </a:r>
            <a:r>
              <a:rPr lang="zh-TW" altLang="en-US" sz="1350" dirty="0">
                <a:latin typeface="Adobe 仿宋 Std R" panose="02020400000000000000" pitchFamily="18" charset="-128"/>
                <a:ea typeface="Adobe 仿宋 Std R" panose="02020400000000000000" pitchFamily="18" charset="-128"/>
              </a:rPr>
              <a:t>次。</a:t>
            </a:r>
          </a:p>
        </p:txBody>
      </p:sp>
      <p:sp>
        <p:nvSpPr>
          <p:cNvPr id="3" name="文字方塊 2">
            <a:extLst>
              <a:ext uri="{FF2B5EF4-FFF2-40B4-BE49-F238E27FC236}">
                <a16:creationId xmlns:a16="http://schemas.microsoft.com/office/drawing/2014/main" id="{0ECA1FB1-19DC-4A94-9022-8153043C692C}"/>
              </a:ext>
            </a:extLst>
          </p:cNvPr>
          <p:cNvSpPr txBox="1"/>
          <p:nvPr/>
        </p:nvSpPr>
        <p:spPr>
          <a:xfrm>
            <a:off x="695955" y="5193341"/>
            <a:ext cx="2200571" cy="300082"/>
          </a:xfrm>
          <a:prstGeom prst="rect">
            <a:avLst/>
          </a:prstGeom>
          <a:noFill/>
          <a:ln>
            <a:solidFill>
              <a:schemeClr val="accent2">
                <a:lumMod val="75000"/>
              </a:schemeClr>
            </a:solidFill>
          </a:ln>
        </p:spPr>
        <p:txBody>
          <a:bodyPr wrap="square" rtlCol="0">
            <a:spAutoFit/>
          </a:bodyPr>
          <a:lstStyle/>
          <a:p>
            <a:r>
              <a:rPr lang="zh-TW" altLang="en-US" sz="1350" dirty="0">
                <a:latin typeface="Adobe 仿宋 Std R" panose="02020400000000000000" pitchFamily="18" charset="-128"/>
                <a:ea typeface="Adobe 仿宋 Std R" panose="02020400000000000000" pitchFamily="18" charset="-128"/>
              </a:rPr>
              <a:t>板載</a:t>
            </a:r>
            <a:r>
              <a:rPr lang="en-US" altLang="zh-TW" sz="1350" dirty="0">
                <a:latin typeface="Adobe 仿宋 Std R" panose="02020400000000000000" pitchFamily="18" charset="-128"/>
                <a:ea typeface="Adobe 仿宋 Std R" panose="02020400000000000000" pitchFamily="18" charset="-128"/>
              </a:rPr>
              <a:t>LED</a:t>
            </a:r>
            <a:r>
              <a:rPr lang="zh-TW" altLang="en-US" sz="1350" dirty="0">
                <a:latin typeface="Adobe 仿宋 Std R" panose="02020400000000000000" pitchFamily="18" charset="-128"/>
                <a:ea typeface="Adobe 仿宋 Std R" panose="02020400000000000000" pitchFamily="18" charset="-128"/>
              </a:rPr>
              <a:t>燈亮</a:t>
            </a:r>
            <a:r>
              <a:rPr lang="en-US" altLang="zh-TW" sz="1350" dirty="0">
                <a:latin typeface="Adobe 仿宋 Std R" panose="02020400000000000000" pitchFamily="18" charset="-128"/>
                <a:ea typeface="Adobe 仿宋 Std R" panose="02020400000000000000" pitchFamily="18" charset="-128"/>
              </a:rPr>
              <a:t>5</a:t>
            </a:r>
            <a:r>
              <a:rPr lang="zh-TW" altLang="en-US" sz="1350" dirty="0">
                <a:latin typeface="Adobe 仿宋 Std R" panose="02020400000000000000" pitchFamily="18" charset="-128"/>
                <a:ea typeface="Adobe 仿宋 Std R" panose="02020400000000000000" pitchFamily="18" charset="-128"/>
              </a:rPr>
              <a:t>秒鐘後關閉</a:t>
            </a:r>
          </a:p>
        </p:txBody>
      </p:sp>
      <p:sp>
        <p:nvSpPr>
          <p:cNvPr id="4" name="文字方塊 3">
            <a:extLst>
              <a:ext uri="{FF2B5EF4-FFF2-40B4-BE49-F238E27FC236}">
                <a16:creationId xmlns:a16="http://schemas.microsoft.com/office/drawing/2014/main" id="{3805CD57-4812-478A-99EC-11D877CD9571}"/>
              </a:ext>
            </a:extLst>
          </p:cNvPr>
          <p:cNvSpPr txBox="1"/>
          <p:nvPr/>
        </p:nvSpPr>
        <p:spPr>
          <a:xfrm>
            <a:off x="638098" y="5907819"/>
            <a:ext cx="3494931" cy="461665"/>
          </a:xfrm>
          <a:prstGeom prst="rect">
            <a:avLst/>
          </a:prstGeom>
          <a:noFill/>
        </p:spPr>
        <p:txBody>
          <a:bodyPr wrap="none" rtlCol="0">
            <a:spAutoFit/>
          </a:bodyPr>
          <a:lstStyle/>
          <a:p>
            <a:r>
              <a:rPr lang="zh-TW" altLang="en-US" sz="2400" spc="-1" dirty="0">
                <a:solidFill>
                  <a:schemeClr val="tx1">
                    <a:lumMod val="50000"/>
                    <a:lumOff val="50000"/>
                  </a:schemeClr>
                </a:solidFill>
                <a:uFill>
                  <a:solidFill>
                    <a:srgbClr val="FFFFFF"/>
                  </a:solidFill>
                </a:uFill>
                <a:latin typeface="Adobe 繁黑體 Std B" panose="020B0700000000000000" pitchFamily="34" charset="-120"/>
                <a:ea typeface="Adobe 繁黑體 Std B" panose="020B0700000000000000" pitchFamily="34" charset="-120"/>
              </a:rPr>
              <a:t>內建</a:t>
            </a:r>
            <a:r>
              <a:rPr lang="en-US" altLang="zh-TW" sz="2400" spc="-1" dirty="0">
                <a:solidFill>
                  <a:schemeClr val="tx1">
                    <a:lumMod val="50000"/>
                    <a:lumOff val="50000"/>
                  </a:schemeClr>
                </a:solidFill>
                <a:uFill>
                  <a:solidFill>
                    <a:srgbClr val="FFFFFF"/>
                  </a:solidFill>
                </a:uFill>
                <a:latin typeface="Adobe 繁黑體 Std B" panose="020B0700000000000000" pitchFamily="34" charset="-120"/>
                <a:ea typeface="Adobe 繁黑體 Std B" panose="020B0700000000000000" pitchFamily="34" charset="-120"/>
              </a:rPr>
              <a:t>LED</a:t>
            </a:r>
            <a:r>
              <a:rPr lang="zh-TW" altLang="en-US" sz="2400" spc="-1" dirty="0">
                <a:solidFill>
                  <a:schemeClr val="tx1">
                    <a:lumMod val="50000"/>
                    <a:lumOff val="50000"/>
                  </a:schemeClr>
                </a:solidFill>
                <a:uFill>
                  <a:solidFill>
                    <a:srgbClr val="FFFFFF"/>
                  </a:solidFill>
                </a:uFill>
                <a:latin typeface="Adobe 繁黑體 Std B" panose="020B0700000000000000" pitchFamily="34" charset="-120"/>
                <a:ea typeface="Adobe 繁黑體 Std B" panose="020B0700000000000000" pitchFamily="34" charset="-120"/>
              </a:rPr>
              <a:t>控制、廻圈控制</a:t>
            </a:r>
            <a:endParaRPr lang="zh-TW" altLang="en-US" sz="2400"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p:txBody>
      </p:sp>
    </p:spTree>
    <p:extLst>
      <p:ext uri="{BB962C8B-B14F-4D97-AF65-F5344CB8AC3E}">
        <p14:creationId xmlns:p14="http://schemas.microsoft.com/office/powerpoint/2010/main" val="316345183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橢圓 6">
            <a:extLst>
              <a:ext uri="{FF2B5EF4-FFF2-40B4-BE49-F238E27FC236}">
                <a16:creationId xmlns:a16="http://schemas.microsoft.com/office/drawing/2014/main" id="{9CE92F73-C714-4B6A-8DE5-9A79C19886A5}"/>
              </a:ext>
            </a:extLst>
          </p:cNvPr>
          <p:cNvSpPr/>
          <p:nvPr/>
        </p:nvSpPr>
        <p:spPr>
          <a:xfrm>
            <a:off x="6044577" y="2123655"/>
            <a:ext cx="419877" cy="41288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9" name="矩形 8">
            <a:extLst>
              <a:ext uri="{FF2B5EF4-FFF2-40B4-BE49-F238E27FC236}">
                <a16:creationId xmlns:a16="http://schemas.microsoft.com/office/drawing/2014/main" id="{674BF108-C134-429C-BC88-3D6393EB7651}"/>
              </a:ext>
            </a:extLst>
          </p:cNvPr>
          <p:cNvSpPr/>
          <p:nvPr/>
        </p:nvSpPr>
        <p:spPr>
          <a:xfrm>
            <a:off x="5974598" y="2060673"/>
            <a:ext cx="566834" cy="5458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1" name="矩形 10">
            <a:extLst>
              <a:ext uri="{FF2B5EF4-FFF2-40B4-BE49-F238E27FC236}">
                <a16:creationId xmlns:a16="http://schemas.microsoft.com/office/drawing/2014/main" id="{1CDFFF22-7B8B-4CD8-89E8-FDF20A5C2060}"/>
              </a:ext>
            </a:extLst>
          </p:cNvPr>
          <p:cNvSpPr/>
          <p:nvPr/>
        </p:nvSpPr>
        <p:spPr>
          <a:xfrm>
            <a:off x="6044577" y="1913716"/>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3" name="矩形 12">
            <a:extLst>
              <a:ext uri="{FF2B5EF4-FFF2-40B4-BE49-F238E27FC236}">
                <a16:creationId xmlns:a16="http://schemas.microsoft.com/office/drawing/2014/main" id="{F5887EFC-E867-4999-AED2-7EB43063E2FA}"/>
              </a:ext>
            </a:extLst>
          </p:cNvPr>
          <p:cNvSpPr/>
          <p:nvPr/>
        </p:nvSpPr>
        <p:spPr>
          <a:xfrm>
            <a:off x="6364149" y="1920715"/>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4" name="矩形 13">
            <a:extLst>
              <a:ext uri="{FF2B5EF4-FFF2-40B4-BE49-F238E27FC236}">
                <a16:creationId xmlns:a16="http://schemas.microsoft.com/office/drawing/2014/main" id="{569644F8-3607-4A58-8294-C9163DC99A4D}"/>
              </a:ext>
            </a:extLst>
          </p:cNvPr>
          <p:cNvSpPr/>
          <p:nvPr/>
        </p:nvSpPr>
        <p:spPr>
          <a:xfrm>
            <a:off x="6044577" y="2613512"/>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5" name="矩形 14">
            <a:extLst>
              <a:ext uri="{FF2B5EF4-FFF2-40B4-BE49-F238E27FC236}">
                <a16:creationId xmlns:a16="http://schemas.microsoft.com/office/drawing/2014/main" id="{9E2D9070-F5A3-4754-AAC4-5B67EDCB0E16}"/>
              </a:ext>
            </a:extLst>
          </p:cNvPr>
          <p:cNvSpPr/>
          <p:nvPr/>
        </p:nvSpPr>
        <p:spPr>
          <a:xfrm>
            <a:off x="6364149" y="2613512"/>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cxnSp>
        <p:nvCxnSpPr>
          <p:cNvPr id="16" name="直線單箭頭接點 15">
            <a:extLst>
              <a:ext uri="{FF2B5EF4-FFF2-40B4-BE49-F238E27FC236}">
                <a16:creationId xmlns:a16="http://schemas.microsoft.com/office/drawing/2014/main" id="{FBD553B7-A681-4421-9D00-C0E0E4699AE4}"/>
              </a:ext>
            </a:extLst>
          </p:cNvPr>
          <p:cNvCxnSpPr>
            <a:cxnSpLocks/>
            <a:stCxn id="14" idx="2"/>
          </p:cNvCxnSpPr>
          <p:nvPr/>
        </p:nvCxnSpPr>
        <p:spPr>
          <a:xfrm flipH="1">
            <a:off x="6104059" y="2753472"/>
            <a:ext cx="1" cy="31490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C254BA42-1C42-49AA-B661-D45A1EBAEB95}"/>
              </a:ext>
            </a:extLst>
          </p:cNvPr>
          <p:cNvSpPr txBox="1"/>
          <p:nvPr/>
        </p:nvSpPr>
        <p:spPr>
          <a:xfrm>
            <a:off x="5861684" y="3064301"/>
            <a:ext cx="530915" cy="300082"/>
          </a:xfrm>
          <a:prstGeom prst="rect">
            <a:avLst/>
          </a:prstGeom>
          <a:noFill/>
        </p:spPr>
        <p:txBody>
          <a:bodyPr wrap="none" rtlCol="0">
            <a:spAutoFit/>
          </a:bodyPr>
          <a:lstStyle/>
          <a:p>
            <a:r>
              <a:rPr lang="en-US" altLang="zh-TW" sz="1350" dirty="0"/>
              <a:t>GP3</a:t>
            </a:r>
            <a:endParaRPr lang="zh-TW" altLang="en-US" sz="1350" dirty="0"/>
          </a:p>
        </p:txBody>
      </p:sp>
      <p:cxnSp>
        <p:nvCxnSpPr>
          <p:cNvPr id="19" name="直線單箭頭接點 18">
            <a:extLst>
              <a:ext uri="{FF2B5EF4-FFF2-40B4-BE49-F238E27FC236}">
                <a16:creationId xmlns:a16="http://schemas.microsoft.com/office/drawing/2014/main" id="{BA7DDD1F-6550-43BE-B9AA-F25265A4F787}"/>
              </a:ext>
            </a:extLst>
          </p:cNvPr>
          <p:cNvCxnSpPr>
            <a:stCxn id="13" idx="0"/>
          </p:cNvCxnSpPr>
          <p:nvPr/>
        </p:nvCxnSpPr>
        <p:spPr>
          <a:xfrm flipV="1">
            <a:off x="6423632" y="1528829"/>
            <a:ext cx="0" cy="3918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22CAB331-34A7-4DC9-8A01-7D785A3E286E}"/>
              </a:ext>
            </a:extLst>
          </p:cNvPr>
          <p:cNvSpPr txBox="1"/>
          <p:nvPr/>
        </p:nvSpPr>
        <p:spPr>
          <a:xfrm>
            <a:off x="6194187" y="1312887"/>
            <a:ext cx="540533" cy="300082"/>
          </a:xfrm>
          <a:prstGeom prst="rect">
            <a:avLst/>
          </a:prstGeom>
          <a:noFill/>
        </p:spPr>
        <p:txBody>
          <a:bodyPr wrap="none" rtlCol="0">
            <a:spAutoFit/>
          </a:bodyPr>
          <a:lstStyle/>
          <a:p>
            <a:r>
              <a:rPr lang="en-US" altLang="zh-TW" sz="1350" dirty="0"/>
              <a:t>3.3V</a:t>
            </a:r>
            <a:endParaRPr lang="zh-TW" altLang="en-US" sz="1350" dirty="0"/>
          </a:p>
        </p:txBody>
      </p:sp>
      <p:sp>
        <p:nvSpPr>
          <p:cNvPr id="23" name="文字方塊 22">
            <a:extLst>
              <a:ext uri="{FF2B5EF4-FFF2-40B4-BE49-F238E27FC236}">
                <a16:creationId xmlns:a16="http://schemas.microsoft.com/office/drawing/2014/main" id="{3FA1CD9C-FE58-4379-8A55-6F422FA7616B}"/>
              </a:ext>
            </a:extLst>
          </p:cNvPr>
          <p:cNvSpPr txBox="1"/>
          <p:nvPr/>
        </p:nvSpPr>
        <p:spPr>
          <a:xfrm>
            <a:off x="628559" y="3690732"/>
            <a:ext cx="4729828" cy="2585323"/>
          </a:xfrm>
          <a:prstGeom prst="rect">
            <a:avLst/>
          </a:prstGeom>
          <a:noFill/>
        </p:spPr>
        <p:txBody>
          <a:bodyPr wrap="square" rtlCol="0">
            <a:spAutoFit/>
          </a:bodyPr>
          <a:lstStyle/>
          <a:p>
            <a:pPr algn="just"/>
            <a:r>
              <a:rPr lang="zh-TW" altLang="en-US" b="1" dirty="0">
                <a:solidFill>
                  <a:schemeClr val="tx1">
                    <a:lumMod val="50000"/>
                    <a:lumOff val="50000"/>
                  </a:schemeClr>
                </a:solidFill>
                <a:latin typeface="Adobe 繁黑體 Std B" panose="020B0700000000000000" pitchFamily="34" charset="-120"/>
                <a:ea typeface="Adobe 繁黑體 Std B" panose="020B0700000000000000" pitchFamily="34" charset="-120"/>
              </a:rPr>
              <a:t>期望值為</a:t>
            </a:r>
            <a:r>
              <a:rPr lang="en-US" altLang="zh-TW" b="1" dirty="0">
                <a:solidFill>
                  <a:schemeClr val="tx1">
                    <a:lumMod val="50000"/>
                    <a:lumOff val="50000"/>
                  </a:schemeClr>
                </a:solidFill>
                <a:latin typeface="Adobe 繁黑體 Std B" panose="020B0700000000000000" pitchFamily="34" charset="-120"/>
                <a:ea typeface="Adobe 繁黑體 Std B" panose="020B0700000000000000" pitchFamily="34" charset="-120"/>
              </a:rPr>
              <a:t>1</a:t>
            </a:r>
            <a:r>
              <a:rPr lang="zh-TW" altLang="en-US" b="1" dirty="0">
                <a:solidFill>
                  <a:schemeClr val="tx1">
                    <a:lumMod val="50000"/>
                    <a:lumOff val="50000"/>
                  </a:schemeClr>
                </a:solidFill>
                <a:latin typeface="Adobe 繁黑體 Std B" panose="020B0700000000000000" pitchFamily="34" charset="-120"/>
                <a:ea typeface="Adobe 繁黑體 Std B" panose="020B0700000000000000" pitchFamily="34" charset="-120"/>
              </a:rPr>
              <a:t>時：</a:t>
            </a:r>
            <a:r>
              <a:rPr lang="zh-TW" altLang="en-US" b="1" dirty="0">
                <a:latin typeface="Adobe 繁黑體 Std B" panose="020B0700000000000000" pitchFamily="34" charset="-120"/>
                <a:ea typeface="Adobe 繁黑體 Std B" panose="020B0700000000000000" pitchFamily="34" charset="-120"/>
              </a:rPr>
              <a:t>下</a:t>
            </a:r>
            <a:r>
              <a:rPr lang="zh-TW" altLang="zh-TW" b="1" dirty="0">
                <a:latin typeface="Adobe 繁黑體 Std B" panose="020B0700000000000000" pitchFamily="34" charset="-120"/>
                <a:ea typeface="Adobe 繁黑體 Std B" panose="020B0700000000000000" pitchFamily="34" charset="-120"/>
              </a:rPr>
              <a:t>拉</a:t>
            </a:r>
            <a:r>
              <a:rPr lang="zh-TW" altLang="zh-TW" dirty="0">
                <a:latin typeface="Adobe 仿宋 Std R" panose="02020400000000000000" pitchFamily="18" charset="-128"/>
                <a:ea typeface="Adobe 仿宋 Std R" panose="02020400000000000000" pitchFamily="18" charset="-128"/>
              </a:rPr>
              <a:t>電阻</a:t>
            </a:r>
            <a:r>
              <a:rPr lang="zh-TW" altLang="en-US" dirty="0">
                <a:latin typeface="Adobe 仿宋 Std R" panose="02020400000000000000" pitchFamily="18" charset="-128"/>
                <a:ea typeface="Adobe 仿宋 Std R" panose="02020400000000000000" pitchFamily="18" charset="-128"/>
              </a:rPr>
              <a:t>，</a:t>
            </a:r>
            <a:r>
              <a:rPr lang="zh-TW" altLang="zh-TW" dirty="0">
                <a:latin typeface="Adobe 仿宋 Std R" panose="02020400000000000000" pitchFamily="18" charset="-128"/>
                <a:ea typeface="Adobe 仿宋 Std R" panose="02020400000000000000" pitchFamily="18" charset="-128"/>
              </a:rPr>
              <a:t>將</a:t>
            </a:r>
            <a:r>
              <a:rPr lang="zh-TW" altLang="en-US" dirty="0">
                <a:latin typeface="Adobe 仿宋 Std R" panose="02020400000000000000" pitchFamily="18" charset="-128"/>
                <a:ea typeface="Adobe 仿宋 Std R" panose="02020400000000000000" pitchFamily="18" charset="-128"/>
              </a:rPr>
              <a:t>按鈕針</a:t>
            </a:r>
            <a:r>
              <a:rPr lang="zh-TW" altLang="zh-TW" dirty="0">
                <a:latin typeface="Adobe 仿宋 Std R" panose="02020400000000000000" pitchFamily="18" charset="-128"/>
                <a:ea typeface="Adobe 仿宋 Std R" panose="02020400000000000000" pitchFamily="18" charset="-128"/>
              </a:rPr>
              <a:t>腳連接到</a:t>
            </a:r>
            <a:r>
              <a:rPr lang="en-US" altLang="zh-TW" dirty="0">
                <a:latin typeface="Adobe 仿宋 Std R" panose="02020400000000000000" pitchFamily="18" charset="-128"/>
                <a:ea typeface="Adobe 仿宋 Std R" panose="02020400000000000000" pitchFamily="18" charset="-128"/>
              </a:rPr>
              <a:t>3V3 (</a:t>
            </a:r>
            <a:r>
              <a:rPr lang="zh-TW" altLang="en-US" dirty="0">
                <a:latin typeface="Adobe 仿宋 Std R" panose="02020400000000000000" pitchFamily="18" charset="-128"/>
                <a:ea typeface="Adobe 仿宋 Std R" panose="02020400000000000000" pitchFamily="18" charset="-128"/>
              </a:rPr>
              <a:t>期望值</a:t>
            </a:r>
            <a:r>
              <a:rPr lang="en-US" altLang="zh-TW" dirty="0">
                <a:latin typeface="Adobe 仿宋 Std R" panose="02020400000000000000" pitchFamily="18" charset="-128"/>
                <a:ea typeface="Adobe 仿宋 Std R" panose="02020400000000000000" pitchFamily="18" charset="-128"/>
              </a:rPr>
              <a:t>)</a:t>
            </a:r>
            <a:r>
              <a:rPr lang="zh-TW" altLang="zh-TW" dirty="0">
                <a:latin typeface="Adobe 仿宋 Std R" panose="02020400000000000000" pitchFamily="18" charset="-128"/>
                <a:ea typeface="Adobe 仿宋 Std R" panose="02020400000000000000" pitchFamily="18" charset="-128"/>
              </a:rPr>
              <a:t>，</a:t>
            </a:r>
            <a:r>
              <a:rPr lang="en-US" altLang="zh-TW" dirty="0">
                <a:latin typeface="Adobe 仿宋 Std R" panose="02020400000000000000" pitchFamily="18" charset="-128"/>
                <a:ea typeface="Adobe 仿宋 Std R" panose="02020400000000000000" pitchFamily="18" charset="-128"/>
              </a:rPr>
              <a:t>GPIO</a:t>
            </a:r>
            <a:r>
              <a:rPr lang="zh-TW" altLang="en-US" dirty="0">
                <a:latin typeface="Adobe 仿宋 Std R" panose="02020400000000000000" pitchFamily="18" charset="-128"/>
                <a:ea typeface="Adobe 仿宋 Std R" panose="02020400000000000000" pitchFamily="18" charset="-128"/>
              </a:rPr>
              <a:t>通過電阻接到</a:t>
            </a:r>
            <a:r>
              <a:rPr lang="en-US" altLang="zh-TW" dirty="0">
                <a:latin typeface="Adobe 仿宋 Std R" panose="02020400000000000000" pitchFamily="18" charset="-128"/>
                <a:ea typeface="Adobe 仿宋 Std R" panose="02020400000000000000" pitchFamily="18" charset="-128"/>
              </a:rPr>
              <a:t>GND</a:t>
            </a:r>
            <a:r>
              <a:rPr lang="zh-TW" altLang="en-US" dirty="0">
                <a:latin typeface="Adobe 仿宋 Std R" panose="02020400000000000000" pitchFamily="18" charset="-128"/>
                <a:ea typeface="Adobe 仿宋 Std R" panose="02020400000000000000" pitchFamily="18" charset="-128"/>
              </a:rPr>
              <a:t>，</a:t>
            </a:r>
            <a:r>
              <a:rPr lang="zh-TW" altLang="zh-TW" dirty="0">
                <a:latin typeface="Adobe 仿宋 Std R" panose="02020400000000000000" pitchFamily="18" charset="-128"/>
                <a:ea typeface="Adobe 仿宋 Std R" panose="02020400000000000000" pitchFamily="18" charset="-128"/>
              </a:rPr>
              <a:t>這意味著當按鈕沒有按下時</a:t>
            </a:r>
            <a:r>
              <a:rPr lang="zh-TW" altLang="en-US" dirty="0">
                <a:latin typeface="Adobe 仿宋 Std R" panose="02020400000000000000" pitchFamily="18" charset="-128"/>
                <a:ea typeface="Adobe 仿宋 Std R" panose="02020400000000000000" pitchFamily="18" charset="-128"/>
              </a:rPr>
              <a:t>腳位讀值</a:t>
            </a:r>
            <a:r>
              <a:rPr lang="zh-TW" altLang="zh-TW" dirty="0">
                <a:latin typeface="Adobe 仿宋 Std R" panose="02020400000000000000" pitchFamily="18" charset="-128"/>
                <a:ea typeface="Adobe 仿宋 Std R" panose="02020400000000000000" pitchFamily="18" charset="-128"/>
              </a:rPr>
              <a:t>將為</a:t>
            </a:r>
            <a:r>
              <a:rPr lang="en-US" altLang="zh-TW" dirty="0">
                <a:latin typeface="Adobe 仿宋 Std R" panose="02020400000000000000" pitchFamily="18" charset="-128"/>
                <a:ea typeface="Adobe 仿宋 Std R" panose="02020400000000000000" pitchFamily="18" charset="-128"/>
              </a:rPr>
              <a:t>0</a:t>
            </a:r>
            <a:r>
              <a:rPr lang="zh-TW" altLang="en-US" dirty="0">
                <a:latin typeface="Adobe 仿宋 Std R" panose="02020400000000000000" pitchFamily="18" charset="-128"/>
                <a:ea typeface="Adobe 仿宋 Std R" panose="02020400000000000000" pitchFamily="18" charset="-128"/>
              </a:rPr>
              <a:t>，按鈕被按下時導通</a:t>
            </a:r>
            <a:r>
              <a:rPr lang="en-US" altLang="zh-TW" dirty="0">
                <a:latin typeface="Adobe 仿宋 Std R" panose="02020400000000000000" pitchFamily="18" charset="-128"/>
                <a:ea typeface="Adobe 仿宋 Std R" panose="02020400000000000000" pitchFamily="18" charset="-128"/>
              </a:rPr>
              <a:t>3V3</a:t>
            </a:r>
            <a:r>
              <a:rPr lang="zh-TW" altLang="en-US" dirty="0">
                <a:latin typeface="Adobe 仿宋 Std R" panose="02020400000000000000" pitchFamily="18" charset="-128"/>
                <a:ea typeface="Adobe 仿宋 Std R" panose="02020400000000000000" pitchFamily="18" charset="-128"/>
              </a:rPr>
              <a:t>的電到</a:t>
            </a:r>
            <a:r>
              <a:rPr lang="en-US" altLang="zh-TW" dirty="0">
                <a:latin typeface="Adobe 仿宋 Std R" panose="02020400000000000000" pitchFamily="18" charset="-128"/>
                <a:ea typeface="Adobe 仿宋 Std R" panose="02020400000000000000" pitchFamily="18" charset="-128"/>
              </a:rPr>
              <a:t>GPIO</a:t>
            </a:r>
            <a:r>
              <a:rPr lang="zh-TW" altLang="en-US" dirty="0">
                <a:latin typeface="Adobe 仿宋 Std R" panose="02020400000000000000" pitchFamily="18" charset="-128"/>
                <a:ea typeface="Adobe 仿宋 Std R" panose="02020400000000000000" pitchFamily="18" charset="-128"/>
              </a:rPr>
              <a:t>，腳位讀值會是</a:t>
            </a:r>
            <a:r>
              <a:rPr lang="en-US" altLang="zh-TW" dirty="0">
                <a:latin typeface="Adobe 仿宋 Std R" panose="02020400000000000000" pitchFamily="18" charset="-128"/>
                <a:ea typeface="Adobe 仿宋 Std R" panose="02020400000000000000" pitchFamily="18" charset="-128"/>
              </a:rPr>
              <a:t>1</a:t>
            </a:r>
            <a:r>
              <a:rPr lang="zh-TW" altLang="en-US" dirty="0">
                <a:latin typeface="Adobe 仿宋 Std R" panose="02020400000000000000" pitchFamily="18" charset="-128"/>
                <a:ea typeface="Adobe 仿宋 Std R" panose="02020400000000000000" pitchFamily="18" charset="-128"/>
              </a:rPr>
              <a:t>。</a:t>
            </a:r>
            <a:endParaRPr lang="en-US" altLang="zh-TW" dirty="0">
              <a:latin typeface="Adobe 仿宋 Std R" panose="02020400000000000000" pitchFamily="18" charset="-128"/>
              <a:ea typeface="Adobe 仿宋 Std R" panose="02020400000000000000" pitchFamily="18" charset="-128"/>
            </a:endParaRPr>
          </a:p>
          <a:p>
            <a:pPr algn="just"/>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期望值為</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0</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時：</a:t>
            </a:r>
            <a:r>
              <a:rPr lang="zh-TW" altLang="en-US" dirty="0">
                <a:latin typeface="Adobe 繁黑體 Std B" panose="020B0700000000000000" pitchFamily="34" charset="-120"/>
                <a:ea typeface="Adobe 繁黑體 Std B" panose="020B0700000000000000" pitchFamily="34" charset="-120"/>
              </a:rPr>
              <a:t>上</a:t>
            </a:r>
            <a:r>
              <a:rPr lang="zh-TW" altLang="zh-TW" dirty="0">
                <a:latin typeface="Adobe 繁黑體 Std B" panose="020B0700000000000000" pitchFamily="34" charset="-120"/>
                <a:ea typeface="Adobe 繁黑體 Std B" panose="020B0700000000000000" pitchFamily="34" charset="-120"/>
              </a:rPr>
              <a:t>拉</a:t>
            </a:r>
            <a:r>
              <a:rPr lang="zh-TW" altLang="zh-TW" dirty="0">
                <a:latin typeface="Adobe 仿宋 Std R" panose="02020400000000000000" pitchFamily="18" charset="-128"/>
                <a:ea typeface="Adobe 仿宋 Std R" panose="02020400000000000000" pitchFamily="18" charset="-128"/>
              </a:rPr>
              <a:t>電阻</a:t>
            </a:r>
            <a:r>
              <a:rPr lang="zh-TW" altLang="en-US" dirty="0">
                <a:latin typeface="Adobe 仿宋 Std R" panose="02020400000000000000" pitchFamily="18" charset="-128"/>
                <a:ea typeface="Adobe 仿宋 Std R" panose="02020400000000000000" pitchFamily="18" charset="-128"/>
              </a:rPr>
              <a:t>，</a:t>
            </a:r>
            <a:r>
              <a:rPr lang="zh-TW" altLang="zh-TW" dirty="0">
                <a:latin typeface="Adobe 仿宋 Std R" panose="02020400000000000000" pitchFamily="18" charset="-128"/>
                <a:ea typeface="Adobe 仿宋 Std R" panose="02020400000000000000" pitchFamily="18" charset="-128"/>
              </a:rPr>
              <a:t>將</a:t>
            </a:r>
            <a:r>
              <a:rPr lang="zh-TW" altLang="en-US" dirty="0">
                <a:latin typeface="Adobe 仿宋 Std R" panose="02020400000000000000" pitchFamily="18" charset="-128"/>
                <a:ea typeface="Adobe 仿宋 Std R" panose="02020400000000000000" pitchFamily="18" charset="-128"/>
              </a:rPr>
              <a:t>按鈕</a:t>
            </a:r>
            <a:r>
              <a:rPr lang="zh-TW" altLang="zh-TW" dirty="0">
                <a:latin typeface="Adobe 仿宋 Std R" panose="02020400000000000000" pitchFamily="18" charset="-128"/>
                <a:ea typeface="Adobe 仿宋 Std R" panose="02020400000000000000" pitchFamily="18" charset="-128"/>
              </a:rPr>
              <a:t>針腳連接到</a:t>
            </a:r>
            <a:r>
              <a:rPr lang="en-US" altLang="zh-TW" dirty="0">
                <a:latin typeface="Adobe 仿宋 Std R" panose="02020400000000000000" pitchFamily="18" charset="-128"/>
                <a:ea typeface="Adobe 仿宋 Std R" panose="02020400000000000000" pitchFamily="18" charset="-128"/>
              </a:rPr>
              <a:t>GND (</a:t>
            </a:r>
            <a:r>
              <a:rPr lang="zh-TW" altLang="en-US" dirty="0">
                <a:latin typeface="Adobe 仿宋 Std R" panose="02020400000000000000" pitchFamily="18" charset="-128"/>
                <a:ea typeface="Adobe 仿宋 Std R" panose="02020400000000000000" pitchFamily="18" charset="-128"/>
              </a:rPr>
              <a:t>期望值</a:t>
            </a:r>
            <a:r>
              <a:rPr lang="en-US" altLang="zh-TW" dirty="0">
                <a:latin typeface="Adobe 仿宋 Std R" panose="02020400000000000000" pitchFamily="18" charset="-128"/>
                <a:ea typeface="Adobe 仿宋 Std R" panose="02020400000000000000" pitchFamily="18" charset="-128"/>
              </a:rPr>
              <a:t>)</a:t>
            </a:r>
            <a:r>
              <a:rPr lang="zh-TW" altLang="zh-TW" dirty="0">
                <a:latin typeface="Adobe 仿宋 Std R" panose="02020400000000000000" pitchFamily="18" charset="-128"/>
                <a:ea typeface="Adobe 仿宋 Std R" panose="02020400000000000000" pitchFamily="18" charset="-128"/>
              </a:rPr>
              <a:t>，</a:t>
            </a:r>
            <a:r>
              <a:rPr lang="en-US" altLang="zh-TW" dirty="0">
                <a:latin typeface="Adobe 仿宋 Std R" panose="02020400000000000000" pitchFamily="18" charset="-128"/>
                <a:ea typeface="Adobe 仿宋 Std R" panose="02020400000000000000" pitchFamily="18" charset="-128"/>
              </a:rPr>
              <a:t>GPIO</a:t>
            </a:r>
            <a:r>
              <a:rPr lang="zh-TW" altLang="en-US" dirty="0">
                <a:latin typeface="Adobe 仿宋 Std R" panose="02020400000000000000" pitchFamily="18" charset="-128"/>
                <a:ea typeface="Adobe 仿宋 Std R" panose="02020400000000000000" pitchFamily="18" charset="-128"/>
              </a:rPr>
              <a:t>通過電阻接到</a:t>
            </a:r>
            <a:r>
              <a:rPr lang="en-US" altLang="zh-TW" dirty="0">
                <a:latin typeface="Adobe 仿宋 Std R" panose="02020400000000000000" pitchFamily="18" charset="-128"/>
                <a:ea typeface="Adobe 仿宋 Std R" panose="02020400000000000000" pitchFamily="18" charset="-128"/>
              </a:rPr>
              <a:t>3.3V</a:t>
            </a:r>
            <a:r>
              <a:rPr lang="zh-TW" altLang="en-US" dirty="0">
                <a:latin typeface="Adobe 仿宋 Std R" panose="02020400000000000000" pitchFamily="18" charset="-128"/>
                <a:ea typeface="Adobe 仿宋 Std R" panose="02020400000000000000" pitchFamily="18" charset="-128"/>
              </a:rPr>
              <a:t>電，</a:t>
            </a:r>
            <a:r>
              <a:rPr lang="zh-TW" altLang="zh-TW" dirty="0">
                <a:latin typeface="Adobe 仿宋 Std R" panose="02020400000000000000" pitchFamily="18" charset="-128"/>
                <a:ea typeface="Adobe 仿宋 Std R" panose="02020400000000000000" pitchFamily="18" charset="-128"/>
              </a:rPr>
              <a:t>這意味著當沒有按下按鈕時</a:t>
            </a:r>
            <a:r>
              <a:rPr lang="zh-TW" altLang="en-US" dirty="0">
                <a:latin typeface="Adobe 仿宋 Std R" panose="02020400000000000000" pitchFamily="18" charset="-128"/>
                <a:ea typeface="Adobe 仿宋 Std R" panose="02020400000000000000" pitchFamily="18" charset="-128"/>
              </a:rPr>
              <a:t>腳位讀值</a:t>
            </a:r>
            <a:r>
              <a:rPr lang="zh-TW" altLang="zh-TW" dirty="0">
                <a:latin typeface="Adobe 仿宋 Std R" panose="02020400000000000000" pitchFamily="18" charset="-128"/>
                <a:ea typeface="Adobe 仿宋 Std R" panose="02020400000000000000" pitchFamily="18" charset="-128"/>
              </a:rPr>
              <a:t>將為</a:t>
            </a:r>
            <a:r>
              <a:rPr lang="en-US" altLang="zh-TW" dirty="0">
                <a:latin typeface="Adobe 仿宋 Std R" panose="02020400000000000000" pitchFamily="18" charset="-128"/>
                <a:ea typeface="Adobe 仿宋 Std R" panose="02020400000000000000" pitchFamily="18" charset="-128"/>
              </a:rPr>
              <a:t>1</a:t>
            </a:r>
            <a:r>
              <a:rPr lang="zh-TW" altLang="en-US" dirty="0">
                <a:latin typeface="Adobe 仿宋 Std R" panose="02020400000000000000" pitchFamily="18" charset="-128"/>
                <a:ea typeface="Adobe 仿宋 Std R" panose="02020400000000000000" pitchFamily="18" charset="-128"/>
              </a:rPr>
              <a:t>，按鈕導通時</a:t>
            </a:r>
            <a:r>
              <a:rPr lang="en-US" altLang="zh-TW" dirty="0">
                <a:latin typeface="Adobe 仿宋 Std R" panose="02020400000000000000" pitchFamily="18" charset="-128"/>
                <a:ea typeface="Adobe 仿宋 Std R" panose="02020400000000000000" pitchFamily="18" charset="-128"/>
              </a:rPr>
              <a:t>GPIO</a:t>
            </a:r>
            <a:r>
              <a:rPr lang="zh-TW" altLang="en-US" dirty="0">
                <a:latin typeface="Adobe 仿宋 Std R" panose="02020400000000000000" pitchFamily="18" charset="-128"/>
                <a:ea typeface="Adobe 仿宋 Std R" panose="02020400000000000000" pitchFamily="18" charset="-128"/>
              </a:rPr>
              <a:t>接到</a:t>
            </a:r>
            <a:r>
              <a:rPr lang="en-US" altLang="zh-TW" dirty="0">
                <a:latin typeface="Adobe 仿宋 Std R" panose="02020400000000000000" pitchFamily="18" charset="-128"/>
                <a:ea typeface="Adobe 仿宋 Std R" panose="02020400000000000000" pitchFamily="18" charset="-128"/>
              </a:rPr>
              <a:t>GND</a:t>
            </a:r>
            <a:r>
              <a:rPr lang="zh-TW" altLang="en-US" dirty="0">
                <a:latin typeface="Adobe 仿宋 Std R" panose="02020400000000000000" pitchFamily="18" charset="-128"/>
                <a:ea typeface="Adobe 仿宋 Std R" panose="02020400000000000000" pitchFamily="18" charset="-128"/>
              </a:rPr>
              <a:t>，因此讀值為</a:t>
            </a:r>
            <a:r>
              <a:rPr lang="en-US" altLang="zh-TW" dirty="0">
                <a:latin typeface="Adobe 仿宋 Std R" panose="02020400000000000000" pitchFamily="18" charset="-128"/>
                <a:ea typeface="Adobe 仿宋 Std R" panose="02020400000000000000" pitchFamily="18" charset="-128"/>
              </a:rPr>
              <a:t>0</a:t>
            </a:r>
            <a:r>
              <a:rPr lang="zh-TW" altLang="zh-TW" dirty="0">
                <a:latin typeface="Adobe 仿宋 Std R" panose="02020400000000000000" pitchFamily="18" charset="-128"/>
                <a:ea typeface="Adobe 仿宋 Std R" panose="02020400000000000000" pitchFamily="18" charset="-128"/>
              </a:rPr>
              <a:t>。</a:t>
            </a:r>
            <a:endParaRPr lang="en-US" altLang="zh-TW" dirty="0">
              <a:latin typeface="Adobe 仿宋 Std R" panose="02020400000000000000" pitchFamily="18" charset="-128"/>
              <a:ea typeface="Adobe 仿宋 Std R" panose="02020400000000000000" pitchFamily="18" charset="-128"/>
            </a:endParaRPr>
          </a:p>
        </p:txBody>
      </p:sp>
      <p:sp>
        <p:nvSpPr>
          <p:cNvPr id="22" name="橢圓 21">
            <a:extLst>
              <a:ext uri="{FF2B5EF4-FFF2-40B4-BE49-F238E27FC236}">
                <a16:creationId xmlns:a16="http://schemas.microsoft.com/office/drawing/2014/main" id="{329DA495-EA30-4454-880F-D9D098EC9CAD}"/>
              </a:ext>
            </a:extLst>
          </p:cNvPr>
          <p:cNvSpPr/>
          <p:nvPr/>
        </p:nvSpPr>
        <p:spPr>
          <a:xfrm>
            <a:off x="6122132" y="4907876"/>
            <a:ext cx="419877" cy="41288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4" name="矩形 23">
            <a:extLst>
              <a:ext uri="{FF2B5EF4-FFF2-40B4-BE49-F238E27FC236}">
                <a16:creationId xmlns:a16="http://schemas.microsoft.com/office/drawing/2014/main" id="{AF3263F2-7C08-4C21-A949-20B0CED082A3}"/>
              </a:ext>
            </a:extLst>
          </p:cNvPr>
          <p:cNvSpPr/>
          <p:nvPr/>
        </p:nvSpPr>
        <p:spPr>
          <a:xfrm>
            <a:off x="6052153" y="4844894"/>
            <a:ext cx="566834" cy="5458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5" name="矩形 24">
            <a:extLst>
              <a:ext uri="{FF2B5EF4-FFF2-40B4-BE49-F238E27FC236}">
                <a16:creationId xmlns:a16="http://schemas.microsoft.com/office/drawing/2014/main" id="{0F8708F7-BA91-46F7-AA36-A120F44DF106}"/>
              </a:ext>
            </a:extLst>
          </p:cNvPr>
          <p:cNvSpPr/>
          <p:nvPr/>
        </p:nvSpPr>
        <p:spPr>
          <a:xfrm>
            <a:off x="6122132" y="4697937"/>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6" name="矩形 25">
            <a:extLst>
              <a:ext uri="{FF2B5EF4-FFF2-40B4-BE49-F238E27FC236}">
                <a16:creationId xmlns:a16="http://schemas.microsoft.com/office/drawing/2014/main" id="{AC811F24-3904-44A6-9F5C-4743302C3FB5}"/>
              </a:ext>
            </a:extLst>
          </p:cNvPr>
          <p:cNvSpPr/>
          <p:nvPr/>
        </p:nvSpPr>
        <p:spPr>
          <a:xfrm>
            <a:off x="6441704" y="4704936"/>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7" name="矩形 26">
            <a:extLst>
              <a:ext uri="{FF2B5EF4-FFF2-40B4-BE49-F238E27FC236}">
                <a16:creationId xmlns:a16="http://schemas.microsoft.com/office/drawing/2014/main" id="{667DD927-6A91-412D-984D-8BCC9983824C}"/>
              </a:ext>
            </a:extLst>
          </p:cNvPr>
          <p:cNvSpPr/>
          <p:nvPr/>
        </p:nvSpPr>
        <p:spPr>
          <a:xfrm>
            <a:off x="6122132" y="5397733"/>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8" name="矩形 27">
            <a:extLst>
              <a:ext uri="{FF2B5EF4-FFF2-40B4-BE49-F238E27FC236}">
                <a16:creationId xmlns:a16="http://schemas.microsoft.com/office/drawing/2014/main" id="{AEB96DB2-48C8-46F3-BF2A-1660D9166EED}"/>
              </a:ext>
            </a:extLst>
          </p:cNvPr>
          <p:cNvSpPr/>
          <p:nvPr/>
        </p:nvSpPr>
        <p:spPr>
          <a:xfrm>
            <a:off x="6441704" y="5397733"/>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cxnSp>
        <p:nvCxnSpPr>
          <p:cNvPr id="29" name="直線單箭頭接點 28">
            <a:extLst>
              <a:ext uri="{FF2B5EF4-FFF2-40B4-BE49-F238E27FC236}">
                <a16:creationId xmlns:a16="http://schemas.microsoft.com/office/drawing/2014/main" id="{C29EFE1C-487A-44DC-8CD1-53C3F59C2AD2}"/>
              </a:ext>
            </a:extLst>
          </p:cNvPr>
          <p:cNvCxnSpPr>
            <a:cxnSpLocks/>
            <a:stCxn id="27" idx="2"/>
          </p:cNvCxnSpPr>
          <p:nvPr/>
        </p:nvCxnSpPr>
        <p:spPr>
          <a:xfrm flipH="1">
            <a:off x="6181614" y="5537693"/>
            <a:ext cx="1" cy="31490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8024709A-740B-49F8-B1BD-540F8DF7E6A4}"/>
              </a:ext>
            </a:extLst>
          </p:cNvPr>
          <p:cNvCxnSpPr>
            <a:stCxn id="26" idx="0"/>
          </p:cNvCxnSpPr>
          <p:nvPr/>
        </p:nvCxnSpPr>
        <p:spPr>
          <a:xfrm flipV="1">
            <a:off x="6501187" y="4313050"/>
            <a:ext cx="0" cy="3918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文字方塊 30">
            <a:extLst>
              <a:ext uri="{FF2B5EF4-FFF2-40B4-BE49-F238E27FC236}">
                <a16:creationId xmlns:a16="http://schemas.microsoft.com/office/drawing/2014/main" id="{D6E05FE4-E4BB-4546-8A68-620C58E8898E}"/>
              </a:ext>
            </a:extLst>
          </p:cNvPr>
          <p:cNvSpPr txBox="1"/>
          <p:nvPr/>
        </p:nvSpPr>
        <p:spPr>
          <a:xfrm>
            <a:off x="5861684" y="5817297"/>
            <a:ext cx="569387" cy="300082"/>
          </a:xfrm>
          <a:prstGeom prst="rect">
            <a:avLst/>
          </a:prstGeom>
          <a:noFill/>
        </p:spPr>
        <p:txBody>
          <a:bodyPr wrap="none" rtlCol="0">
            <a:spAutoFit/>
          </a:bodyPr>
          <a:lstStyle/>
          <a:p>
            <a:r>
              <a:rPr lang="en-US" altLang="zh-TW" sz="1350" dirty="0"/>
              <a:t>GND</a:t>
            </a:r>
            <a:endParaRPr lang="zh-TW" altLang="en-US" sz="1350" dirty="0"/>
          </a:p>
        </p:txBody>
      </p:sp>
      <p:sp>
        <p:nvSpPr>
          <p:cNvPr id="32" name="文字方塊 31">
            <a:extLst>
              <a:ext uri="{FF2B5EF4-FFF2-40B4-BE49-F238E27FC236}">
                <a16:creationId xmlns:a16="http://schemas.microsoft.com/office/drawing/2014/main" id="{9BD798B0-B15D-4F3F-ABBE-EFA733598F22}"/>
              </a:ext>
            </a:extLst>
          </p:cNvPr>
          <p:cNvSpPr txBox="1"/>
          <p:nvPr/>
        </p:nvSpPr>
        <p:spPr>
          <a:xfrm>
            <a:off x="6241097" y="4065884"/>
            <a:ext cx="530915" cy="300082"/>
          </a:xfrm>
          <a:prstGeom prst="rect">
            <a:avLst/>
          </a:prstGeom>
          <a:noFill/>
        </p:spPr>
        <p:txBody>
          <a:bodyPr wrap="none" rtlCol="0">
            <a:spAutoFit/>
          </a:bodyPr>
          <a:lstStyle/>
          <a:p>
            <a:r>
              <a:rPr lang="en-US" altLang="zh-TW" sz="1350" dirty="0"/>
              <a:t>GP3</a:t>
            </a:r>
            <a:endParaRPr lang="zh-TW" altLang="en-US" sz="1350" dirty="0"/>
          </a:p>
        </p:txBody>
      </p:sp>
      <p:pic>
        <p:nvPicPr>
          <p:cNvPr id="6" name="圖片 5">
            <a:extLst>
              <a:ext uri="{FF2B5EF4-FFF2-40B4-BE49-F238E27FC236}">
                <a16:creationId xmlns:a16="http://schemas.microsoft.com/office/drawing/2014/main" id="{6077E72D-C4C4-4341-AAD5-B70A2729E4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34460" y="1502096"/>
            <a:ext cx="1280821" cy="1793787"/>
          </a:xfrm>
          <a:prstGeom prst="rect">
            <a:avLst/>
          </a:prstGeom>
        </p:spPr>
      </p:pic>
      <p:pic>
        <p:nvPicPr>
          <p:cNvPr id="10" name="圖片 9">
            <a:extLst>
              <a:ext uri="{FF2B5EF4-FFF2-40B4-BE49-F238E27FC236}">
                <a16:creationId xmlns:a16="http://schemas.microsoft.com/office/drawing/2014/main" id="{665A524B-5053-46F4-94A4-BB2FE172E5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99515" y="4153500"/>
            <a:ext cx="1293566" cy="1774670"/>
          </a:xfrm>
          <a:prstGeom prst="rect">
            <a:avLst/>
          </a:prstGeom>
        </p:spPr>
      </p:pic>
      <p:sp>
        <p:nvSpPr>
          <p:cNvPr id="12" name="文字方塊 11">
            <a:extLst>
              <a:ext uri="{FF2B5EF4-FFF2-40B4-BE49-F238E27FC236}">
                <a16:creationId xmlns:a16="http://schemas.microsoft.com/office/drawing/2014/main" id="{DDD0124C-FB37-4FF6-AE7B-49776C6A6859}"/>
              </a:ext>
            </a:extLst>
          </p:cNvPr>
          <p:cNvSpPr txBox="1"/>
          <p:nvPr/>
        </p:nvSpPr>
        <p:spPr>
          <a:xfrm>
            <a:off x="628559" y="1161326"/>
            <a:ext cx="2723823" cy="646331"/>
          </a:xfrm>
          <a:prstGeom prst="rect">
            <a:avLst/>
          </a:prstGeom>
          <a:noFill/>
        </p:spPr>
        <p:txBody>
          <a:bodyPr wrap="none" rtlCol="0">
            <a:spAutoFit/>
          </a:bodyPr>
          <a:lstStyle/>
          <a:p>
            <a:r>
              <a:rPr lang="zh-TW" altLang="en-US" dirty="0">
                <a:latin typeface="Adobe 仿宋 Std R" panose="02020400000000000000" pitchFamily="18" charset="-128"/>
                <a:ea typeface="Adobe 仿宋 Std R" panose="02020400000000000000" pitchFamily="18" charset="-128"/>
              </a:rPr>
              <a:t>按鈕是常見的輸入元件，</a:t>
            </a:r>
            <a:endParaRPr lang="en-US" altLang="zh-TW" dirty="0">
              <a:latin typeface="Adobe 仿宋 Std R" panose="02020400000000000000" pitchFamily="18" charset="-128"/>
              <a:ea typeface="Adobe 仿宋 Std R" panose="02020400000000000000" pitchFamily="18" charset="-128"/>
            </a:endParaRPr>
          </a:p>
          <a:p>
            <a:r>
              <a:rPr lang="zh-TW" altLang="en-US" dirty="0">
                <a:latin typeface="Adobe 仿宋 Std R" panose="02020400000000000000" pitchFamily="18" charset="-128"/>
                <a:ea typeface="Adobe 仿宋 Std R" panose="02020400000000000000" pitchFamily="18" charset="-128"/>
              </a:rPr>
              <a:t>線路圖如右：</a:t>
            </a:r>
          </a:p>
        </p:txBody>
      </p:sp>
      <p:pic>
        <p:nvPicPr>
          <p:cNvPr id="36" name="圖片 35">
            <a:extLst>
              <a:ext uri="{FF2B5EF4-FFF2-40B4-BE49-F238E27FC236}">
                <a16:creationId xmlns:a16="http://schemas.microsoft.com/office/drawing/2014/main" id="{BFC21D93-E5AC-4CB7-91FE-9855F17B29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33164" y="608664"/>
            <a:ext cx="2065298" cy="1731673"/>
          </a:xfrm>
          <a:prstGeom prst="rect">
            <a:avLst/>
          </a:prstGeom>
        </p:spPr>
      </p:pic>
      <p:sp>
        <p:nvSpPr>
          <p:cNvPr id="21" name="文字方塊 20">
            <a:extLst>
              <a:ext uri="{FF2B5EF4-FFF2-40B4-BE49-F238E27FC236}">
                <a16:creationId xmlns:a16="http://schemas.microsoft.com/office/drawing/2014/main" id="{A06B32D1-73FF-4D1A-927F-1FA4061F0BAE}"/>
              </a:ext>
            </a:extLst>
          </p:cNvPr>
          <p:cNvSpPr txBox="1"/>
          <p:nvPr/>
        </p:nvSpPr>
        <p:spPr>
          <a:xfrm>
            <a:off x="628559" y="1938451"/>
            <a:ext cx="4769521" cy="1754326"/>
          </a:xfrm>
          <a:prstGeom prst="rect">
            <a:avLst/>
          </a:prstGeom>
          <a:noFill/>
        </p:spPr>
        <p:txBody>
          <a:bodyPr wrap="square" rtlCol="0">
            <a:spAutoFit/>
          </a:bodyPr>
          <a:lstStyle/>
          <a:p>
            <a:pPr algn="just"/>
            <a:r>
              <a:rPr lang="zh-TW" altLang="zh-TW" dirty="0">
                <a:latin typeface="Adobe 仿宋 Std R" panose="02020400000000000000" pitchFamily="18" charset="-128"/>
                <a:ea typeface="Adobe 仿宋 Std R" panose="02020400000000000000" pitchFamily="18" charset="-128"/>
              </a:rPr>
              <a:t>與</a:t>
            </a:r>
            <a:r>
              <a:rPr lang="en-US" altLang="zh-TW" dirty="0">
                <a:latin typeface="Adobe 仿宋 Std R" panose="02020400000000000000" pitchFamily="18" charset="-128"/>
                <a:ea typeface="Adobe 仿宋 Std R" panose="02020400000000000000" pitchFamily="18" charset="-128"/>
              </a:rPr>
              <a:t>LED</a:t>
            </a:r>
            <a:r>
              <a:rPr lang="zh-TW" altLang="zh-TW" dirty="0">
                <a:latin typeface="Adobe 仿宋 Std R" panose="02020400000000000000" pitchFamily="18" charset="-128"/>
                <a:ea typeface="Adobe 仿宋 Std R" panose="02020400000000000000" pitchFamily="18" charset="-128"/>
              </a:rPr>
              <a:t>不同的是，按鈕開關不需要限流電阻。</a:t>
            </a:r>
            <a:r>
              <a:rPr lang="zh-TW" altLang="en-US" dirty="0">
                <a:latin typeface="Adobe 仿宋 Std R" panose="02020400000000000000" pitchFamily="18" charset="-128"/>
                <a:ea typeface="Adobe 仿宋 Std R" panose="02020400000000000000" pitchFamily="18" charset="-128"/>
              </a:rPr>
              <a:t>但</a:t>
            </a:r>
            <a:r>
              <a:rPr lang="zh-TW" altLang="zh-TW" dirty="0">
                <a:latin typeface="Adobe 仿宋 Std R" panose="02020400000000000000" pitchFamily="18" charset="-128"/>
                <a:ea typeface="Adobe 仿宋 Std R" panose="02020400000000000000" pitchFamily="18" charset="-128"/>
              </a:rPr>
              <a:t>仍然需要一個電阻器</a:t>
            </a:r>
            <a:r>
              <a:rPr lang="zh-TW" altLang="en-US" dirty="0">
                <a:latin typeface="Adobe 仿宋 Std R" panose="02020400000000000000" pitchFamily="18" charset="-128"/>
                <a:ea typeface="Adobe 仿宋 Std R" panose="02020400000000000000" pitchFamily="18" charset="-128"/>
              </a:rPr>
              <a:t>，作為</a:t>
            </a:r>
            <a:r>
              <a:rPr lang="zh-TW" altLang="zh-TW" dirty="0">
                <a:latin typeface="Adobe 仿宋 Std R" panose="02020400000000000000" pitchFamily="18" charset="-128"/>
                <a:ea typeface="Adobe 仿宋 Std R" panose="02020400000000000000" pitchFamily="18" charset="-128"/>
              </a:rPr>
              <a:t>上拉或下拉</a:t>
            </a:r>
            <a:r>
              <a:rPr lang="zh-TW" altLang="en-US" dirty="0">
                <a:latin typeface="Adobe 仿宋 Std R" panose="02020400000000000000" pitchFamily="18" charset="-128"/>
                <a:ea typeface="Adobe 仿宋 Std R" panose="02020400000000000000" pitchFamily="18" charset="-128"/>
              </a:rPr>
              <a:t>電位使用</a:t>
            </a:r>
            <a:r>
              <a:rPr lang="zh-TW" altLang="zh-TW" dirty="0">
                <a:latin typeface="Adobe 仿宋 Std R" panose="02020400000000000000" pitchFamily="18" charset="-128"/>
                <a:ea typeface="Adobe 仿宋 Std R" panose="02020400000000000000" pitchFamily="18" charset="-128"/>
              </a:rPr>
              <a:t>，</a:t>
            </a:r>
            <a:r>
              <a:rPr lang="zh-TW" altLang="en-US" dirty="0">
                <a:latin typeface="Adobe 仿宋 Std R" panose="02020400000000000000" pitchFamily="18" charset="-128"/>
                <a:ea typeface="Adobe 仿宋 Std R" panose="02020400000000000000" pitchFamily="18" charset="-128"/>
              </a:rPr>
              <a:t>來</a:t>
            </a:r>
            <a:r>
              <a:rPr lang="zh-TW" altLang="zh-TW" dirty="0">
                <a:latin typeface="Adobe 仿宋 Std R" panose="02020400000000000000" pitchFamily="18" charset="-128"/>
                <a:ea typeface="Adobe 仿宋 Std R" panose="02020400000000000000" pitchFamily="18" charset="-128"/>
              </a:rPr>
              <a:t>決</a:t>
            </a:r>
            <a:r>
              <a:rPr lang="zh-TW" altLang="en-US" dirty="0">
                <a:latin typeface="Adobe 仿宋 Std R" panose="02020400000000000000" pitchFamily="18" charset="-128"/>
                <a:ea typeface="Adobe 仿宋 Std R" panose="02020400000000000000" pitchFamily="18" charset="-128"/>
              </a:rPr>
              <a:t>定</a:t>
            </a:r>
            <a:r>
              <a:rPr lang="zh-TW" altLang="zh-TW" dirty="0">
                <a:latin typeface="Adobe 仿宋 Std R" panose="02020400000000000000" pitchFamily="18" charset="-128"/>
                <a:ea typeface="Adobe 仿宋 Std R" panose="02020400000000000000" pitchFamily="18" charset="-128"/>
              </a:rPr>
              <a:t>電路如何工作。沒有上拉或下拉電阻</a:t>
            </a:r>
            <a:r>
              <a:rPr lang="zh-TW" altLang="en-US" dirty="0">
                <a:latin typeface="Adobe 仿宋 Std R" panose="02020400000000000000" pitchFamily="18" charset="-128"/>
                <a:ea typeface="Adobe 仿宋 Std R" panose="02020400000000000000" pitchFamily="18" charset="-128"/>
              </a:rPr>
              <a:t>的</a:t>
            </a:r>
            <a:r>
              <a:rPr lang="zh-TW" altLang="zh-TW" dirty="0">
                <a:latin typeface="Adobe 仿宋 Std R" panose="02020400000000000000" pitchFamily="18" charset="-128"/>
                <a:ea typeface="Adobe 仿宋 Std R" panose="02020400000000000000" pitchFamily="18" charset="-128"/>
              </a:rPr>
              <a:t>輸入被稱為浮動</a:t>
            </a:r>
            <a:r>
              <a:rPr lang="en-US" altLang="zh-TW" dirty="0">
                <a:latin typeface="Adobe 仿宋 Std R" panose="02020400000000000000" pitchFamily="18" charset="-128"/>
                <a:ea typeface="Adobe 仿宋 Std R" panose="02020400000000000000" pitchFamily="18" charset="-128"/>
              </a:rPr>
              <a:t>(floating)</a:t>
            </a:r>
            <a:r>
              <a:rPr lang="zh-TW" altLang="zh-TW" dirty="0">
                <a:latin typeface="Adobe 仿宋 Std R" panose="02020400000000000000" pitchFamily="18" charset="-128"/>
                <a:ea typeface="Adobe 仿宋 Std R" panose="02020400000000000000" pitchFamily="18" charset="-128"/>
              </a:rPr>
              <a:t>輸入</a:t>
            </a:r>
            <a:r>
              <a:rPr lang="zh-TW" altLang="en-US" dirty="0">
                <a:latin typeface="Adobe 仿宋 Std R" panose="02020400000000000000" pitchFamily="18" charset="-128"/>
                <a:ea typeface="Adobe 仿宋 Std R" panose="02020400000000000000" pitchFamily="18" charset="-128"/>
              </a:rPr>
              <a:t>，</a:t>
            </a:r>
            <a:r>
              <a:rPr lang="zh-TW" altLang="zh-TW" dirty="0">
                <a:latin typeface="Adobe 仿宋 Std R" panose="02020400000000000000" pitchFamily="18" charset="-128"/>
                <a:ea typeface="Adobe 仿宋 Std R" panose="02020400000000000000" pitchFamily="18" charset="-128"/>
              </a:rPr>
              <a:t>這意味著它有一個“嘈雜”的</a:t>
            </a:r>
            <a:r>
              <a:rPr lang="zh-TW" altLang="en-US" dirty="0">
                <a:latin typeface="Adobe 仿宋 Std R" panose="02020400000000000000" pitchFamily="18" charset="-128"/>
                <a:ea typeface="Adobe 仿宋 Std R" panose="02020400000000000000" pitchFamily="18" charset="-128"/>
              </a:rPr>
              <a:t>訊</a:t>
            </a:r>
            <a:r>
              <a:rPr lang="zh-TW" altLang="zh-TW" dirty="0">
                <a:latin typeface="Adobe 仿宋 Std R" panose="02020400000000000000" pitchFamily="18" charset="-128"/>
                <a:ea typeface="Adobe 仿宋 Std R" panose="02020400000000000000" pitchFamily="18" charset="-128"/>
              </a:rPr>
              <a:t>號，即使沒有按下按鈕也</a:t>
            </a:r>
            <a:r>
              <a:rPr lang="zh-TW" altLang="en-US" dirty="0">
                <a:latin typeface="Adobe 仿宋 Std R" panose="02020400000000000000" pitchFamily="18" charset="-128"/>
                <a:ea typeface="Adobe 仿宋 Std R" panose="02020400000000000000" pitchFamily="18" charset="-128"/>
              </a:rPr>
              <a:t>可</a:t>
            </a:r>
            <a:r>
              <a:rPr lang="zh-TW" altLang="zh-TW" dirty="0">
                <a:latin typeface="Adobe 仿宋 Std R" panose="02020400000000000000" pitchFamily="18" charset="-128"/>
                <a:ea typeface="Adobe 仿宋 Std R" panose="02020400000000000000" pitchFamily="18" charset="-128"/>
              </a:rPr>
              <a:t>能觸發。</a:t>
            </a:r>
            <a:endParaRPr lang="zh-TW" altLang="en-US" dirty="0">
              <a:latin typeface="Adobe 仿宋 Std R" panose="02020400000000000000" pitchFamily="18" charset="-128"/>
              <a:ea typeface="Adobe 仿宋 Std R" panose="02020400000000000000" pitchFamily="18" charset="-128"/>
            </a:endParaRPr>
          </a:p>
        </p:txBody>
      </p:sp>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基本練習：數位輸入</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sp>
        <p:nvSpPr>
          <p:cNvPr id="37" name="文字方塊 36">
            <a:extLst>
              <a:ext uri="{FF2B5EF4-FFF2-40B4-BE49-F238E27FC236}">
                <a16:creationId xmlns:a16="http://schemas.microsoft.com/office/drawing/2014/main" id="{D7243996-AC9D-4EDB-823E-2EEFA370A40B}"/>
              </a:ext>
            </a:extLst>
          </p:cNvPr>
          <p:cNvSpPr txBox="1"/>
          <p:nvPr/>
        </p:nvSpPr>
        <p:spPr>
          <a:xfrm>
            <a:off x="5590027" y="961388"/>
            <a:ext cx="1548244" cy="369332"/>
          </a:xfrm>
          <a:prstGeom prst="rect">
            <a:avLst/>
          </a:prstGeom>
          <a:noFill/>
        </p:spPr>
        <p:txBody>
          <a:bodyPr wrap="none" rtlCol="0">
            <a:spAutoFit/>
          </a:bodyPr>
          <a:lstStyle/>
          <a:p>
            <a:r>
              <a:rPr lang="en-US" altLang="zh-TW" dirty="0"/>
              <a:t>PULL DOWN</a:t>
            </a:r>
            <a:endParaRPr lang="zh-TW" altLang="en-US" dirty="0"/>
          </a:p>
        </p:txBody>
      </p:sp>
      <p:sp>
        <p:nvSpPr>
          <p:cNvPr id="38" name="矩形 37">
            <a:extLst>
              <a:ext uri="{FF2B5EF4-FFF2-40B4-BE49-F238E27FC236}">
                <a16:creationId xmlns:a16="http://schemas.microsoft.com/office/drawing/2014/main" id="{4781E73B-BE12-4794-8BAD-AE0B6B114DAD}"/>
              </a:ext>
            </a:extLst>
          </p:cNvPr>
          <p:cNvSpPr/>
          <p:nvPr/>
        </p:nvSpPr>
        <p:spPr>
          <a:xfrm>
            <a:off x="5683674" y="1268652"/>
            <a:ext cx="2619954" cy="218381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矩形 39">
            <a:extLst>
              <a:ext uri="{FF2B5EF4-FFF2-40B4-BE49-F238E27FC236}">
                <a16:creationId xmlns:a16="http://schemas.microsoft.com/office/drawing/2014/main" id="{9644C9A5-8050-4F4A-97FB-32554005A3AD}"/>
              </a:ext>
            </a:extLst>
          </p:cNvPr>
          <p:cNvSpPr/>
          <p:nvPr/>
        </p:nvSpPr>
        <p:spPr>
          <a:xfrm>
            <a:off x="5683674" y="4006056"/>
            <a:ext cx="2619954" cy="218381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文字方塊 40">
            <a:extLst>
              <a:ext uri="{FF2B5EF4-FFF2-40B4-BE49-F238E27FC236}">
                <a16:creationId xmlns:a16="http://schemas.microsoft.com/office/drawing/2014/main" id="{04B39896-400A-42B5-A221-BA59A0356230}"/>
              </a:ext>
            </a:extLst>
          </p:cNvPr>
          <p:cNvSpPr txBox="1"/>
          <p:nvPr/>
        </p:nvSpPr>
        <p:spPr>
          <a:xfrm>
            <a:off x="5618477" y="3667369"/>
            <a:ext cx="1137876" cy="369332"/>
          </a:xfrm>
          <a:prstGeom prst="rect">
            <a:avLst/>
          </a:prstGeom>
          <a:noFill/>
        </p:spPr>
        <p:txBody>
          <a:bodyPr wrap="none" rtlCol="0">
            <a:spAutoFit/>
          </a:bodyPr>
          <a:lstStyle/>
          <a:p>
            <a:r>
              <a:rPr lang="en-US" altLang="zh-TW" dirty="0"/>
              <a:t>PULL UP</a:t>
            </a:r>
            <a:endParaRPr lang="zh-TW" altLang="en-US" dirty="0"/>
          </a:p>
        </p:txBody>
      </p:sp>
      <p:cxnSp>
        <p:nvCxnSpPr>
          <p:cNvPr id="42" name="接點: 肘形 41">
            <a:extLst>
              <a:ext uri="{FF2B5EF4-FFF2-40B4-BE49-F238E27FC236}">
                <a16:creationId xmlns:a16="http://schemas.microsoft.com/office/drawing/2014/main" id="{B834CC9B-01E4-4F4E-8E50-8F77483E4A63}"/>
              </a:ext>
            </a:extLst>
          </p:cNvPr>
          <p:cNvCxnSpPr>
            <a:stCxn id="13" idx="2"/>
            <a:endCxn id="14" idx="0"/>
          </p:cNvCxnSpPr>
          <p:nvPr/>
        </p:nvCxnSpPr>
        <p:spPr>
          <a:xfrm rot="5400000">
            <a:off x="5987428" y="2177307"/>
            <a:ext cx="552837" cy="319572"/>
          </a:xfrm>
          <a:prstGeom prst="bentConnector3">
            <a:avLst/>
          </a:prstGeom>
          <a:ln w="19050">
            <a:solidFill>
              <a:schemeClr val="tx1">
                <a:lumMod val="95000"/>
                <a:lumOff val="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4" name="接點: 肘形 43">
            <a:extLst>
              <a:ext uri="{FF2B5EF4-FFF2-40B4-BE49-F238E27FC236}">
                <a16:creationId xmlns:a16="http://schemas.microsoft.com/office/drawing/2014/main" id="{2D3FDC1A-02BC-490A-96B7-547D7B2834F5}"/>
              </a:ext>
            </a:extLst>
          </p:cNvPr>
          <p:cNvCxnSpPr>
            <a:stCxn id="26" idx="2"/>
            <a:endCxn id="27" idx="0"/>
          </p:cNvCxnSpPr>
          <p:nvPr/>
        </p:nvCxnSpPr>
        <p:spPr>
          <a:xfrm rot="5400000">
            <a:off x="6064983" y="4961528"/>
            <a:ext cx="552837" cy="319572"/>
          </a:xfrm>
          <a:prstGeom prst="bentConnector3">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025097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圖片 41">
            <a:extLst>
              <a:ext uri="{FF2B5EF4-FFF2-40B4-BE49-F238E27FC236}">
                <a16:creationId xmlns:a16="http://schemas.microsoft.com/office/drawing/2014/main" id="{384943A8-8C56-435C-AD23-376E171B86E7}"/>
              </a:ext>
            </a:extLst>
          </p:cNvPr>
          <p:cNvPicPr>
            <a:picLocks noChangeAspect="1"/>
          </p:cNvPicPr>
          <p:nvPr/>
        </p:nvPicPr>
        <p:blipFill>
          <a:blip r:embed="rId2"/>
          <a:stretch>
            <a:fillRect/>
          </a:stretch>
        </p:blipFill>
        <p:spPr>
          <a:xfrm>
            <a:off x="714992" y="1069729"/>
            <a:ext cx="4979440" cy="5628931"/>
          </a:xfrm>
          <a:prstGeom prst="rect">
            <a:avLst/>
          </a:prstGeom>
        </p:spPr>
      </p:pic>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基本練習：數位輸入與輸出</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sp>
        <p:nvSpPr>
          <p:cNvPr id="7" name="橢圓 6">
            <a:extLst>
              <a:ext uri="{FF2B5EF4-FFF2-40B4-BE49-F238E27FC236}">
                <a16:creationId xmlns:a16="http://schemas.microsoft.com/office/drawing/2014/main" id="{9CE92F73-C714-4B6A-8DE5-9A79C19886A5}"/>
              </a:ext>
            </a:extLst>
          </p:cNvPr>
          <p:cNvSpPr/>
          <p:nvPr/>
        </p:nvSpPr>
        <p:spPr>
          <a:xfrm>
            <a:off x="6468281" y="2277141"/>
            <a:ext cx="419877" cy="41288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9" name="矩形 8">
            <a:extLst>
              <a:ext uri="{FF2B5EF4-FFF2-40B4-BE49-F238E27FC236}">
                <a16:creationId xmlns:a16="http://schemas.microsoft.com/office/drawing/2014/main" id="{674BF108-C134-429C-BC88-3D6393EB7651}"/>
              </a:ext>
            </a:extLst>
          </p:cNvPr>
          <p:cNvSpPr/>
          <p:nvPr/>
        </p:nvSpPr>
        <p:spPr>
          <a:xfrm>
            <a:off x="6398302" y="2214159"/>
            <a:ext cx="566834" cy="5458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1" name="矩形 10">
            <a:extLst>
              <a:ext uri="{FF2B5EF4-FFF2-40B4-BE49-F238E27FC236}">
                <a16:creationId xmlns:a16="http://schemas.microsoft.com/office/drawing/2014/main" id="{1CDFFF22-7B8B-4CD8-89E8-FDF20A5C2060}"/>
              </a:ext>
            </a:extLst>
          </p:cNvPr>
          <p:cNvSpPr/>
          <p:nvPr/>
        </p:nvSpPr>
        <p:spPr>
          <a:xfrm>
            <a:off x="6468281" y="2067202"/>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3" name="矩形 12">
            <a:extLst>
              <a:ext uri="{FF2B5EF4-FFF2-40B4-BE49-F238E27FC236}">
                <a16:creationId xmlns:a16="http://schemas.microsoft.com/office/drawing/2014/main" id="{F5887EFC-E867-4999-AED2-7EB43063E2FA}"/>
              </a:ext>
            </a:extLst>
          </p:cNvPr>
          <p:cNvSpPr/>
          <p:nvPr/>
        </p:nvSpPr>
        <p:spPr>
          <a:xfrm>
            <a:off x="6787853" y="2074201"/>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4" name="矩形 13">
            <a:extLst>
              <a:ext uri="{FF2B5EF4-FFF2-40B4-BE49-F238E27FC236}">
                <a16:creationId xmlns:a16="http://schemas.microsoft.com/office/drawing/2014/main" id="{569644F8-3607-4A58-8294-C9163DC99A4D}"/>
              </a:ext>
            </a:extLst>
          </p:cNvPr>
          <p:cNvSpPr/>
          <p:nvPr/>
        </p:nvSpPr>
        <p:spPr>
          <a:xfrm>
            <a:off x="6468281" y="2766998"/>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5" name="矩形 14">
            <a:extLst>
              <a:ext uri="{FF2B5EF4-FFF2-40B4-BE49-F238E27FC236}">
                <a16:creationId xmlns:a16="http://schemas.microsoft.com/office/drawing/2014/main" id="{9E2D9070-F5A3-4754-AAC4-5B67EDCB0E16}"/>
              </a:ext>
            </a:extLst>
          </p:cNvPr>
          <p:cNvSpPr/>
          <p:nvPr/>
        </p:nvSpPr>
        <p:spPr>
          <a:xfrm>
            <a:off x="6787853" y="2766998"/>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cxnSp>
        <p:nvCxnSpPr>
          <p:cNvPr id="16" name="直線單箭頭接點 15">
            <a:extLst>
              <a:ext uri="{FF2B5EF4-FFF2-40B4-BE49-F238E27FC236}">
                <a16:creationId xmlns:a16="http://schemas.microsoft.com/office/drawing/2014/main" id="{FBD553B7-A681-4421-9D00-C0E0E4699AE4}"/>
              </a:ext>
            </a:extLst>
          </p:cNvPr>
          <p:cNvCxnSpPr>
            <a:cxnSpLocks/>
            <a:stCxn id="14" idx="2"/>
          </p:cNvCxnSpPr>
          <p:nvPr/>
        </p:nvCxnSpPr>
        <p:spPr>
          <a:xfrm flipH="1">
            <a:off x="6527763" y="2906958"/>
            <a:ext cx="1" cy="314908"/>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C254BA42-1C42-49AA-B661-D45A1EBAEB95}"/>
              </a:ext>
            </a:extLst>
          </p:cNvPr>
          <p:cNvSpPr txBox="1"/>
          <p:nvPr/>
        </p:nvSpPr>
        <p:spPr>
          <a:xfrm>
            <a:off x="6285388" y="3217787"/>
            <a:ext cx="646331" cy="369332"/>
          </a:xfrm>
          <a:prstGeom prst="rect">
            <a:avLst/>
          </a:prstGeom>
          <a:noFill/>
        </p:spPr>
        <p:txBody>
          <a:bodyPr wrap="none" rtlCol="0">
            <a:spAutoFit/>
          </a:bodyPr>
          <a:lstStyle/>
          <a:p>
            <a:r>
              <a:rPr lang="en-US" altLang="zh-TW" dirty="0"/>
              <a:t>GP3</a:t>
            </a:r>
            <a:endParaRPr lang="zh-TW" altLang="en-US" dirty="0"/>
          </a:p>
        </p:txBody>
      </p:sp>
      <p:cxnSp>
        <p:nvCxnSpPr>
          <p:cNvPr id="19" name="直線單箭頭接點 18">
            <a:extLst>
              <a:ext uri="{FF2B5EF4-FFF2-40B4-BE49-F238E27FC236}">
                <a16:creationId xmlns:a16="http://schemas.microsoft.com/office/drawing/2014/main" id="{BA7DDD1F-6550-43BE-B9AA-F25265A4F787}"/>
              </a:ext>
            </a:extLst>
          </p:cNvPr>
          <p:cNvCxnSpPr>
            <a:cxnSpLocks/>
            <a:stCxn id="13" idx="0"/>
          </p:cNvCxnSpPr>
          <p:nvPr/>
        </p:nvCxnSpPr>
        <p:spPr>
          <a:xfrm flipV="1">
            <a:off x="6847336" y="1682315"/>
            <a:ext cx="0" cy="391886"/>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22CAB331-34A7-4DC9-8A01-7D785A3E286E}"/>
              </a:ext>
            </a:extLst>
          </p:cNvPr>
          <p:cNvSpPr txBox="1"/>
          <p:nvPr/>
        </p:nvSpPr>
        <p:spPr>
          <a:xfrm>
            <a:off x="6527763" y="1399416"/>
            <a:ext cx="659155" cy="369332"/>
          </a:xfrm>
          <a:prstGeom prst="rect">
            <a:avLst/>
          </a:prstGeom>
          <a:noFill/>
        </p:spPr>
        <p:txBody>
          <a:bodyPr wrap="none" rtlCol="0">
            <a:spAutoFit/>
          </a:bodyPr>
          <a:lstStyle/>
          <a:p>
            <a:r>
              <a:rPr lang="en-US" altLang="zh-TW" dirty="0"/>
              <a:t>3.3V</a:t>
            </a:r>
            <a:endParaRPr lang="zh-TW" altLang="en-US" dirty="0"/>
          </a:p>
        </p:txBody>
      </p:sp>
      <p:sp>
        <p:nvSpPr>
          <p:cNvPr id="3" name="文字方塊 2">
            <a:extLst>
              <a:ext uri="{FF2B5EF4-FFF2-40B4-BE49-F238E27FC236}">
                <a16:creationId xmlns:a16="http://schemas.microsoft.com/office/drawing/2014/main" id="{77A53634-B4E6-4034-AAAD-C1079B63C7FC}"/>
              </a:ext>
            </a:extLst>
          </p:cNvPr>
          <p:cNvSpPr txBox="1"/>
          <p:nvPr/>
        </p:nvSpPr>
        <p:spPr>
          <a:xfrm>
            <a:off x="2507149" y="1160491"/>
            <a:ext cx="3187283" cy="461665"/>
          </a:xfrm>
          <a:prstGeom prst="rect">
            <a:avLst/>
          </a:prstGeom>
          <a:noFill/>
        </p:spPr>
        <p:txBody>
          <a:bodyPr wrap="none" rtlCol="0">
            <a:spAutoFit/>
          </a:bodyPr>
          <a:lstStyle/>
          <a:p>
            <a:r>
              <a:rPr lang="zh-TW" altLang="en-US" sz="2400" spc="-1" dirty="0">
                <a:solidFill>
                  <a:schemeClr val="tx1">
                    <a:lumMod val="50000"/>
                    <a:lumOff val="50000"/>
                  </a:schemeClr>
                </a:solidFill>
                <a:uFill>
                  <a:solidFill>
                    <a:srgbClr val="FFFFFF"/>
                  </a:solidFill>
                </a:uFill>
                <a:latin typeface="Adobe 黑体 Std R" panose="020B0400000000000000" pitchFamily="34" charset="-128"/>
                <a:ea typeface="Adobe 黑体 Std R" panose="020B0400000000000000" pitchFamily="34" charset="-128"/>
              </a:rPr>
              <a:t>按鈕控制</a:t>
            </a:r>
            <a:r>
              <a:rPr lang="en-US" altLang="zh-TW" sz="2400" spc="-1" dirty="0">
                <a:solidFill>
                  <a:schemeClr val="tx1">
                    <a:lumMod val="50000"/>
                    <a:lumOff val="50000"/>
                  </a:schemeClr>
                </a:solidFill>
                <a:uFill>
                  <a:solidFill>
                    <a:srgbClr val="FFFFFF"/>
                  </a:solidFill>
                </a:uFill>
                <a:latin typeface="Adobe 黑体 Std R" panose="020B0400000000000000" pitchFamily="34" charset="-128"/>
                <a:ea typeface="Adobe 黑体 Std R" panose="020B0400000000000000" pitchFamily="34" charset="-128"/>
              </a:rPr>
              <a:t>LED</a:t>
            </a:r>
            <a:r>
              <a:rPr lang="zh-TW" altLang="en-US" sz="2400" spc="-1" dirty="0">
                <a:solidFill>
                  <a:schemeClr val="tx1">
                    <a:lumMod val="50000"/>
                    <a:lumOff val="50000"/>
                  </a:schemeClr>
                </a:solidFill>
                <a:uFill>
                  <a:solidFill>
                    <a:srgbClr val="FFFFFF"/>
                  </a:solidFill>
                </a:uFill>
                <a:latin typeface="Adobe 黑体 Std R" panose="020B0400000000000000" pitchFamily="34" charset="-128"/>
                <a:ea typeface="Adobe 黑体 Std R" panose="020B0400000000000000" pitchFamily="34" charset="-128"/>
              </a:rPr>
              <a:t>的開或關</a:t>
            </a:r>
            <a:endParaRPr lang="zh-TW" altLang="en-US" sz="2400" dirty="0">
              <a:solidFill>
                <a:schemeClr val="tx1">
                  <a:lumMod val="50000"/>
                  <a:lumOff val="50000"/>
                </a:schemeClr>
              </a:solidFill>
            </a:endParaRPr>
          </a:p>
        </p:txBody>
      </p:sp>
      <p:sp>
        <p:nvSpPr>
          <p:cNvPr id="22" name="橢圓 21">
            <a:extLst>
              <a:ext uri="{FF2B5EF4-FFF2-40B4-BE49-F238E27FC236}">
                <a16:creationId xmlns:a16="http://schemas.microsoft.com/office/drawing/2014/main" id="{329DA495-EA30-4454-880F-D9D098EC9CAD}"/>
              </a:ext>
            </a:extLst>
          </p:cNvPr>
          <p:cNvSpPr/>
          <p:nvPr/>
        </p:nvSpPr>
        <p:spPr>
          <a:xfrm>
            <a:off x="7561308" y="2269873"/>
            <a:ext cx="419877" cy="41288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4" name="矩形 23">
            <a:extLst>
              <a:ext uri="{FF2B5EF4-FFF2-40B4-BE49-F238E27FC236}">
                <a16:creationId xmlns:a16="http://schemas.microsoft.com/office/drawing/2014/main" id="{AF3263F2-7C08-4C21-A949-20B0CED082A3}"/>
              </a:ext>
            </a:extLst>
          </p:cNvPr>
          <p:cNvSpPr/>
          <p:nvPr/>
        </p:nvSpPr>
        <p:spPr>
          <a:xfrm>
            <a:off x="7491329" y="2206891"/>
            <a:ext cx="566834" cy="5458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5" name="矩形 24">
            <a:extLst>
              <a:ext uri="{FF2B5EF4-FFF2-40B4-BE49-F238E27FC236}">
                <a16:creationId xmlns:a16="http://schemas.microsoft.com/office/drawing/2014/main" id="{0F8708F7-BA91-46F7-AA36-A120F44DF106}"/>
              </a:ext>
            </a:extLst>
          </p:cNvPr>
          <p:cNvSpPr/>
          <p:nvPr/>
        </p:nvSpPr>
        <p:spPr>
          <a:xfrm>
            <a:off x="7561308" y="2059934"/>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6" name="矩形 25">
            <a:extLst>
              <a:ext uri="{FF2B5EF4-FFF2-40B4-BE49-F238E27FC236}">
                <a16:creationId xmlns:a16="http://schemas.microsoft.com/office/drawing/2014/main" id="{AC811F24-3904-44A6-9F5C-4743302C3FB5}"/>
              </a:ext>
            </a:extLst>
          </p:cNvPr>
          <p:cNvSpPr/>
          <p:nvPr/>
        </p:nvSpPr>
        <p:spPr>
          <a:xfrm>
            <a:off x="7880880" y="2066933"/>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7" name="矩形 26">
            <a:extLst>
              <a:ext uri="{FF2B5EF4-FFF2-40B4-BE49-F238E27FC236}">
                <a16:creationId xmlns:a16="http://schemas.microsoft.com/office/drawing/2014/main" id="{667DD927-6A91-412D-984D-8BCC9983824C}"/>
              </a:ext>
            </a:extLst>
          </p:cNvPr>
          <p:cNvSpPr/>
          <p:nvPr/>
        </p:nvSpPr>
        <p:spPr>
          <a:xfrm>
            <a:off x="7561308" y="2759730"/>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8" name="矩形 27">
            <a:extLst>
              <a:ext uri="{FF2B5EF4-FFF2-40B4-BE49-F238E27FC236}">
                <a16:creationId xmlns:a16="http://schemas.microsoft.com/office/drawing/2014/main" id="{AEB96DB2-48C8-46F3-BF2A-1660D9166EED}"/>
              </a:ext>
            </a:extLst>
          </p:cNvPr>
          <p:cNvSpPr/>
          <p:nvPr/>
        </p:nvSpPr>
        <p:spPr>
          <a:xfrm>
            <a:off x="7880880" y="2759730"/>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cxnSp>
        <p:nvCxnSpPr>
          <p:cNvPr id="29" name="直線單箭頭接點 28">
            <a:extLst>
              <a:ext uri="{FF2B5EF4-FFF2-40B4-BE49-F238E27FC236}">
                <a16:creationId xmlns:a16="http://schemas.microsoft.com/office/drawing/2014/main" id="{C29EFE1C-487A-44DC-8CD1-53C3F59C2AD2}"/>
              </a:ext>
            </a:extLst>
          </p:cNvPr>
          <p:cNvCxnSpPr>
            <a:cxnSpLocks/>
            <a:stCxn id="27" idx="2"/>
          </p:cNvCxnSpPr>
          <p:nvPr/>
        </p:nvCxnSpPr>
        <p:spPr>
          <a:xfrm flipH="1">
            <a:off x="7620790" y="2899690"/>
            <a:ext cx="1" cy="314908"/>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8024709A-740B-49F8-B1BD-540F8DF7E6A4}"/>
              </a:ext>
            </a:extLst>
          </p:cNvPr>
          <p:cNvCxnSpPr>
            <a:stCxn id="26" idx="0"/>
          </p:cNvCxnSpPr>
          <p:nvPr/>
        </p:nvCxnSpPr>
        <p:spPr>
          <a:xfrm flipV="1">
            <a:off x="7940363" y="1675047"/>
            <a:ext cx="0" cy="391886"/>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1" name="文字方塊 30">
            <a:extLst>
              <a:ext uri="{FF2B5EF4-FFF2-40B4-BE49-F238E27FC236}">
                <a16:creationId xmlns:a16="http://schemas.microsoft.com/office/drawing/2014/main" id="{D6E05FE4-E4BB-4546-8A68-620C58E8898E}"/>
              </a:ext>
            </a:extLst>
          </p:cNvPr>
          <p:cNvSpPr txBox="1"/>
          <p:nvPr/>
        </p:nvSpPr>
        <p:spPr>
          <a:xfrm>
            <a:off x="7590386" y="1369947"/>
            <a:ext cx="697627" cy="369332"/>
          </a:xfrm>
          <a:prstGeom prst="rect">
            <a:avLst/>
          </a:prstGeom>
          <a:noFill/>
        </p:spPr>
        <p:txBody>
          <a:bodyPr wrap="none" rtlCol="0">
            <a:spAutoFit/>
          </a:bodyPr>
          <a:lstStyle/>
          <a:p>
            <a:r>
              <a:rPr lang="en-US" altLang="zh-TW" dirty="0"/>
              <a:t>GND</a:t>
            </a:r>
            <a:endParaRPr lang="zh-TW" altLang="en-US" dirty="0"/>
          </a:p>
        </p:txBody>
      </p:sp>
      <p:sp>
        <p:nvSpPr>
          <p:cNvPr id="32" name="文字方塊 31">
            <a:extLst>
              <a:ext uri="{FF2B5EF4-FFF2-40B4-BE49-F238E27FC236}">
                <a16:creationId xmlns:a16="http://schemas.microsoft.com/office/drawing/2014/main" id="{9BD798B0-B15D-4F3F-ABBE-EFA733598F22}"/>
              </a:ext>
            </a:extLst>
          </p:cNvPr>
          <p:cNvSpPr txBox="1"/>
          <p:nvPr/>
        </p:nvSpPr>
        <p:spPr>
          <a:xfrm>
            <a:off x="7345155" y="3217787"/>
            <a:ext cx="646331" cy="369332"/>
          </a:xfrm>
          <a:prstGeom prst="rect">
            <a:avLst/>
          </a:prstGeom>
          <a:noFill/>
        </p:spPr>
        <p:txBody>
          <a:bodyPr wrap="none" rtlCol="0">
            <a:spAutoFit/>
          </a:bodyPr>
          <a:lstStyle/>
          <a:p>
            <a:r>
              <a:rPr lang="en-US" altLang="zh-TW" dirty="0"/>
              <a:t>GP3</a:t>
            </a:r>
            <a:endParaRPr lang="zh-TW" altLang="en-US" dirty="0"/>
          </a:p>
        </p:txBody>
      </p:sp>
      <p:sp>
        <p:nvSpPr>
          <p:cNvPr id="8" name="文字方塊 7">
            <a:extLst>
              <a:ext uri="{FF2B5EF4-FFF2-40B4-BE49-F238E27FC236}">
                <a16:creationId xmlns:a16="http://schemas.microsoft.com/office/drawing/2014/main" id="{8F5676A6-4DBB-45F6-9041-6254180F3735}"/>
              </a:ext>
            </a:extLst>
          </p:cNvPr>
          <p:cNvSpPr txBox="1"/>
          <p:nvPr/>
        </p:nvSpPr>
        <p:spPr>
          <a:xfrm>
            <a:off x="6398302" y="5016194"/>
            <a:ext cx="774571" cy="369332"/>
          </a:xfrm>
          <a:prstGeom prst="rect">
            <a:avLst/>
          </a:prstGeom>
          <a:noFill/>
        </p:spPr>
        <p:txBody>
          <a:bodyPr wrap="none" rtlCol="0">
            <a:spAutoFit/>
          </a:bodyPr>
          <a:lstStyle/>
          <a:p>
            <a:r>
              <a:rPr lang="en-US" altLang="zh-TW" dirty="0"/>
              <a:t>GP25</a:t>
            </a:r>
            <a:endParaRPr lang="zh-TW" altLang="en-US" dirty="0"/>
          </a:p>
        </p:txBody>
      </p:sp>
      <p:pic>
        <p:nvPicPr>
          <p:cNvPr id="33" name="圖片 32">
            <a:extLst>
              <a:ext uri="{FF2B5EF4-FFF2-40B4-BE49-F238E27FC236}">
                <a16:creationId xmlns:a16="http://schemas.microsoft.com/office/drawing/2014/main" id="{FA7F72FF-74E1-4DF9-AB75-7537329BCC94}"/>
              </a:ext>
            </a:extLst>
          </p:cNvPr>
          <p:cNvPicPr/>
          <p:nvPr/>
        </p:nvPicPr>
        <p:blipFill>
          <a:blip r:embed="rId3"/>
          <a:stretch>
            <a:fillRect/>
          </a:stretch>
        </p:blipFill>
        <p:spPr>
          <a:xfrm rot="5400000">
            <a:off x="7031734" y="4884339"/>
            <a:ext cx="2071649" cy="774571"/>
          </a:xfrm>
          <a:prstGeom prst="rect">
            <a:avLst/>
          </a:prstGeom>
        </p:spPr>
      </p:pic>
      <p:cxnSp>
        <p:nvCxnSpPr>
          <p:cNvPr id="37" name="接點: 肘形 36">
            <a:extLst>
              <a:ext uri="{FF2B5EF4-FFF2-40B4-BE49-F238E27FC236}">
                <a16:creationId xmlns:a16="http://schemas.microsoft.com/office/drawing/2014/main" id="{84789C09-E6B2-45DF-A81B-260033D6AEAE}"/>
              </a:ext>
            </a:extLst>
          </p:cNvPr>
          <p:cNvCxnSpPr>
            <a:cxnSpLocks/>
          </p:cNvCxnSpPr>
          <p:nvPr/>
        </p:nvCxnSpPr>
        <p:spPr>
          <a:xfrm>
            <a:off x="7065505" y="5179274"/>
            <a:ext cx="1152109" cy="412505"/>
          </a:xfrm>
          <a:prstGeom prst="bentConnector3">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43999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D9C6417F-4A4A-416D-9F78-50106790566B}"/>
              </a:ext>
            </a:extLst>
          </p:cNvPr>
          <p:cNvPicPr>
            <a:picLocks noChangeAspect="1"/>
          </p:cNvPicPr>
          <p:nvPr/>
        </p:nvPicPr>
        <p:blipFill>
          <a:blip r:embed="rId2"/>
          <a:stretch>
            <a:fillRect/>
          </a:stretch>
        </p:blipFill>
        <p:spPr>
          <a:xfrm>
            <a:off x="738497" y="1165971"/>
            <a:ext cx="3715268" cy="5220429"/>
          </a:xfrm>
          <a:prstGeom prst="rect">
            <a:avLst/>
          </a:prstGeom>
        </p:spPr>
      </p:pic>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應用練習：數位輸出</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pic>
        <p:nvPicPr>
          <p:cNvPr id="18" name="圖片 17">
            <a:extLst>
              <a:ext uri="{FF2B5EF4-FFF2-40B4-BE49-F238E27FC236}">
                <a16:creationId xmlns:a16="http://schemas.microsoft.com/office/drawing/2014/main" id="{557F3552-88BF-4549-B5D3-19BF84A612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98699" y="2897149"/>
            <a:ext cx="2693501" cy="3810000"/>
          </a:xfrm>
          <a:prstGeom prst="rect">
            <a:avLst/>
          </a:prstGeom>
        </p:spPr>
      </p:pic>
      <p:sp>
        <p:nvSpPr>
          <p:cNvPr id="3" name="文字方塊 2">
            <a:extLst>
              <a:ext uri="{FF2B5EF4-FFF2-40B4-BE49-F238E27FC236}">
                <a16:creationId xmlns:a16="http://schemas.microsoft.com/office/drawing/2014/main" id="{77A53634-B4E6-4034-AAAD-C1079B63C7FC}"/>
              </a:ext>
            </a:extLst>
          </p:cNvPr>
          <p:cNvSpPr txBox="1"/>
          <p:nvPr/>
        </p:nvSpPr>
        <p:spPr>
          <a:xfrm>
            <a:off x="4453765" y="1119467"/>
            <a:ext cx="1722908" cy="461665"/>
          </a:xfrm>
          <a:prstGeom prst="rect">
            <a:avLst/>
          </a:prstGeom>
          <a:noFill/>
        </p:spPr>
        <p:txBody>
          <a:bodyPr wrap="none" rtlCol="0">
            <a:spAutoFit/>
          </a:bodyPr>
          <a:lstStyle/>
          <a:p>
            <a:r>
              <a:rPr lang="zh-TW" altLang="en-US" sz="2400" spc="-1" dirty="0">
                <a:solidFill>
                  <a:schemeClr val="tx1">
                    <a:lumMod val="50000"/>
                    <a:lumOff val="50000"/>
                  </a:schemeClr>
                </a:solidFill>
                <a:uFill>
                  <a:solidFill>
                    <a:srgbClr val="FFFFFF"/>
                  </a:solidFill>
                </a:uFill>
                <a:latin typeface="Adobe 黑体 Std R" panose="020B0400000000000000" pitchFamily="34" charset="-128"/>
                <a:ea typeface="Adobe 黑体 Std R" panose="020B0400000000000000" pitchFamily="34" charset="-128"/>
              </a:rPr>
              <a:t>電機開或關</a:t>
            </a:r>
            <a:endParaRPr lang="zh-TW" altLang="en-US" sz="2400" dirty="0">
              <a:solidFill>
                <a:schemeClr val="tx1">
                  <a:lumMod val="50000"/>
                  <a:lumOff val="50000"/>
                </a:schemeClr>
              </a:solidFill>
            </a:endParaRPr>
          </a:p>
        </p:txBody>
      </p:sp>
      <p:sp>
        <p:nvSpPr>
          <p:cNvPr id="8" name="文字方塊 7">
            <a:extLst>
              <a:ext uri="{FF2B5EF4-FFF2-40B4-BE49-F238E27FC236}">
                <a16:creationId xmlns:a16="http://schemas.microsoft.com/office/drawing/2014/main" id="{8F5676A6-4DBB-45F6-9041-6254180F3735}"/>
              </a:ext>
            </a:extLst>
          </p:cNvPr>
          <p:cNvSpPr txBox="1"/>
          <p:nvPr/>
        </p:nvSpPr>
        <p:spPr>
          <a:xfrm>
            <a:off x="5062585" y="3776185"/>
            <a:ext cx="505267" cy="369332"/>
          </a:xfrm>
          <a:prstGeom prst="rect">
            <a:avLst/>
          </a:prstGeom>
          <a:noFill/>
        </p:spPr>
        <p:txBody>
          <a:bodyPr wrap="none" rtlCol="0">
            <a:spAutoFit/>
          </a:bodyPr>
          <a:lstStyle/>
          <a:p>
            <a:r>
              <a:rPr lang="en-US" altLang="zh-TW" dirty="0"/>
              <a:t>M1</a:t>
            </a:r>
            <a:endParaRPr lang="zh-TW" altLang="en-US" dirty="0"/>
          </a:p>
        </p:txBody>
      </p:sp>
      <p:sp>
        <p:nvSpPr>
          <p:cNvPr id="10" name="文字方塊 9">
            <a:extLst>
              <a:ext uri="{FF2B5EF4-FFF2-40B4-BE49-F238E27FC236}">
                <a16:creationId xmlns:a16="http://schemas.microsoft.com/office/drawing/2014/main" id="{0E60BF8B-2072-4E9F-8340-FD4AB0DB1679}"/>
              </a:ext>
            </a:extLst>
          </p:cNvPr>
          <p:cNvSpPr txBox="1"/>
          <p:nvPr/>
        </p:nvSpPr>
        <p:spPr>
          <a:xfrm>
            <a:off x="4453766" y="1548875"/>
            <a:ext cx="4242560" cy="1200329"/>
          </a:xfrm>
          <a:prstGeom prst="rect">
            <a:avLst/>
          </a:prstGeom>
          <a:noFill/>
        </p:spPr>
        <p:txBody>
          <a:bodyPr wrap="square" rtlCol="0">
            <a:spAutoFit/>
          </a:bodyPr>
          <a:lstStyle/>
          <a:p>
            <a:r>
              <a:rPr lang="zh-TW" altLang="en-US" dirty="0">
                <a:latin typeface="Adobe 仿宋 Std R" panose="02020400000000000000" pitchFamily="18" charset="-128"/>
                <a:ea typeface="Adobe 仿宋 Std R" panose="02020400000000000000" pitchFamily="18" charset="-128"/>
              </a:rPr>
              <a:t>電機的轉動是可以順時針或逆時針方向轉動，因為有二個方向，因此需要至少二個開關控制器，所以需要用二個腳位來控制電機的正轉或反轉。</a:t>
            </a:r>
          </a:p>
        </p:txBody>
      </p:sp>
      <p:cxnSp>
        <p:nvCxnSpPr>
          <p:cNvPr id="21" name="接點: 肘形 20">
            <a:extLst>
              <a:ext uri="{FF2B5EF4-FFF2-40B4-BE49-F238E27FC236}">
                <a16:creationId xmlns:a16="http://schemas.microsoft.com/office/drawing/2014/main" id="{3700CBE4-848A-40D1-9C76-D6F34EA60B18}"/>
              </a:ext>
            </a:extLst>
          </p:cNvPr>
          <p:cNvCxnSpPr>
            <a:stCxn id="8" idx="3"/>
          </p:cNvCxnSpPr>
          <p:nvPr/>
        </p:nvCxnSpPr>
        <p:spPr>
          <a:xfrm>
            <a:off x="5567852" y="3960851"/>
            <a:ext cx="1280623" cy="1220749"/>
          </a:xfrm>
          <a:prstGeom prst="bentConnector3">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33" name="文字方塊 32">
            <a:extLst>
              <a:ext uri="{FF2B5EF4-FFF2-40B4-BE49-F238E27FC236}">
                <a16:creationId xmlns:a16="http://schemas.microsoft.com/office/drawing/2014/main" id="{4B100119-8A1A-4E83-A718-9672C5216154}"/>
              </a:ext>
            </a:extLst>
          </p:cNvPr>
          <p:cNvSpPr txBox="1"/>
          <p:nvPr/>
        </p:nvSpPr>
        <p:spPr>
          <a:xfrm>
            <a:off x="5008575" y="4013804"/>
            <a:ext cx="1390124" cy="369332"/>
          </a:xfrm>
          <a:prstGeom prst="rect">
            <a:avLst/>
          </a:prstGeom>
          <a:noFill/>
        </p:spPr>
        <p:txBody>
          <a:bodyPr wrap="none" rtlCol="0">
            <a:spAutoFit/>
          </a:bodyPr>
          <a:lstStyle/>
          <a:p>
            <a:r>
              <a:rPr lang="en-US" altLang="zh-TW" dirty="0"/>
              <a:t>(GP8, GP9)</a:t>
            </a:r>
            <a:endParaRPr lang="zh-TW" altLang="en-US" dirty="0"/>
          </a:p>
        </p:txBody>
      </p:sp>
    </p:spTree>
    <p:extLst>
      <p:ext uri="{BB962C8B-B14F-4D97-AF65-F5344CB8AC3E}">
        <p14:creationId xmlns:p14="http://schemas.microsoft.com/office/powerpoint/2010/main" val="257811907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投影片編號版面配置區 5"/>
          <p:cNvSpPr>
            <a:spLocks noGrp="1"/>
          </p:cNvSpPr>
          <p:nvPr>
            <p:ph type="sldNum" sz="quarter" idx="4294967295"/>
          </p:nvPr>
        </p:nvSpPr>
        <p:spPr>
          <a:xfrm>
            <a:off x="65532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algn="r" eaLnBrk="1" hangingPunct="1"/>
            <a:fld id="{6EF48B32-5023-4647-9814-3135F4A1EC26}" type="slidenum">
              <a:rPr lang="en-US" altLang="zh-TW" smtClean="0"/>
              <a:pPr algn="r" eaLnBrk="1" hangingPunct="1"/>
              <a:t>17</a:t>
            </a:fld>
            <a:endParaRPr lang="en-US" altLang="zh-TW" dirty="0"/>
          </a:p>
        </p:txBody>
      </p:sp>
      <p:sp>
        <p:nvSpPr>
          <p:cNvPr id="3075" name="Rectangle 2"/>
          <p:cNvSpPr>
            <a:spLocks noGrp="1" noChangeArrowheads="1"/>
          </p:cNvSpPr>
          <p:nvPr>
            <p:ph type="ctrTitle"/>
          </p:nvPr>
        </p:nvSpPr>
        <p:spPr>
          <a:xfrm>
            <a:off x="684213" y="549275"/>
            <a:ext cx="7772400" cy="719485"/>
          </a:xfrm>
        </p:spPr>
        <p:txBody>
          <a:bodyPr/>
          <a:lstStyle/>
          <a:p>
            <a:pPr algn="l" eaLnBrk="1" hangingPunct="1"/>
            <a:r>
              <a:rPr lang="zh-TW" altLang="en-US" sz="3200" b="1" dirty="0">
                <a:latin typeface="Adobe 繁黑體 Std B" panose="020B0700000000000000" pitchFamily="34" charset="-120"/>
                <a:ea typeface="Adobe 繁黑體 Std B" panose="020B0700000000000000" pitchFamily="34" charset="-120"/>
              </a:rPr>
              <a:t>馬達</a:t>
            </a:r>
            <a:r>
              <a:rPr lang="en-US" altLang="zh-TW" sz="3200" b="1" dirty="0">
                <a:latin typeface="Adobe 繁黑體 Std B" panose="020B0700000000000000" pitchFamily="34" charset="-120"/>
                <a:ea typeface="Adobe 繁黑體 Std B" panose="020B0700000000000000" pitchFamily="34" charset="-120"/>
              </a:rPr>
              <a:t>(</a:t>
            </a:r>
            <a:r>
              <a:rPr lang="zh-TW" altLang="en-US" sz="3200" b="1" dirty="0">
                <a:latin typeface="Adobe 繁黑體 Std B" panose="020B0700000000000000" pitchFamily="34" charset="-120"/>
                <a:ea typeface="Adobe 繁黑體 Std B" panose="020B0700000000000000" pitchFamily="34" charset="-120"/>
              </a:rPr>
              <a:t>電機</a:t>
            </a:r>
            <a:r>
              <a:rPr lang="en-US" altLang="zh-TW" sz="3200" b="1" dirty="0">
                <a:latin typeface="Adobe 繁黑體 Std B" panose="020B0700000000000000" pitchFamily="34" charset="-120"/>
                <a:ea typeface="Adobe 繁黑體 Std B" panose="020B0700000000000000" pitchFamily="34" charset="-120"/>
              </a:rPr>
              <a:t>)</a:t>
            </a:r>
            <a:r>
              <a:rPr lang="zh-TW" altLang="en-US" sz="3200" b="1" dirty="0">
                <a:latin typeface="Adobe 繁黑體 Std B" panose="020B0700000000000000" pitchFamily="34" charset="-120"/>
                <a:ea typeface="Adobe 繁黑體 Std B" panose="020B0700000000000000" pitchFamily="34" charset="-120"/>
              </a:rPr>
              <a:t>控制</a:t>
            </a:r>
            <a:endParaRPr lang="en-US" altLang="zh-TW" sz="3200" b="1" dirty="0">
              <a:latin typeface="Adobe 繁黑體 Std B" panose="020B0700000000000000" pitchFamily="34" charset="-120"/>
              <a:ea typeface="Adobe 繁黑體 Std B" panose="020B0700000000000000" pitchFamily="34" charset="-120"/>
            </a:endParaRPr>
          </a:p>
        </p:txBody>
      </p:sp>
      <p:sp>
        <p:nvSpPr>
          <p:cNvPr id="2" name="橢圓 1">
            <a:extLst>
              <a:ext uri="{FF2B5EF4-FFF2-40B4-BE49-F238E27FC236}">
                <a16:creationId xmlns:a16="http://schemas.microsoft.com/office/drawing/2014/main" id="{79EDA1EA-9915-4D6F-96D0-70A30E907686}"/>
              </a:ext>
            </a:extLst>
          </p:cNvPr>
          <p:cNvSpPr/>
          <p:nvPr/>
        </p:nvSpPr>
        <p:spPr>
          <a:xfrm>
            <a:off x="1115616" y="1675777"/>
            <a:ext cx="1260000" cy="12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a:extLst>
              <a:ext uri="{FF2B5EF4-FFF2-40B4-BE49-F238E27FC236}">
                <a16:creationId xmlns:a16="http://schemas.microsoft.com/office/drawing/2014/main" id="{4B63EAE0-995B-49B8-A8B3-58717700B915}"/>
              </a:ext>
            </a:extLst>
          </p:cNvPr>
          <p:cNvSpPr/>
          <p:nvPr/>
        </p:nvSpPr>
        <p:spPr>
          <a:xfrm>
            <a:off x="1601616" y="2161777"/>
            <a:ext cx="288000" cy="288000"/>
          </a:xfrm>
          <a:prstGeom prst="ellipse">
            <a:avLst/>
          </a:prstGeom>
          <a:solidFill>
            <a:srgbClr val="CC3300"/>
          </a:solidFill>
          <a:ln>
            <a:solidFill>
              <a:srgbClr val="33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FC9BDB92-EA40-4F02-837A-EDD0831F4C2D}"/>
              </a:ext>
            </a:extLst>
          </p:cNvPr>
          <p:cNvSpPr/>
          <p:nvPr/>
        </p:nvSpPr>
        <p:spPr>
          <a:xfrm>
            <a:off x="2375616" y="2233777"/>
            <a:ext cx="180160" cy="162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347872E1-9D39-41B2-9A52-EF6DF3BC8233}"/>
              </a:ext>
            </a:extLst>
          </p:cNvPr>
          <p:cNvSpPr/>
          <p:nvPr/>
        </p:nvSpPr>
        <p:spPr>
          <a:xfrm>
            <a:off x="938390" y="2224737"/>
            <a:ext cx="180160" cy="162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a:extLst>
              <a:ext uri="{FF2B5EF4-FFF2-40B4-BE49-F238E27FC236}">
                <a16:creationId xmlns:a16="http://schemas.microsoft.com/office/drawing/2014/main" id="{5719113E-267E-4884-A38E-93A16A20BB74}"/>
              </a:ext>
            </a:extLst>
          </p:cNvPr>
          <p:cNvSpPr/>
          <p:nvPr/>
        </p:nvSpPr>
        <p:spPr>
          <a:xfrm>
            <a:off x="1164679" y="3797332"/>
            <a:ext cx="1167266" cy="441089"/>
          </a:xfrm>
          <a:prstGeom prst="rect">
            <a:avLst/>
          </a:prstGeom>
          <a:solidFill>
            <a:srgbClr val="92D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57C2999D-6772-422D-B0D0-025B81819C14}"/>
              </a:ext>
            </a:extLst>
          </p:cNvPr>
          <p:cNvSpPr/>
          <p:nvPr/>
        </p:nvSpPr>
        <p:spPr>
          <a:xfrm>
            <a:off x="2331945" y="3941348"/>
            <a:ext cx="72008" cy="144016"/>
          </a:xfrm>
          <a:prstGeom prst="rect">
            <a:avLst/>
          </a:prstGeom>
          <a:ln>
            <a:solidFill>
              <a:srgbClr val="33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8" name="接點: 肘形 17">
            <a:extLst>
              <a:ext uri="{FF2B5EF4-FFF2-40B4-BE49-F238E27FC236}">
                <a16:creationId xmlns:a16="http://schemas.microsoft.com/office/drawing/2014/main" id="{815A1DAE-C79D-43E3-AF55-B572C84F2891}"/>
              </a:ext>
            </a:extLst>
          </p:cNvPr>
          <p:cNvCxnSpPr>
            <a:cxnSpLocks/>
            <a:stCxn id="9" idx="3"/>
            <a:endCxn id="3" idx="3"/>
          </p:cNvCxnSpPr>
          <p:nvPr/>
        </p:nvCxnSpPr>
        <p:spPr>
          <a:xfrm flipV="1">
            <a:off x="2403953" y="2314817"/>
            <a:ext cx="151823" cy="1698539"/>
          </a:xfrm>
          <a:prstGeom prst="bentConnector3">
            <a:avLst>
              <a:gd name="adj1" fmla="val 250570"/>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1" name="接點: 肘形 20">
            <a:extLst>
              <a:ext uri="{FF2B5EF4-FFF2-40B4-BE49-F238E27FC236}">
                <a16:creationId xmlns:a16="http://schemas.microsoft.com/office/drawing/2014/main" id="{CA7E8A94-B3B0-408A-8E7A-8D5D87890709}"/>
              </a:ext>
            </a:extLst>
          </p:cNvPr>
          <p:cNvCxnSpPr>
            <a:stCxn id="15" idx="1"/>
            <a:endCxn id="4" idx="1"/>
          </p:cNvCxnSpPr>
          <p:nvPr/>
        </p:nvCxnSpPr>
        <p:spPr>
          <a:xfrm rot="10800000" flipH="1" flipV="1">
            <a:off x="938389" y="2305777"/>
            <a:ext cx="226289" cy="1712100"/>
          </a:xfrm>
          <a:prstGeom prst="bentConnector3">
            <a:avLst>
              <a:gd name="adj1" fmla="val -101021"/>
            </a:avLst>
          </a:prstGeom>
          <a:ln w="2540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22" name="文字方塊 21">
            <a:extLst>
              <a:ext uri="{FF2B5EF4-FFF2-40B4-BE49-F238E27FC236}">
                <a16:creationId xmlns:a16="http://schemas.microsoft.com/office/drawing/2014/main" id="{8236A8C9-5251-4696-8A49-886F7EFA81A9}"/>
              </a:ext>
            </a:extLst>
          </p:cNvPr>
          <p:cNvSpPr txBox="1"/>
          <p:nvPr/>
        </p:nvSpPr>
        <p:spPr>
          <a:xfrm>
            <a:off x="2358960" y="4208875"/>
            <a:ext cx="415498" cy="369332"/>
          </a:xfrm>
          <a:prstGeom prst="rect">
            <a:avLst/>
          </a:prstGeom>
          <a:noFill/>
        </p:spPr>
        <p:txBody>
          <a:bodyPr wrap="none" rtlCol="0">
            <a:spAutoFit/>
          </a:bodyPr>
          <a:lstStyle/>
          <a:p>
            <a:r>
              <a:rPr lang="zh-TW" altLang="en-US" dirty="0">
                <a:latin typeface="Adobe 仿宋 Std R" panose="02020400000000000000" pitchFamily="18" charset="-128"/>
                <a:ea typeface="Adobe 仿宋 Std R" panose="02020400000000000000" pitchFamily="18" charset="-128"/>
              </a:rPr>
              <a:t>正</a:t>
            </a:r>
          </a:p>
        </p:txBody>
      </p:sp>
      <p:sp>
        <p:nvSpPr>
          <p:cNvPr id="25" name="文字方塊 24">
            <a:extLst>
              <a:ext uri="{FF2B5EF4-FFF2-40B4-BE49-F238E27FC236}">
                <a16:creationId xmlns:a16="http://schemas.microsoft.com/office/drawing/2014/main" id="{83043DC5-6750-420F-98FA-B964FF0C81C1}"/>
              </a:ext>
            </a:extLst>
          </p:cNvPr>
          <p:cNvSpPr txBox="1"/>
          <p:nvPr/>
        </p:nvSpPr>
        <p:spPr>
          <a:xfrm>
            <a:off x="820721" y="4174589"/>
            <a:ext cx="415498" cy="369332"/>
          </a:xfrm>
          <a:prstGeom prst="rect">
            <a:avLst/>
          </a:prstGeom>
          <a:noFill/>
        </p:spPr>
        <p:txBody>
          <a:bodyPr wrap="none" rtlCol="0">
            <a:spAutoFit/>
          </a:bodyPr>
          <a:lstStyle/>
          <a:p>
            <a:r>
              <a:rPr lang="zh-TW" altLang="en-US" dirty="0">
                <a:latin typeface="Adobe 仿宋 Std R" panose="02020400000000000000" pitchFamily="18" charset="-128"/>
                <a:ea typeface="Adobe 仿宋 Std R" panose="02020400000000000000" pitchFamily="18" charset="-128"/>
              </a:rPr>
              <a:t>負</a:t>
            </a:r>
          </a:p>
        </p:txBody>
      </p:sp>
      <p:sp>
        <p:nvSpPr>
          <p:cNvPr id="23" name="文字方塊 22">
            <a:extLst>
              <a:ext uri="{FF2B5EF4-FFF2-40B4-BE49-F238E27FC236}">
                <a16:creationId xmlns:a16="http://schemas.microsoft.com/office/drawing/2014/main" id="{69BCFAE3-05DC-4197-B12F-0C1E127D89E4}"/>
              </a:ext>
            </a:extLst>
          </p:cNvPr>
          <p:cNvSpPr txBox="1"/>
          <p:nvPr/>
        </p:nvSpPr>
        <p:spPr>
          <a:xfrm>
            <a:off x="2358960" y="1864445"/>
            <a:ext cx="312906" cy="369332"/>
          </a:xfrm>
          <a:prstGeom prst="rect">
            <a:avLst/>
          </a:prstGeom>
          <a:noFill/>
        </p:spPr>
        <p:txBody>
          <a:bodyPr wrap="none" rtlCol="0">
            <a:spAutoFit/>
          </a:bodyPr>
          <a:lstStyle/>
          <a:p>
            <a:r>
              <a:rPr lang="en-US" altLang="zh-TW" dirty="0"/>
              <a:t>a</a:t>
            </a:r>
            <a:endParaRPr lang="zh-TW" altLang="en-US" dirty="0"/>
          </a:p>
        </p:txBody>
      </p:sp>
      <p:sp>
        <p:nvSpPr>
          <p:cNvPr id="27" name="文字方塊 26">
            <a:extLst>
              <a:ext uri="{FF2B5EF4-FFF2-40B4-BE49-F238E27FC236}">
                <a16:creationId xmlns:a16="http://schemas.microsoft.com/office/drawing/2014/main" id="{E4E3925B-BDA3-4477-8613-1E1D5ECF0D07}"/>
              </a:ext>
            </a:extLst>
          </p:cNvPr>
          <p:cNvSpPr txBox="1"/>
          <p:nvPr/>
        </p:nvSpPr>
        <p:spPr>
          <a:xfrm>
            <a:off x="843073" y="1886724"/>
            <a:ext cx="312906" cy="369332"/>
          </a:xfrm>
          <a:prstGeom prst="rect">
            <a:avLst/>
          </a:prstGeom>
          <a:noFill/>
        </p:spPr>
        <p:txBody>
          <a:bodyPr wrap="none" rtlCol="0">
            <a:spAutoFit/>
          </a:bodyPr>
          <a:lstStyle/>
          <a:p>
            <a:r>
              <a:rPr lang="en-US" altLang="zh-TW" dirty="0"/>
              <a:t>b</a:t>
            </a:r>
            <a:endParaRPr lang="zh-TW" altLang="en-US" dirty="0"/>
          </a:p>
        </p:txBody>
      </p:sp>
      <p:sp>
        <p:nvSpPr>
          <p:cNvPr id="28" name="橢圓 27">
            <a:extLst>
              <a:ext uri="{FF2B5EF4-FFF2-40B4-BE49-F238E27FC236}">
                <a16:creationId xmlns:a16="http://schemas.microsoft.com/office/drawing/2014/main" id="{BA033A24-A51E-4EA8-ABC3-7B02DCE3EF17}"/>
              </a:ext>
            </a:extLst>
          </p:cNvPr>
          <p:cNvSpPr/>
          <p:nvPr/>
        </p:nvSpPr>
        <p:spPr>
          <a:xfrm>
            <a:off x="4083215" y="1675777"/>
            <a:ext cx="1260000" cy="12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a:extLst>
              <a:ext uri="{FF2B5EF4-FFF2-40B4-BE49-F238E27FC236}">
                <a16:creationId xmlns:a16="http://schemas.microsoft.com/office/drawing/2014/main" id="{A95E37B6-B367-4029-B47D-B0386A4B2071}"/>
              </a:ext>
            </a:extLst>
          </p:cNvPr>
          <p:cNvSpPr/>
          <p:nvPr/>
        </p:nvSpPr>
        <p:spPr>
          <a:xfrm>
            <a:off x="4569215" y="2161777"/>
            <a:ext cx="288000" cy="288000"/>
          </a:xfrm>
          <a:prstGeom prst="ellipse">
            <a:avLst/>
          </a:prstGeom>
          <a:solidFill>
            <a:srgbClr val="CC3300"/>
          </a:solidFill>
          <a:ln>
            <a:solidFill>
              <a:srgbClr val="33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76E4401A-015C-4FAD-BDB9-9CFACD13F10B}"/>
              </a:ext>
            </a:extLst>
          </p:cNvPr>
          <p:cNvSpPr/>
          <p:nvPr/>
        </p:nvSpPr>
        <p:spPr>
          <a:xfrm>
            <a:off x="5343215" y="2233777"/>
            <a:ext cx="180160" cy="162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A8F2D16E-3900-4047-A000-D9D74BF01BC2}"/>
              </a:ext>
            </a:extLst>
          </p:cNvPr>
          <p:cNvSpPr/>
          <p:nvPr/>
        </p:nvSpPr>
        <p:spPr>
          <a:xfrm>
            <a:off x="3905989" y="2224737"/>
            <a:ext cx="180160" cy="162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4" name="群組 23">
            <a:extLst>
              <a:ext uri="{FF2B5EF4-FFF2-40B4-BE49-F238E27FC236}">
                <a16:creationId xmlns:a16="http://schemas.microsoft.com/office/drawing/2014/main" id="{97E2EDAC-3639-4B51-807A-9951617FD5C6}"/>
              </a:ext>
            </a:extLst>
          </p:cNvPr>
          <p:cNvGrpSpPr/>
          <p:nvPr/>
        </p:nvGrpSpPr>
        <p:grpSpPr>
          <a:xfrm rot="10800000">
            <a:off x="4132278" y="3797332"/>
            <a:ext cx="1239274" cy="441089"/>
            <a:chOff x="4132278" y="3797332"/>
            <a:chExt cx="1239274" cy="441089"/>
          </a:xfrm>
        </p:grpSpPr>
        <p:sp>
          <p:nvSpPr>
            <p:cNvPr id="32" name="矩形 31">
              <a:extLst>
                <a:ext uri="{FF2B5EF4-FFF2-40B4-BE49-F238E27FC236}">
                  <a16:creationId xmlns:a16="http://schemas.microsoft.com/office/drawing/2014/main" id="{474FBBE4-EC9B-46D6-8E7F-3912AA6F455C}"/>
                </a:ext>
              </a:extLst>
            </p:cNvPr>
            <p:cNvSpPr/>
            <p:nvPr/>
          </p:nvSpPr>
          <p:spPr>
            <a:xfrm>
              <a:off x="4132278" y="3797332"/>
              <a:ext cx="1167266" cy="441089"/>
            </a:xfrm>
            <a:prstGeom prst="rect">
              <a:avLst/>
            </a:prstGeom>
            <a:solidFill>
              <a:srgbClr val="92D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64516FB1-0164-43F2-B8B6-17A1C775D6B5}"/>
                </a:ext>
              </a:extLst>
            </p:cNvPr>
            <p:cNvSpPr/>
            <p:nvPr/>
          </p:nvSpPr>
          <p:spPr>
            <a:xfrm>
              <a:off x="5299544" y="3941348"/>
              <a:ext cx="72008" cy="144016"/>
            </a:xfrm>
            <a:prstGeom prst="rect">
              <a:avLst/>
            </a:prstGeom>
            <a:ln>
              <a:solidFill>
                <a:srgbClr val="33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34" name="接點: 肘形 33">
            <a:extLst>
              <a:ext uri="{FF2B5EF4-FFF2-40B4-BE49-F238E27FC236}">
                <a16:creationId xmlns:a16="http://schemas.microsoft.com/office/drawing/2014/main" id="{753C3A15-38C9-4D70-9A1C-BC3E6E0F82B9}"/>
              </a:ext>
            </a:extLst>
          </p:cNvPr>
          <p:cNvCxnSpPr>
            <a:cxnSpLocks/>
            <a:stCxn id="33" idx="3"/>
            <a:endCxn id="31" idx="1"/>
          </p:cNvCxnSpPr>
          <p:nvPr/>
        </p:nvCxnSpPr>
        <p:spPr>
          <a:xfrm rot="10800000">
            <a:off x="3905990" y="2305777"/>
            <a:ext cx="226289" cy="1716620"/>
          </a:xfrm>
          <a:prstGeom prst="bentConnector3">
            <a:avLst>
              <a:gd name="adj1" fmla="val 20102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5" name="接點: 肘形 34">
            <a:extLst>
              <a:ext uri="{FF2B5EF4-FFF2-40B4-BE49-F238E27FC236}">
                <a16:creationId xmlns:a16="http://schemas.microsoft.com/office/drawing/2014/main" id="{573F7C77-2A0E-49DF-8B64-5435B0526372}"/>
              </a:ext>
            </a:extLst>
          </p:cNvPr>
          <p:cNvCxnSpPr>
            <a:cxnSpLocks/>
            <a:stCxn id="30" idx="3"/>
            <a:endCxn id="32" idx="1"/>
          </p:cNvCxnSpPr>
          <p:nvPr/>
        </p:nvCxnSpPr>
        <p:spPr>
          <a:xfrm flipH="1">
            <a:off x="5371552" y="2314817"/>
            <a:ext cx="151823" cy="1703059"/>
          </a:xfrm>
          <a:prstGeom prst="bentConnector3">
            <a:avLst>
              <a:gd name="adj1" fmla="val -150570"/>
            </a:avLst>
          </a:prstGeom>
          <a:ln w="2540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36" name="文字方塊 35">
            <a:extLst>
              <a:ext uri="{FF2B5EF4-FFF2-40B4-BE49-F238E27FC236}">
                <a16:creationId xmlns:a16="http://schemas.microsoft.com/office/drawing/2014/main" id="{DC4E31E7-08A8-4884-BC8C-3675032A3418}"/>
              </a:ext>
            </a:extLst>
          </p:cNvPr>
          <p:cNvSpPr txBox="1"/>
          <p:nvPr/>
        </p:nvSpPr>
        <p:spPr>
          <a:xfrm>
            <a:off x="3890008" y="4174589"/>
            <a:ext cx="415498" cy="369332"/>
          </a:xfrm>
          <a:prstGeom prst="rect">
            <a:avLst/>
          </a:prstGeom>
          <a:noFill/>
        </p:spPr>
        <p:txBody>
          <a:bodyPr wrap="none" rtlCol="0">
            <a:spAutoFit/>
          </a:bodyPr>
          <a:lstStyle/>
          <a:p>
            <a:r>
              <a:rPr lang="zh-TW" altLang="en-US" dirty="0">
                <a:latin typeface="Adobe 仿宋 Std R" panose="02020400000000000000" pitchFamily="18" charset="-128"/>
                <a:ea typeface="Adobe 仿宋 Std R" panose="02020400000000000000" pitchFamily="18" charset="-128"/>
              </a:rPr>
              <a:t>正</a:t>
            </a:r>
          </a:p>
        </p:txBody>
      </p:sp>
      <p:sp>
        <p:nvSpPr>
          <p:cNvPr id="37" name="文字方塊 36">
            <a:extLst>
              <a:ext uri="{FF2B5EF4-FFF2-40B4-BE49-F238E27FC236}">
                <a16:creationId xmlns:a16="http://schemas.microsoft.com/office/drawing/2014/main" id="{8371D298-BCF7-4154-AB69-804CAA9E34FF}"/>
              </a:ext>
            </a:extLst>
          </p:cNvPr>
          <p:cNvSpPr txBox="1"/>
          <p:nvPr/>
        </p:nvSpPr>
        <p:spPr>
          <a:xfrm>
            <a:off x="5270331" y="4187494"/>
            <a:ext cx="415498" cy="369332"/>
          </a:xfrm>
          <a:prstGeom prst="rect">
            <a:avLst/>
          </a:prstGeom>
          <a:noFill/>
        </p:spPr>
        <p:txBody>
          <a:bodyPr wrap="none" rtlCol="0">
            <a:spAutoFit/>
          </a:bodyPr>
          <a:lstStyle/>
          <a:p>
            <a:r>
              <a:rPr lang="zh-TW" altLang="en-US" dirty="0">
                <a:latin typeface="Adobe 仿宋 Std R" panose="02020400000000000000" pitchFamily="18" charset="-128"/>
                <a:ea typeface="Adobe 仿宋 Std R" panose="02020400000000000000" pitchFamily="18" charset="-128"/>
              </a:rPr>
              <a:t>負</a:t>
            </a:r>
          </a:p>
        </p:txBody>
      </p:sp>
      <p:sp>
        <p:nvSpPr>
          <p:cNvPr id="38" name="文字方塊 37">
            <a:extLst>
              <a:ext uri="{FF2B5EF4-FFF2-40B4-BE49-F238E27FC236}">
                <a16:creationId xmlns:a16="http://schemas.microsoft.com/office/drawing/2014/main" id="{2718BE35-AC02-4B3F-8F30-87DC1A19DB4C}"/>
              </a:ext>
            </a:extLst>
          </p:cNvPr>
          <p:cNvSpPr txBox="1"/>
          <p:nvPr/>
        </p:nvSpPr>
        <p:spPr>
          <a:xfrm>
            <a:off x="5326559" y="1864445"/>
            <a:ext cx="312906" cy="369332"/>
          </a:xfrm>
          <a:prstGeom prst="rect">
            <a:avLst/>
          </a:prstGeom>
          <a:noFill/>
        </p:spPr>
        <p:txBody>
          <a:bodyPr wrap="none" rtlCol="0">
            <a:spAutoFit/>
          </a:bodyPr>
          <a:lstStyle/>
          <a:p>
            <a:r>
              <a:rPr lang="en-US" altLang="zh-TW" dirty="0"/>
              <a:t>a</a:t>
            </a:r>
            <a:endParaRPr lang="zh-TW" altLang="en-US" dirty="0"/>
          </a:p>
        </p:txBody>
      </p:sp>
      <p:sp>
        <p:nvSpPr>
          <p:cNvPr id="39" name="文字方塊 38">
            <a:extLst>
              <a:ext uri="{FF2B5EF4-FFF2-40B4-BE49-F238E27FC236}">
                <a16:creationId xmlns:a16="http://schemas.microsoft.com/office/drawing/2014/main" id="{C2C09AE9-CFCF-49AA-A6A7-018F7CBE9D38}"/>
              </a:ext>
            </a:extLst>
          </p:cNvPr>
          <p:cNvSpPr txBox="1"/>
          <p:nvPr/>
        </p:nvSpPr>
        <p:spPr>
          <a:xfrm>
            <a:off x="3810672" y="1886724"/>
            <a:ext cx="312906" cy="369332"/>
          </a:xfrm>
          <a:prstGeom prst="rect">
            <a:avLst/>
          </a:prstGeom>
          <a:noFill/>
        </p:spPr>
        <p:txBody>
          <a:bodyPr wrap="none" rtlCol="0">
            <a:spAutoFit/>
          </a:bodyPr>
          <a:lstStyle/>
          <a:p>
            <a:r>
              <a:rPr lang="en-US" altLang="zh-TW" dirty="0"/>
              <a:t>b</a:t>
            </a:r>
            <a:endParaRPr lang="zh-TW" altLang="en-US" dirty="0"/>
          </a:p>
        </p:txBody>
      </p:sp>
      <p:sp>
        <p:nvSpPr>
          <p:cNvPr id="42" name="箭號: 弧形右彎 41">
            <a:extLst>
              <a:ext uri="{FF2B5EF4-FFF2-40B4-BE49-F238E27FC236}">
                <a16:creationId xmlns:a16="http://schemas.microsoft.com/office/drawing/2014/main" id="{73D15B62-6DDB-4363-B25F-56394261206E}"/>
              </a:ext>
            </a:extLst>
          </p:cNvPr>
          <p:cNvSpPr/>
          <p:nvPr/>
        </p:nvSpPr>
        <p:spPr>
          <a:xfrm rot="10146839">
            <a:off x="1863701" y="1968904"/>
            <a:ext cx="360639" cy="551719"/>
          </a:xfrm>
          <a:prstGeom prst="curved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45" name="箭號: 弧形右彎 44">
            <a:extLst>
              <a:ext uri="{FF2B5EF4-FFF2-40B4-BE49-F238E27FC236}">
                <a16:creationId xmlns:a16="http://schemas.microsoft.com/office/drawing/2014/main" id="{A086E8A4-CADB-4857-BA51-081195C1173D}"/>
              </a:ext>
            </a:extLst>
          </p:cNvPr>
          <p:cNvSpPr/>
          <p:nvPr/>
        </p:nvSpPr>
        <p:spPr>
          <a:xfrm rot="10800000" flipH="1">
            <a:off x="4357305" y="1953739"/>
            <a:ext cx="358711" cy="716496"/>
          </a:xfrm>
          <a:prstGeom prst="curved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43" name="文字方塊 42">
            <a:extLst>
              <a:ext uri="{FF2B5EF4-FFF2-40B4-BE49-F238E27FC236}">
                <a16:creationId xmlns:a16="http://schemas.microsoft.com/office/drawing/2014/main" id="{542BE6A0-A4EC-4DBA-A300-30A0477F2779}"/>
              </a:ext>
            </a:extLst>
          </p:cNvPr>
          <p:cNvSpPr txBox="1"/>
          <p:nvPr/>
        </p:nvSpPr>
        <p:spPr>
          <a:xfrm>
            <a:off x="6064609" y="1582340"/>
            <a:ext cx="2257066" cy="3693319"/>
          </a:xfrm>
          <a:prstGeom prst="rect">
            <a:avLst/>
          </a:prstGeom>
          <a:noFill/>
        </p:spPr>
        <p:txBody>
          <a:bodyPr wrap="square" rtlCol="0">
            <a:spAutoFit/>
          </a:bodyPr>
          <a:lstStyle/>
          <a:p>
            <a:r>
              <a:rPr lang="zh-TW" altLang="en-US" dirty="0">
                <a:latin typeface="Adobe 仿宋 Std R" panose="02020400000000000000" pitchFamily="18" charset="-128"/>
                <a:ea typeface="Adobe 仿宋 Std R" panose="02020400000000000000" pitchFamily="18" charset="-128"/>
              </a:rPr>
              <a:t>馬達轉動原理：</a:t>
            </a:r>
            <a:endParaRPr lang="en-US" altLang="zh-TW" dirty="0">
              <a:latin typeface="Adobe 仿宋 Std R" panose="02020400000000000000" pitchFamily="18" charset="-128"/>
              <a:ea typeface="Adobe 仿宋 Std R" panose="02020400000000000000" pitchFamily="18" charset="-128"/>
            </a:endParaRPr>
          </a:p>
          <a:p>
            <a:endParaRPr lang="en-US" altLang="zh-TW" dirty="0">
              <a:latin typeface="Adobe 仿宋 Std R" panose="02020400000000000000" pitchFamily="18" charset="-128"/>
              <a:ea typeface="Adobe 仿宋 Std R" panose="02020400000000000000" pitchFamily="18" charset="-128"/>
            </a:endParaRPr>
          </a:p>
          <a:p>
            <a:r>
              <a:rPr lang="zh-TW" altLang="en-US" dirty="0">
                <a:latin typeface="Adobe 仿宋 Std R" panose="02020400000000000000" pitchFamily="18" charset="-128"/>
                <a:ea typeface="Adobe 仿宋 Std R" panose="02020400000000000000" pitchFamily="18" charset="-128"/>
              </a:rPr>
              <a:t>直流馬達有正負二極由電池向正極供正電時會向順時針方向轉動。</a:t>
            </a:r>
            <a:endParaRPr lang="en-US" altLang="zh-TW" dirty="0">
              <a:latin typeface="Adobe 仿宋 Std R" panose="02020400000000000000" pitchFamily="18" charset="-128"/>
              <a:ea typeface="Adobe 仿宋 Std R" panose="02020400000000000000" pitchFamily="18" charset="-128"/>
            </a:endParaRPr>
          </a:p>
          <a:p>
            <a:endParaRPr lang="en-US" altLang="zh-TW" dirty="0">
              <a:latin typeface="Adobe 仿宋 Std R" panose="02020400000000000000" pitchFamily="18" charset="-128"/>
              <a:ea typeface="Adobe 仿宋 Std R" panose="02020400000000000000" pitchFamily="18" charset="-128"/>
            </a:endParaRPr>
          </a:p>
          <a:p>
            <a:r>
              <a:rPr lang="zh-TW" altLang="en-US" dirty="0">
                <a:latin typeface="Adobe 仿宋 Std R" panose="02020400000000000000" pitchFamily="18" charset="-128"/>
                <a:ea typeface="Adobe 仿宋 Std R" panose="02020400000000000000" pitchFamily="18" charset="-128"/>
              </a:rPr>
              <a:t>由電池向負極供正電時會向反時針方向轉動。</a:t>
            </a:r>
          </a:p>
          <a:p>
            <a:endParaRPr lang="en-US" altLang="zh-TW" dirty="0">
              <a:latin typeface="Adobe 仿宋 Std R" panose="02020400000000000000" pitchFamily="18" charset="-128"/>
              <a:ea typeface="Adobe 仿宋 Std R" panose="02020400000000000000" pitchFamily="18" charset="-128"/>
            </a:endParaRPr>
          </a:p>
          <a:p>
            <a:r>
              <a:rPr lang="zh-TW" altLang="en-US" dirty="0">
                <a:latin typeface="Adobe 仿宋 Std R" panose="02020400000000000000" pitchFamily="18" charset="-128"/>
                <a:ea typeface="Adobe 仿宋 Std R" panose="02020400000000000000" pitchFamily="18" charset="-128"/>
              </a:rPr>
              <a:t>不供電時會停止。</a:t>
            </a:r>
          </a:p>
          <a:p>
            <a:endParaRPr lang="zh-TW" altLang="en-US" dirty="0">
              <a:latin typeface="Adobe 仿宋 Std R" panose="02020400000000000000" pitchFamily="18" charset="-128"/>
              <a:ea typeface="Adobe 仿宋 Std R" panose="02020400000000000000" pitchFamily="18" charset="-128"/>
            </a:endParaRPr>
          </a:p>
        </p:txBody>
      </p:sp>
    </p:spTree>
    <p:extLst>
      <p:ext uri="{BB962C8B-B14F-4D97-AF65-F5344CB8AC3E}">
        <p14:creationId xmlns:p14="http://schemas.microsoft.com/office/powerpoint/2010/main" val="5294568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矩形 98">
            <a:extLst>
              <a:ext uri="{FF2B5EF4-FFF2-40B4-BE49-F238E27FC236}">
                <a16:creationId xmlns:a16="http://schemas.microsoft.com/office/drawing/2014/main" id="{7DBA1B59-2016-4107-A990-BF1E31C12EE0}"/>
              </a:ext>
            </a:extLst>
          </p:cNvPr>
          <p:cNvSpPr/>
          <p:nvPr/>
        </p:nvSpPr>
        <p:spPr>
          <a:xfrm>
            <a:off x="3874847" y="3861048"/>
            <a:ext cx="4187964" cy="25202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74" name="投影片編號版面配置區 5"/>
          <p:cNvSpPr>
            <a:spLocks noGrp="1"/>
          </p:cNvSpPr>
          <p:nvPr>
            <p:ph type="sldNum" sz="quarter" idx="4294967295"/>
          </p:nvPr>
        </p:nvSpPr>
        <p:spPr>
          <a:xfrm>
            <a:off x="65532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algn="r" eaLnBrk="1" hangingPunct="1"/>
            <a:fld id="{6EF48B32-5023-4647-9814-3135F4A1EC26}" type="slidenum">
              <a:rPr lang="en-US" altLang="zh-TW" smtClean="0"/>
              <a:pPr algn="r" eaLnBrk="1" hangingPunct="1"/>
              <a:t>18</a:t>
            </a:fld>
            <a:endParaRPr lang="en-US" altLang="zh-TW" dirty="0"/>
          </a:p>
        </p:txBody>
      </p:sp>
      <p:sp>
        <p:nvSpPr>
          <p:cNvPr id="3075" name="Rectangle 2"/>
          <p:cNvSpPr>
            <a:spLocks noGrp="1" noChangeArrowheads="1"/>
          </p:cNvSpPr>
          <p:nvPr>
            <p:ph type="ctrTitle"/>
          </p:nvPr>
        </p:nvSpPr>
        <p:spPr>
          <a:xfrm>
            <a:off x="684213" y="549275"/>
            <a:ext cx="7772400" cy="719485"/>
          </a:xfrm>
        </p:spPr>
        <p:txBody>
          <a:bodyPr/>
          <a:lstStyle/>
          <a:p>
            <a:pPr algn="l" eaLnBrk="1" hangingPunct="1"/>
            <a:r>
              <a:rPr lang="zh-TW" altLang="en-US" sz="3200" b="1" dirty="0">
                <a:latin typeface="Adobe 繁黑體 Std B" panose="020B0700000000000000" pitchFamily="34" charset="-120"/>
                <a:ea typeface="Adobe 繁黑體 Std B" panose="020B0700000000000000" pitchFamily="34" charset="-120"/>
              </a:rPr>
              <a:t>馬達驅動</a:t>
            </a:r>
            <a:endParaRPr lang="en-US" altLang="zh-TW" sz="3200" b="1" dirty="0">
              <a:latin typeface="Adobe 繁黑體 Std B" panose="020B0700000000000000" pitchFamily="34" charset="-120"/>
              <a:ea typeface="Adobe 繁黑體 Std B" panose="020B0700000000000000" pitchFamily="34" charset="-120"/>
            </a:endParaRPr>
          </a:p>
        </p:txBody>
      </p:sp>
      <p:sp>
        <p:nvSpPr>
          <p:cNvPr id="2" name="橢圓 1">
            <a:extLst>
              <a:ext uri="{FF2B5EF4-FFF2-40B4-BE49-F238E27FC236}">
                <a16:creationId xmlns:a16="http://schemas.microsoft.com/office/drawing/2014/main" id="{79EDA1EA-9915-4D6F-96D0-70A30E907686}"/>
              </a:ext>
            </a:extLst>
          </p:cNvPr>
          <p:cNvSpPr/>
          <p:nvPr/>
        </p:nvSpPr>
        <p:spPr>
          <a:xfrm>
            <a:off x="1115616" y="1675777"/>
            <a:ext cx="1260000" cy="12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a:extLst>
              <a:ext uri="{FF2B5EF4-FFF2-40B4-BE49-F238E27FC236}">
                <a16:creationId xmlns:a16="http://schemas.microsoft.com/office/drawing/2014/main" id="{4B63EAE0-995B-49B8-A8B3-58717700B915}"/>
              </a:ext>
            </a:extLst>
          </p:cNvPr>
          <p:cNvSpPr/>
          <p:nvPr/>
        </p:nvSpPr>
        <p:spPr>
          <a:xfrm>
            <a:off x="1601616" y="2161777"/>
            <a:ext cx="288000" cy="288000"/>
          </a:xfrm>
          <a:prstGeom prst="ellipse">
            <a:avLst/>
          </a:prstGeom>
          <a:solidFill>
            <a:srgbClr val="CC3300"/>
          </a:solidFill>
          <a:ln>
            <a:solidFill>
              <a:srgbClr val="33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FC9BDB92-EA40-4F02-837A-EDD0831F4C2D}"/>
              </a:ext>
            </a:extLst>
          </p:cNvPr>
          <p:cNvSpPr/>
          <p:nvPr/>
        </p:nvSpPr>
        <p:spPr>
          <a:xfrm>
            <a:off x="2375616" y="2233777"/>
            <a:ext cx="180160" cy="162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347872E1-9D39-41B2-9A52-EF6DF3BC8233}"/>
              </a:ext>
            </a:extLst>
          </p:cNvPr>
          <p:cNvSpPr/>
          <p:nvPr/>
        </p:nvSpPr>
        <p:spPr>
          <a:xfrm>
            <a:off x="938390" y="2224737"/>
            <a:ext cx="180160" cy="162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 name="群組 4">
            <a:extLst>
              <a:ext uri="{FF2B5EF4-FFF2-40B4-BE49-F238E27FC236}">
                <a16:creationId xmlns:a16="http://schemas.microsoft.com/office/drawing/2014/main" id="{D656827C-0DDC-42C8-8AB3-E0377D565F86}"/>
              </a:ext>
            </a:extLst>
          </p:cNvPr>
          <p:cNvGrpSpPr/>
          <p:nvPr/>
        </p:nvGrpSpPr>
        <p:grpSpPr>
          <a:xfrm>
            <a:off x="1171509" y="5236282"/>
            <a:ext cx="1239274" cy="441089"/>
            <a:chOff x="1164679" y="3797332"/>
            <a:chExt cx="1239274" cy="441089"/>
          </a:xfrm>
        </p:grpSpPr>
        <p:sp>
          <p:nvSpPr>
            <p:cNvPr id="4" name="矩形 3">
              <a:extLst>
                <a:ext uri="{FF2B5EF4-FFF2-40B4-BE49-F238E27FC236}">
                  <a16:creationId xmlns:a16="http://schemas.microsoft.com/office/drawing/2014/main" id="{5719113E-267E-4884-A38E-93A16A20BB74}"/>
                </a:ext>
              </a:extLst>
            </p:cNvPr>
            <p:cNvSpPr/>
            <p:nvPr/>
          </p:nvSpPr>
          <p:spPr>
            <a:xfrm>
              <a:off x="1164679" y="3797332"/>
              <a:ext cx="1167266" cy="441089"/>
            </a:xfrm>
            <a:prstGeom prst="rect">
              <a:avLst/>
            </a:prstGeom>
            <a:solidFill>
              <a:srgbClr val="92D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57C2999D-6772-422D-B0D0-025B81819C14}"/>
                </a:ext>
              </a:extLst>
            </p:cNvPr>
            <p:cNvSpPr/>
            <p:nvPr/>
          </p:nvSpPr>
          <p:spPr>
            <a:xfrm>
              <a:off x="2331945" y="3941348"/>
              <a:ext cx="72008" cy="144016"/>
            </a:xfrm>
            <a:prstGeom prst="rect">
              <a:avLst/>
            </a:prstGeom>
            <a:ln>
              <a:solidFill>
                <a:srgbClr val="33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18" name="接點: 肘形 17">
            <a:extLst>
              <a:ext uri="{FF2B5EF4-FFF2-40B4-BE49-F238E27FC236}">
                <a16:creationId xmlns:a16="http://schemas.microsoft.com/office/drawing/2014/main" id="{815A1DAE-C79D-43E3-AF55-B572C84F2891}"/>
              </a:ext>
            </a:extLst>
          </p:cNvPr>
          <p:cNvCxnSpPr>
            <a:cxnSpLocks/>
            <a:stCxn id="9" idx="3"/>
            <a:endCxn id="6" idx="3"/>
          </p:cNvCxnSpPr>
          <p:nvPr/>
        </p:nvCxnSpPr>
        <p:spPr>
          <a:xfrm flipH="1" flipV="1">
            <a:off x="2146031" y="4465635"/>
            <a:ext cx="264752" cy="986671"/>
          </a:xfrm>
          <a:prstGeom prst="bentConnector3">
            <a:avLst>
              <a:gd name="adj1" fmla="val -86345"/>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1" name="接點: 肘形 20">
            <a:extLst>
              <a:ext uri="{FF2B5EF4-FFF2-40B4-BE49-F238E27FC236}">
                <a16:creationId xmlns:a16="http://schemas.microsoft.com/office/drawing/2014/main" id="{CA7E8A94-B3B0-408A-8E7A-8D5D87890709}"/>
              </a:ext>
            </a:extLst>
          </p:cNvPr>
          <p:cNvCxnSpPr>
            <a:cxnSpLocks/>
            <a:stCxn id="6" idx="1"/>
            <a:endCxn id="4" idx="1"/>
          </p:cNvCxnSpPr>
          <p:nvPr/>
        </p:nvCxnSpPr>
        <p:spPr>
          <a:xfrm rot="10800000" flipV="1">
            <a:off x="1171510" y="4465635"/>
            <a:ext cx="169621" cy="991192"/>
          </a:xfrm>
          <a:prstGeom prst="bentConnector3">
            <a:avLst>
              <a:gd name="adj1" fmla="val 234771"/>
            </a:avLst>
          </a:prstGeom>
          <a:ln w="25400">
            <a:solidFill>
              <a:schemeClr val="tx1"/>
            </a:solidFill>
            <a:headEnd type="arrow" w="lg" len="lg"/>
            <a:tailEnd type="none" w="lg" len="lg"/>
          </a:ln>
        </p:spPr>
        <p:style>
          <a:lnRef idx="1">
            <a:schemeClr val="accent1"/>
          </a:lnRef>
          <a:fillRef idx="0">
            <a:schemeClr val="accent1"/>
          </a:fillRef>
          <a:effectRef idx="0">
            <a:schemeClr val="accent1"/>
          </a:effectRef>
          <a:fontRef idx="minor">
            <a:schemeClr val="tx1"/>
          </a:fontRef>
        </p:style>
      </p:cxnSp>
      <p:sp>
        <p:nvSpPr>
          <p:cNvPr id="22" name="文字方塊 21">
            <a:extLst>
              <a:ext uri="{FF2B5EF4-FFF2-40B4-BE49-F238E27FC236}">
                <a16:creationId xmlns:a16="http://schemas.microsoft.com/office/drawing/2014/main" id="{8236A8C9-5251-4696-8A49-886F7EFA81A9}"/>
              </a:ext>
            </a:extLst>
          </p:cNvPr>
          <p:cNvSpPr txBox="1"/>
          <p:nvPr/>
        </p:nvSpPr>
        <p:spPr>
          <a:xfrm>
            <a:off x="2348027" y="5492705"/>
            <a:ext cx="415498" cy="369332"/>
          </a:xfrm>
          <a:prstGeom prst="rect">
            <a:avLst/>
          </a:prstGeom>
          <a:noFill/>
        </p:spPr>
        <p:txBody>
          <a:bodyPr wrap="none" rtlCol="0">
            <a:spAutoFit/>
          </a:bodyPr>
          <a:lstStyle/>
          <a:p>
            <a:r>
              <a:rPr lang="zh-TW" altLang="en-US" dirty="0">
                <a:latin typeface="Adobe 仿宋 Std R" panose="02020400000000000000" pitchFamily="18" charset="-128"/>
                <a:ea typeface="Adobe 仿宋 Std R" panose="02020400000000000000" pitchFamily="18" charset="-128"/>
              </a:rPr>
              <a:t>正</a:t>
            </a:r>
          </a:p>
        </p:txBody>
      </p:sp>
      <p:sp>
        <p:nvSpPr>
          <p:cNvPr id="25" name="文字方塊 24">
            <a:extLst>
              <a:ext uri="{FF2B5EF4-FFF2-40B4-BE49-F238E27FC236}">
                <a16:creationId xmlns:a16="http://schemas.microsoft.com/office/drawing/2014/main" id="{83043DC5-6750-420F-98FA-B964FF0C81C1}"/>
              </a:ext>
            </a:extLst>
          </p:cNvPr>
          <p:cNvSpPr txBox="1"/>
          <p:nvPr/>
        </p:nvSpPr>
        <p:spPr>
          <a:xfrm>
            <a:off x="792986" y="5492705"/>
            <a:ext cx="415498" cy="369332"/>
          </a:xfrm>
          <a:prstGeom prst="rect">
            <a:avLst/>
          </a:prstGeom>
          <a:noFill/>
        </p:spPr>
        <p:txBody>
          <a:bodyPr wrap="none" rtlCol="0">
            <a:spAutoFit/>
          </a:bodyPr>
          <a:lstStyle/>
          <a:p>
            <a:r>
              <a:rPr lang="zh-TW" altLang="en-US" dirty="0">
                <a:latin typeface="Adobe 仿宋 Std R" panose="02020400000000000000" pitchFamily="18" charset="-128"/>
                <a:ea typeface="Adobe 仿宋 Std R" panose="02020400000000000000" pitchFamily="18" charset="-128"/>
              </a:rPr>
              <a:t>負</a:t>
            </a:r>
          </a:p>
        </p:txBody>
      </p:sp>
      <p:sp>
        <p:nvSpPr>
          <p:cNvPr id="23" name="文字方塊 22">
            <a:extLst>
              <a:ext uri="{FF2B5EF4-FFF2-40B4-BE49-F238E27FC236}">
                <a16:creationId xmlns:a16="http://schemas.microsoft.com/office/drawing/2014/main" id="{69BCFAE3-05DC-4197-B12F-0C1E127D89E4}"/>
              </a:ext>
            </a:extLst>
          </p:cNvPr>
          <p:cNvSpPr txBox="1"/>
          <p:nvPr/>
        </p:nvSpPr>
        <p:spPr>
          <a:xfrm>
            <a:off x="2358960" y="1864445"/>
            <a:ext cx="312906" cy="369332"/>
          </a:xfrm>
          <a:prstGeom prst="rect">
            <a:avLst/>
          </a:prstGeom>
          <a:noFill/>
        </p:spPr>
        <p:txBody>
          <a:bodyPr wrap="none" rtlCol="0">
            <a:spAutoFit/>
          </a:bodyPr>
          <a:lstStyle/>
          <a:p>
            <a:r>
              <a:rPr lang="en-US" altLang="zh-TW" dirty="0"/>
              <a:t>a</a:t>
            </a:r>
            <a:endParaRPr lang="zh-TW" altLang="en-US" dirty="0"/>
          </a:p>
        </p:txBody>
      </p:sp>
      <p:sp>
        <p:nvSpPr>
          <p:cNvPr id="27" name="文字方塊 26">
            <a:extLst>
              <a:ext uri="{FF2B5EF4-FFF2-40B4-BE49-F238E27FC236}">
                <a16:creationId xmlns:a16="http://schemas.microsoft.com/office/drawing/2014/main" id="{E4E3925B-BDA3-4477-8613-1E1D5ECF0D07}"/>
              </a:ext>
            </a:extLst>
          </p:cNvPr>
          <p:cNvSpPr txBox="1"/>
          <p:nvPr/>
        </p:nvSpPr>
        <p:spPr>
          <a:xfrm>
            <a:off x="843073" y="1886724"/>
            <a:ext cx="312906" cy="369332"/>
          </a:xfrm>
          <a:prstGeom prst="rect">
            <a:avLst/>
          </a:prstGeom>
          <a:noFill/>
        </p:spPr>
        <p:txBody>
          <a:bodyPr wrap="none" rtlCol="0">
            <a:spAutoFit/>
          </a:bodyPr>
          <a:lstStyle/>
          <a:p>
            <a:r>
              <a:rPr lang="en-US" altLang="zh-TW" dirty="0"/>
              <a:t>b</a:t>
            </a:r>
            <a:endParaRPr lang="zh-TW" altLang="en-US" dirty="0"/>
          </a:p>
        </p:txBody>
      </p:sp>
      <p:sp>
        <p:nvSpPr>
          <p:cNvPr id="43" name="文字方塊 42">
            <a:extLst>
              <a:ext uri="{FF2B5EF4-FFF2-40B4-BE49-F238E27FC236}">
                <a16:creationId xmlns:a16="http://schemas.microsoft.com/office/drawing/2014/main" id="{542BE6A0-A4EC-4DBA-A300-30A0477F2779}"/>
              </a:ext>
            </a:extLst>
          </p:cNvPr>
          <p:cNvSpPr txBox="1"/>
          <p:nvPr/>
        </p:nvSpPr>
        <p:spPr>
          <a:xfrm>
            <a:off x="3811347" y="906820"/>
            <a:ext cx="4187964" cy="2862322"/>
          </a:xfrm>
          <a:prstGeom prst="rect">
            <a:avLst/>
          </a:prstGeom>
          <a:noFill/>
        </p:spPr>
        <p:txBody>
          <a:bodyPr wrap="square" rtlCol="0">
            <a:spAutoFit/>
          </a:bodyPr>
          <a:lstStyle/>
          <a:p>
            <a:r>
              <a:rPr lang="zh-TW" altLang="en-US" dirty="0">
                <a:latin typeface="Adobe 仿宋 Std R" panose="02020400000000000000" pitchFamily="18" charset="-128"/>
                <a:ea typeface="Adobe 仿宋 Std R" panose="02020400000000000000" pitchFamily="18" charset="-128"/>
              </a:rPr>
              <a:t>以邏輯電路控制馬達轉動：</a:t>
            </a:r>
            <a:endParaRPr lang="en-US" altLang="zh-TW" dirty="0">
              <a:latin typeface="Adobe 仿宋 Std R" panose="02020400000000000000" pitchFamily="18" charset="-128"/>
              <a:ea typeface="Adobe 仿宋 Std R" panose="02020400000000000000" pitchFamily="18" charset="-128"/>
            </a:endParaRPr>
          </a:p>
          <a:p>
            <a:endParaRPr lang="en-US" altLang="zh-TW" dirty="0">
              <a:latin typeface="Adobe 仿宋 Std R" panose="02020400000000000000" pitchFamily="18" charset="-128"/>
              <a:ea typeface="Adobe 仿宋 Std R" panose="02020400000000000000" pitchFamily="18" charset="-128"/>
            </a:endParaRPr>
          </a:p>
          <a:p>
            <a:pPr algn="just"/>
            <a:r>
              <a:rPr lang="zh-TW" altLang="en-US" dirty="0">
                <a:latin typeface="Adobe 仿宋 Std R" panose="02020400000000000000" pitchFamily="18" charset="-128"/>
                <a:ea typeface="Adobe 仿宋 Std R" panose="02020400000000000000" pitchFamily="18" charset="-128"/>
              </a:rPr>
              <a:t>利用電子邏輯電路中的閘道控制將正負電導向</a:t>
            </a:r>
            <a:r>
              <a:rPr lang="en-US" altLang="zh-TW" dirty="0">
                <a:latin typeface="Adobe 仿宋 Std R" panose="02020400000000000000" pitchFamily="18" charset="-128"/>
                <a:ea typeface="Adobe 仿宋 Std R" panose="02020400000000000000" pitchFamily="18" charset="-128"/>
              </a:rPr>
              <a:t>a, b</a:t>
            </a:r>
            <a:r>
              <a:rPr lang="zh-TW" altLang="en-US" dirty="0">
                <a:latin typeface="Adobe 仿宋 Std R" panose="02020400000000000000" pitchFamily="18" charset="-128"/>
                <a:ea typeface="Adobe 仿宋 Std R" panose="02020400000000000000" pitchFamily="18" charset="-128"/>
              </a:rPr>
              <a:t>二點，形成直流馬達依電的正負極性驅動電機向順或反時針方向轉動，或二點皆不供電使電機停止轉動。</a:t>
            </a:r>
            <a:endParaRPr lang="en-US" altLang="zh-TW" dirty="0">
              <a:latin typeface="Adobe 仿宋 Std R" panose="02020400000000000000" pitchFamily="18" charset="-128"/>
              <a:ea typeface="Adobe 仿宋 Std R" panose="02020400000000000000" pitchFamily="18" charset="-128"/>
            </a:endParaRPr>
          </a:p>
          <a:p>
            <a:endParaRPr lang="en-US" altLang="zh-TW" dirty="0">
              <a:latin typeface="Adobe 仿宋 Std R" panose="02020400000000000000" pitchFamily="18" charset="-128"/>
              <a:ea typeface="Adobe 仿宋 Std R" panose="02020400000000000000" pitchFamily="18" charset="-128"/>
            </a:endParaRPr>
          </a:p>
          <a:p>
            <a:pPr algn="just"/>
            <a:r>
              <a:rPr lang="zh-TW" altLang="en-US" dirty="0">
                <a:latin typeface="Adobe 仿宋 Std R" panose="02020400000000000000" pitchFamily="18" charset="-128"/>
                <a:ea typeface="Adobe 仿宋 Std R" panose="02020400000000000000" pitchFamily="18" charset="-128"/>
              </a:rPr>
              <a:t>程式是控制電路驅動器提供高低電位，以觸發邏輯電路閘道的開關，以達到電機的轉動或停止。</a:t>
            </a:r>
          </a:p>
        </p:txBody>
      </p:sp>
      <p:sp>
        <p:nvSpPr>
          <p:cNvPr id="6" name="矩形 5">
            <a:extLst>
              <a:ext uri="{FF2B5EF4-FFF2-40B4-BE49-F238E27FC236}">
                <a16:creationId xmlns:a16="http://schemas.microsoft.com/office/drawing/2014/main" id="{20EB14AA-624C-41A4-8380-D7731145B842}"/>
              </a:ext>
            </a:extLst>
          </p:cNvPr>
          <p:cNvSpPr/>
          <p:nvPr/>
        </p:nvSpPr>
        <p:spPr>
          <a:xfrm>
            <a:off x="1341130" y="4212966"/>
            <a:ext cx="804901" cy="505337"/>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Logic</a:t>
            </a:r>
            <a:endParaRPr lang="zh-TW" altLang="en-US" dirty="0">
              <a:solidFill>
                <a:schemeClr val="tx1"/>
              </a:solidFill>
            </a:endParaRPr>
          </a:p>
        </p:txBody>
      </p:sp>
      <p:sp>
        <p:nvSpPr>
          <p:cNvPr id="17" name="矩形 16">
            <a:extLst>
              <a:ext uri="{FF2B5EF4-FFF2-40B4-BE49-F238E27FC236}">
                <a16:creationId xmlns:a16="http://schemas.microsoft.com/office/drawing/2014/main" id="{963E760F-24C4-47C8-BF1A-5F68FE1C138A}"/>
              </a:ext>
            </a:extLst>
          </p:cNvPr>
          <p:cNvSpPr/>
          <p:nvPr/>
        </p:nvSpPr>
        <p:spPr>
          <a:xfrm>
            <a:off x="1475656" y="4718303"/>
            <a:ext cx="169622" cy="161817"/>
          </a:xfrm>
          <a:prstGeom prst="rect">
            <a:avLst/>
          </a:prstGeom>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矩形 43">
            <a:extLst>
              <a:ext uri="{FF2B5EF4-FFF2-40B4-BE49-F238E27FC236}">
                <a16:creationId xmlns:a16="http://schemas.microsoft.com/office/drawing/2014/main" id="{7651D41B-5AD4-4DEC-B841-B592F3841B81}"/>
              </a:ext>
            </a:extLst>
          </p:cNvPr>
          <p:cNvSpPr/>
          <p:nvPr/>
        </p:nvSpPr>
        <p:spPr>
          <a:xfrm>
            <a:off x="1838571" y="4718303"/>
            <a:ext cx="169622" cy="161817"/>
          </a:xfrm>
          <a:prstGeom prst="rect">
            <a:avLst/>
          </a:prstGeom>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a:extLst>
              <a:ext uri="{FF2B5EF4-FFF2-40B4-BE49-F238E27FC236}">
                <a16:creationId xmlns:a16="http://schemas.microsoft.com/office/drawing/2014/main" id="{E42601FA-97F9-42BF-AF44-9D986B0F40E3}"/>
              </a:ext>
            </a:extLst>
          </p:cNvPr>
          <p:cNvSpPr txBox="1"/>
          <p:nvPr/>
        </p:nvSpPr>
        <p:spPr>
          <a:xfrm>
            <a:off x="1950474" y="4613767"/>
            <a:ext cx="312906" cy="369332"/>
          </a:xfrm>
          <a:prstGeom prst="rect">
            <a:avLst/>
          </a:prstGeom>
          <a:noFill/>
        </p:spPr>
        <p:txBody>
          <a:bodyPr wrap="none" rtlCol="0">
            <a:spAutoFit/>
          </a:bodyPr>
          <a:lstStyle/>
          <a:p>
            <a:r>
              <a:rPr lang="en-US" altLang="zh-TW" dirty="0"/>
              <a:t>a</a:t>
            </a:r>
            <a:endParaRPr lang="zh-TW" altLang="en-US" dirty="0"/>
          </a:p>
        </p:txBody>
      </p:sp>
      <p:sp>
        <p:nvSpPr>
          <p:cNvPr id="20" name="文字方塊 19">
            <a:extLst>
              <a:ext uri="{FF2B5EF4-FFF2-40B4-BE49-F238E27FC236}">
                <a16:creationId xmlns:a16="http://schemas.microsoft.com/office/drawing/2014/main" id="{5893ACBA-13DA-4F54-801D-8DD029C4286F}"/>
              </a:ext>
            </a:extLst>
          </p:cNvPr>
          <p:cNvSpPr txBox="1"/>
          <p:nvPr/>
        </p:nvSpPr>
        <p:spPr>
          <a:xfrm>
            <a:off x="1224101" y="4666035"/>
            <a:ext cx="312906" cy="369332"/>
          </a:xfrm>
          <a:prstGeom prst="rect">
            <a:avLst/>
          </a:prstGeom>
          <a:noFill/>
        </p:spPr>
        <p:txBody>
          <a:bodyPr wrap="none" rtlCol="0">
            <a:spAutoFit/>
          </a:bodyPr>
          <a:lstStyle/>
          <a:p>
            <a:r>
              <a:rPr lang="en-US" altLang="zh-TW" dirty="0"/>
              <a:t>b</a:t>
            </a:r>
            <a:endParaRPr lang="zh-TW" altLang="en-US" dirty="0"/>
          </a:p>
        </p:txBody>
      </p:sp>
      <p:cxnSp>
        <p:nvCxnSpPr>
          <p:cNvPr id="54" name="接點: 肘形 53">
            <a:extLst>
              <a:ext uri="{FF2B5EF4-FFF2-40B4-BE49-F238E27FC236}">
                <a16:creationId xmlns:a16="http://schemas.microsoft.com/office/drawing/2014/main" id="{8E493BA5-1280-40E1-AA03-FB2EC332D188}"/>
              </a:ext>
            </a:extLst>
          </p:cNvPr>
          <p:cNvCxnSpPr>
            <a:cxnSpLocks/>
            <a:stCxn id="15" idx="1"/>
          </p:cNvCxnSpPr>
          <p:nvPr/>
        </p:nvCxnSpPr>
        <p:spPr>
          <a:xfrm rot="10800000" flipH="1" flipV="1">
            <a:off x="938389" y="2305776"/>
            <a:ext cx="622077" cy="1907189"/>
          </a:xfrm>
          <a:prstGeom prst="bentConnector4">
            <a:avLst>
              <a:gd name="adj1" fmla="val -36748"/>
              <a:gd name="adj2" fmla="val 52125"/>
            </a:avLst>
          </a:prstGeom>
          <a:ln w="28575">
            <a:solidFill>
              <a:schemeClr val="accent3">
                <a:lumMod val="50000"/>
              </a:schemeClr>
            </a:solidFill>
            <a:headEnd type="arrow" w="lg" len="lg"/>
            <a:tailEnd type="none"/>
          </a:ln>
        </p:spPr>
        <p:style>
          <a:lnRef idx="1">
            <a:schemeClr val="accent1"/>
          </a:lnRef>
          <a:fillRef idx="0">
            <a:schemeClr val="accent1"/>
          </a:fillRef>
          <a:effectRef idx="0">
            <a:schemeClr val="accent1"/>
          </a:effectRef>
          <a:fontRef idx="minor">
            <a:schemeClr val="tx1"/>
          </a:fontRef>
        </p:style>
      </p:cxnSp>
      <p:cxnSp>
        <p:nvCxnSpPr>
          <p:cNvPr id="95" name="接點: 肘形 94">
            <a:extLst>
              <a:ext uri="{FF2B5EF4-FFF2-40B4-BE49-F238E27FC236}">
                <a16:creationId xmlns:a16="http://schemas.microsoft.com/office/drawing/2014/main" id="{9592168F-CDCB-487E-BF7A-D1138817FD76}"/>
              </a:ext>
            </a:extLst>
          </p:cNvPr>
          <p:cNvCxnSpPr>
            <a:cxnSpLocks/>
            <a:stCxn id="3" idx="3"/>
          </p:cNvCxnSpPr>
          <p:nvPr/>
        </p:nvCxnSpPr>
        <p:spPr>
          <a:xfrm flipH="1">
            <a:off x="1923382" y="2314817"/>
            <a:ext cx="632394" cy="1925753"/>
          </a:xfrm>
          <a:prstGeom prst="bentConnector4">
            <a:avLst>
              <a:gd name="adj1" fmla="val -36148"/>
              <a:gd name="adj2" fmla="val 52104"/>
            </a:avLst>
          </a:prstGeom>
          <a:ln w="28575">
            <a:solidFill>
              <a:schemeClr val="bg2"/>
            </a:solidFill>
            <a:headEnd type="arrow" w="lg" len="lg"/>
            <a:tailEnd type="none"/>
          </a:ln>
        </p:spPr>
        <p:style>
          <a:lnRef idx="1">
            <a:schemeClr val="accent1"/>
          </a:lnRef>
          <a:fillRef idx="0">
            <a:schemeClr val="accent1"/>
          </a:fillRef>
          <a:effectRef idx="0">
            <a:schemeClr val="accent1"/>
          </a:effectRef>
          <a:fontRef idx="minor">
            <a:schemeClr val="tx1"/>
          </a:fontRef>
        </p:style>
      </p:cxnSp>
      <p:graphicFrame>
        <p:nvGraphicFramePr>
          <p:cNvPr id="8" name="表格 9">
            <a:extLst>
              <a:ext uri="{FF2B5EF4-FFF2-40B4-BE49-F238E27FC236}">
                <a16:creationId xmlns:a16="http://schemas.microsoft.com/office/drawing/2014/main" id="{791BA8E0-579D-4229-91E2-D54CFAA6B4A5}"/>
              </a:ext>
            </a:extLst>
          </p:cNvPr>
          <p:cNvGraphicFramePr>
            <a:graphicFrameLocks noGrp="1"/>
          </p:cNvGraphicFramePr>
          <p:nvPr>
            <p:extLst>
              <p:ext uri="{D42A27DB-BD31-4B8C-83A1-F6EECF244321}">
                <p14:modId xmlns:p14="http://schemas.microsoft.com/office/powerpoint/2010/main" val="3812009015"/>
              </p:ext>
            </p:extLst>
          </p:nvPr>
        </p:nvGraphicFramePr>
        <p:xfrm>
          <a:off x="3992197" y="3923601"/>
          <a:ext cx="3980294" cy="2402308"/>
        </p:xfrm>
        <a:graphic>
          <a:graphicData uri="http://schemas.openxmlformats.org/drawingml/2006/table">
            <a:tbl>
              <a:tblPr firstRow="1" bandRow="1">
                <a:tableStyleId>{5C22544A-7EE6-4342-B048-85BDC9FD1C3A}</a:tableStyleId>
              </a:tblPr>
              <a:tblGrid>
                <a:gridCol w="2065703">
                  <a:extLst>
                    <a:ext uri="{9D8B030D-6E8A-4147-A177-3AD203B41FA5}">
                      <a16:colId xmlns:a16="http://schemas.microsoft.com/office/drawing/2014/main" val="2085621493"/>
                    </a:ext>
                  </a:extLst>
                </a:gridCol>
                <a:gridCol w="962025">
                  <a:extLst>
                    <a:ext uri="{9D8B030D-6E8A-4147-A177-3AD203B41FA5}">
                      <a16:colId xmlns:a16="http://schemas.microsoft.com/office/drawing/2014/main" val="442251862"/>
                    </a:ext>
                  </a:extLst>
                </a:gridCol>
                <a:gridCol w="952566">
                  <a:extLst>
                    <a:ext uri="{9D8B030D-6E8A-4147-A177-3AD203B41FA5}">
                      <a16:colId xmlns:a16="http://schemas.microsoft.com/office/drawing/2014/main" val="3378579824"/>
                    </a:ext>
                  </a:extLst>
                </a:gridCol>
              </a:tblGrid>
              <a:tr h="591146">
                <a:tc>
                  <a:txBody>
                    <a:bodyPr/>
                    <a:lstStyle/>
                    <a:p>
                      <a:r>
                        <a:rPr lang="zh-TW" altLang="en-US" dirty="0"/>
                        <a:t>馬達轉動方向</a:t>
                      </a:r>
                    </a:p>
                  </a:txBody>
                  <a:tcPr/>
                </a:tc>
                <a:tc>
                  <a:txBody>
                    <a:bodyPr/>
                    <a:lstStyle/>
                    <a:p>
                      <a:r>
                        <a:rPr lang="en-US" altLang="zh-TW" dirty="0"/>
                        <a:t>A</a:t>
                      </a:r>
                    </a:p>
                    <a:p>
                      <a:r>
                        <a:rPr lang="zh-TW" altLang="en-US" dirty="0"/>
                        <a:t>腳位值</a:t>
                      </a:r>
                    </a:p>
                  </a:txBody>
                  <a:tcPr/>
                </a:tc>
                <a:tc>
                  <a:txBody>
                    <a:bodyPr/>
                    <a:lstStyle/>
                    <a:p>
                      <a:r>
                        <a:rPr lang="en-US" altLang="zh-TW" dirty="0"/>
                        <a:t>B</a:t>
                      </a:r>
                    </a:p>
                    <a:p>
                      <a:r>
                        <a:rPr lang="zh-TW" altLang="en-US" dirty="0"/>
                        <a:t>腳位值</a:t>
                      </a:r>
                    </a:p>
                  </a:txBody>
                  <a:tcPr/>
                </a:tc>
                <a:extLst>
                  <a:ext uri="{0D108BD9-81ED-4DB2-BD59-A6C34878D82A}">
                    <a16:rowId xmlns:a16="http://schemas.microsoft.com/office/drawing/2014/main" val="900694671"/>
                  </a:ext>
                </a:extLst>
              </a:tr>
              <a:tr h="440557">
                <a:tc>
                  <a:txBody>
                    <a:bodyPr/>
                    <a:lstStyle/>
                    <a:p>
                      <a:r>
                        <a:rPr lang="zh-TW" altLang="en-US" dirty="0"/>
                        <a:t>停</a:t>
                      </a:r>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val="1961797701"/>
                  </a:ext>
                </a:extLst>
              </a:tr>
              <a:tr h="440557">
                <a:tc>
                  <a:txBody>
                    <a:bodyPr/>
                    <a:lstStyle/>
                    <a:p>
                      <a:r>
                        <a:rPr lang="zh-TW" altLang="en-US" dirty="0"/>
                        <a:t>順時針方向轉動</a:t>
                      </a:r>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extLst>
                  <a:ext uri="{0D108BD9-81ED-4DB2-BD59-A6C34878D82A}">
                    <a16:rowId xmlns:a16="http://schemas.microsoft.com/office/drawing/2014/main" val="3296990134"/>
                  </a:ext>
                </a:extLst>
              </a:tr>
              <a:tr h="440557">
                <a:tc>
                  <a:txBody>
                    <a:bodyPr/>
                    <a:lstStyle/>
                    <a:p>
                      <a:r>
                        <a:rPr lang="zh-TW" altLang="en-US" dirty="0"/>
                        <a:t>逆時針方向轉動</a:t>
                      </a:r>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val="2764418104"/>
                  </a:ext>
                </a:extLst>
              </a:tr>
              <a:tr h="440557">
                <a:tc>
                  <a:txBody>
                    <a:bodyPr/>
                    <a:lstStyle/>
                    <a:p>
                      <a:r>
                        <a:rPr lang="zh-TW" altLang="en-US" dirty="0"/>
                        <a:t>停</a:t>
                      </a:r>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extLst>
                  <a:ext uri="{0D108BD9-81ED-4DB2-BD59-A6C34878D82A}">
                    <a16:rowId xmlns:a16="http://schemas.microsoft.com/office/drawing/2014/main" val="3893606304"/>
                  </a:ext>
                </a:extLst>
              </a:tr>
            </a:tbl>
          </a:graphicData>
        </a:graphic>
      </p:graphicFrame>
    </p:spTree>
    <p:extLst>
      <p:ext uri="{BB962C8B-B14F-4D97-AF65-F5344CB8AC3E}">
        <p14:creationId xmlns:p14="http://schemas.microsoft.com/office/powerpoint/2010/main" val="3827560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投影片編號版面配置區 5"/>
          <p:cNvSpPr>
            <a:spLocks noGrp="1"/>
          </p:cNvSpPr>
          <p:nvPr>
            <p:ph type="sldNum" sz="quarter" idx="4294967295"/>
          </p:nvPr>
        </p:nvSpPr>
        <p:spPr>
          <a:xfrm>
            <a:off x="65532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algn="r" eaLnBrk="1" hangingPunct="1"/>
            <a:fld id="{6EF48B32-5023-4647-9814-3135F4A1EC26}" type="slidenum">
              <a:rPr lang="en-US" altLang="zh-TW" smtClean="0"/>
              <a:pPr algn="r" eaLnBrk="1" hangingPunct="1"/>
              <a:t>19</a:t>
            </a:fld>
            <a:endParaRPr lang="en-US" altLang="zh-TW" dirty="0"/>
          </a:p>
        </p:txBody>
      </p:sp>
      <p:sp>
        <p:nvSpPr>
          <p:cNvPr id="3075" name="Rectangle 2"/>
          <p:cNvSpPr>
            <a:spLocks noGrp="1" noChangeArrowheads="1"/>
          </p:cNvSpPr>
          <p:nvPr>
            <p:ph type="ctrTitle"/>
          </p:nvPr>
        </p:nvSpPr>
        <p:spPr>
          <a:xfrm>
            <a:off x="684213" y="549275"/>
            <a:ext cx="7772400" cy="719485"/>
          </a:xfrm>
        </p:spPr>
        <p:txBody>
          <a:bodyPr/>
          <a:lstStyle/>
          <a:p>
            <a:pPr algn="l" eaLnBrk="1" hangingPunct="1"/>
            <a:r>
              <a:rPr lang="zh-TW" altLang="en-US" sz="3200" b="1" dirty="0">
                <a:latin typeface="Adobe 繁黑體 Std B" panose="020B0700000000000000" pitchFamily="34" charset="-120"/>
                <a:ea typeface="Adobe 繁黑體 Std B" panose="020B0700000000000000" pitchFamily="34" charset="-120"/>
              </a:rPr>
              <a:t>馬達驅動</a:t>
            </a:r>
            <a:endParaRPr lang="en-US" altLang="zh-TW" sz="3200" b="1" dirty="0">
              <a:latin typeface="Adobe 繁黑體 Std B" panose="020B0700000000000000" pitchFamily="34" charset="-120"/>
              <a:ea typeface="Adobe 繁黑體 Std B" panose="020B0700000000000000" pitchFamily="34" charset="-120"/>
            </a:endParaRPr>
          </a:p>
        </p:txBody>
      </p:sp>
      <p:pic>
        <p:nvPicPr>
          <p:cNvPr id="11" name="圖片 10">
            <a:extLst>
              <a:ext uri="{FF2B5EF4-FFF2-40B4-BE49-F238E27FC236}">
                <a16:creationId xmlns:a16="http://schemas.microsoft.com/office/drawing/2014/main" id="{D7E22ED5-1127-45F7-9B67-9D61D0474D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6631" y="2028800"/>
            <a:ext cx="7870169" cy="3456384"/>
          </a:xfrm>
          <a:prstGeom prst="rect">
            <a:avLst/>
          </a:prstGeom>
        </p:spPr>
      </p:pic>
      <p:sp>
        <p:nvSpPr>
          <p:cNvPr id="2" name="矩形 1">
            <a:extLst>
              <a:ext uri="{FF2B5EF4-FFF2-40B4-BE49-F238E27FC236}">
                <a16:creationId xmlns:a16="http://schemas.microsoft.com/office/drawing/2014/main" id="{35DB75C2-87D3-4F84-87A3-907813CD0659}"/>
              </a:ext>
            </a:extLst>
          </p:cNvPr>
          <p:cNvSpPr/>
          <p:nvPr/>
        </p:nvSpPr>
        <p:spPr>
          <a:xfrm>
            <a:off x="542925" y="1390650"/>
            <a:ext cx="8067675" cy="4743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5767675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1CA7BD55-9E33-4ECA-9221-24626A3A487B}"/>
              </a:ext>
            </a:extLst>
          </p:cNvPr>
          <p:cNvPicPr>
            <a:picLocks noChangeAspect="1"/>
          </p:cNvPicPr>
          <p:nvPr/>
        </p:nvPicPr>
        <p:blipFill>
          <a:blip r:embed="rId2"/>
          <a:stretch>
            <a:fillRect/>
          </a:stretch>
        </p:blipFill>
        <p:spPr>
          <a:xfrm>
            <a:off x="652106" y="1069729"/>
            <a:ext cx="5198446" cy="5495925"/>
          </a:xfrm>
          <a:prstGeom prst="rect">
            <a:avLst/>
          </a:prstGeom>
        </p:spPr>
      </p:pic>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應用練習：數位輸入與輸出</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sp>
        <p:nvSpPr>
          <p:cNvPr id="7" name="橢圓 6">
            <a:extLst>
              <a:ext uri="{FF2B5EF4-FFF2-40B4-BE49-F238E27FC236}">
                <a16:creationId xmlns:a16="http://schemas.microsoft.com/office/drawing/2014/main" id="{9CE92F73-C714-4B6A-8DE5-9A79C19886A5}"/>
              </a:ext>
            </a:extLst>
          </p:cNvPr>
          <p:cNvSpPr/>
          <p:nvPr/>
        </p:nvSpPr>
        <p:spPr>
          <a:xfrm>
            <a:off x="6285453" y="1822053"/>
            <a:ext cx="419877" cy="41288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9" name="矩形 8">
            <a:extLst>
              <a:ext uri="{FF2B5EF4-FFF2-40B4-BE49-F238E27FC236}">
                <a16:creationId xmlns:a16="http://schemas.microsoft.com/office/drawing/2014/main" id="{674BF108-C134-429C-BC88-3D6393EB7651}"/>
              </a:ext>
            </a:extLst>
          </p:cNvPr>
          <p:cNvSpPr/>
          <p:nvPr/>
        </p:nvSpPr>
        <p:spPr>
          <a:xfrm>
            <a:off x="6215474" y="1759071"/>
            <a:ext cx="566834" cy="5458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1" name="矩形 10">
            <a:extLst>
              <a:ext uri="{FF2B5EF4-FFF2-40B4-BE49-F238E27FC236}">
                <a16:creationId xmlns:a16="http://schemas.microsoft.com/office/drawing/2014/main" id="{1CDFFF22-7B8B-4CD8-89E8-FDF20A5C2060}"/>
              </a:ext>
            </a:extLst>
          </p:cNvPr>
          <p:cNvSpPr/>
          <p:nvPr/>
        </p:nvSpPr>
        <p:spPr>
          <a:xfrm>
            <a:off x="6285453" y="1612114"/>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3" name="矩形 12">
            <a:extLst>
              <a:ext uri="{FF2B5EF4-FFF2-40B4-BE49-F238E27FC236}">
                <a16:creationId xmlns:a16="http://schemas.microsoft.com/office/drawing/2014/main" id="{F5887EFC-E867-4999-AED2-7EB43063E2FA}"/>
              </a:ext>
            </a:extLst>
          </p:cNvPr>
          <p:cNvSpPr/>
          <p:nvPr/>
        </p:nvSpPr>
        <p:spPr>
          <a:xfrm>
            <a:off x="6605025" y="1619113"/>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4" name="矩形 13">
            <a:extLst>
              <a:ext uri="{FF2B5EF4-FFF2-40B4-BE49-F238E27FC236}">
                <a16:creationId xmlns:a16="http://schemas.microsoft.com/office/drawing/2014/main" id="{569644F8-3607-4A58-8294-C9163DC99A4D}"/>
              </a:ext>
            </a:extLst>
          </p:cNvPr>
          <p:cNvSpPr/>
          <p:nvPr/>
        </p:nvSpPr>
        <p:spPr>
          <a:xfrm>
            <a:off x="6285453" y="2311910"/>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5" name="矩形 14">
            <a:extLst>
              <a:ext uri="{FF2B5EF4-FFF2-40B4-BE49-F238E27FC236}">
                <a16:creationId xmlns:a16="http://schemas.microsoft.com/office/drawing/2014/main" id="{9E2D9070-F5A3-4754-AAC4-5B67EDCB0E16}"/>
              </a:ext>
            </a:extLst>
          </p:cNvPr>
          <p:cNvSpPr/>
          <p:nvPr/>
        </p:nvSpPr>
        <p:spPr>
          <a:xfrm>
            <a:off x="6605025" y="2311910"/>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cxnSp>
        <p:nvCxnSpPr>
          <p:cNvPr id="16" name="直線單箭頭接點 15">
            <a:extLst>
              <a:ext uri="{FF2B5EF4-FFF2-40B4-BE49-F238E27FC236}">
                <a16:creationId xmlns:a16="http://schemas.microsoft.com/office/drawing/2014/main" id="{FBD553B7-A681-4421-9D00-C0E0E4699AE4}"/>
              </a:ext>
            </a:extLst>
          </p:cNvPr>
          <p:cNvCxnSpPr>
            <a:cxnSpLocks/>
            <a:stCxn id="14" idx="2"/>
          </p:cNvCxnSpPr>
          <p:nvPr/>
        </p:nvCxnSpPr>
        <p:spPr>
          <a:xfrm flipH="1">
            <a:off x="6344935" y="2451870"/>
            <a:ext cx="1" cy="31490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C254BA42-1C42-49AA-B661-D45A1EBAEB95}"/>
              </a:ext>
            </a:extLst>
          </p:cNvPr>
          <p:cNvSpPr txBox="1"/>
          <p:nvPr/>
        </p:nvSpPr>
        <p:spPr>
          <a:xfrm>
            <a:off x="6102560" y="2762699"/>
            <a:ext cx="646331" cy="369332"/>
          </a:xfrm>
          <a:prstGeom prst="rect">
            <a:avLst/>
          </a:prstGeom>
          <a:noFill/>
        </p:spPr>
        <p:txBody>
          <a:bodyPr wrap="none" rtlCol="0">
            <a:spAutoFit/>
          </a:bodyPr>
          <a:lstStyle/>
          <a:p>
            <a:r>
              <a:rPr lang="en-US" altLang="zh-TW" dirty="0"/>
              <a:t>GP3</a:t>
            </a:r>
            <a:endParaRPr lang="zh-TW" altLang="en-US" dirty="0"/>
          </a:p>
        </p:txBody>
      </p:sp>
      <p:cxnSp>
        <p:nvCxnSpPr>
          <p:cNvPr id="19" name="直線單箭頭接點 18">
            <a:extLst>
              <a:ext uri="{FF2B5EF4-FFF2-40B4-BE49-F238E27FC236}">
                <a16:creationId xmlns:a16="http://schemas.microsoft.com/office/drawing/2014/main" id="{BA7DDD1F-6550-43BE-B9AA-F25265A4F787}"/>
              </a:ext>
            </a:extLst>
          </p:cNvPr>
          <p:cNvCxnSpPr>
            <a:stCxn id="13" idx="0"/>
          </p:cNvCxnSpPr>
          <p:nvPr/>
        </p:nvCxnSpPr>
        <p:spPr>
          <a:xfrm flipV="1">
            <a:off x="6664508" y="1227227"/>
            <a:ext cx="0" cy="3918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22CAB331-34A7-4DC9-8A01-7D785A3E286E}"/>
              </a:ext>
            </a:extLst>
          </p:cNvPr>
          <p:cNvSpPr txBox="1"/>
          <p:nvPr/>
        </p:nvSpPr>
        <p:spPr>
          <a:xfrm>
            <a:off x="6435063" y="1011285"/>
            <a:ext cx="659155" cy="369332"/>
          </a:xfrm>
          <a:prstGeom prst="rect">
            <a:avLst/>
          </a:prstGeom>
          <a:noFill/>
        </p:spPr>
        <p:txBody>
          <a:bodyPr wrap="none" rtlCol="0">
            <a:spAutoFit/>
          </a:bodyPr>
          <a:lstStyle/>
          <a:p>
            <a:r>
              <a:rPr lang="en-US" altLang="zh-TW" dirty="0"/>
              <a:t>3.3V</a:t>
            </a:r>
            <a:endParaRPr lang="zh-TW" altLang="en-US" dirty="0"/>
          </a:p>
        </p:txBody>
      </p:sp>
      <p:pic>
        <p:nvPicPr>
          <p:cNvPr id="18" name="圖片 17">
            <a:extLst>
              <a:ext uri="{FF2B5EF4-FFF2-40B4-BE49-F238E27FC236}">
                <a16:creationId xmlns:a16="http://schemas.microsoft.com/office/drawing/2014/main" id="{557F3552-88BF-4549-B5D3-19BF84A612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28584" y="2916925"/>
            <a:ext cx="2693501" cy="3810000"/>
          </a:xfrm>
          <a:prstGeom prst="rect">
            <a:avLst/>
          </a:prstGeom>
        </p:spPr>
      </p:pic>
      <p:sp>
        <p:nvSpPr>
          <p:cNvPr id="3" name="文字方塊 2">
            <a:extLst>
              <a:ext uri="{FF2B5EF4-FFF2-40B4-BE49-F238E27FC236}">
                <a16:creationId xmlns:a16="http://schemas.microsoft.com/office/drawing/2014/main" id="{77A53634-B4E6-4034-AAAD-C1079B63C7FC}"/>
              </a:ext>
            </a:extLst>
          </p:cNvPr>
          <p:cNvSpPr txBox="1"/>
          <p:nvPr/>
        </p:nvSpPr>
        <p:spPr>
          <a:xfrm>
            <a:off x="2895553" y="1087219"/>
            <a:ext cx="3261149" cy="461665"/>
          </a:xfrm>
          <a:prstGeom prst="rect">
            <a:avLst/>
          </a:prstGeom>
          <a:noFill/>
        </p:spPr>
        <p:txBody>
          <a:bodyPr wrap="none" rtlCol="0">
            <a:spAutoFit/>
          </a:bodyPr>
          <a:lstStyle/>
          <a:p>
            <a:r>
              <a:rPr lang="zh-TW" altLang="en-US" sz="2400" spc="-1" dirty="0">
                <a:solidFill>
                  <a:schemeClr val="tx1">
                    <a:lumMod val="50000"/>
                    <a:lumOff val="50000"/>
                  </a:schemeClr>
                </a:solidFill>
                <a:uFill>
                  <a:solidFill>
                    <a:srgbClr val="FFFFFF"/>
                  </a:solidFill>
                </a:uFill>
                <a:latin typeface="Adobe 黑体 Std R" panose="020B0400000000000000" pitchFamily="34" charset="-128"/>
                <a:ea typeface="Adobe 黑体 Std R" panose="020B0400000000000000" pitchFamily="34" charset="-128"/>
              </a:rPr>
              <a:t>按鈕控制風扇的開或關</a:t>
            </a:r>
            <a:endParaRPr lang="zh-TW" altLang="en-US" sz="2400" dirty="0">
              <a:solidFill>
                <a:schemeClr val="tx1">
                  <a:lumMod val="50000"/>
                  <a:lumOff val="50000"/>
                </a:schemeClr>
              </a:solidFill>
            </a:endParaRPr>
          </a:p>
        </p:txBody>
      </p:sp>
      <p:sp>
        <p:nvSpPr>
          <p:cNvPr id="22" name="橢圓 21">
            <a:extLst>
              <a:ext uri="{FF2B5EF4-FFF2-40B4-BE49-F238E27FC236}">
                <a16:creationId xmlns:a16="http://schemas.microsoft.com/office/drawing/2014/main" id="{329DA495-EA30-4454-880F-D9D098EC9CAD}"/>
              </a:ext>
            </a:extLst>
          </p:cNvPr>
          <p:cNvSpPr/>
          <p:nvPr/>
        </p:nvSpPr>
        <p:spPr>
          <a:xfrm>
            <a:off x="7378480" y="1814785"/>
            <a:ext cx="419877" cy="41288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4" name="矩形 23">
            <a:extLst>
              <a:ext uri="{FF2B5EF4-FFF2-40B4-BE49-F238E27FC236}">
                <a16:creationId xmlns:a16="http://schemas.microsoft.com/office/drawing/2014/main" id="{AF3263F2-7C08-4C21-A949-20B0CED082A3}"/>
              </a:ext>
            </a:extLst>
          </p:cNvPr>
          <p:cNvSpPr/>
          <p:nvPr/>
        </p:nvSpPr>
        <p:spPr>
          <a:xfrm>
            <a:off x="7308501" y="1751803"/>
            <a:ext cx="566834" cy="5458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5" name="矩形 24">
            <a:extLst>
              <a:ext uri="{FF2B5EF4-FFF2-40B4-BE49-F238E27FC236}">
                <a16:creationId xmlns:a16="http://schemas.microsoft.com/office/drawing/2014/main" id="{0F8708F7-BA91-46F7-AA36-A120F44DF106}"/>
              </a:ext>
            </a:extLst>
          </p:cNvPr>
          <p:cNvSpPr/>
          <p:nvPr/>
        </p:nvSpPr>
        <p:spPr>
          <a:xfrm>
            <a:off x="7378480" y="1604846"/>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6" name="矩形 25">
            <a:extLst>
              <a:ext uri="{FF2B5EF4-FFF2-40B4-BE49-F238E27FC236}">
                <a16:creationId xmlns:a16="http://schemas.microsoft.com/office/drawing/2014/main" id="{AC811F24-3904-44A6-9F5C-4743302C3FB5}"/>
              </a:ext>
            </a:extLst>
          </p:cNvPr>
          <p:cNvSpPr/>
          <p:nvPr/>
        </p:nvSpPr>
        <p:spPr>
          <a:xfrm>
            <a:off x="7698052" y="1611845"/>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7" name="矩形 26">
            <a:extLst>
              <a:ext uri="{FF2B5EF4-FFF2-40B4-BE49-F238E27FC236}">
                <a16:creationId xmlns:a16="http://schemas.microsoft.com/office/drawing/2014/main" id="{667DD927-6A91-412D-984D-8BCC9983824C}"/>
              </a:ext>
            </a:extLst>
          </p:cNvPr>
          <p:cNvSpPr/>
          <p:nvPr/>
        </p:nvSpPr>
        <p:spPr>
          <a:xfrm>
            <a:off x="7378480" y="2304642"/>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8" name="矩形 27">
            <a:extLst>
              <a:ext uri="{FF2B5EF4-FFF2-40B4-BE49-F238E27FC236}">
                <a16:creationId xmlns:a16="http://schemas.microsoft.com/office/drawing/2014/main" id="{AEB96DB2-48C8-46F3-BF2A-1660D9166EED}"/>
              </a:ext>
            </a:extLst>
          </p:cNvPr>
          <p:cNvSpPr/>
          <p:nvPr/>
        </p:nvSpPr>
        <p:spPr>
          <a:xfrm>
            <a:off x="7698052" y="2304642"/>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cxnSp>
        <p:nvCxnSpPr>
          <p:cNvPr id="29" name="直線單箭頭接點 28">
            <a:extLst>
              <a:ext uri="{FF2B5EF4-FFF2-40B4-BE49-F238E27FC236}">
                <a16:creationId xmlns:a16="http://schemas.microsoft.com/office/drawing/2014/main" id="{C29EFE1C-487A-44DC-8CD1-53C3F59C2AD2}"/>
              </a:ext>
            </a:extLst>
          </p:cNvPr>
          <p:cNvCxnSpPr>
            <a:cxnSpLocks/>
            <a:stCxn id="27" idx="2"/>
          </p:cNvCxnSpPr>
          <p:nvPr/>
        </p:nvCxnSpPr>
        <p:spPr>
          <a:xfrm flipH="1">
            <a:off x="7437962" y="2444602"/>
            <a:ext cx="1" cy="31490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8024709A-740B-49F8-B1BD-540F8DF7E6A4}"/>
              </a:ext>
            </a:extLst>
          </p:cNvPr>
          <p:cNvCxnSpPr>
            <a:stCxn id="26" idx="0"/>
          </p:cNvCxnSpPr>
          <p:nvPr/>
        </p:nvCxnSpPr>
        <p:spPr>
          <a:xfrm flipV="1">
            <a:off x="7757535" y="1219959"/>
            <a:ext cx="0" cy="3918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文字方塊 30">
            <a:extLst>
              <a:ext uri="{FF2B5EF4-FFF2-40B4-BE49-F238E27FC236}">
                <a16:creationId xmlns:a16="http://schemas.microsoft.com/office/drawing/2014/main" id="{D6E05FE4-E4BB-4546-8A68-620C58E8898E}"/>
              </a:ext>
            </a:extLst>
          </p:cNvPr>
          <p:cNvSpPr txBox="1"/>
          <p:nvPr/>
        </p:nvSpPr>
        <p:spPr>
          <a:xfrm>
            <a:off x="7427785" y="999939"/>
            <a:ext cx="697627" cy="369332"/>
          </a:xfrm>
          <a:prstGeom prst="rect">
            <a:avLst/>
          </a:prstGeom>
          <a:noFill/>
        </p:spPr>
        <p:txBody>
          <a:bodyPr wrap="none" rtlCol="0">
            <a:spAutoFit/>
          </a:bodyPr>
          <a:lstStyle/>
          <a:p>
            <a:r>
              <a:rPr lang="en-US" altLang="zh-TW" dirty="0"/>
              <a:t>GND</a:t>
            </a:r>
            <a:endParaRPr lang="zh-TW" altLang="en-US" dirty="0"/>
          </a:p>
        </p:txBody>
      </p:sp>
      <p:sp>
        <p:nvSpPr>
          <p:cNvPr id="32" name="文字方塊 31">
            <a:extLst>
              <a:ext uri="{FF2B5EF4-FFF2-40B4-BE49-F238E27FC236}">
                <a16:creationId xmlns:a16="http://schemas.microsoft.com/office/drawing/2014/main" id="{9BD798B0-B15D-4F3F-ABBE-EFA733598F22}"/>
              </a:ext>
            </a:extLst>
          </p:cNvPr>
          <p:cNvSpPr txBox="1"/>
          <p:nvPr/>
        </p:nvSpPr>
        <p:spPr>
          <a:xfrm>
            <a:off x="7162327" y="2762699"/>
            <a:ext cx="646331" cy="369332"/>
          </a:xfrm>
          <a:prstGeom prst="rect">
            <a:avLst/>
          </a:prstGeom>
          <a:noFill/>
        </p:spPr>
        <p:txBody>
          <a:bodyPr wrap="none" rtlCol="0">
            <a:spAutoFit/>
          </a:bodyPr>
          <a:lstStyle/>
          <a:p>
            <a:r>
              <a:rPr lang="en-US" altLang="zh-TW" dirty="0"/>
              <a:t>GP3</a:t>
            </a:r>
            <a:endParaRPr lang="zh-TW" altLang="en-US" dirty="0"/>
          </a:p>
        </p:txBody>
      </p:sp>
      <p:cxnSp>
        <p:nvCxnSpPr>
          <p:cNvPr id="6" name="直線單箭頭接點 5">
            <a:extLst>
              <a:ext uri="{FF2B5EF4-FFF2-40B4-BE49-F238E27FC236}">
                <a16:creationId xmlns:a16="http://schemas.microsoft.com/office/drawing/2014/main" id="{D32E2050-41DB-4BBE-AF4B-C0958FF44517}"/>
              </a:ext>
            </a:extLst>
          </p:cNvPr>
          <p:cNvCxnSpPr/>
          <p:nvPr/>
        </p:nvCxnSpPr>
        <p:spPr>
          <a:xfrm flipH="1">
            <a:off x="6435063" y="5124450"/>
            <a:ext cx="727264" cy="0"/>
          </a:xfrm>
          <a:prstGeom prst="straightConnector1">
            <a:avLst/>
          </a:prstGeom>
          <a:ln w="19050">
            <a:solidFill>
              <a:srgbClr val="FF0000"/>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8F5676A6-4DBB-45F6-9041-6254180F3735}"/>
              </a:ext>
            </a:extLst>
          </p:cNvPr>
          <p:cNvSpPr txBox="1"/>
          <p:nvPr/>
        </p:nvSpPr>
        <p:spPr>
          <a:xfrm>
            <a:off x="5976556" y="4939784"/>
            <a:ext cx="505267" cy="369332"/>
          </a:xfrm>
          <a:prstGeom prst="rect">
            <a:avLst/>
          </a:prstGeom>
          <a:noFill/>
        </p:spPr>
        <p:txBody>
          <a:bodyPr wrap="none" rtlCol="0">
            <a:spAutoFit/>
          </a:bodyPr>
          <a:lstStyle/>
          <a:p>
            <a:r>
              <a:rPr lang="en-US" altLang="zh-TW" dirty="0"/>
              <a:t>M1</a:t>
            </a:r>
            <a:endParaRPr lang="zh-TW" altLang="en-US" dirty="0"/>
          </a:p>
        </p:txBody>
      </p:sp>
    </p:spTree>
    <p:extLst>
      <p:ext uri="{BB962C8B-B14F-4D97-AF65-F5344CB8AC3E}">
        <p14:creationId xmlns:p14="http://schemas.microsoft.com/office/powerpoint/2010/main" val="94076680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模擬類比</a:t>
            </a:r>
            <a:r>
              <a:rPr lang="en-US" altLang="zh-TW"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(PWM)</a:t>
            </a: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輸出</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pic>
        <p:nvPicPr>
          <p:cNvPr id="3" name="圖片 2">
            <a:extLst>
              <a:ext uri="{FF2B5EF4-FFF2-40B4-BE49-F238E27FC236}">
                <a16:creationId xmlns:a16="http://schemas.microsoft.com/office/drawing/2014/main" id="{9C00E003-0CB6-4C93-B9C2-38358F705506}"/>
              </a:ext>
            </a:extLst>
          </p:cNvPr>
          <p:cNvPicPr>
            <a:picLocks noChangeAspect="1"/>
          </p:cNvPicPr>
          <p:nvPr/>
        </p:nvPicPr>
        <p:blipFill>
          <a:blip r:embed="rId2"/>
          <a:stretch>
            <a:fillRect/>
          </a:stretch>
        </p:blipFill>
        <p:spPr>
          <a:xfrm>
            <a:off x="628560" y="1163803"/>
            <a:ext cx="4651085" cy="4111293"/>
          </a:xfrm>
          <a:prstGeom prst="rect">
            <a:avLst/>
          </a:prstGeom>
        </p:spPr>
      </p:pic>
      <p:sp>
        <p:nvSpPr>
          <p:cNvPr id="4" name="文字方塊 3">
            <a:extLst>
              <a:ext uri="{FF2B5EF4-FFF2-40B4-BE49-F238E27FC236}">
                <a16:creationId xmlns:a16="http://schemas.microsoft.com/office/drawing/2014/main" id="{C0C8E799-E8D4-4BC2-9936-3DC62707E839}"/>
              </a:ext>
            </a:extLst>
          </p:cNvPr>
          <p:cNvSpPr txBox="1"/>
          <p:nvPr/>
        </p:nvSpPr>
        <p:spPr>
          <a:xfrm>
            <a:off x="5493136" y="1314562"/>
            <a:ext cx="2809448" cy="2169825"/>
          </a:xfrm>
          <a:prstGeom prst="rect">
            <a:avLst/>
          </a:prstGeom>
          <a:noFill/>
        </p:spPr>
        <p:txBody>
          <a:bodyPr wrap="square" rtlCol="0">
            <a:spAutoFit/>
          </a:bodyPr>
          <a:lstStyle/>
          <a:p>
            <a:pPr algn="just"/>
            <a:r>
              <a:rPr lang="zh-TW" altLang="en-US" sz="1350" dirty="0">
                <a:latin typeface="Adobe 仿宋 Std R" panose="02020400000000000000" pitchFamily="18" charset="-128"/>
                <a:ea typeface="Adobe 仿宋 Std R" panose="02020400000000000000" pitchFamily="18" charset="-128"/>
              </a:rPr>
              <a:t>微處理器的類比輸出是應用模擬方式，使用脈衝寬度調變器</a:t>
            </a:r>
            <a:r>
              <a:rPr lang="en-US" altLang="zh-TW" sz="1350" dirty="0">
                <a:latin typeface="Adobe 仿宋 Std R" panose="02020400000000000000" pitchFamily="18" charset="-128"/>
                <a:ea typeface="Adobe 仿宋 Std R" panose="02020400000000000000" pitchFamily="18" charset="-128"/>
              </a:rPr>
              <a:t>(PWM)</a:t>
            </a:r>
            <a:r>
              <a:rPr lang="zh-TW" altLang="en-US" sz="1350" dirty="0">
                <a:latin typeface="Adobe 仿宋 Std R" panose="02020400000000000000" pitchFamily="18" charset="-128"/>
                <a:ea typeface="Adobe 仿宋 Std R" panose="02020400000000000000" pitchFamily="18" charset="-128"/>
              </a:rPr>
              <a:t>來實現類比訊號的輪出。</a:t>
            </a:r>
            <a:endParaRPr lang="en-US" altLang="zh-TW" sz="1350" dirty="0">
              <a:latin typeface="Adobe 仿宋 Std R" panose="02020400000000000000" pitchFamily="18" charset="-128"/>
              <a:ea typeface="Adobe 仿宋 Std R" panose="02020400000000000000" pitchFamily="18" charset="-128"/>
            </a:endParaRPr>
          </a:p>
          <a:p>
            <a:pPr algn="just"/>
            <a:r>
              <a:rPr lang="en-US" altLang="zh-TW" sz="1350" dirty="0">
                <a:latin typeface="Adobe 仿宋 Std R" panose="02020400000000000000" pitchFamily="18" charset="-128"/>
                <a:ea typeface="Adobe 仿宋 Std R" panose="02020400000000000000" pitchFamily="18" charset="-128"/>
              </a:rPr>
              <a:t>PWM, Pulse Width Modulation</a:t>
            </a:r>
            <a:r>
              <a:rPr lang="zh-TW" altLang="en-US" sz="1350" dirty="0">
                <a:latin typeface="Adobe 仿宋 Std R" panose="02020400000000000000" pitchFamily="18" charset="-128"/>
                <a:ea typeface="Adobe 仿宋 Std R" panose="02020400000000000000" pitchFamily="18" charset="-128"/>
              </a:rPr>
              <a:t>是一種應用數位模擬類比訊號的技術。 數位控制用於產生方波，即在開和關之間切換訊號。 這種開關模式可以透過改變訊號開啟時間與訊號關閉時間的比例來模擬全開（</a:t>
            </a:r>
            <a:r>
              <a:rPr lang="en-US" altLang="zh-TW" sz="1350" dirty="0">
                <a:latin typeface="Adobe 仿宋 Std R" panose="02020400000000000000" pitchFamily="18" charset="-128"/>
                <a:ea typeface="Adobe 仿宋 Std R" panose="02020400000000000000" pitchFamily="18" charset="-128"/>
              </a:rPr>
              <a:t>5 </a:t>
            </a:r>
            <a:r>
              <a:rPr lang="zh-TW" altLang="en-US" sz="1350" dirty="0">
                <a:latin typeface="Adobe 仿宋 Std R" panose="02020400000000000000" pitchFamily="18" charset="-128"/>
                <a:ea typeface="Adobe 仿宋 Std R" panose="02020400000000000000" pitchFamily="18" charset="-128"/>
              </a:rPr>
              <a:t>伏）和關閉（</a:t>
            </a:r>
            <a:r>
              <a:rPr lang="en-US" altLang="zh-TW" sz="1350" dirty="0">
                <a:latin typeface="Adobe 仿宋 Std R" panose="02020400000000000000" pitchFamily="18" charset="-128"/>
                <a:ea typeface="Adobe 仿宋 Std R" panose="02020400000000000000" pitchFamily="18" charset="-128"/>
              </a:rPr>
              <a:t>0 </a:t>
            </a:r>
            <a:r>
              <a:rPr lang="zh-TW" altLang="en-US" sz="1350" dirty="0">
                <a:latin typeface="Adobe 仿宋 Std R" panose="02020400000000000000" pitchFamily="18" charset="-128"/>
                <a:ea typeface="Adobe 仿宋 Std R" panose="02020400000000000000" pitchFamily="18" charset="-128"/>
              </a:rPr>
              <a:t>伏）之間的電壓。</a:t>
            </a:r>
          </a:p>
        </p:txBody>
      </p:sp>
      <p:pic>
        <p:nvPicPr>
          <p:cNvPr id="3074" name="Picture 2" descr="https://how2electronics.com/wp-content/uploads/2022/09/pwm-574x360.jpg">
            <a:extLst>
              <a:ext uri="{FF2B5EF4-FFF2-40B4-BE49-F238E27FC236}">
                <a16:creationId xmlns:a16="http://schemas.microsoft.com/office/drawing/2014/main" id="{A1D017B7-8718-4946-8DFB-03C22EB0A3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3136" y="3831900"/>
            <a:ext cx="3021584" cy="1895070"/>
          </a:xfrm>
          <a:prstGeom prst="rect">
            <a:avLst/>
          </a:prstGeom>
          <a:noFill/>
          <a:extLst>
            <a:ext uri="{909E8E84-426E-40DD-AFC4-6F175D3DCCD1}">
              <a14:hiddenFill xmlns:a14="http://schemas.microsoft.com/office/drawing/2010/main">
                <a:solidFill>
                  <a:srgbClr val="FFFFFF"/>
                </a:solidFill>
              </a14:hiddenFill>
            </a:ext>
          </a:extLst>
        </p:spPr>
      </p:pic>
      <p:sp>
        <p:nvSpPr>
          <p:cNvPr id="2" name="文字方塊 1">
            <a:extLst>
              <a:ext uri="{FF2B5EF4-FFF2-40B4-BE49-F238E27FC236}">
                <a16:creationId xmlns:a16="http://schemas.microsoft.com/office/drawing/2014/main" id="{21770512-40E6-4523-826A-BDF4F7AEBD47}"/>
              </a:ext>
            </a:extLst>
          </p:cNvPr>
          <p:cNvSpPr txBox="1"/>
          <p:nvPr/>
        </p:nvSpPr>
        <p:spPr>
          <a:xfrm>
            <a:off x="628560" y="5460571"/>
            <a:ext cx="3730508" cy="369332"/>
          </a:xfrm>
          <a:prstGeom prst="rect">
            <a:avLst/>
          </a:prstGeom>
          <a:noFill/>
        </p:spPr>
        <p:txBody>
          <a:bodyPr wrap="none" rtlCol="0">
            <a:spAutoFit/>
          </a:bodyPr>
          <a:lstStyle/>
          <a:p>
            <a:r>
              <a:rPr lang="en-US" altLang="zh-TW" dirty="0">
                <a:latin typeface="Adobe 繁黑體 Std B" panose="020B0700000000000000" pitchFamily="34" charset="-120"/>
                <a:ea typeface="Adobe 繁黑體 Std B" panose="020B0700000000000000" pitchFamily="34" charset="-120"/>
              </a:rPr>
              <a:t>RP2040 </a:t>
            </a:r>
            <a:r>
              <a:rPr lang="zh-TW" altLang="en-US" dirty="0">
                <a:latin typeface="Adobe 繁黑體 Std B" panose="020B0700000000000000" pitchFamily="34" charset="-120"/>
                <a:ea typeface="Adobe 繁黑體 Std B" panose="020B0700000000000000" pitchFamily="34" charset="-120"/>
              </a:rPr>
              <a:t>的脈衝解析度：</a:t>
            </a:r>
            <a:r>
              <a:rPr lang="en-US" altLang="zh-TW" dirty="0">
                <a:latin typeface="Adobe 繁黑體 Std B" panose="020B0700000000000000" pitchFamily="34" charset="-120"/>
                <a:ea typeface="Adobe 繁黑體 Std B" panose="020B0700000000000000" pitchFamily="34" charset="-120"/>
              </a:rPr>
              <a:t>0 ~ 65535</a:t>
            </a:r>
            <a:endParaRPr lang="zh-TW" altLang="en-US" dirty="0">
              <a:latin typeface="Adobe 繁黑體 Std B" panose="020B0700000000000000" pitchFamily="34" charset="-120"/>
              <a:ea typeface="Adobe 繁黑體 Std B" panose="020B0700000000000000" pitchFamily="34" charset="-120"/>
            </a:endParaRPr>
          </a:p>
        </p:txBody>
      </p:sp>
    </p:spTree>
    <p:extLst>
      <p:ext uri="{BB962C8B-B14F-4D97-AF65-F5344CB8AC3E}">
        <p14:creationId xmlns:p14="http://schemas.microsoft.com/office/powerpoint/2010/main" val="1195431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圖片 15">
            <a:extLst>
              <a:ext uri="{FF2B5EF4-FFF2-40B4-BE49-F238E27FC236}">
                <a16:creationId xmlns:a16="http://schemas.microsoft.com/office/drawing/2014/main" id="{E73AF333-6CFE-4020-937C-6C920CCED949}"/>
              </a:ext>
            </a:extLst>
          </p:cNvPr>
          <p:cNvPicPr>
            <a:picLocks noChangeAspect="1"/>
          </p:cNvPicPr>
          <p:nvPr/>
        </p:nvPicPr>
        <p:blipFill>
          <a:blip r:embed="rId2"/>
          <a:stretch>
            <a:fillRect/>
          </a:stretch>
        </p:blipFill>
        <p:spPr>
          <a:xfrm>
            <a:off x="721193" y="1109267"/>
            <a:ext cx="7077622" cy="5123096"/>
          </a:xfrm>
          <a:prstGeom prst="rect">
            <a:avLst/>
          </a:prstGeom>
        </p:spPr>
      </p:pic>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基本練習：類比輸出</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pic>
        <p:nvPicPr>
          <p:cNvPr id="12" name="圖片 11">
            <a:extLst>
              <a:ext uri="{FF2B5EF4-FFF2-40B4-BE49-F238E27FC236}">
                <a16:creationId xmlns:a16="http://schemas.microsoft.com/office/drawing/2014/main" id="{82C87ECB-64FE-4A4B-9A93-6A37A0E195B5}"/>
              </a:ext>
            </a:extLst>
          </p:cNvPr>
          <p:cNvPicPr/>
          <p:nvPr/>
        </p:nvPicPr>
        <p:blipFill>
          <a:blip r:embed="rId3"/>
          <a:stretch>
            <a:fillRect/>
          </a:stretch>
        </p:blipFill>
        <p:spPr>
          <a:xfrm rot="5400000">
            <a:off x="7823108" y="3197754"/>
            <a:ext cx="1383224" cy="345958"/>
          </a:xfrm>
          <a:prstGeom prst="rect">
            <a:avLst/>
          </a:prstGeom>
        </p:spPr>
      </p:pic>
      <p:cxnSp>
        <p:nvCxnSpPr>
          <p:cNvPr id="11" name="直線單箭頭接點 10">
            <a:extLst>
              <a:ext uri="{FF2B5EF4-FFF2-40B4-BE49-F238E27FC236}">
                <a16:creationId xmlns:a16="http://schemas.microsoft.com/office/drawing/2014/main" id="{4C65CAD5-678D-45F3-A83C-6893AAF59338}"/>
              </a:ext>
            </a:extLst>
          </p:cNvPr>
          <p:cNvCxnSpPr/>
          <p:nvPr/>
        </p:nvCxnSpPr>
        <p:spPr>
          <a:xfrm>
            <a:off x="7696356" y="3860057"/>
            <a:ext cx="890081" cy="0"/>
          </a:xfrm>
          <a:prstGeom prst="straightConnector1">
            <a:avLst/>
          </a:prstGeom>
          <a:ln w="28575">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44E8A9D6-09A9-47AE-98B0-2FF92F42A478}"/>
              </a:ext>
            </a:extLst>
          </p:cNvPr>
          <p:cNvSpPr txBox="1"/>
          <p:nvPr/>
        </p:nvSpPr>
        <p:spPr>
          <a:xfrm>
            <a:off x="7696426" y="3573190"/>
            <a:ext cx="627095" cy="300082"/>
          </a:xfrm>
          <a:prstGeom prst="rect">
            <a:avLst/>
          </a:prstGeom>
          <a:noFill/>
        </p:spPr>
        <p:txBody>
          <a:bodyPr wrap="none" rtlCol="0">
            <a:spAutoFit/>
          </a:bodyPr>
          <a:lstStyle/>
          <a:p>
            <a:r>
              <a:rPr lang="en-US" altLang="zh-TW" sz="1350" dirty="0"/>
              <a:t>GP25</a:t>
            </a:r>
            <a:endParaRPr lang="zh-TW" altLang="en-US" sz="1350" dirty="0"/>
          </a:p>
        </p:txBody>
      </p:sp>
      <p:sp>
        <p:nvSpPr>
          <p:cNvPr id="7" name="文字方塊 6">
            <a:extLst>
              <a:ext uri="{FF2B5EF4-FFF2-40B4-BE49-F238E27FC236}">
                <a16:creationId xmlns:a16="http://schemas.microsoft.com/office/drawing/2014/main" id="{8D097705-C84A-4637-90A4-B3A13758EFEE}"/>
              </a:ext>
            </a:extLst>
          </p:cNvPr>
          <p:cNvSpPr txBox="1"/>
          <p:nvPr/>
        </p:nvSpPr>
        <p:spPr>
          <a:xfrm>
            <a:off x="5536450" y="1333500"/>
            <a:ext cx="1723549" cy="461665"/>
          </a:xfrm>
          <a:prstGeom prst="rect">
            <a:avLst/>
          </a:prstGeom>
          <a:noFill/>
        </p:spPr>
        <p:txBody>
          <a:bodyPr wrap="none" rtlCol="0">
            <a:spAutoFit/>
          </a:bodyPr>
          <a:lstStyle/>
          <a:p>
            <a:r>
              <a:rPr lang="zh-TW" altLang="en-US" sz="2400" dirty="0">
                <a:solidFill>
                  <a:schemeClr val="tx1">
                    <a:lumMod val="50000"/>
                    <a:lumOff val="50000"/>
                  </a:schemeClr>
                </a:solidFill>
                <a:latin typeface="Adobe 繁黑體 Std B" panose="020B0700000000000000" pitchFamily="34" charset="-120"/>
                <a:ea typeface="Adobe 繁黑體 Std B" panose="020B0700000000000000" pitchFamily="34" charset="-120"/>
              </a:rPr>
              <a:t>漸亮燈控制</a:t>
            </a:r>
          </a:p>
        </p:txBody>
      </p:sp>
    </p:spTree>
    <p:extLst>
      <p:ext uri="{BB962C8B-B14F-4D97-AF65-F5344CB8AC3E}">
        <p14:creationId xmlns:p14="http://schemas.microsoft.com/office/powerpoint/2010/main" val="379759564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DCF9F357-5595-49DB-931E-70EBC9FAED98}"/>
              </a:ext>
            </a:extLst>
          </p:cNvPr>
          <p:cNvPicPr>
            <a:picLocks noChangeAspect="1"/>
          </p:cNvPicPr>
          <p:nvPr/>
        </p:nvPicPr>
        <p:blipFill>
          <a:blip r:embed="rId2"/>
          <a:stretch>
            <a:fillRect/>
          </a:stretch>
        </p:blipFill>
        <p:spPr>
          <a:xfrm>
            <a:off x="745142" y="1280032"/>
            <a:ext cx="7652996" cy="4507485"/>
          </a:xfrm>
          <a:prstGeom prst="rect">
            <a:avLst/>
          </a:prstGeom>
        </p:spPr>
      </p:pic>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應用練習：類比輸入與輸山</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pic>
        <p:nvPicPr>
          <p:cNvPr id="20" name="圖片 19">
            <a:extLst>
              <a:ext uri="{FF2B5EF4-FFF2-40B4-BE49-F238E27FC236}">
                <a16:creationId xmlns:a16="http://schemas.microsoft.com/office/drawing/2014/main" id="{D4266EDE-48A7-40EA-8478-B937C0CE100A}"/>
              </a:ext>
            </a:extLst>
          </p:cNvPr>
          <p:cNvPicPr/>
          <p:nvPr/>
        </p:nvPicPr>
        <p:blipFill>
          <a:blip r:embed="rId3"/>
          <a:stretch>
            <a:fillRect/>
          </a:stretch>
        </p:blipFill>
        <p:spPr>
          <a:xfrm rot="5400000">
            <a:off x="6708683" y="4531254"/>
            <a:ext cx="1383224" cy="345958"/>
          </a:xfrm>
          <a:prstGeom prst="rect">
            <a:avLst/>
          </a:prstGeom>
        </p:spPr>
      </p:pic>
    </p:spTree>
    <p:extLst>
      <p:ext uri="{BB962C8B-B14F-4D97-AF65-F5344CB8AC3E}">
        <p14:creationId xmlns:p14="http://schemas.microsoft.com/office/powerpoint/2010/main" val="240106470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應用練習：類比輸入與輸山</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cxnSp>
        <p:nvCxnSpPr>
          <p:cNvPr id="8" name="直線單箭頭接點 7">
            <a:extLst>
              <a:ext uri="{FF2B5EF4-FFF2-40B4-BE49-F238E27FC236}">
                <a16:creationId xmlns:a16="http://schemas.microsoft.com/office/drawing/2014/main" id="{F27D2517-B49D-4B3E-91D5-AF2901B7F5D5}"/>
              </a:ext>
            </a:extLst>
          </p:cNvPr>
          <p:cNvCxnSpPr/>
          <p:nvPr/>
        </p:nvCxnSpPr>
        <p:spPr>
          <a:xfrm>
            <a:off x="6410505" y="2581275"/>
            <a:ext cx="0" cy="580012"/>
          </a:xfrm>
          <a:prstGeom prst="straightConnector1">
            <a:avLst/>
          </a:prstGeom>
          <a:ln w="28575">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9" name="文字方塊 8">
            <a:extLst>
              <a:ext uri="{FF2B5EF4-FFF2-40B4-BE49-F238E27FC236}">
                <a16:creationId xmlns:a16="http://schemas.microsoft.com/office/drawing/2014/main" id="{D3F6E53C-E268-4A4E-95E1-17B3100CE007}"/>
              </a:ext>
            </a:extLst>
          </p:cNvPr>
          <p:cNvSpPr txBox="1"/>
          <p:nvPr/>
        </p:nvSpPr>
        <p:spPr>
          <a:xfrm>
            <a:off x="6110423" y="3161287"/>
            <a:ext cx="729687" cy="338554"/>
          </a:xfrm>
          <a:prstGeom prst="rect">
            <a:avLst/>
          </a:prstGeom>
          <a:noFill/>
        </p:spPr>
        <p:txBody>
          <a:bodyPr wrap="none" rtlCol="0">
            <a:spAutoFit/>
          </a:bodyPr>
          <a:lstStyle/>
          <a:p>
            <a:r>
              <a:rPr lang="en-US" altLang="zh-TW" sz="1600" dirty="0"/>
              <a:t>ADC0</a:t>
            </a:r>
            <a:endParaRPr lang="zh-TW" altLang="en-US" sz="1600" dirty="0"/>
          </a:p>
        </p:txBody>
      </p:sp>
      <p:sp>
        <p:nvSpPr>
          <p:cNvPr id="14" name="文字方塊 13">
            <a:extLst>
              <a:ext uri="{FF2B5EF4-FFF2-40B4-BE49-F238E27FC236}">
                <a16:creationId xmlns:a16="http://schemas.microsoft.com/office/drawing/2014/main" id="{FBA7EFFC-EB41-4B07-B75A-0083AB3AC79D}"/>
              </a:ext>
            </a:extLst>
          </p:cNvPr>
          <p:cNvSpPr txBox="1"/>
          <p:nvPr/>
        </p:nvSpPr>
        <p:spPr>
          <a:xfrm>
            <a:off x="6475056" y="2481577"/>
            <a:ext cx="396262" cy="300082"/>
          </a:xfrm>
          <a:prstGeom prst="rect">
            <a:avLst/>
          </a:prstGeom>
          <a:noFill/>
        </p:spPr>
        <p:txBody>
          <a:bodyPr wrap="none" rtlCol="0">
            <a:spAutoFit/>
          </a:bodyPr>
          <a:lstStyle/>
          <a:p>
            <a:r>
              <a:rPr lang="en-US" altLang="zh-TW" sz="1350" dirty="0"/>
              <a:t>5V</a:t>
            </a:r>
            <a:endParaRPr lang="zh-TW" altLang="en-US" sz="1350" dirty="0"/>
          </a:p>
        </p:txBody>
      </p:sp>
      <p:sp>
        <p:nvSpPr>
          <p:cNvPr id="15" name="文字方塊 14">
            <a:extLst>
              <a:ext uri="{FF2B5EF4-FFF2-40B4-BE49-F238E27FC236}">
                <a16:creationId xmlns:a16="http://schemas.microsoft.com/office/drawing/2014/main" id="{0365B344-5DD0-41AB-BB57-CE9F1D158D54}"/>
              </a:ext>
            </a:extLst>
          </p:cNvPr>
          <p:cNvSpPr txBox="1"/>
          <p:nvPr/>
        </p:nvSpPr>
        <p:spPr>
          <a:xfrm>
            <a:off x="5855738" y="2254427"/>
            <a:ext cx="569387" cy="300082"/>
          </a:xfrm>
          <a:prstGeom prst="rect">
            <a:avLst/>
          </a:prstGeom>
          <a:noFill/>
        </p:spPr>
        <p:txBody>
          <a:bodyPr wrap="none" rtlCol="0">
            <a:spAutoFit/>
          </a:bodyPr>
          <a:lstStyle/>
          <a:p>
            <a:r>
              <a:rPr lang="en-US" altLang="zh-TW" sz="1350" dirty="0"/>
              <a:t>GND</a:t>
            </a:r>
            <a:endParaRPr lang="zh-TW" altLang="en-US" sz="1350" dirty="0"/>
          </a:p>
        </p:txBody>
      </p:sp>
      <p:pic>
        <p:nvPicPr>
          <p:cNvPr id="6" name="圖片 5">
            <a:extLst>
              <a:ext uri="{FF2B5EF4-FFF2-40B4-BE49-F238E27FC236}">
                <a16:creationId xmlns:a16="http://schemas.microsoft.com/office/drawing/2014/main" id="{D9260A13-13D0-449D-BA1D-AE5A65B5D325}"/>
              </a:ext>
            </a:extLst>
          </p:cNvPr>
          <p:cNvPicPr>
            <a:picLocks noChangeAspect="1"/>
          </p:cNvPicPr>
          <p:nvPr/>
        </p:nvPicPr>
        <p:blipFill>
          <a:blip r:embed="rId2"/>
          <a:stretch>
            <a:fillRect/>
          </a:stretch>
        </p:blipFill>
        <p:spPr>
          <a:xfrm>
            <a:off x="628560" y="1365402"/>
            <a:ext cx="7551054" cy="4667617"/>
          </a:xfrm>
          <a:prstGeom prst="rect">
            <a:avLst/>
          </a:prstGeom>
        </p:spPr>
      </p:pic>
      <p:pic>
        <p:nvPicPr>
          <p:cNvPr id="5" name="圖片 4">
            <a:extLst>
              <a:ext uri="{FF2B5EF4-FFF2-40B4-BE49-F238E27FC236}">
                <a16:creationId xmlns:a16="http://schemas.microsoft.com/office/drawing/2014/main" id="{C2AE895A-78AE-4AAF-B26D-274E7784A671}"/>
              </a:ext>
            </a:extLst>
          </p:cNvPr>
          <p:cNvPicPr>
            <a:picLocks noChangeAspect="1"/>
          </p:cNvPicPr>
          <p:nvPr/>
        </p:nvPicPr>
        <p:blipFill>
          <a:blip r:embed="rId3"/>
          <a:stretch>
            <a:fillRect/>
          </a:stretch>
        </p:blipFill>
        <p:spPr>
          <a:xfrm>
            <a:off x="6140431" y="4106619"/>
            <a:ext cx="1851242" cy="1711323"/>
          </a:xfrm>
          <a:prstGeom prst="rect">
            <a:avLst/>
          </a:prstGeom>
        </p:spPr>
      </p:pic>
    </p:spTree>
    <p:extLst>
      <p:ext uri="{BB962C8B-B14F-4D97-AF65-F5344CB8AC3E}">
        <p14:creationId xmlns:p14="http://schemas.microsoft.com/office/powerpoint/2010/main" val="70725450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en-US" altLang="zh-TW" sz="33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WS2812B LED</a:t>
            </a:r>
            <a:endParaRPr lang="en-US" sz="33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pic>
        <p:nvPicPr>
          <p:cNvPr id="2" name="圖片 1">
            <a:extLst>
              <a:ext uri="{FF2B5EF4-FFF2-40B4-BE49-F238E27FC236}">
                <a16:creationId xmlns:a16="http://schemas.microsoft.com/office/drawing/2014/main" id="{4DC2ED78-B546-4267-B5CE-A3F1EAD8B054}"/>
              </a:ext>
            </a:extLst>
          </p:cNvPr>
          <p:cNvPicPr>
            <a:picLocks noChangeAspect="1"/>
          </p:cNvPicPr>
          <p:nvPr/>
        </p:nvPicPr>
        <p:blipFill>
          <a:blip r:embed="rId3"/>
          <a:stretch>
            <a:fillRect/>
          </a:stretch>
        </p:blipFill>
        <p:spPr>
          <a:xfrm>
            <a:off x="3751597" y="1238183"/>
            <a:ext cx="4032963" cy="4381634"/>
          </a:xfrm>
          <a:prstGeom prst="rect">
            <a:avLst/>
          </a:prstGeom>
        </p:spPr>
      </p:pic>
      <p:graphicFrame>
        <p:nvGraphicFramePr>
          <p:cNvPr id="3" name="物件 2">
            <a:extLst>
              <a:ext uri="{FF2B5EF4-FFF2-40B4-BE49-F238E27FC236}">
                <a16:creationId xmlns:a16="http://schemas.microsoft.com/office/drawing/2014/main" id="{A721F398-99C8-41D9-AF72-8487E6024F85}"/>
              </a:ext>
            </a:extLst>
          </p:cNvPr>
          <p:cNvGraphicFramePr>
            <a:graphicFrameLocks noChangeAspect="1"/>
          </p:cNvGraphicFramePr>
          <p:nvPr>
            <p:extLst>
              <p:ext uri="{D42A27DB-BD31-4B8C-83A1-F6EECF244321}">
                <p14:modId xmlns:p14="http://schemas.microsoft.com/office/powerpoint/2010/main" val="2758113471"/>
              </p:ext>
            </p:extLst>
          </p:nvPr>
        </p:nvGraphicFramePr>
        <p:xfrm>
          <a:off x="695235" y="1238183"/>
          <a:ext cx="1474669" cy="1565596"/>
        </p:xfrm>
        <a:graphic>
          <a:graphicData uri="http://schemas.openxmlformats.org/presentationml/2006/ole">
            <mc:AlternateContent xmlns:mc="http://schemas.openxmlformats.org/markup-compatibility/2006">
              <mc:Choice xmlns:v="urn:schemas-microsoft-com:vml" Requires="v">
                <p:oleObj spid="_x0000_s2173" name="Image" r:id="rId4" imgW="11263320" imgH="11987280" progId="Photoshop.Image.13">
                  <p:embed/>
                </p:oleObj>
              </mc:Choice>
              <mc:Fallback>
                <p:oleObj name="Image" r:id="rId4" imgW="11263320" imgH="11987280" progId="Photoshop.Image.13">
                  <p:embed/>
                  <p:pic>
                    <p:nvPicPr>
                      <p:cNvPr id="3" name="物件 2">
                        <a:extLst>
                          <a:ext uri="{FF2B5EF4-FFF2-40B4-BE49-F238E27FC236}">
                            <a16:creationId xmlns:a16="http://schemas.microsoft.com/office/drawing/2014/main" id="{A721F398-99C8-41D9-AF72-8487E6024F85}"/>
                          </a:ext>
                        </a:extLst>
                      </p:cNvPr>
                      <p:cNvPicPr/>
                      <p:nvPr/>
                    </p:nvPicPr>
                    <p:blipFill>
                      <a:blip r:embed="rId5"/>
                      <a:stretch>
                        <a:fillRect/>
                      </a:stretch>
                    </p:blipFill>
                    <p:spPr>
                      <a:xfrm>
                        <a:off x="695235" y="1238183"/>
                        <a:ext cx="1474669" cy="1565596"/>
                      </a:xfrm>
                      <a:prstGeom prst="rect">
                        <a:avLst/>
                      </a:prstGeom>
                    </p:spPr>
                  </p:pic>
                </p:oleObj>
              </mc:Fallback>
            </mc:AlternateContent>
          </a:graphicData>
        </a:graphic>
      </p:graphicFrame>
      <p:sp>
        <p:nvSpPr>
          <p:cNvPr id="4" name="文字方塊 3">
            <a:extLst>
              <a:ext uri="{FF2B5EF4-FFF2-40B4-BE49-F238E27FC236}">
                <a16:creationId xmlns:a16="http://schemas.microsoft.com/office/drawing/2014/main" id="{549A9D7B-30FF-4C51-8F1C-133D32C9206F}"/>
              </a:ext>
            </a:extLst>
          </p:cNvPr>
          <p:cNvSpPr txBox="1"/>
          <p:nvPr/>
        </p:nvSpPr>
        <p:spPr>
          <a:xfrm>
            <a:off x="628560" y="2921169"/>
            <a:ext cx="2763961" cy="507831"/>
          </a:xfrm>
          <a:prstGeom prst="rect">
            <a:avLst/>
          </a:prstGeom>
          <a:noFill/>
        </p:spPr>
        <p:txBody>
          <a:bodyPr wrap="square" rtlCol="0">
            <a:spAutoFit/>
          </a:bodyPr>
          <a:lstStyle/>
          <a:p>
            <a:r>
              <a:rPr lang="zh-TW" altLang="en-US" sz="1350" dirty="0">
                <a:latin typeface="Adobe 仿宋 Std R" panose="02020400000000000000" pitchFamily="18" charset="-128"/>
                <a:ea typeface="Adobe 仿宋 Std R" panose="02020400000000000000" pitchFamily="18" charset="-128"/>
              </a:rPr>
              <a:t>應用</a:t>
            </a:r>
            <a:r>
              <a:rPr lang="en-US" altLang="zh-TW" sz="1350" dirty="0">
                <a:latin typeface="Adobe 仿宋 Std R" panose="02020400000000000000" pitchFamily="18" charset="-128"/>
                <a:ea typeface="Adobe 仿宋 Std R" panose="02020400000000000000" pitchFamily="18" charset="-128"/>
              </a:rPr>
              <a:t>PIO</a:t>
            </a:r>
            <a:r>
              <a:rPr lang="zh-TW" altLang="en-US" sz="1350" dirty="0">
                <a:latin typeface="Adobe 仿宋 Std R" panose="02020400000000000000" pitchFamily="18" charset="-128"/>
                <a:ea typeface="Adobe 仿宋 Std R" panose="02020400000000000000" pitchFamily="18" charset="-128"/>
              </a:rPr>
              <a:t>的狀態機控制</a:t>
            </a:r>
            <a:r>
              <a:rPr lang="en-US" altLang="zh-TW" sz="1350" dirty="0">
                <a:latin typeface="Adobe 仿宋 Std R" panose="02020400000000000000" pitchFamily="18" charset="-128"/>
                <a:ea typeface="Adobe 仿宋 Std R" panose="02020400000000000000" pitchFamily="18" charset="-128"/>
              </a:rPr>
              <a:t>WS2812B RGB LED</a:t>
            </a:r>
            <a:r>
              <a:rPr lang="zh-TW" altLang="en-US" sz="1350" dirty="0">
                <a:latin typeface="Adobe 仿宋 Std R" panose="02020400000000000000" pitchFamily="18" charset="-128"/>
                <a:ea typeface="Adobe 仿宋 Std R" panose="02020400000000000000" pitchFamily="18" charset="-128"/>
              </a:rPr>
              <a:t>燈串的光源</a:t>
            </a:r>
          </a:p>
        </p:txBody>
      </p:sp>
    </p:spTree>
    <p:extLst>
      <p:ext uri="{BB962C8B-B14F-4D97-AF65-F5344CB8AC3E}">
        <p14:creationId xmlns:p14="http://schemas.microsoft.com/office/powerpoint/2010/main" val="319174710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628</TotalTime>
  <Words>1563</Words>
  <Application>Microsoft Office PowerPoint</Application>
  <PresentationFormat>如螢幕大小 (4:3)</PresentationFormat>
  <Paragraphs>250</Paragraphs>
  <Slides>25</Slides>
  <Notes>3</Notes>
  <HiddenSlides>0</HiddenSlides>
  <MMClips>0</MMClips>
  <ScaleCrop>false</ScaleCrop>
  <HeadingPairs>
    <vt:vector size="8" baseType="variant">
      <vt:variant>
        <vt:lpstr>使用字型</vt:lpstr>
      </vt:variant>
      <vt:variant>
        <vt:i4>7</vt:i4>
      </vt:variant>
      <vt:variant>
        <vt:lpstr>佈景主題</vt:lpstr>
      </vt:variant>
      <vt:variant>
        <vt:i4>1</vt:i4>
      </vt:variant>
      <vt:variant>
        <vt:lpstr>內嵌 OLE 伺服程式</vt:lpstr>
      </vt:variant>
      <vt:variant>
        <vt:i4>1</vt:i4>
      </vt:variant>
      <vt:variant>
        <vt:lpstr>投影片標題</vt:lpstr>
      </vt:variant>
      <vt:variant>
        <vt:i4>25</vt:i4>
      </vt:variant>
    </vt:vector>
  </HeadingPairs>
  <TitlesOfParts>
    <vt:vector size="34" baseType="lpstr">
      <vt:lpstr>Adobe 仿宋 Std R</vt:lpstr>
      <vt:lpstr>Adobe 黑体 Std R</vt:lpstr>
      <vt:lpstr>Adobe 繁黑體 Std B</vt:lpstr>
      <vt:lpstr>Arial</vt:lpstr>
      <vt:lpstr>Calibri</vt:lpstr>
      <vt:lpstr>Symbol</vt:lpstr>
      <vt:lpstr>Wingdings</vt:lpstr>
      <vt:lpstr>Office Theme</vt:lpstr>
      <vt:lpstr>Image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馬達(電機)控制</vt:lpstr>
      <vt:lpstr>馬達驅動</vt:lpstr>
      <vt:lpstr>馬達驅動</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悠美客微型創意工具機</dc:title>
  <dc:subject/>
  <dc:creator>羅治民</dc:creator>
  <dc:description/>
  <cp:lastModifiedBy>治民 羅</cp:lastModifiedBy>
  <cp:revision>1247</cp:revision>
  <dcterms:created xsi:type="dcterms:W3CDTF">2017-05-07T10:18:10Z</dcterms:created>
  <dcterms:modified xsi:type="dcterms:W3CDTF">2024-07-05T02:00:34Z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寬螢幕</vt:lpwstr>
  </property>
  <property fmtid="{D5CDD505-2E9C-101B-9397-08002B2CF9AE}" pid="9" name="ScaleCrop">
    <vt:bool>false</vt:bool>
  </property>
  <property fmtid="{D5CDD505-2E9C-101B-9397-08002B2CF9AE}" pid="10" name="ShareDoc">
    <vt:bool>false</vt:bool>
  </property>
  <property fmtid="{D5CDD505-2E9C-101B-9397-08002B2CF9AE}" pid="11" name="Slides">
    <vt:i4>4</vt:i4>
  </property>
</Properties>
</file>